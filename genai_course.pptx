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3"/>
  </p:notesMasterIdLst>
  <p:sldIdLst>
    <p:sldId id="2147482542" r:id="rId2"/>
    <p:sldId id="2147482487" r:id="rId3"/>
    <p:sldId id="2147482488" r:id="rId4"/>
    <p:sldId id="2147482489" r:id="rId5"/>
    <p:sldId id="2147482490" r:id="rId6"/>
    <p:sldId id="2147482491" r:id="rId7"/>
    <p:sldId id="2147482492" r:id="rId8"/>
    <p:sldId id="2147482514" r:id="rId9"/>
    <p:sldId id="2147482523" r:id="rId10"/>
    <p:sldId id="2147482528" r:id="rId11"/>
    <p:sldId id="2147482550" r:id="rId12"/>
    <p:sldId id="2147482529" r:id="rId13"/>
    <p:sldId id="2147482531" r:id="rId14"/>
    <p:sldId id="2147482530" r:id="rId15"/>
    <p:sldId id="2147482532" r:id="rId16"/>
    <p:sldId id="2147482533" r:id="rId17"/>
    <p:sldId id="2147482539" r:id="rId18"/>
    <p:sldId id="2147482534" r:id="rId19"/>
    <p:sldId id="2147482535" r:id="rId20"/>
    <p:sldId id="2147482540" r:id="rId21"/>
    <p:sldId id="2147482537" r:id="rId22"/>
    <p:sldId id="2147482538" r:id="rId23"/>
    <p:sldId id="2147482543" r:id="rId24"/>
    <p:sldId id="2147482546" r:id="rId25"/>
    <p:sldId id="2147482544" r:id="rId26"/>
    <p:sldId id="2147482547" r:id="rId27"/>
    <p:sldId id="2147482548" r:id="rId28"/>
    <p:sldId id="2147482549" r:id="rId29"/>
    <p:sldId id="256" r:id="rId30"/>
    <p:sldId id="2147482493" r:id="rId31"/>
    <p:sldId id="258" r:id="rId32"/>
    <p:sldId id="2147482462" r:id="rId33"/>
    <p:sldId id="257" r:id="rId34"/>
    <p:sldId id="259" r:id="rId35"/>
    <p:sldId id="260" r:id="rId36"/>
    <p:sldId id="2147482463" r:id="rId37"/>
    <p:sldId id="2147482465" r:id="rId38"/>
    <p:sldId id="261" r:id="rId39"/>
    <p:sldId id="265" r:id="rId40"/>
    <p:sldId id="262" r:id="rId41"/>
    <p:sldId id="263" r:id="rId42"/>
    <p:sldId id="264" r:id="rId43"/>
    <p:sldId id="2147482522" r:id="rId44"/>
    <p:sldId id="2147482469" r:id="rId45"/>
    <p:sldId id="2147482470" r:id="rId46"/>
    <p:sldId id="2147482473" r:id="rId47"/>
    <p:sldId id="2147482471" r:id="rId48"/>
    <p:sldId id="2147482472" r:id="rId49"/>
    <p:sldId id="2147482515" r:id="rId50"/>
    <p:sldId id="2147482516" r:id="rId51"/>
    <p:sldId id="266" r:id="rId52"/>
    <p:sldId id="2147482494" r:id="rId53"/>
    <p:sldId id="267" r:id="rId54"/>
    <p:sldId id="268" r:id="rId55"/>
    <p:sldId id="271" r:id="rId56"/>
    <p:sldId id="269" r:id="rId57"/>
    <p:sldId id="273" r:id="rId58"/>
    <p:sldId id="274" r:id="rId59"/>
    <p:sldId id="272" r:id="rId60"/>
    <p:sldId id="270" r:id="rId61"/>
    <p:sldId id="276" r:id="rId62"/>
    <p:sldId id="277" r:id="rId63"/>
    <p:sldId id="278" r:id="rId64"/>
    <p:sldId id="279" r:id="rId65"/>
    <p:sldId id="280" r:id="rId66"/>
    <p:sldId id="282" r:id="rId67"/>
    <p:sldId id="281" r:id="rId68"/>
    <p:sldId id="283" r:id="rId69"/>
    <p:sldId id="2147482517" r:id="rId70"/>
    <p:sldId id="2147482526" r:id="rId71"/>
    <p:sldId id="284" r:id="rId72"/>
    <p:sldId id="2147482495" r:id="rId73"/>
    <p:sldId id="285" r:id="rId74"/>
    <p:sldId id="286" r:id="rId75"/>
    <p:sldId id="287" r:id="rId76"/>
    <p:sldId id="288" r:id="rId77"/>
    <p:sldId id="2147482468" r:id="rId78"/>
    <p:sldId id="289" r:id="rId79"/>
    <p:sldId id="290" r:id="rId80"/>
    <p:sldId id="291" r:id="rId81"/>
    <p:sldId id="292" r:id="rId82"/>
    <p:sldId id="293" r:id="rId83"/>
    <p:sldId id="2147482520" r:id="rId84"/>
    <p:sldId id="294" r:id="rId85"/>
    <p:sldId id="295" r:id="rId86"/>
    <p:sldId id="296" r:id="rId87"/>
    <p:sldId id="297" r:id="rId88"/>
    <p:sldId id="298" r:id="rId89"/>
    <p:sldId id="299" r:id="rId90"/>
    <p:sldId id="300" r:id="rId91"/>
    <p:sldId id="301" r:id="rId92"/>
    <p:sldId id="302" r:id="rId93"/>
    <p:sldId id="304" r:id="rId94"/>
    <p:sldId id="305" r:id="rId95"/>
    <p:sldId id="306" r:id="rId96"/>
    <p:sldId id="307" r:id="rId97"/>
    <p:sldId id="2147482518" r:id="rId98"/>
    <p:sldId id="2147482525" r:id="rId99"/>
    <p:sldId id="308" r:id="rId100"/>
    <p:sldId id="2147482496" r:id="rId101"/>
    <p:sldId id="310" r:id="rId102"/>
    <p:sldId id="2147482449" r:id="rId103"/>
    <p:sldId id="2147478309" r:id="rId104"/>
    <p:sldId id="2147478310" r:id="rId105"/>
    <p:sldId id="2147478312" r:id="rId106"/>
    <p:sldId id="2147482450" r:id="rId107"/>
    <p:sldId id="2147478257" r:id="rId108"/>
    <p:sldId id="2147482474" r:id="rId109"/>
    <p:sldId id="2147482475" r:id="rId110"/>
    <p:sldId id="2147482481" r:id="rId111"/>
    <p:sldId id="2147482480" r:id="rId112"/>
    <p:sldId id="2147482478" r:id="rId113"/>
    <p:sldId id="2147482479" r:id="rId114"/>
    <p:sldId id="2147482482" r:id="rId115"/>
    <p:sldId id="2147482484" r:id="rId116"/>
    <p:sldId id="2147482485" r:id="rId117"/>
    <p:sldId id="2147482486" r:id="rId118"/>
    <p:sldId id="2147482500" r:id="rId119"/>
    <p:sldId id="2147482519" r:id="rId120"/>
    <p:sldId id="2147482527" r:id="rId121"/>
    <p:sldId id="2147482501" r:id="rId122"/>
    <p:sldId id="2147482497" r:id="rId123"/>
    <p:sldId id="2147482505" r:id="rId124"/>
    <p:sldId id="2147482506" r:id="rId125"/>
    <p:sldId id="2147482509" r:id="rId126"/>
    <p:sldId id="2147482507" r:id="rId127"/>
    <p:sldId id="2147482508" r:id="rId128"/>
    <p:sldId id="2147482510" r:id="rId129"/>
    <p:sldId id="2147482512" r:id="rId130"/>
    <p:sldId id="2147482511" r:id="rId131"/>
    <p:sldId id="2147482521" r:id="rId132"/>
    <p:sldId id="309" r:id="rId133"/>
    <p:sldId id="2147482499" r:id="rId134"/>
    <p:sldId id="2147482455" r:id="rId135"/>
    <p:sldId id="2147482454" r:id="rId136"/>
    <p:sldId id="2147482456" r:id="rId137"/>
    <p:sldId id="2147482457" r:id="rId138"/>
    <p:sldId id="2147482458" r:id="rId139"/>
    <p:sldId id="2147482459" r:id="rId140"/>
    <p:sldId id="2147482524" r:id="rId141"/>
    <p:sldId id="2147482460" r:id="rId1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E2CB2CD2-E859-3845-81F0-3DF40B79CF19}">
          <p14:sldIdLst>
            <p14:sldId id="2147482542"/>
          </p14:sldIdLst>
        </p14:section>
        <p14:section name="GenAI Project Lyfecycle" id="{B7424510-C75D-8F4E-9DE0-1523DD456E08}">
          <p14:sldIdLst>
            <p14:sldId id="2147482487"/>
            <p14:sldId id="2147482488"/>
            <p14:sldId id="2147482489"/>
            <p14:sldId id="2147482490"/>
            <p14:sldId id="2147482491"/>
            <p14:sldId id="2147482492"/>
            <p14:sldId id="2147482514"/>
            <p14:sldId id="2147482523"/>
          </p14:sldIdLst>
        </p14:section>
        <p14:section name="Prompt" id="{1097D1D9-1498-974C-A631-093212C4F6BF}">
          <p14:sldIdLst>
            <p14:sldId id="2147482528"/>
            <p14:sldId id="2147482550"/>
            <p14:sldId id="2147482529"/>
            <p14:sldId id="2147482531"/>
            <p14:sldId id="2147482530"/>
            <p14:sldId id="2147482532"/>
            <p14:sldId id="2147482533"/>
            <p14:sldId id="2147482539"/>
            <p14:sldId id="2147482534"/>
            <p14:sldId id="2147482535"/>
            <p14:sldId id="2147482540"/>
            <p14:sldId id="2147482537"/>
            <p14:sldId id="2147482538"/>
            <p14:sldId id="2147482543"/>
            <p14:sldId id="2147482546"/>
            <p14:sldId id="2147482544"/>
            <p14:sldId id="2147482547"/>
            <p14:sldId id="2147482548"/>
            <p14:sldId id="2147482549"/>
          </p14:sldIdLst>
        </p14:section>
        <p14:section name="RAG" id="{510F2E0A-EB92-5742-A43B-23FC1C07E2EF}">
          <p14:sldIdLst>
            <p14:sldId id="256"/>
            <p14:sldId id="2147482493"/>
            <p14:sldId id="258"/>
            <p14:sldId id="2147482462"/>
            <p14:sldId id="257"/>
            <p14:sldId id="259"/>
            <p14:sldId id="260"/>
            <p14:sldId id="2147482463"/>
            <p14:sldId id="2147482465"/>
            <p14:sldId id="261"/>
            <p14:sldId id="265"/>
            <p14:sldId id="262"/>
            <p14:sldId id="263"/>
            <p14:sldId id="264"/>
            <p14:sldId id="2147482522"/>
            <p14:sldId id="2147482469"/>
            <p14:sldId id="2147482470"/>
            <p14:sldId id="2147482473"/>
            <p14:sldId id="2147482471"/>
            <p14:sldId id="2147482472"/>
            <p14:sldId id="2147482515"/>
            <p14:sldId id="2147482516"/>
          </p14:sldIdLst>
        </p14:section>
        <p14:section name="FineTuning" id="{E0A48B21-48A5-D04E-9C28-743AEA7851AB}">
          <p14:sldIdLst>
            <p14:sldId id="266"/>
            <p14:sldId id="2147482494"/>
            <p14:sldId id="267"/>
            <p14:sldId id="268"/>
            <p14:sldId id="271"/>
            <p14:sldId id="269"/>
            <p14:sldId id="273"/>
            <p14:sldId id="274"/>
            <p14:sldId id="272"/>
            <p14:sldId id="270"/>
            <p14:sldId id="276"/>
            <p14:sldId id="277"/>
            <p14:sldId id="278"/>
            <p14:sldId id="279"/>
            <p14:sldId id="280"/>
            <p14:sldId id="282"/>
            <p14:sldId id="281"/>
            <p14:sldId id="283"/>
            <p14:sldId id="2147482517"/>
            <p14:sldId id="2147482526"/>
          </p14:sldIdLst>
        </p14:section>
        <p14:section name="RLHF_Evaluation" id="{7A14248B-0F70-EB4E-9D81-CE4326B90409}">
          <p14:sldIdLst>
            <p14:sldId id="284"/>
            <p14:sldId id="2147482495"/>
            <p14:sldId id="285"/>
            <p14:sldId id="286"/>
            <p14:sldId id="287"/>
            <p14:sldId id="288"/>
            <p14:sldId id="2147482468"/>
            <p14:sldId id="289"/>
            <p14:sldId id="290"/>
            <p14:sldId id="291"/>
            <p14:sldId id="292"/>
            <p14:sldId id="293"/>
            <p14:sldId id="2147482520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  <p14:sldId id="304"/>
            <p14:sldId id="305"/>
            <p14:sldId id="306"/>
            <p14:sldId id="307"/>
            <p14:sldId id="2147482518"/>
            <p14:sldId id="2147482525"/>
          </p14:sldIdLst>
        </p14:section>
        <p14:section name="Agents" id="{1A68D13B-80CC-1C41-B1E6-A1727E541278}">
          <p14:sldIdLst>
            <p14:sldId id="308"/>
            <p14:sldId id="2147482496"/>
            <p14:sldId id="310"/>
            <p14:sldId id="2147482449"/>
            <p14:sldId id="2147478309"/>
            <p14:sldId id="2147478310"/>
            <p14:sldId id="2147478312"/>
            <p14:sldId id="2147482450"/>
            <p14:sldId id="2147478257"/>
            <p14:sldId id="2147482474"/>
            <p14:sldId id="2147482475"/>
            <p14:sldId id="2147482481"/>
            <p14:sldId id="2147482480"/>
            <p14:sldId id="2147482478"/>
            <p14:sldId id="2147482479"/>
            <p14:sldId id="2147482482"/>
            <p14:sldId id="2147482484"/>
            <p14:sldId id="2147482485"/>
            <p14:sldId id="2147482486"/>
            <p14:sldId id="2147482500"/>
            <p14:sldId id="2147482519"/>
            <p14:sldId id="2147482527"/>
          </p14:sldIdLst>
        </p14:section>
        <p14:section name="Observability" id="{44D311B7-D2F7-F940-AC45-3AD3BBBC159A}">
          <p14:sldIdLst>
            <p14:sldId id="2147482501"/>
            <p14:sldId id="2147482497"/>
            <p14:sldId id="2147482505"/>
            <p14:sldId id="2147482506"/>
            <p14:sldId id="2147482509"/>
            <p14:sldId id="2147482507"/>
            <p14:sldId id="2147482508"/>
            <p14:sldId id="2147482510"/>
            <p14:sldId id="2147482512"/>
            <p14:sldId id="2147482511"/>
            <p14:sldId id="2147482521"/>
          </p14:sldIdLst>
        </p14:section>
        <p14:section name="Inference" id="{E34ACBF0-EF0C-B348-A277-75419C21E688}">
          <p14:sldIdLst>
            <p14:sldId id="309"/>
            <p14:sldId id="2147482499"/>
            <p14:sldId id="2147482455"/>
            <p14:sldId id="2147482454"/>
            <p14:sldId id="2147482456"/>
            <p14:sldId id="2147482457"/>
            <p14:sldId id="2147482458"/>
            <p14:sldId id="2147482459"/>
            <p14:sldId id="2147482524"/>
            <p14:sldId id="21474824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77884"/>
    <a:srgbClr val="94618B"/>
    <a:srgbClr val="147B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69"/>
    <p:restoredTop sz="91245"/>
  </p:normalViewPr>
  <p:slideViewPr>
    <p:cSldViewPr snapToGrid="0">
      <p:cViewPr>
        <p:scale>
          <a:sx n="160" d="100"/>
          <a:sy n="160" d="100"/>
        </p:scale>
        <p:origin x="1072" y="8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10" d="100"/>
        <a:sy n="11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CBC8F2-C51E-2640-8C10-84D9D1AC4188}" type="datetimeFigureOut">
              <a:rPr lang="en-US" smtClean="0"/>
              <a:t>12/14/25</a:t>
            </a:fld>
            <a:endParaRPr lang="en-US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D94F-0769-524C-9298-464BBA347C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0559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51D48-3344-CC31-B405-A90A3DC28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AE33FA-F164-F9D8-ACD0-9D015EBF26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51435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B1DB9-E070-8D1E-7222-7F73E6CAC7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E91040-4005-3C38-0527-4374FCA82A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0F74E25-A557-45B7-A614-AD8C8D22B6B6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mazon Ember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mazon Ember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87889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781826-7410-D1F5-4B4C-A162B42CC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42A4C25-1919-592C-C717-D175805732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51435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1E1C53-82FF-5A62-1BD0-2198504351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07BB61-1D4F-20BD-EC62-95286C461B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0F74E25-A557-45B7-A614-AD8C8D22B6B6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mazon Ember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mazon Ember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91911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AFF68-B2CA-4A77-8660-9C6F26DC4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C512F2-7AEE-DE85-9563-478E9C3503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51435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C0618D-7693-3E7C-F319-18113E0511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354B73-B11E-F42A-B9A8-2CF014C278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0F74E25-A557-45B7-A614-AD8C8D22B6B6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mazon Ember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mazon Ember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985912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8E29B-7AFC-59F9-7B1C-5B8AE3C4F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C72A78-BBCB-129A-2679-B01C710889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51435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E02C06-EDD0-C9A5-D67F-2B1B21474A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0D0EF9-C568-89DA-93DF-EA14D04455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0F74E25-A557-45B7-A614-AD8C8D22B6B6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mazon Ember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mazon Ember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455489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78F98-32F8-5A3C-441E-70C993358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234777-C3F8-5CA9-7BE9-E3D5009FA7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51435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A63E17-56C5-5144-7329-41C0157BEA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A62990-AC7F-D5AE-F189-250CF6564F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0F74E25-A557-45B7-A614-AD8C8D22B6B6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mazon Ember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mazon Ember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7251373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Emphasize that business requirements must come first. Many GenAI projects fail because teams jump to implementation without clear success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selection requires balancing multiple factors. The 'best' model on paper may not be best for your use case.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F5043-2198-1112-761F-4D9D431802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EE30A3-AE91-01E5-06BC-63E712A1A0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51435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066418-A388-816B-AFFC-FAE69F9017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04DFE8-20A6-E40B-DF4A-929FE4CFEC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0F74E25-A557-45B7-A614-AD8C8D22B6B6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mazon Ember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mazon Ember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564347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B8BD90-678C-CBD4-E767-FE2920B33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BB5DF9-0C11-1CDB-4C1B-4C126FE74B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51435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4A7471-DBBF-A039-40CC-6DC12B7D91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E6A1B8-C825-45EF-14F5-4FB77D2A0A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0F74E25-A557-45B7-A614-AD8C8D22B6B6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mazon Ember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mazon Ember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759625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6B5D2-68F7-D52F-FA45-82044BCD1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748BF7-8D58-FAA1-BEA5-4B0F60B226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51435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086C5A-7C0A-3AEA-D55F-87633F150B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132444-062B-313E-4B49-59F981AADF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0F74E25-A557-45B7-A614-AD8C8D22B6B6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mazon Ember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mazon Ember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470609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BB4554-47CC-7F57-9A8B-099EF07C94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B37734-0042-2CC6-98D4-AAB41779B5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51435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B7ACAD0-ABF5-F857-2F8A-3336397E56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532EE4-69EF-7D6E-6C36-4AE13DD0D7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0F74E25-A557-45B7-A614-AD8C8D22B6B6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mazon Ember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mazon Ember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33824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89E15-A3E6-2D26-31A3-1FB9D948F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1210E8-A23C-3D37-5B59-D2A002AABD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51435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21646E-7E17-802C-8BD8-8B8D2934C6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0 Shot / Few Shot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C71E49-A4B0-AF5D-AF60-8F99D65478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0F74E25-A557-45B7-A614-AD8C8D22B6B6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mazon Ember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mazon Ember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039848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0C02CC-FE95-92AF-740E-811372F446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4E4FD1-152A-7B94-3235-5AD692CC0E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51435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1F65D7-281C-DD9D-D816-5CC5E88F9A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EFF18A-4AF0-2C92-C1B7-0CFBF37CF2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0F74E25-A557-45B7-A614-AD8C8D22B6B6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mazon Ember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mazon Ember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8467889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1087A-6D12-5D49-6F7F-0F933241D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70EAC9-1F97-5ABF-D4AC-1C35A868DB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51435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360BE9-7B00-9345-A345-EED7FC956E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859D59-D027-B247-1906-D50680EFAF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0F74E25-A557-45B7-A614-AD8C8D22B6B6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mazon Ember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mazon Ember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4883261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890E77-BC6C-05AB-CBD2-FAD5B2CE3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E07FBA-EF60-6FCF-D0FC-8218E7F6DE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51435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2489BE-20EA-26B8-4F46-EE1A7C86CA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23F23C-9B6E-5EC1-46B8-DA98D07B2E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0F74E25-A557-45B7-A614-AD8C8D22B6B6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mazon Ember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mazon Ember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9275893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B86A4-8614-442B-FB95-2C33CAAED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083A12-9F7C-CE82-F0EE-E19ED0150E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51435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186534-1D2C-16CF-2669-3160A6B849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0EE353-D0E2-20DA-1646-2DB8D091C5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0F74E25-A557-45B7-A614-AD8C8D22B6B6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mazon Ember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mazon Ember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1349661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E6837-4FD5-D7BD-FF27-23B447AB8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574FFA-4313-5EC0-DCE9-68D20B0EA6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51435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79907E-0A02-8F3F-F81D-A6F5F1AF7B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AA952B-8F11-1525-5155-06B5D03F54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0F74E25-A557-45B7-A614-AD8C8D22B6B6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mazon Ember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mazon Ember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4753124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72201-6C1A-488D-0491-B2CA05F05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27E57F-8D51-64AF-607A-48CDD2A01D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51435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BCE508-8AAF-C103-E79E-CDB4B3EC4D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70CAD-AC03-F623-B333-2BE6BFF978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0F74E25-A557-45B7-A614-AD8C8D22B6B6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mazon Ember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mazon Ember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8375756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74A397-20F0-09A9-2056-FF641CCF1E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EC4181-D4FE-47BA-1BAF-81DFB844F8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51435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BB354B-C8D3-351C-CF9D-AB412C79E7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DCFA42-1C61-08D6-881E-C40AC08429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0F74E25-A557-45B7-A614-AD8C8D22B6B6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mazon Ember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mazon Ember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1298663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BA7853-40F9-4292-DDC2-032FFB8D6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0B0077-40F7-3BFE-0C14-D449C87608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51435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CBF3917-1C0F-DF10-6425-AB2916B09A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F9F007-13AD-A779-E60D-71D0EF440F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0F74E25-A557-45B7-A614-AD8C8D22B6B6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mazon Ember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mazon Ember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4421304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CFC792-2A9B-F34C-0E2A-48C602D45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D14E25-D19C-9E5A-AD29-78A7AEB2DC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51435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4506A8-1D98-2F2C-625D-6833273CA4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1EB54A-3991-68E0-722A-DFBED314FF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0F74E25-A557-45B7-A614-AD8C8D22B6B6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mazon Ember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mazon Ember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4102860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404B5E-8463-BA73-A66F-6A0E494FB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076E95-24D7-0630-5535-29A6E9405F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51435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504828-60EA-F578-3B91-BE2D730158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86D7C1-7825-7D1D-198D-9587903CD6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0F74E25-A557-45B7-A614-AD8C8D22B6B6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mazon Ember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mazon Ember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8525349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Chain-of-Thought is optimal for mathematical problems requiring systematic reasoning. Tree-of-Thought is overkill for linear problems. Zero-shot lacks guidance, and few-shot without reasoning doesn't teach the problem-solving process.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Prompt chaining breaks complex tasks into manageable steps, improving accuracy and allowing for intermediate validation. This is especially important for multi-stage document processing.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Chunking strategy significantly impacts RAG performance. Semantic boundaries and overlap prevent context loss.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8604FD-F5F7-F4AB-AE1B-A5C898B8E9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AD01516-95A8-F2D9-2D31-443774472F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77E6E6A-29AF-76C8-C072-7567B40405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6402C30-CF29-6BBF-99B4-64737C765B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66D94F-0769-524C-9298-464BBA347CE1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808252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8D1F6-4C9B-41E0-41C6-620B45D6E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034F5C59-0F4D-BE4A-FE92-6CD6FB0340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74D9425-DF52-2BD5-73E6-E7FA1A6284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2604AC3-C9BE-E3AA-A9DE-C7441E1183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66D94F-0769-524C-9298-464BBA347CE1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431845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RAG retrieval quality is often the bottleneck. Poor chunking and retrieval can make even the best LLM produce bad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tiering is crucial for cost optimization. Using GPT-4 for simple FAQs is like using a Ferrari for grocery shopping.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66D94F-0769-524C-9298-464BBA347CE1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67885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66D94F-0769-524C-9298-464BBA347CE1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600257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4C3F7-77CA-B08E-5C32-89684D0C16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3E579559-CF98-F827-F7C4-2DD4B65C05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55607AAA-D98D-C0FD-01A5-4B61D00075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3A31ED1-6F6D-295A-D273-1D07C5D033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66D94F-0769-524C-9298-464BBA347CE1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86690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F9A35A-48B1-75B3-6041-C0D1A7D56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BA3EEAA6-FC1C-B6D1-5C34-404CE8E457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55395C4-1DB6-88DC-8397-FA9EBB53DC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E61FD70-0EC6-974E-C741-BB28E4B71D5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66D94F-0769-524C-9298-464BBA347CE1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55476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61B074-4841-8011-9AD1-0B4F37A0E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E163633-CCDE-5F56-A9AA-9A5DBA682C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C942AA3-1DAB-2578-1DAE-94E8399195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AAC1F47-E6DA-1F72-0BB5-22162D6767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66D94F-0769-524C-9298-464BBA347CE1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700621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4187A6-20D9-AD10-559E-C78AF4A2B1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62B93D3-C245-9186-CC50-84BDB74883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A075F0C0-D3DE-CA7C-3A23-F8A622E7DB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CFE00E9-BC3B-F953-AEC1-E41DAD01A0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66D94F-0769-524C-9298-464BBA347CE1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8746028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4B4F6-5949-0E07-DB5E-4CDB74ECF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1AFEAAE-02F3-A029-15C2-2E7183127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1C6BA6EE-39AC-8E18-0638-E5BD2AB8CA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BA3FF2D-AF8F-2E72-A513-B4601F9704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66D94F-0769-524C-9298-464BBA347CE1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988812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9B7190-1EC7-116E-0E12-4F18ADC1A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B6B48E8-EFF6-E149-5C38-CFEFD9A8F9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BA5BFE93-779B-5E07-7EE9-5E1A570B30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37FAAC6-6956-2356-2306-310B39676A8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66D94F-0769-524C-9298-464BBA347CE1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52834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8FB54-AC98-8AC6-5DC7-F40C6A5F5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D51187B-8143-20BD-A083-269247E8ED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B6BC3144-F588-CD7F-A925-A8D98C1357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011CD59-5D61-4ADB-8710-C0E7379C53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66D94F-0769-524C-9298-464BBA347CE1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0110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A24C96-B3AF-D648-4C24-7EAB25FBD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0D4C18B4-AB24-630E-A75F-5A3C5B27C2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740E38D-CD49-50F2-88D3-8EA2FF63D1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1757113-B5C0-AD85-E6AA-0B5287E3C1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66D94F-0769-524C-9298-464BBA347CE1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23202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Fine-tuning should be a last resort after prompt engineering. It's expensive and can cause catastrophic forgetting.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LoRA and PEFT techniques make fine-tuning practical. You can maintain multiple specialized models efficiently.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66D94F-0769-524C-9298-464BBA347CE1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26086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34778-902D-F689-81B3-ABD83479DD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DD35525-52EC-2B87-4F62-421A3A524F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AB625EC-A65A-5769-7226-DEF590B59F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A1AC54B-4A8B-B5A4-5ABC-4EA3391199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66D94F-0769-524C-9298-464BBA347CE1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1791587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59157B-D517-0472-0895-F6A19DD01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A86458A-75F3-07DC-9DC3-7DCE2E8C01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ECD330C6-8250-598D-2F0B-00CA7C721D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B855872-6657-2574-69FD-7A9D03F587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66D94F-0769-524C-9298-464BBA347CE1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298901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0B020-A982-B209-3078-9A2A90B0D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B4B97671-728A-D778-F200-F4910E8787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5387FDD-CE0B-1317-6E63-4547F0F3D6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B143087-431C-0DB3-B0B9-359D50AE72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66D94F-0769-524C-9298-464BBA347CE1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0838960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AA09D5-F776-CEFF-90B5-2A0B5CDBC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5F712D5-A332-25A2-378B-B6B348AD79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1CF5E59-0F8A-9625-F3C1-85BE8E7554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FE1D05B-618E-566C-354D-4F206A3C9D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66D94F-0769-524C-9298-464BBA347CE1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38337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0D824-C168-D454-C611-7AD0C6C71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C536D62-F198-C96B-DE84-FFA96A53C6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7DAC156-B37C-9F28-FA51-3C450C73EB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3AA7190-5368-3865-FA41-2E105DAD9C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66D94F-0769-524C-9298-464BBA347CE1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903052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382004-7CE7-46EC-9CC9-EBE56D22AC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11B6710-4A1E-39F1-13A8-AC9B83480D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BDB613BA-5B87-4012-33A1-B5161DFB7C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CD7A9074-26BE-A77E-3BBB-B64CA543CE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66D94F-0769-524C-9298-464BBA347CE1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936466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FE98C-BD3D-71F6-E9DC-E319B0B0D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0E9A31B2-7B4A-5A62-4A08-941963BDC7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9A1442B-CA64-19D1-0BC8-C7D9BD93AC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26BAD71-961E-4D2A-FEF6-FB56221322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66D94F-0769-524C-9298-464BBA347CE1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789828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10738-5AEB-8798-D519-A58242ECA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7AFACEE-AFBF-681D-7212-725C666551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52946A7-7C3D-AE29-7E12-04857E92C3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2B3BC13-55A1-A005-7672-0769B802CC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66D94F-0769-524C-9298-464BBA347CE1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109332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RLHF is powerful but complex. For most companies, collecting feedback for prompt improvement is more practical.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8CF70-DF1C-A829-5C79-4D8B1029A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7D65D7C3-05D2-5E8F-D21F-C3B8CA542B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1159DF16-49BA-54EA-4D3A-AC9B0982D5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E1237B1-D03B-94F4-C6D9-F6AE412706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66D94F-0769-524C-9298-464BBA347CE1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1883255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C43DD-58C2-42FB-A36F-E3062CAAC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055B644A-5EA5-62E4-A4A5-CA99CB552D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3CB3E5A-BA68-D4DF-48D4-64404DE5A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25A5A68-AA5A-369E-ABCB-25AAA34BD1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66D94F-0769-524C-9298-464BBA347CE1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0744266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2F0DB-BEC8-E31F-61DB-742713666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24A8DB4-79C1-DE9D-D402-B5A840C08E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8C887EB-3F98-20BB-9E32-D67534C28E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53DCC87-A12F-0CD0-0098-7AE3294BDD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66D94F-0769-524C-9298-464BBA347CE1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56512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60B3FD-958B-0D1C-7297-FD8782671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3494F99-93AA-D4E2-4D36-FA360444C1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1B8B500-7E99-1CF6-D460-B87AD8F6DC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485E1CE-AB46-3AF0-9C60-CBB8FF76A9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66D94F-0769-524C-9298-464BBA347CE1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242537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54B64-070D-20A6-C912-33F3B93B1A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1C590AA-5BE9-B217-1A2A-D94C04DC57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C702E2B-A75D-1586-0E86-2A1DED4D5B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3DFF216-AE2B-78AE-76A0-9A72C86542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66D94F-0769-524C-9298-464BBA347CE1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52859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F3CF52-C25E-1DCB-F72B-B28FBA4B3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19264CE7-2401-ECE2-4F53-820AD37968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7AAA79F9-F6C8-CE19-7A8D-B5194BA488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64A9396-C7F6-382C-B687-F7FF40FFC9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66D94F-0769-524C-9298-464BBA347CE1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11059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7B20D-A642-44F5-9C0E-A147FF0AC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E4AC39A-702E-D7C3-93F0-ED794101FC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371A7CB2-13A3-6C6A-FDB7-33089DA3C0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FE670140-74BB-169F-6188-414D822C80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66D94F-0769-524C-9298-464BBA347CE1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907289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F030B-48CC-B7F4-1C72-23FE2C61FA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AB8D5F9-3F77-17AD-D46B-E96CD895C69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1F505C98-8084-825F-3DBF-DA7716EDC2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8B327FDC-66D7-BD96-B0A0-1C6D545184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66D94F-0769-524C-9298-464BBA347CE1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45593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8C7BE-1FF5-BF35-701E-A1407C7C6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D793995-2C29-CB4A-1C8C-F36CDB4585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E0AE9ABC-9F0D-555E-0739-05ED7EF822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B720D73-7FA6-CFFA-EB34-31718F8CAB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66D94F-0769-524C-9298-464BBA347CE1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6420593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28537-1803-8244-4FFB-5FFC65BEED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09CBEB28-3945-4F90-3F59-E441A150E7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F9CF7F9-86C5-7A74-9058-21BC8B0ADD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06560E3-D9DB-DFCC-F032-EBB50F4FD4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66D94F-0769-524C-9298-464BBA347CE1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2184043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9A46D-B919-760E-A63D-ACB719F9D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BAC1EBE5-FEAB-229B-57EA-39D8136BC2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1DBDB7FE-23A7-F5BF-2A1B-43742F8C1D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BC295A5-BB5C-8EA8-1DFF-0D392A8A16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66D94F-0769-524C-9298-464BBA347CE1}" type="slidenum">
              <a:rPr lang="en-US" smtClean="0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1248844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22E04-6AE3-3E46-21EE-CD211B7D0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6B2FC6A7-0F36-23DB-D743-15BF764A8A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98D0021-8208-5246-2051-ACE3F6718D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9E2C191-AD2B-51DA-FDCA-335F3B7AA1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66D94F-0769-524C-9298-464BBA347CE1}" type="slidenum">
              <a:rPr lang="en-US" smtClean="0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3284107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AA61A-98E7-29B4-2839-FA11BDF00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71B3627-EEF1-26F9-6FD3-C53796A8E5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92E2F68-361A-8C69-7590-E41B6CEE29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4C1BE20B-4A6A-CEF6-532E-A9E4776E9B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66D94F-0769-524C-9298-464BBA347CE1}" type="slidenum">
              <a:rPr lang="en-US" smtClean="0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021417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 value metrics matter more than technical metrics. High ROUGE scores don't guarantee user satisfaction.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Evaluation datasets must reflect real-world diversity. Synthetic or narrow datasets give false confidence.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DFAB1A-81B4-F05D-F61D-E826FF97F7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D7A525B7-D196-85C5-A06D-96E0B9DE47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A0D8B078-9ED5-C3EB-777D-AE6394C102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540A97A-D6C3-87AB-DA57-25BAD43B24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66D94F-0769-524C-9298-464BBA347CE1}" type="slidenum">
              <a:rPr lang="en-US" smtClean="0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2769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9E221E-71F3-4DAA-846D-8A66759494AC}" type="slidenum">
              <a:rPr lang="en-US" smtClean="0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8714794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9E221E-71F3-4DAA-846D-8A66759494AC}" type="slidenum">
              <a:rPr lang="en-US" smtClean="0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396479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9E221E-71F3-4DAA-846D-8A66759494AC}" type="slidenum">
              <a:rPr lang="en-US" smtClean="0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456596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9E221E-71F3-4DAA-846D-8A66759494AC}" type="slidenum">
              <a:rPr lang="en-US" smtClean="0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9620514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33B1A5-A5E0-D4FF-8D59-F3521AB42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E84B12-B91E-56C0-24A0-E3C2D16D78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AC64AA-53FF-4878-4E64-C2649F013A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88080B-0E51-4159-7D86-5F5D4C340D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9E221E-71F3-4DAA-846D-8A66759494AC}" type="slidenum">
              <a:rPr lang="en-US" smtClean="0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327749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9E221E-71F3-4DAA-846D-8A66759494AC}" type="slidenum">
              <a:rPr lang="en-US" smtClean="0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5553928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FECF62-FDA7-2325-891A-2F9C2F3B7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2A50A67A-70BD-FECD-C2CB-52DEA4ADD6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674B6565-6D24-AAC2-F4BE-2CD17FD87B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83AA211-145B-49F5-B77E-7F7F4B2B5D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FEB175-7AE1-4B66-A823-55E80A74AF1C}" type="slidenum">
              <a:rPr lang="en-US" smtClean="0"/>
              <a:pPr/>
              <a:t>108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9513626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547B1D-BD71-1BA5-2748-EEB097BFF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06173222-E9A4-7AA5-73F3-1D4DC3B5D5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BFD0615-A779-335E-CF66-59D4B22C3A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B5C7D5BB-A50F-AFA7-FE19-CE29EBF80E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FEB175-7AE1-4B66-A823-55E80A74AF1C}" type="slidenum">
              <a:rPr lang="en-US" smtClean="0"/>
              <a:pPr/>
              <a:t>109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055483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6E3F4-9EBE-06DE-3EFE-3A67CE421A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D444C32E-D916-CB2D-FF12-95F36DA0A0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49A1A388-507A-8BD1-E721-B4F66B932E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8DF65C6-9A89-7A03-F7DD-2762B30D38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FEB175-7AE1-4B66-A823-55E80A74AF1C}" type="slidenum">
              <a:rPr lang="en-US" smtClean="0"/>
              <a:pPr/>
              <a:t>110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0118415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7F0EE-691B-0827-5C33-059996684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C12CACDA-FF31-21D8-0673-D9180CDE96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1277F1F8-6389-03DF-AFAA-92EECF8BF6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802EE2D-A46F-9100-4899-88077E8126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FEB175-7AE1-4B66-A823-55E80A74AF1C}" type="slidenum">
              <a:rPr lang="en-US" smtClean="0"/>
              <a:pPr/>
              <a:t>111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7554146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F8604-FB88-763E-2AE0-2058B9387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376EA35-8CFB-6978-FAC3-B3037745EE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2616C788-7951-1DAC-0883-59E7C9EE4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64761AB0-7001-3130-68F6-A4189DCD78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FEB175-7AE1-4B66-A823-55E80A74AF1C}" type="slidenum">
              <a:rPr lang="en-US" smtClean="0"/>
              <a:pPr/>
              <a:t>112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7068447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A134A-4185-8440-F6C3-9A435B5F6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604427D-06D6-37D3-CCE8-B5C64F50FD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EF4E5E3E-2AE5-0DFF-7D20-3EBEDD241B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B37CAE0-CD8C-6493-FB2F-962738105D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FEB175-7AE1-4B66-A823-55E80A74AF1C}" type="slidenum">
              <a:rPr lang="en-US" smtClean="0"/>
              <a:pPr/>
              <a:t>113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786032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6E7E3-B26B-B8EB-D233-3C17A595CE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81B7851A-BAEF-7648-1A8A-5D5ECC5DFB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B9C16852-B4DF-A9E3-06C3-53BFA88922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1D65D238-1787-E611-CD59-54788F43DB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FEB175-7AE1-4B66-A823-55E80A74AF1C}" type="slidenum">
              <a:rPr lang="en-US" smtClean="0"/>
              <a:pPr/>
              <a:t>114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4241076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AAD37-7114-CB66-C4AD-4BD1339B9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049B60B-05A8-B044-0490-D1EF4715F5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7C6EA432-2CBB-D743-CEFE-5CBE690494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1C00207-F8BF-E4DF-1E22-7474E30475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FEB175-7AE1-4B66-A823-55E80A74AF1C}" type="slidenum">
              <a:rPr lang="en-US" smtClean="0"/>
              <a:pPr/>
              <a:t>115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4807998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9A2967-2E94-C1A2-B257-DD9C3010E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5156F789-D924-5D92-924F-93630C9DA3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DEC5264E-31F4-0330-F9C3-F8BB7A1E8C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6D048BB-CD85-942F-A91C-EE229EDC66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FEB175-7AE1-4B66-A823-55E80A74AF1C}" type="slidenum">
              <a:rPr lang="en-US" smtClean="0"/>
              <a:pPr/>
              <a:t>116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619055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E1EB6-53DB-732D-07F1-FB476CB4D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91ECD3B-17BB-010C-5879-EFFD3A6CF8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A4D8ACFF-921A-8D88-3983-DBE3E0ECA3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F1FAEC9-F201-2AD0-F465-7A936B9BC2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FEB175-7AE1-4B66-A823-55E80A74AF1C}" type="slidenum">
              <a:rPr lang="en-US" smtClean="0"/>
              <a:pPr/>
              <a:t>117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7570585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55948-E290-6024-55C1-986829A33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03D1242D-9BDA-D8A9-525A-22CAA94FD6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FD867210-7B11-037B-7C43-900212DB11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2461CCA-7749-2A7A-5849-FD45B05793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FEB175-7AE1-4B66-A823-55E80A74AF1C}" type="slidenum">
              <a:rPr lang="en-US" smtClean="0"/>
              <a:pPr/>
              <a:t>118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2756918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Multi-agent architectures solve the complexity problem. One agent trying to do everything is a recipe for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over-engineer integrations. Start with standards and managed services before building custom solutions.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9587B-5A81-E2A1-5FC5-54758A446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07CCD9-E9DE-D98D-6C7E-1BAA2DF252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51435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6A8CF1-6551-297D-D5EC-602C1F9BAF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D3789C-9724-7969-59CB-192D94E0AB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0F74E25-A557-45B7-A614-AD8C8D22B6B6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mazon Ember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123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mazon Ember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81386096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D06EB2-B608-E0EB-C2F3-453AB1933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CFDBCB-2FC8-4E81-0C44-06DCCF6295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51435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B8B278-75F4-658D-5D0C-D17354EFFC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18A1AB-E912-FA31-C8FB-D77B875D14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0F74E25-A557-45B7-A614-AD8C8D22B6B6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mazon Ember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124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mazon Ember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1453010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E5315-1CCF-AB01-B282-01A946E1A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ECEBC9-B8A1-0A85-E6DB-E9C9F4B1F8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51435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E7670C-DC6E-072B-2232-879EE8CFCC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CFC2E2-3CE0-79A1-DDFF-24AABE5F4F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0F74E25-A557-45B7-A614-AD8C8D22B6B6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mazon Ember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125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mazon Ember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79440589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62973-F309-A41D-1031-D326EA876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B19CA3-D5B4-EA97-E388-11B558AF92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51435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06E53D-2A96-10EA-D796-55FFE505AE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D4C9F7-46C6-0754-5581-A18BB6EA87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0F74E25-A557-45B7-A614-AD8C8D22B6B6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mazon Ember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126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mazon Ember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74093177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20B50-F6CE-2151-58DA-CDECD6889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30F15C-2D58-35D6-F79E-C9D8C55D89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51435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59BAED-A179-8536-0967-37A7F1297F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C7DAEA-D2EB-0E5A-6820-56C98A63BF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0F74E25-A557-45B7-A614-AD8C8D22B6B6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mazon Ember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127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mazon Ember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37916562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62927-DE07-4BB4-33C4-2F5F4EBFA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C54D26-CF06-EF0E-C076-88583B1E72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51435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846572-A0ED-DB4F-44DD-EB7C9B2664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F0F101-17CE-9180-3B52-BD6AA837B2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0F74E25-A557-45B7-A614-AD8C8D22B6B6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mazon Ember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128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mazon Ember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60122443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92049-0EFA-30B6-8ABE-B5AC24E66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6A60DB-D35C-C9EA-83DA-EF614C3C23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51435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D16B14-FA3E-977B-7B7F-DBD86CE221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FEFD70-11E1-A3F4-DE5A-A63BF27495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0F74E25-A557-45B7-A614-AD8C8D22B6B6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mazon Ember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129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mazon Ember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4148340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6FB112-8053-4ACC-02B3-EE2A8416E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5AD5A3-4219-E252-966D-078EE45EC2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51435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46982F-1258-F255-EE46-E9A48E4DCD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73CD68-372D-1C72-F06A-141D9A52D8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0F74E25-A557-45B7-A614-AD8C8D22B6B6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mazon Ember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130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mazon Ember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24521895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observability, you're flying blind. You can't improve what you can't measure.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937D8-0DB7-A37A-0C6D-9D2D09D52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E5D7EA-8D3E-4EBE-773C-F873D11EA7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51435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E680F9-8BA9-2081-3F72-A5BE2C53FF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111DF5-84A2-09D9-47F7-E6C7FA019C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0F74E25-A557-45B7-A614-AD8C8D22B6B6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mazon Ember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134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mazon Ember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45945202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5CB36-4C39-73AF-C9AA-AB942D1AB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2352A0-19A8-0AAE-507D-5EBAC3EE76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51435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87D405-A576-4C61-118D-AAC315417E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DF7F4C-60EB-16F2-D6E3-D09DDFD199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0F74E25-A557-45B7-A614-AD8C8D22B6B6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mazon Ember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135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mazon Ember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41397740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55B575-AF0B-F6D5-D596-EAEE890A3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A2C36C-608E-7A3C-3367-2EF468ADAE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51435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0B9A1E-FA26-3012-347B-1A3F1630D8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F86B7C-EA38-E9E9-4850-D35E507EF6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0F74E25-A557-45B7-A614-AD8C8D22B6B6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mazon Ember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136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mazon Ember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82337299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7109F-1B5F-12AA-BA1E-6378BFF09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1D086D-1817-3209-9E02-0AE08E172B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51435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9BA75F-C895-5A68-E9ED-89722B8ED1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B61A7D-6E33-E6F4-E675-8A62217431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0F74E25-A557-45B7-A614-AD8C8D22B6B6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mazon Ember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137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mazon Ember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5855430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5A59C3-F9DB-9B40-8FE5-520677AC5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848AD2-A42B-30AC-7B93-12AE8E3746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51435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58C216-9337-E25C-2920-EF13E29445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0092EA-A789-0345-9E9C-1428EC82F0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0F74E25-A557-45B7-A614-AD8C8D22B6B6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mazon Ember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138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mazon Ember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71256585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954ED5-1F73-6DF6-3007-86CFDD2158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9D0F30-FE11-D763-6F76-963AE505A6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51435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51C891-4EE8-223D-E5EE-27B007F3E0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F3185B-DCF3-97E4-A93A-C91BC1821A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0F74E25-A557-45B7-A614-AD8C8D22B6B6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mazon Ember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139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mazon Ember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99796252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Production readiness requires proper infrastructure. Load testing and rate limiting are not optional.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BEFD13-DDEB-2A72-F60D-A3D8A7E89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D44881-02D2-B83A-41D2-23FFAC3ED0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51435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332BFA-FE8B-1398-4EB5-26E1D3FE4B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9C5604-0B6D-6323-5055-43AB43AC52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0F74E25-A557-45B7-A614-AD8C8D22B6B6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mazon Ember"/>
                <a:ea typeface="+mn-ea"/>
                <a:cs typeface="+mn-cs"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141</a:t>
            </a:fld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mazon Ember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978976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64677F-AC25-C140-AB31-CBA1E1A54A0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5526A2-9F97-21C6-4BFB-2AABF15D0C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2B70A6-1C2F-2179-FBB9-D8932E9EBD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264DA4-267E-2F47-A3C3-5ECC336CCA83}" type="datetime1">
              <a:rPr lang="en-US" smtClean="0"/>
              <a:t>12/14/25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76BE26-EBC0-EA9D-C397-FFD21F2CB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C668F8-4FD1-A1A9-613C-7D51FBF92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5311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886E64-115D-AF16-32EA-0E64AA8B3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1A0E29-0758-1737-2EB7-AE7CD85628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FBD89A-4682-DB71-2CB1-F58587EEEF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92B7D5-BB68-AD48-8616-ABC6090B596E}" type="datetime1">
              <a:rPr lang="en-US" smtClean="0"/>
              <a:t>12/14/25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271696-E753-5E45-8C95-B3CC1FB73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A597CC-ECC4-293C-4FD5-124675D0D7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7151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E60BBB-F463-7AFD-DE4A-23278EFFFA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F0B5ED-4BD9-EF8E-C2E7-351396E049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3AA961-2854-1873-5E99-B95B468B72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B37458-40C6-6D4A-96EB-0C23105F7037}" type="datetime1">
              <a:rPr lang="en-US" smtClean="0"/>
              <a:t>12/14/25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4C8CDD-FB6B-BB0D-69DF-6AF2E5F1D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F281FF-035E-0E1E-8D9A-1F95A613D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964413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775D60-DEE0-3820-07AF-1C3A26E63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BD250-250A-FFF9-BAD9-A17AD672243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259B7B-3B4F-8C39-737B-CE1B69D285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DA5400-2713-2E05-0559-574ACDABB7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C4153-2F78-3D42-B20D-901C8A38C1E2}" type="datetime1">
              <a:rPr lang="en-US" smtClean="0"/>
              <a:t>12/14/25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71909C-C95B-CC34-2355-5A1E80F77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E3F124-A706-953D-6763-D9C887F13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2608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CC745-D0FE-C180-52E9-315852DBF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4D4E08-E616-1A9C-5673-EAEC1C5C68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FBDE74-96AE-EB8B-E1BC-6DC5B91BE6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7989F63-DBC5-9F1D-70B1-7077C6B4EF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BC9282C-9B4A-5FDF-7149-A373E30055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7B182F4-906F-0B47-5896-066E5B5175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8DEDBB-F6CC-B347-8612-1F755998D52B}" type="datetime1">
              <a:rPr lang="en-US" smtClean="0"/>
              <a:t>12/14/25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BC97CE4-7C23-77DD-AE80-FF90E91788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77EEB12-FC41-67A7-35C3-FABE0167C5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2288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729DFD-ECBC-0B11-09E9-FA3DF1974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CC426A-BC12-2827-8FAB-130E513BB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0FABF-B19E-F140-A85A-85967E80C938}" type="datetime1">
              <a:rPr lang="en-US" smtClean="0"/>
              <a:t>12/14/25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61980B-F835-300F-7877-FA01464AAF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BF4586-925A-741E-E7F7-DC26CA2979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0563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2D3F40-8727-0A59-B472-F4B4C64E8C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5018A0-126C-BD4B-9C25-DC7F60F6974D}" type="datetime1">
              <a:rPr lang="en-US" smtClean="0"/>
              <a:t>12/14/25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E87C362-39D0-8603-ABFE-BF00FEAF9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D4F2B1-DF7F-532F-0744-6EDB3D9D3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6100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5F99AD-A321-CDF7-01A7-FB41D732B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2E4548-A9A5-1599-6782-E397E027A7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880147-B728-6B70-590E-49A7BB7A92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9E7341-AB4E-5074-3DFB-82A4E938BA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4E2546-2ACB-0B46-925C-84A7E0631715}" type="datetime1">
              <a:rPr lang="en-US" smtClean="0"/>
              <a:t>12/14/25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9656FF-9A75-CF25-987F-772A9A221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1851CF-7C38-6A49-A94E-51D26C439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4932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5EFEB9-A6A3-FA32-1B35-05A6A32548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992F5A-100E-49A1-4120-26F5106A70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F60D37-E650-6500-7004-C7E5E0734FD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6DD4A9D-0301-17BE-3D34-3233505DB3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D5063-5027-7247-A141-59AC59C309E0}" type="datetime1">
              <a:rPr lang="en-US" smtClean="0"/>
              <a:t>12/14/25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A52B2A-3906-9E69-CE8F-FE24EB00B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309831-A588-5631-C07E-F99E1FA57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90353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8565F9-E549-1B33-8355-806874E66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803DA2-D253-7FBA-0841-5C8AE8F8C2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BFD019-41D4-290B-32B2-8843224E7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4ACB44-48E9-3C40-9FB0-48A4FCD71535}" type="datetime1">
              <a:rPr lang="en-US" smtClean="0"/>
              <a:t>12/14/25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6828C3-68DA-2F14-6610-4A0C995E86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48F7E5-A416-5615-2DB7-C6DB6D302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28411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52C748-6236-E073-5A0F-97D8C25C77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3B7579-0723-DB7E-31EF-5EED513A5B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CB923D-DF5E-BD87-3E62-41C8C5129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6762ED-E209-8B4F-A9CA-2F0FF6003ABB}" type="datetime1">
              <a:rPr lang="en-US" smtClean="0"/>
              <a:t>12/14/25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4140DB-B1D3-0056-4CFE-4250E6C31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8C5351-F187-E808-C7B4-194025DAA0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14016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5731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9AECC5A-0A14-6EB5-2DCC-10B8E9F46A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E83E16-499C-AC57-8ECB-B9F50EBC32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4ABCA3-1A92-FEBB-414C-EABF282B595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9C8CA4-1EE5-1A4E-9448-E6A52EA645A8}" type="datetime1">
              <a:rPr lang="en-US" smtClean="0"/>
              <a:t>12/14/25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C9BE58-AD74-8C01-4D24-85C61B08DA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02A928-2100-5EDC-01A3-AAEE5277C05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C481E4-9564-C44F-AEB1-48F1A8C67A40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black logo&#10;&#10;Description automatically generated">
            <a:extLst>
              <a:ext uri="{FF2B5EF4-FFF2-40B4-BE49-F238E27FC236}">
                <a16:creationId xmlns:a16="http://schemas.microsoft.com/office/drawing/2014/main" id="{D987537A-D176-E525-3BF6-680B7183601B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9924287" y="136525"/>
            <a:ext cx="2099429" cy="67750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6E8C8EC-C83C-4075-B8AA-1E6E9618AD06}"/>
              </a:ext>
            </a:extLst>
          </p:cNvPr>
          <p:cNvSpPr txBox="1"/>
          <p:nvPr userDrawn="1"/>
        </p:nvSpPr>
        <p:spPr>
          <a:xfrm>
            <a:off x="9612731" y="6409700"/>
            <a:ext cx="136127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chemeClr val="bg2">
                    <a:lumMod val="90000"/>
                  </a:schemeClr>
                </a:solidFill>
              </a:rPr>
              <a:t>Sandro Zangiacomi</a:t>
            </a:r>
          </a:p>
        </p:txBody>
      </p:sp>
    </p:spTree>
    <p:extLst>
      <p:ext uri="{BB962C8B-B14F-4D97-AF65-F5344CB8AC3E}">
        <p14:creationId xmlns:p14="http://schemas.microsoft.com/office/powerpoint/2010/main" val="6012158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402.07927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512.04123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arxiv.org/abs/2512.04123" TargetMode="Externa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arxiv.org/abs/2201.11903" TargetMode="Externa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201.11903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arxiv.org/abs/2305.10601" TargetMode="Externa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9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1.svg"/><Relationship Id="rId5" Type="http://schemas.openxmlformats.org/officeDocument/2006/relationships/image" Target="../media/image10.png"/><Relationship Id="rId4" Type="http://schemas.openxmlformats.org/officeDocument/2006/relationships/hyperlink" Target="https://arxiv.org/abs/2406.00507" TargetMode="Externa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arxiv.org/abs/2210.03629" TargetMode="Externa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platform.claude.com/docs/en/build-with-claude/prompt-engineering/overview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platform.openai.com/docs/guides/prompt-engineering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6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bert.net/examples/applications/cross-encoder/README.html" TargetMode="Externa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7" Type="http://schemas.openxmlformats.org/officeDocument/2006/relationships/hyperlink" Target="https://www.researchgate.net/figure/Visualization-of-the-word-embedding-space_fig4_343595281" TargetMode="Externa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60.png"/><Relationship Id="rId4" Type="http://schemas.openxmlformats.org/officeDocument/2006/relationships/image" Target="../media/image50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svg"/><Relationship Id="rId7" Type="http://schemas.openxmlformats.org/officeDocument/2006/relationships/image" Target="../media/image29.sv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svg"/><Relationship Id="rId4" Type="http://schemas.openxmlformats.org/officeDocument/2006/relationships/image" Target="../media/image26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sv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sv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hyperlink" Target="https://www.researchgate.net/publication/369032868_Snapshot_Ensemble-Based_Residual_Network_SnapEnsemResNet_for_Remote_Sensing_Image_Scene_Classification" TargetMode="Externa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203.15556" TargetMode="External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1.png"/><Relationship Id="rId5" Type="http://schemas.openxmlformats.org/officeDocument/2006/relationships/image" Target="../media/image291.png"/><Relationship Id="rId4" Type="http://schemas.openxmlformats.org/officeDocument/2006/relationships/image" Target="../media/image150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huggingface.co/docs/transformers/perf_train_gpu_many" TargetMode="External"/><Relationship Id="rId4" Type="http://schemas.openxmlformats.org/officeDocument/2006/relationships/image" Target="../media/image41.png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sv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sv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7" Type="http://schemas.openxmlformats.org/officeDocument/2006/relationships/image" Target="../media/image25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0.png"/><Relationship Id="rId5" Type="http://schemas.openxmlformats.org/officeDocument/2006/relationships/image" Target="../media/image300.png"/><Relationship Id="rId4" Type="http://schemas.openxmlformats.org/officeDocument/2006/relationships/image" Target="../media/image290.png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svg"/><Relationship Id="rId7" Type="http://schemas.openxmlformats.org/officeDocument/2006/relationships/image" Target="../media/image50.sv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9.png"/><Relationship Id="rId5" Type="http://schemas.openxmlformats.org/officeDocument/2006/relationships/image" Target="../media/image47.svg"/><Relationship Id="rId4" Type="http://schemas.openxmlformats.org/officeDocument/2006/relationships/image" Target="../media/image46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2009.01325" TargetMode="Externa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huggingface.co/blog/deep-rl-ppo" TargetMode="External"/><Relationship Id="rId4" Type="http://schemas.openxmlformats.org/officeDocument/2006/relationships/image" Target="../media/image53.sv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huggingface.co/blog/deep-rl-ppo" TargetMode="External"/><Relationship Id="rId4" Type="http://schemas.openxmlformats.org/officeDocument/2006/relationships/image" Target="../media/image53.svg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3.sv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svg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huggingface.co/blog/deep-rl-ppo" TargetMode="External"/><Relationship Id="rId4" Type="http://schemas.openxmlformats.org/officeDocument/2006/relationships/image" Target="../media/image53.svg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confident-ai.com/blog/llm-evaluation-metrics-everything-you-need-for-llm-evaluation" TargetMode="Externa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0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0.png"/><Relationship Id="rId4" Type="http://schemas.openxmlformats.org/officeDocument/2006/relationships/image" Target="../media/image350.png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0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0.png"/><Relationship Id="rId4" Type="http://schemas.openxmlformats.org/officeDocument/2006/relationships/image" Target="../media/image380.png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0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researchgate.net/figure/SelfCheckGPT-with-Prompt-Each-LLM-generated-sentence-is-compared-against-stochastically_fig1_376402462" TargetMode="Externa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Voyages_of_Christopher_Columbus" TargetMode="External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Voyages_of_Christopher_Columbus" TargetMode="External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0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0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svg"/><Relationship Id="rId3" Type="http://schemas.openxmlformats.org/officeDocument/2006/relationships/image" Target="../media/image17.pn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svg"/><Relationship Id="rId5" Type="http://schemas.openxmlformats.org/officeDocument/2006/relationships/image" Target="../media/image59.png"/><Relationship Id="rId4" Type="http://schemas.openxmlformats.org/officeDocument/2006/relationships/image" Target="../media/image18.svg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4.svg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4.sv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4.svg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4.svg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7" Type="http://schemas.openxmlformats.org/officeDocument/2006/relationships/image" Target="../media/image69.sv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8.png"/><Relationship Id="rId5" Type="http://schemas.openxmlformats.org/officeDocument/2006/relationships/image" Target="../media/image67.svg"/><Relationship Id="rId4" Type="http://schemas.openxmlformats.org/officeDocument/2006/relationships/image" Target="../media/image66.png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71.svg"/></Relationships>
</file>

<file path=ppt/slides/_rels/slide10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svg"/><Relationship Id="rId3" Type="http://schemas.openxmlformats.org/officeDocument/2006/relationships/image" Target="../media/image72.png"/><Relationship Id="rId7" Type="http://schemas.openxmlformats.org/officeDocument/2006/relationships/image" Target="../media/image74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73.png"/><Relationship Id="rId4" Type="http://schemas.microsoft.com/office/2007/relationships/hdphoto" Target="../media/hdphoto1.wdp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4.svg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4.svg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svg"/><Relationship Id="rId5" Type="http://schemas.openxmlformats.org/officeDocument/2006/relationships/image" Target="../media/image79.png"/><Relationship Id="rId4" Type="http://schemas.openxmlformats.org/officeDocument/2006/relationships/image" Target="../media/image78.svg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anthropic.com/news/model-context-protocol" TargetMode="Externa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7" Type="http://schemas.openxmlformats.org/officeDocument/2006/relationships/hyperlink" Target="https://www.youtube.com/watch?v=C6qcZdtIv54" TargetMode="External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evelopers.openai.com/commerce/guides/get-started/" TargetMode="External"/><Relationship Id="rId5" Type="http://schemas.openxmlformats.org/officeDocument/2006/relationships/image" Target="../media/image84.png"/><Relationship Id="rId4" Type="http://schemas.openxmlformats.org/officeDocument/2006/relationships/image" Target="../media/image83.png"/></Relationships>
</file>

<file path=ppt/slides/_rels/slide1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3" Type="http://schemas.openxmlformats.org/officeDocument/2006/relationships/hyperlink" Target="https://n8n.io/" TargetMode="External"/><Relationship Id="rId7" Type="http://schemas.openxmlformats.org/officeDocument/2006/relationships/hyperlink" Target="https://openai.com/index/introducing-agentkit/" TargetMode="External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6.png"/><Relationship Id="rId5" Type="http://schemas.openxmlformats.org/officeDocument/2006/relationships/hyperlink" Target="https://www.langflow.org/" TargetMode="External"/><Relationship Id="rId4" Type="http://schemas.openxmlformats.org/officeDocument/2006/relationships/image" Target="../media/image85.png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0.png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2.png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2.png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2.png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2.png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2.png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hyperlink" Target="https://cloud.langfuse.com/project/cm9h4ehhn0eioad079y8k9b4c/traces?dateRange=30d&amp;peek=37be99cc10357f8a9e9cbffcf3f86429&amp;timestamp=2025-10-26T17%3A06%3A36.623Z" TargetMode="External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6.png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98.jpeg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6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1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0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80.png"/><Relationship Id="rId5" Type="http://schemas.openxmlformats.org/officeDocument/2006/relationships/image" Target="../media/image67.png"/><Relationship Id="rId4" Type="http://schemas.openxmlformats.org/officeDocument/2006/relationships/image" Target="../media/image660.png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0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20.png"/><Relationship Id="rId5" Type="http://schemas.openxmlformats.org/officeDocument/2006/relationships/image" Target="../media/image710.png"/><Relationship Id="rId4" Type="http://schemas.openxmlformats.org/officeDocument/2006/relationships/image" Target="../media/image700.png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0.png"/><Relationship Id="rId7" Type="http://schemas.openxmlformats.org/officeDocument/2006/relationships/image" Target="../media/image760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750.png"/><Relationship Id="rId5" Type="http://schemas.openxmlformats.org/officeDocument/2006/relationships/image" Target="../media/image740.png"/><Relationship Id="rId4" Type="http://schemas.openxmlformats.org/officeDocument/2006/relationships/image" Target="../media/image710.png"/></Relationships>
</file>

<file path=ppt/slides/_rels/slide1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20.png"/><Relationship Id="rId3" Type="http://schemas.openxmlformats.org/officeDocument/2006/relationships/image" Target="../media/image770.png"/><Relationship Id="rId7" Type="http://schemas.openxmlformats.org/officeDocument/2006/relationships/image" Target="../media/image810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00.png"/><Relationship Id="rId5" Type="http://schemas.openxmlformats.org/officeDocument/2006/relationships/image" Target="../media/image790.png"/><Relationship Id="rId10" Type="http://schemas.openxmlformats.org/officeDocument/2006/relationships/image" Target="../media/image840.png"/><Relationship Id="rId4" Type="http://schemas.openxmlformats.org/officeDocument/2006/relationships/image" Target="../media/image780.png"/><Relationship Id="rId9" Type="http://schemas.openxmlformats.org/officeDocument/2006/relationships/image" Target="../media/image830.png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0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Relationship Id="rId5" Type="http://schemas.openxmlformats.org/officeDocument/2006/relationships/hyperlink" Target="https://kipp.ly/transformer-inference-arithmetic/" TargetMode="External"/><Relationship Id="rId4" Type="http://schemas.openxmlformats.org/officeDocument/2006/relationships/image" Target="../media/image860.png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12.xml"/></Relationships>
</file>

<file path=ppt/slides/_rels/slide14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mYRqvB1_gRk&amp;t=916s" TargetMode="External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07525-7836-5244-9DEE-9EE540F2A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4DD0B71-0878-EEC6-4231-808CA9B94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1</a:t>
            </a:fld>
            <a:endParaRPr lang="en-US"/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07AC5B16-3AD1-9C55-F012-8365660C908F}"/>
              </a:ext>
            </a:extLst>
          </p:cNvPr>
          <p:cNvSpPr txBox="1">
            <a:spLocks/>
          </p:cNvSpPr>
          <p:nvPr/>
        </p:nvSpPr>
        <p:spPr>
          <a:xfrm>
            <a:off x="936693" y="-15347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400" dirty="0"/>
              <a:t>Agenda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A46562-E4C3-573B-FB2C-A62176FAC0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984" y="2727565"/>
            <a:ext cx="8440031" cy="1402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49425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384BF-552C-5619-0530-23F8D1E786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142A5-CF3F-5A41-FC72-1C6F530753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Generative AI Project Life Cycle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9F354CD-F1FD-CF7B-A605-F9F71A98D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84287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55D23-A096-23D1-6F85-1FE10FB20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03392975-D970-28A5-86DC-137202D9BC27}"/>
              </a:ext>
            </a:extLst>
          </p:cNvPr>
          <p:cNvSpPr/>
          <p:nvPr/>
        </p:nvSpPr>
        <p:spPr>
          <a:xfrm>
            <a:off x="5455591" y="1911288"/>
            <a:ext cx="2809870" cy="2865701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Evaluate</a:t>
            </a:r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18A5A5C5-05A5-AF64-682B-30EF1BC9B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243" y="-5432"/>
            <a:ext cx="10515600" cy="1325563"/>
          </a:xfrm>
        </p:spPr>
        <p:txBody>
          <a:bodyPr/>
          <a:lstStyle/>
          <a:p>
            <a:r>
              <a:rPr lang="en-US" dirty="0" err="1"/>
              <a:t>GenAI</a:t>
            </a:r>
            <a:r>
              <a:rPr lang="en-US" dirty="0"/>
              <a:t> Life Cycle Project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87BB4D5-9972-292E-D998-03E9C3539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3</a:t>
            </a:fld>
            <a:endParaRPr lang="en-US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AEFA88D4-B594-E271-4A48-B0582FCC96E9}"/>
              </a:ext>
            </a:extLst>
          </p:cNvPr>
          <p:cNvSpPr/>
          <p:nvPr/>
        </p:nvSpPr>
        <p:spPr>
          <a:xfrm>
            <a:off x="1125069" y="1905301"/>
            <a:ext cx="1401857" cy="2865701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Define a use case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8E4EAD1-4BA3-5901-07F4-544364F71C9F}"/>
              </a:ext>
            </a:extLst>
          </p:cNvPr>
          <p:cNvSpPr/>
          <p:nvPr/>
        </p:nvSpPr>
        <p:spPr>
          <a:xfrm>
            <a:off x="3165669" y="1905301"/>
            <a:ext cx="1651179" cy="1432851"/>
          </a:xfrm>
          <a:prstGeom prst="round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Choose a model provider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DD3390F3-4EA6-B3FE-AB37-6FA448EDCEF5}"/>
              </a:ext>
            </a:extLst>
          </p:cNvPr>
          <p:cNvSpPr/>
          <p:nvPr/>
        </p:nvSpPr>
        <p:spPr>
          <a:xfrm>
            <a:off x="5703794" y="2459379"/>
            <a:ext cx="2297206" cy="546083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Prompt Engineering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4EEEF077-88A0-562D-6EA7-366004E1D33F}"/>
              </a:ext>
            </a:extLst>
          </p:cNvPr>
          <p:cNvSpPr/>
          <p:nvPr/>
        </p:nvSpPr>
        <p:spPr>
          <a:xfrm>
            <a:off x="5703794" y="3191830"/>
            <a:ext cx="2297206" cy="546083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Fine-tune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7BAE3684-DA42-0607-8150-BBE40C16EADA}"/>
              </a:ext>
            </a:extLst>
          </p:cNvPr>
          <p:cNvSpPr/>
          <p:nvPr/>
        </p:nvSpPr>
        <p:spPr>
          <a:xfrm>
            <a:off x="5703794" y="3888920"/>
            <a:ext cx="2297206" cy="546083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Align with Human feedback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AA3FD377-6963-A2A8-2680-86817CF9C983}"/>
              </a:ext>
            </a:extLst>
          </p:cNvPr>
          <p:cNvSpPr/>
          <p:nvPr/>
        </p:nvSpPr>
        <p:spPr>
          <a:xfrm>
            <a:off x="8904204" y="1905301"/>
            <a:ext cx="1828800" cy="2895003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Deploy &amp; Optimize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E5F0019F-3B90-0FB7-BBB0-BEE684E0442E}"/>
              </a:ext>
            </a:extLst>
          </p:cNvPr>
          <p:cNvSpPr/>
          <p:nvPr/>
        </p:nvSpPr>
        <p:spPr>
          <a:xfrm>
            <a:off x="3165669" y="3422631"/>
            <a:ext cx="1651179" cy="1354357"/>
          </a:xfrm>
          <a:prstGeom prst="round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Integrate with systems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ADB1930E-4FA0-B2A5-6986-779C46BB4F5D}"/>
              </a:ext>
            </a:extLst>
          </p:cNvPr>
          <p:cNvSpPr/>
          <p:nvPr/>
        </p:nvSpPr>
        <p:spPr>
          <a:xfrm>
            <a:off x="5455590" y="5052038"/>
            <a:ext cx="5277414" cy="546083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Observability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AD84B241-43C3-3406-7DEE-17C8E2B2D37B}"/>
              </a:ext>
            </a:extLst>
          </p:cNvPr>
          <p:cNvSpPr/>
          <p:nvPr/>
        </p:nvSpPr>
        <p:spPr>
          <a:xfrm>
            <a:off x="8904204" y="5742051"/>
            <a:ext cx="1828800" cy="546083"/>
          </a:xfrm>
          <a:prstGeom prst="round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Monitoring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F6F05CEC-DFA1-5FCF-EC36-0CE35C0B5BA4}"/>
              </a:ext>
            </a:extLst>
          </p:cNvPr>
          <p:cNvSpPr/>
          <p:nvPr/>
        </p:nvSpPr>
        <p:spPr>
          <a:xfrm>
            <a:off x="1600990" y="1320131"/>
            <a:ext cx="450014" cy="460482"/>
          </a:xfrm>
          <a:prstGeom prst="ellipse">
            <a:avLst/>
          </a:prstGeom>
          <a:solidFill>
            <a:srgbClr val="147BBF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CC7C7525-5B8F-87AC-4A52-D085229CD34F}"/>
              </a:ext>
            </a:extLst>
          </p:cNvPr>
          <p:cNvSpPr/>
          <p:nvPr/>
        </p:nvSpPr>
        <p:spPr>
          <a:xfrm>
            <a:off x="3766251" y="1320131"/>
            <a:ext cx="450014" cy="460482"/>
          </a:xfrm>
          <a:prstGeom prst="ellipse">
            <a:avLst/>
          </a:prstGeom>
          <a:solidFill>
            <a:srgbClr val="147BBF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CBADA34F-0C35-315F-2E11-B2A66AA497BD}"/>
              </a:ext>
            </a:extLst>
          </p:cNvPr>
          <p:cNvSpPr/>
          <p:nvPr/>
        </p:nvSpPr>
        <p:spPr>
          <a:xfrm>
            <a:off x="6627390" y="1322289"/>
            <a:ext cx="450014" cy="460482"/>
          </a:xfrm>
          <a:prstGeom prst="ellipse">
            <a:avLst/>
          </a:prstGeom>
          <a:solidFill>
            <a:srgbClr val="147BBF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E0B5543A-998E-F0E2-E6A2-3108339B5076}"/>
              </a:ext>
            </a:extLst>
          </p:cNvPr>
          <p:cNvSpPr/>
          <p:nvPr/>
        </p:nvSpPr>
        <p:spPr>
          <a:xfrm>
            <a:off x="9593597" y="1320131"/>
            <a:ext cx="450014" cy="460482"/>
          </a:xfrm>
          <a:prstGeom prst="ellipse">
            <a:avLst/>
          </a:prstGeom>
          <a:solidFill>
            <a:srgbClr val="147BBF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333566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19" grpId="0" animBg="1"/>
      <p:bldP spid="20" grpId="0" animBg="1"/>
      <p:bldP spid="22" grpId="0" animBg="1"/>
      <p:bldP spid="23" grpId="0" animBg="1"/>
      <p:bldP spid="24" grpId="0" animBg="1"/>
      <p:bldP spid="26" grpId="0" animBg="1"/>
      <p:bldP spid="27" grpId="0" animBg="1"/>
      <p:bldP spid="28" grpId="0" animBg="1"/>
      <p:bldP spid="29" grpId="0" animBg="1"/>
      <p:bldP spid="39" grpId="0" animBg="1"/>
      <p:bldP spid="40" grpId="0" animBg="1"/>
      <p:bldP spid="41" grpId="0" animBg="1"/>
      <p:bldP spid="4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FC672-E0D0-C5EC-A2F8-7F5CAA092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5D4EED28-296D-85F8-8611-6DFAC71EE8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243" y="-5432"/>
            <a:ext cx="10515600" cy="1325563"/>
          </a:xfrm>
        </p:spPr>
        <p:txBody>
          <a:bodyPr/>
          <a:lstStyle/>
          <a:p>
            <a:r>
              <a:rPr lang="en-US" dirty="0" err="1"/>
              <a:t>GenAI</a:t>
            </a:r>
            <a:r>
              <a:rPr lang="en-US" dirty="0"/>
              <a:t> Life Cycle Project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C186E54E-B62D-0F52-CB62-83C65A893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4</a:t>
            </a:fld>
            <a:endParaRPr lang="en-US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7E2B1488-E270-7106-500D-071B94350ABC}"/>
              </a:ext>
            </a:extLst>
          </p:cNvPr>
          <p:cNvSpPr/>
          <p:nvPr/>
        </p:nvSpPr>
        <p:spPr>
          <a:xfrm>
            <a:off x="1125069" y="1905301"/>
            <a:ext cx="1401857" cy="2865701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Define a use case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D17701B1-1DF2-4B53-1CA1-263162A4C291}"/>
              </a:ext>
            </a:extLst>
          </p:cNvPr>
          <p:cNvSpPr/>
          <p:nvPr/>
        </p:nvSpPr>
        <p:spPr>
          <a:xfrm>
            <a:off x="1600990" y="1320131"/>
            <a:ext cx="450014" cy="460482"/>
          </a:xfrm>
          <a:prstGeom prst="ellipse">
            <a:avLst/>
          </a:prstGeom>
          <a:solidFill>
            <a:srgbClr val="147BBF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4FB85C-57BB-8E3E-46D7-443BA991FA52}"/>
              </a:ext>
            </a:extLst>
          </p:cNvPr>
          <p:cNvSpPr txBox="1"/>
          <p:nvPr/>
        </p:nvSpPr>
        <p:spPr>
          <a:xfrm>
            <a:off x="3516405" y="2599487"/>
            <a:ext cx="5694379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Business First</a:t>
            </a:r>
            <a:r>
              <a:rPr lang="en-US" dirty="0"/>
              <a:t>: Put efforts on what adds business value</a:t>
            </a:r>
          </a:p>
          <a:p>
            <a:endParaRPr lang="en-US" dirty="0"/>
          </a:p>
          <a:p>
            <a:r>
              <a:rPr lang="en-US" b="1" dirty="0"/>
              <a:t>Define</a:t>
            </a:r>
            <a:r>
              <a:rPr lang="en-US" dirty="0"/>
              <a:t>: Functional and non-Functional requirements</a:t>
            </a:r>
          </a:p>
          <a:p>
            <a:endParaRPr lang="en-US" dirty="0"/>
          </a:p>
          <a:p>
            <a:r>
              <a:rPr lang="en-US" b="1" dirty="0"/>
              <a:t>Challenge : </a:t>
            </a:r>
            <a:r>
              <a:rPr lang="en-US" dirty="0"/>
              <a:t>Don’t say 'yes' to everything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809738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0E982-1E1D-C9D9-7853-9A18F9F72D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86EBFF28-9D65-EF69-E66C-8CB444E0AC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243" y="-5432"/>
            <a:ext cx="10515600" cy="1325563"/>
          </a:xfrm>
        </p:spPr>
        <p:txBody>
          <a:bodyPr/>
          <a:lstStyle/>
          <a:p>
            <a:r>
              <a:rPr lang="en-US" dirty="0" err="1"/>
              <a:t>GenAI</a:t>
            </a:r>
            <a:r>
              <a:rPr lang="en-US" dirty="0"/>
              <a:t> Life Cycle Project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E4D132D-185E-2B5B-1DC2-F4A322AA8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5</a:t>
            </a:fld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796106D3-4EA4-4098-E292-38260E96AA5E}"/>
              </a:ext>
            </a:extLst>
          </p:cNvPr>
          <p:cNvSpPr/>
          <p:nvPr/>
        </p:nvSpPr>
        <p:spPr>
          <a:xfrm>
            <a:off x="993969" y="1905301"/>
            <a:ext cx="1651179" cy="1432851"/>
          </a:xfrm>
          <a:prstGeom prst="round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Choose a model provider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0D380D95-42AD-6026-1853-410BF2AA1715}"/>
              </a:ext>
            </a:extLst>
          </p:cNvPr>
          <p:cNvSpPr/>
          <p:nvPr/>
        </p:nvSpPr>
        <p:spPr>
          <a:xfrm>
            <a:off x="993969" y="3422631"/>
            <a:ext cx="1651179" cy="1354357"/>
          </a:xfrm>
          <a:prstGeom prst="round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Integrate with systems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54BEEA4D-A600-25AD-5B81-7EA1CC054271}"/>
              </a:ext>
            </a:extLst>
          </p:cNvPr>
          <p:cNvSpPr/>
          <p:nvPr/>
        </p:nvSpPr>
        <p:spPr>
          <a:xfrm>
            <a:off x="1594551" y="1320131"/>
            <a:ext cx="450014" cy="460482"/>
          </a:xfrm>
          <a:prstGeom prst="ellipse">
            <a:avLst/>
          </a:prstGeom>
          <a:solidFill>
            <a:srgbClr val="147BBF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935DCB8-6305-4EA6-FD9E-AC764014C11E}"/>
              </a:ext>
            </a:extLst>
          </p:cNvPr>
          <p:cNvSpPr txBox="1"/>
          <p:nvPr/>
        </p:nvSpPr>
        <p:spPr>
          <a:xfrm>
            <a:off x="3408829" y="2622481"/>
            <a:ext cx="865923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Prioritize</a:t>
            </a:r>
            <a:r>
              <a:rPr lang="en-US" dirty="0"/>
              <a:t> Serverless and Managed Services first</a:t>
            </a:r>
          </a:p>
          <a:p>
            <a:endParaRPr lang="en-US" dirty="0"/>
          </a:p>
          <a:p>
            <a:r>
              <a:rPr lang="en-US" b="1" dirty="0"/>
              <a:t>Do Not Over Engineer </a:t>
            </a:r>
            <a:r>
              <a:rPr lang="en-US" dirty="0"/>
              <a:t>this ease the dev process and focuses on building solid project</a:t>
            </a:r>
          </a:p>
          <a:p>
            <a:endParaRPr lang="en-US" dirty="0"/>
          </a:p>
          <a:p>
            <a:r>
              <a:rPr lang="en-US" b="1" dirty="0"/>
              <a:t>Start Small </a:t>
            </a:r>
            <a:r>
              <a:rPr lang="en-US" dirty="0"/>
              <a:t>and then complexify only if needed</a:t>
            </a:r>
          </a:p>
        </p:txBody>
      </p:sp>
    </p:spTree>
    <p:extLst>
      <p:ext uri="{BB962C8B-B14F-4D97-AF65-F5344CB8AC3E}">
        <p14:creationId xmlns:p14="http://schemas.microsoft.com/office/powerpoint/2010/main" val="15590195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D09DC1-1455-739E-99BB-2E2173D76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1F398CEB-15E8-B4B4-C4E1-F356ABDACE89}"/>
              </a:ext>
            </a:extLst>
          </p:cNvPr>
          <p:cNvSpPr/>
          <p:nvPr/>
        </p:nvSpPr>
        <p:spPr>
          <a:xfrm>
            <a:off x="429191" y="1909130"/>
            <a:ext cx="2809870" cy="2865701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Evaluate</a:t>
            </a:r>
          </a:p>
        </p:txBody>
      </p:sp>
      <p:sp>
        <p:nvSpPr>
          <p:cNvPr id="5" name="Title 2">
            <a:extLst>
              <a:ext uri="{FF2B5EF4-FFF2-40B4-BE49-F238E27FC236}">
                <a16:creationId xmlns:a16="http://schemas.microsoft.com/office/drawing/2014/main" id="{C84FA2A0-F781-880C-E0FF-34732F508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243" y="-5432"/>
            <a:ext cx="10515600" cy="1325563"/>
          </a:xfrm>
        </p:spPr>
        <p:txBody>
          <a:bodyPr/>
          <a:lstStyle/>
          <a:p>
            <a:r>
              <a:rPr lang="en-US" dirty="0" err="1"/>
              <a:t>GenAI</a:t>
            </a:r>
            <a:r>
              <a:rPr lang="en-US" dirty="0"/>
              <a:t> Life Cycle Project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8BC7A4BE-D34D-84F5-BFF2-693EC8E68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6</a:t>
            </a:fld>
            <a:endParaRPr lang="en-US"/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15101478-F768-5A7C-08FC-0A7D90DB3E95}"/>
              </a:ext>
            </a:extLst>
          </p:cNvPr>
          <p:cNvSpPr/>
          <p:nvPr/>
        </p:nvSpPr>
        <p:spPr>
          <a:xfrm>
            <a:off x="677394" y="2457221"/>
            <a:ext cx="2297206" cy="546083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Prompt Engineering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F1572464-A8BC-EED6-75A3-A869DFA136EB}"/>
              </a:ext>
            </a:extLst>
          </p:cNvPr>
          <p:cNvSpPr/>
          <p:nvPr/>
        </p:nvSpPr>
        <p:spPr>
          <a:xfrm>
            <a:off x="677394" y="3189672"/>
            <a:ext cx="2297206" cy="546083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Fine-tune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91A1E9E2-EE6F-BD85-7918-9DFA904D7D32}"/>
              </a:ext>
            </a:extLst>
          </p:cNvPr>
          <p:cNvSpPr/>
          <p:nvPr/>
        </p:nvSpPr>
        <p:spPr>
          <a:xfrm>
            <a:off x="677394" y="3886762"/>
            <a:ext cx="2297206" cy="546083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Align with Human feedback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BC3C7B94-B043-CFBA-B775-FFCC6EF4E172}"/>
              </a:ext>
            </a:extLst>
          </p:cNvPr>
          <p:cNvSpPr/>
          <p:nvPr/>
        </p:nvSpPr>
        <p:spPr>
          <a:xfrm>
            <a:off x="429191" y="4991786"/>
            <a:ext cx="5277414" cy="546083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Observability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61237432-7459-F774-4FC1-50460CFEFEDB}"/>
              </a:ext>
            </a:extLst>
          </p:cNvPr>
          <p:cNvSpPr/>
          <p:nvPr/>
        </p:nvSpPr>
        <p:spPr>
          <a:xfrm>
            <a:off x="1614435" y="1320131"/>
            <a:ext cx="450014" cy="460482"/>
          </a:xfrm>
          <a:prstGeom prst="ellipse">
            <a:avLst/>
          </a:prstGeom>
          <a:solidFill>
            <a:srgbClr val="147BBF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81476E7-393E-965E-08BF-A2837FEF5DE7}"/>
              </a:ext>
            </a:extLst>
          </p:cNvPr>
          <p:cNvSpPr txBox="1"/>
          <p:nvPr/>
        </p:nvSpPr>
        <p:spPr>
          <a:xfrm>
            <a:off x="3768126" y="2308551"/>
            <a:ext cx="8302850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Define</a:t>
            </a:r>
            <a:r>
              <a:rPr lang="en-US" dirty="0"/>
              <a:t> the metrics associated to the Functional and non-Functional requirements</a:t>
            </a:r>
          </a:p>
          <a:p>
            <a:endParaRPr lang="en-US" dirty="0"/>
          </a:p>
          <a:p>
            <a:r>
              <a:rPr lang="en-US" b="1" dirty="0"/>
              <a:t>Build Ground Truth </a:t>
            </a:r>
            <a:r>
              <a:rPr lang="en-US" dirty="0"/>
              <a:t>datasets</a:t>
            </a:r>
          </a:p>
          <a:p>
            <a:endParaRPr lang="en-US" dirty="0"/>
          </a:p>
          <a:p>
            <a:r>
              <a:rPr lang="en-US" dirty="0"/>
              <a:t>You can change only </a:t>
            </a:r>
            <a:r>
              <a:rPr lang="en-US" b="1" dirty="0"/>
              <a:t>what you see</a:t>
            </a:r>
          </a:p>
          <a:p>
            <a:endParaRPr lang="en-US" b="1" dirty="0"/>
          </a:p>
          <a:p>
            <a:r>
              <a:rPr lang="en-US" b="1" dirty="0"/>
              <a:t>Involve</a:t>
            </a:r>
            <a:r>
              <a:rPr lang="en-US" dirty="0"/>
              <a:t> the business</a:t>
            </a:r>
            <a:endParaRPr lang="en-US" b="1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21435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8A802-B4DC-7F11-0622-6A6448127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E23E0E47-DFDA-6D50-07D9-3281BCD96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243" y="-5432"/>
            <a:ext cx="10515600" cy="1325563"/>
          </a:xfrm>
        </p:spPr>
        <p:txBody>
          <a:bodyPr/>
          <a:lstStyle/>
          <a:p>
            <a:r>
              <a:rPr lang="en-US" dirty="0" err="1"/>
              <a:t>GenAI</a:t>
            </a:r>
            <a:r>
              <a:rPr lang="en-US" dirty="0"/>
              <a:t> Life Cycle Project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664F941-D75B-C433-7570-8861E9ACF1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7</a:t>
            </a:fld>
            <a:endParaRPr lang="en-US"/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9502482F-5CB3-C8EE-5726-190E91E984BC}"/>
              </a:ext>
            </a:extLst>
          </p:cNvPr>
          <p:cNvSpPr/>
          <p:nvPr/>
        </p:nvSpPr>
        <p:spPr>
          <a:xfrm>
            <a:off x="909926" y="1905301"/>
            <a:ext cx="1828800" cy="2895003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Deploy &amp; Optimize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A9DB49D6-52FA-2F6F-58AC-0DE404080144}"/>
              </a:ext>
            </a:extLst>
          </p:cNvPr>
          <p:cNvSpPr/>
          <p:nvPr/>
        </p:nvSpPr>
        <p:spPr>
          <a:xfrm>
            <a:off x="909926" y="5052038"/>
            <a:ext cx="1828800" cy="546083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Observability</a:t>
            </a: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8D0542C2-B366-B874-9635-C233EC3DD415}"/>
              </a:ext>
            </a:extLst>
          </p:cNvPr>
          <p:cNvSpPr/>
          <p:nvPr/>
        </p:nvSpPr>
        <p:spPr>
          <a:xfrm>
            <a:off x="909926" y="5742051"/>
            <a:ext cx="1828800" cy="546083"/>
          </a:xfrm>
          <a:prstGeom prst="round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Monitoring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9376384F-10CD-C042-A867-50707D30C99E}"/>
              </a:ext>
            </a:extLst>
          </p:cNvPr>
          <p:cNvSpPr/>
          <p:nvPr/>
        </p:nvSpPr>
        <p:spPr>
          <a:xfrm>
            <a:off x="1600990" y="1320131"/>
            <a:ext cx="450014" cy="460482"/>
          </a:xfrm>
          <a:prstGeom prst="ellipse">
            <a:avLst/>
          </a:prstGeom>
          <a:solidFill>
            <a:srgbClr val="147BBF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50AE5D-C85C-9B8D-0347-CF05828C23F0}"/>
              </a:ext>
            </a:extLst>
          </p:cNvPr>
          <p:cNvSpPr txBox="1"/>
          <p:nvPr/>
        </p:nvSpPr>
        <p:spPr>
          <a:xfrm>
            <a:off x="3927663" y="2690336"/>
            <a:ext cx="680981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Be obsessed </a:t>
            </a:r>
            <a:r>
              <a:rPr lang="en-US" dirty="0"/>
              <a:t>by the Cost/Performance/Operation dimensions </a:t>
            </a:r>
          </a:p>
          <a:p>
            <a:endParaRPr lang="en-US" dirty="0"/>
          </a:p>
          <a:p>
            <a:r>
              <a:rPr lang="en-US" b="1" dirty="0"/>
              <a:t>Observe</a:t>
            </a:r>
            <a:r>
              <a:rPr lang="en-US" dirty="0"/>
              <a:t> what is happening the power of the </a:t>
            </a:r>
            <a:r>
              <a:rPr lang="en-US" b="1" dirty="0"/>
              <a:t>feedback loop</a:t>
            </a:r>
          </a:p>
          <a:p>
            <a:endParaRPr lang="en-US" dirty="0"/>
          </a:p>
          <a:p>
            <a:r>
              <a:rPr lang="en-US" b="1" dirty="0"/>
              <a:t>Monitor</a:t>
            </a:r>
            <a:r>
              <a:rPr lang="en-US" dirty="0"/>
              <a:t> the infrastructure</a:t>
            </a:r>
          </a:p>
        </p:txBody>
      </p:sp>
    </p:spTree>
    <p:extLst>
      <p:ext uri="{BB962C8B-B14F-4D97-AF65-F5344CB8AC3E}">
        <p14:creationId xmlns:p14="http://schemas.microsoft.com/office/powerpoint/2010/main" val="2015382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75360"/>
          </a:xfrm>
          <a:prstGeom prst="rect">
            <a:avLst/>
          </a:prstGeom>
          <a:solidFill>
            <a:srgbClr val="277884"/>
          </a:solidFill>
          <a:ln>
            <a:solidFill>
              <a:srgbClr val="277884"/>
            </a:solidFill>
          </a:ln>
        </p:spPr>
        <p:txBody>
          <a:bodyPr/>
          <a:lstStyle/>
          <a:p>
            <a:endParaRPr lang="en-US" sz="2400"/>
          </a:p>
        </p:txBody>
      </p:sp>
      <p:sp>
        <p:nvSpPr>
          <p:cNvPr id="4" name="Text 2"/>
          <p:cNvSpPr/>
          <p:nvPr/>
        </p:nvSpPr>
        <p:spPr>
          <a:xfrm>
            <a:off x="365760" y="42672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667" b="1" dirty="0">
                <a:solidFill>
                  <a:srgbClr val="FFFFFF"/>
                </a:solidFill>
              </a:rPr>
              <a:t>GenAI Project Lifecycle</a:t>
            </a:r>
            <a:endParaRPr lang="en-US" sz="2667" dirty="0"/>
          </a:p>
        </p:txBody>
      </p:sp>
      <p:sp>
        <p:nvSpPr>
          <p:cNvPr id="5" name="Shape 3"/>
          <p:cNvSpPr/>
          <p:nvPr/>
        </p:nvSpPr>
        <p:spPr>
          <a:xfrm>
            <a:off x="365760" y="1219200"/>
            <a:ext cx="11460480" cy="1463040"/>
          </a:xfrm>
          <a:prstGeom prst="rect">
            <a:avLst/>
          </a:prstGeom>
          <a:solidFill>
            <a:srgbClr val="F4F6F6"/>
          </a:solidFill>
          <a:ln w="254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609600" y="1341120"/>
            <a:ext cx="10972800" cy="121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dirty="0">
                <a:solidFill>
                  <a:srgbClr val="1C2833"/>
                </a:solidFill>
              </a:rPr>
              <a:t>Your sales team wants an AI chatbot that can answer any customer question instantly and close deals automatically. The dev team is excited to start building.</a:t>
            </a:r>
            <a:endParaRPr lang="en-US" sz="1867" dirty="0"/>
          </a:p>
        </p:txBody>
      </p:sp>
      <p:sp>
        <p:nvSpPr>
          <p:cNvPr id="7" name="Text 5"/>
          <p:cNvSpPr/>
          <p:nvPr/>
        </p:nvSpPr>
        <p:spPr>
          <a:xfrm>
            <a:off x="382089" y="2926080"/>
            <a:ext cx="114604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133" b="1" dirty="0">
                <a:solidFill>
                  <a:srgbClr val="1C2833"/>
                </a:solidFill>
              </a:rPr>
              <a:t>What should be your FIRST priority as a project leader?</a:t>
            </a:r>
            <a:endParaRPr lang="en-US" sz="2133" dirty="0"/>
          </a:p>
        </p:txBody>
      </p:sp>
      <p:sp>
        <p:nvSpPr>
          <p:cNvPr id="8" name="Shape 6"/>
          <p:cNvSpPr/>
          <p:nvPr/>
        </p:nvSpPr>
        <p:spPr>
          <a:xfrm>
            <a:off x="365760" y="3352800"/>
            <a:ext cx="11460480" cy="609600"/>
          </a:xfrm>
          <a:prstGeom prst="rect">
            <a:avLst/>
          </a:prstGeom>
          <a:solidFill>
            <a:srgbClr val="E8F5E9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9" name="Text 7"/>
          <p:cNvSpPr/>
          <p:nvPr/>
        </p:nvSpPr>
        <p:spPr>
          <a:xfrm>
            <a:off x="609600" y="365760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/>
              <a:t>A) Define clear functional and non-functional requirements with measurable success criteria </a:t>
            </a:r>
          </a:p>
        </p:txBody>
      </p:sp>
      <p:sp>
        <p:nvSpPr>
          <p:cNvPr id="10" name="Text 8"/>
          <p:cNvSpPr/>
          <p:nvPr/>
        </p:nvSpPr>
        <p:spPr>
          <a:xfrm>
            <a:off x="609600" y="43891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C2833"/>
                </a:solidFill>
              </a:rPr>
              <a:t>B) Select the most powerful LLM model available to ensure quality</a:t>
            </a:r>
            <a:endParaRPr lang="en-US" sz="1733" dirty="0"/>
          </a:p>
        </p:txBody>
      </p:sp>
      <p:sp>
        <p:nvSpPr>
          <p:cNvPr id="11" name="Text 9"/>
          <p:cNvSpPr/>
          <p:nvPr/>
        </p:nvSpPr>
        <p:spPr>
          <a:xfrm>
            <a:off x="609600" y="512064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C2833"/>
                </a:solidFill>
              </a:rPr>
              <a:t>C) Start with a proof of concept using GPT-4</a:t>
            </a:r>
            <a:endParaRPr lang="en-US" sz="1733" dirty="0"/>
          </a:p>
        </p:txBody>
      </p:sp>
      <p:sp>
        <p:nvSpPr>
          <p:cNvPr id="12" name="Text 10"/>
          <p:cNvSpPr/>
          <p:nvPr/>
        </p:nvSpPr>
        <p:spPr>
          <a:xfrm>
            <a:off x="609600" y="585216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C2833"/>
                </a:solidFill>
              </a:rPr>
              <a:t>D) Benchmark different model providers for cost optimization</a:t>
            </a:r>
            <a:endParaRPr lang="en-US" sz="173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75360"/>
          </a:xfrm>
          <a:prstGeom prst="rect">
            <a:avLst/>
          </a:prstGeom>
          <a:solidFill>
            <a:srgbClr val="277884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4" name="Text 2"/>
          <p:cNvSpPr/>
          <p:nvPr/>
        </p:nvSpPr>
        <p:spPr>
          <a:xfrm>
            <a:off x="365760" y="42672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667" b="1" dirty="0">
                <a:solidFill>
                  <a:srgbClr val="FFFFFF"/>
                </a:solidFill>
              </a:rPr>
              <a:t>Model Provider Selection</a:t>
            </a:r>
            <a:endParaRPr lang="en-US" sz="2667" dirty="0"/>
          </a:p>
        </p:txBody>
      </p:sp>
      <p:sp>
        <p:nvSpPr>
          <p:cNvPr id="5" name="Shape 3"/>
          <p:cNvSpPr/>
          <p:nvPr/>
        </p:nvSpPr>
        <p:spPr>
          <a:xfrm>
            <a:off x="365760" y="1219200"/>
            <a:ext cx="11460480" cy="1463040"/>
          </a:xfrm>
          <a:prstGeom prst="rect">
            <a:avLst/>
          </a:prstGeom>
          <a:solidFill>
            <a:srgbClr val="F4F6F6"/>
          </a:solidFill>
          <a:ln w="254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609600" y="1341120"/>
            <a:ext cx="10972800" cy="121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dirty="0">
                <a:solidFill>
                  <a:srgbClr val="1C2833"/>
                </a:solidFill>
              </a:rPr>
              <a:t>You're building an internal knowledge assistant. Requirements: 100K daily queries, 99.9% uptime, confidential data, &lt;2s response, $3K/month budget.</a:t>
            </a:r>
            <a:endParaRPr lang="en-US" sz="1867" dirty="0"/>
          </a:p>
        </p:txBody>
      </p:sp>
      <p:sp>
        <p:nvSpPr>
          <p:cNvPr id="7" name="Text 5"/>
          <p:cNvSpPr/>
          <p:nvPr/>
        </p:nvSpPr>
        <p:spPr>
          <a:xfrm>
            <a:off x="365760" y="2926080"/>
            <a:ext cx="114604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133" b="1" dirty="0">
                <a:solidFill>
                  <a:srgbClr val="1C2833"/>
                </a:solidFill>
              </a:rPr>
              <a:t>What's your primary consideration for model selection?</a:t>
            </a:r>
            <a:endParaRPr lang="en-US" sz="2133" dirty="0"/>
          </a:p>
        </p:txBody>
      </p:sp>
      <p:sp>
        <p:nvSpPr>
          <p:cNvPr id="8" name="Text 6"/>
          <p:cNvSpPr/>
          <p:nvPr/>
        </p:nvSpPr>
        <p:spPr>
          <a:xfrm>
            <a:off x="609600" y="365760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C2833"/>
                </a:solidFill>
              </a:rPr>
              <a:t>A) Choose the highest-performing model on benchmarks</a:t>
            </a:r>
            <a:endParaRPr lang="en-US" sz="1733" dirty="0"/>
          </a:p>
        </p:txBody>
      </p:sp>
      <p:sp>
        <p:nvSpPr>
          <p:cNvPr id="9" name="Shape 7"/>
          <p:cNvSpPr/>
          <p:nvPr/>
        </p:nvSpPr>
        <p:spPr>
          <a:xfrm>
            <a:off x="365760" y="4084320"/>
            <a:ext cx="11460480" cy="609600"/>
          </a:xfrm>
          <a:prstGeom prst="rect">
            <a:avLst/>
          </a:prstGeom>
          <a:solidFill>
            <a:srgbClr val="E8F5E9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0" name="Text 8"/>
          <p:cNvSpPr/>
          <p:nvPr/>
        </p:nvSpPr>
        <p:spPr>
          <a:xfrm>
            <a:off x="609600" y="43891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/>
              <a:t>B) Balance performance, cost, latency, and data privacy requirements </a:t>
            </a:r>
            <a:r>
              <a:rPr lang="en-US" sz="1733" dirty="0">
                <a:sym typeface="Wingdings" pitchFamily="2" charset="2"/>
              </a:rPr>
              <a:t> Challenge the requirements</a:t>
            </a:r>
            <a:endParaRPr lang="en-US" sz="1733" dirty="0"/>
          </a:p>
        </p:txBody>
      </p:sp>
      <p:sp>
        <p:nvSpPr>
          <p:cNvPr id="11" name="Text 9"/>
          <p:cNvSpPr/>
          <p:nvPr/>
        </p:nvSpPr>
        <p:spPr>
          <a:xfrm>
            <a:off x="609600" y="512064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C2833"/>
                </a:solidFill>
              </a:rPr>
              <a:t>C) Always use open-source models for cost savings</a:t>
            </a:r>
            <a:endParaRPr lang="en-US" sz="1733" dirty="0"/>
          </a:p>
        </p:txBody>
      </p:sp>
      <p:sp>
        <p:nvSpPr>
          <p:cNvPr id="12" name="Text 10"/>
          <p:cNvSpPr/>
          <p:nvPr/>
        </p:nvSpPr>
        <p:spPr>
          <a:xfrm>
            <a:off x="609600" y="585216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C2833"/>
                </a:solidFill>
              </a:rPr>
              <a:t>D) Select the most popular provider for community support</a:t>
            </a:r>
            <a:endParaRPr lang="en-US" sz="173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0870C-B2BF-7EE1-3357-A9755917B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24CF0-BFF6-13F3-25AE-62138426F62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Prompt Engineering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ACB9121-8A4B-CEC8-CD62-A966EFFEA8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9467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0B146-24A6-1693-20B5-9DEA5A074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F3169F9-8549-E2FD-08F2-4C264A17B6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11</a:t>
            </a:fld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927CB4C7-2FAC-B2BC-16A4-B3870326F007}"/>
              </a:ext>
            </a:extLst>
          </p:cNvPr>
          <p:cNvSpPr/>
          <p:nvPr/>
        </p:nvSpPr>
        <p:spPr>
          <a:xfrm>
            <a:off x="5455591" y="1911288"/>
            <a:ext cx="2809870" cy="2865701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Evaluate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25EB517-818A-0F82-C35D-6D838C04D059}"/>
              </a:ext>
            </a:extLst>
          </p:cNvPr>
          <p:cNvSpPr/>
          <p:nvPr/>
        </p:nvSpPr>
        <p:spPr>
          <a:xfrm>
            <a:off x="1125069" y="1905301"/>
            <a:ext cx="1401857" cy="2865701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Define a use case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0E212F35-1B8C-2428-E745-0B3DEAA3D685}"/>
              </a:ext>
            </a:extLst>
          </p:cNvPr>
          <p:cNvSpPr/>
          <p:nvPr/>
        </p:nvSpPr>
        <p:spPr>
          <a:xfrm>
            <a:off x="3165669" y="1905301"/>
            <a:ext cx="1651179" cy="1432851"/>
          </a:xfrm>
          <a:prstGeom prst="round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Choose a model provider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EB2C1ED5-88C8-0C35-ED94-774F1A74ECDE}"/>
              </a:ext>
            </a:extLst>
          </p:cNvPr>
          <p:cNvSpPr/>
          <p:nvPr/>
        </p:nvSpPr>
        <p:spPr>
          <a:xfrm>
            <a:off x="5703794" y="2459379"/>
            <a:ext cx="2297206" cy="546083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Prompt Engineering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2E199DF0-AD28-64A9-0BA6-DCAE953CEC0E}"/>
              </a:ext>
            </a:extLst>
          </p:cNvPr>
          <p:cNvSpPr/>
          <p:nvPr/>
        </p:nvSpPr>
        <p:spPr>
          <a:xfrm>
            <a:off x="5703794" y="3191830"/>
            <a:ext cx="2297206" cy="546083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Fine-tune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625B3C8-8F45-C2DB-7C2A-B894EBDD610C}"/>
              </a:ext>
            </a:extLst>
          </p:cNvPr>
          <p:cNvSpPr/>
          <p:nvPr/>
        </p:nvSpPr>
        <p:spPr>
          <a:xfrm>
            <a:off x="5703794" y="3888920"/>
            <a:ext cx="2297206" cy="546083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Align with Human feedback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425F9119-A779-090A-9639-4331AC842AF7}"/>
              </a:ext>
            </a:extLst>
          </p:cNvPr>
          <p:cNvSpPr/>
          <p:nvPr/>
        </p:nvSpPr>
        <p:spPr>
          <a:xfrm>
            <a:off x="8904204" y="1905301"/>
            <a:ext cx="1828800" cy="2895003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Deploy &amp; Optimize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254935AC-25EA-0D7F-720E-00A19509472C}"/>
              </a:ext>
            </a:extLst>
          </p:cNvPr>
          <p:cNvSpPr/>
          <p:nvPr/>
        </p:nvSpPr>
        <p:spPr>
          <a:xfrm>
            <a:off x="3165669" y="3422631"/>
            <a:ext cx="1651179" cy="1354357"/>
          </a:xfrm>
          <a:prstGeom prst="round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Integrate with systems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00B1723-77A1-0C30-B3F3-333A711316E7}"/>
              </a:ext>
            </a:extLst>
          </p:cNvPr>
          <p:cNvSpPr/>
          <p:nvPr/>
        </p:nvSpPr>
        <p:spPr>
          <a:xfrm>
            <a:off x="5455590" y="5052038"/>
            <a:ext cx="5277414" cy="546083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Observability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BCEC132A-DD6D-12F5-A27B-C21F5036CA8F}"/>
              </a:ext>
            </a:extLst>
          </p:cNvPr>
          <p:cNvSpPr/>
          <p:nvPr/>
        </p:nvSpPr>
        <p:spPr>
          <a:xfrm>
            <a:off x="8904204" y="5742051"/>
            <a:ext cx="1828800" cy="546083"/>
          </a:xfrm>
          <a:prstGeom prst="round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Monitoring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4539DA8-6121-2C3B-7076-BF2857C887B5}"/>
              </a:ext>
            </a:extLst>
          </p:cNvPr>
          <p:cNvSpPr/>
          <p:nvPr/>
        </p:nvSpPr>
        <p:spPr>
          <a:xfrm>
            <a:off x="1600990" y="1320131"/>
            <a:ext cx="450014" cy="460482"/>
          </a:xfrm>
          <a:prstGeom prst="ellipse">
            <a:avLst/>
          </a:prstGeom>
          <a:solidFill>
            <a:srgbClr val="147BBF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578166B-34A1-65E4-05C6-26A43B78FA37}"/>
              </a:ext>
            </a:extLst>
          </p:cNvPr>
          <p:cNvSpPr/>
          <p:nvPr/>
        </p:nvSpPr>
        <p:spPr>
          <a:xfrm>
            <a:off x="3766251" y="1320131"/>
            <a:ext cx="450014" cy="460482"/>
          </a:xfrm>
          <a:prstGeom prst="ellipse">
            <a:avLst/>
          </a:prstGeom>
          <a:solidFill>
            <a:srgbClr val="147BBF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CD15FC4B-29E4-D744-71C6-70B6DA3BD36E}"/>
              </a:ext>
            </a:extLst>
          </p:cNvPr>
          <p:cNvSpPr/>
          <p:nvPr/>
        </p:nvSpPr>
        <p:spPr>
          <a:xfrm>
            <a:off x="6627390" y="1322289"/>
            <a:ext cx="450014" cy="460482"/>
          </a:xfrm>
          <a:prstGeom prst="ellipse">
            <a:avLst/>
          </a:prstGeom>
          <a:solidFill>
            <a:srgbClr val="147BBF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0393DE4-0F84-7245-B8E4-361CD08BBDB5}"/>
              </a:ext>
            </a:extLst>
          </p:cNvPr>
          <p:cNvSpPr/>
          <p:nvPr/>
        </p:nvSpPr>
        <p:spPr>
          <a:xfrm>
            <a:off x="9593597" y="1320131"/>
            <a:ext cx="450014" cy="460482"/>
          </a:xfrm>
          <a:prstGeom prst="ellipse">
            <a:avLst/>
          </a:prstGeom>
          <a:solidFill>
            <a:srgbClr val="147BBF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72BCD02A-B943-B8AA-707F-E291EF61F95E}"/>
              </a:ext>
            </a:extLst>
          </p:cNvPr>
          <p:cNvSpPr/>
          <p:nvPr/>
        </p:nvSpPr>
        <p:spPr>
          <a:xfrm>
            <a:off x="5303521" y="2391730"/>
            <a:ext cx="3101008" cy="65617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4583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67CFC-000A-8BF6-600F-1BD3E4D57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3F614346-E2DA-3424-D0B2-7DF1773D20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243" y="-5432"/>
            <a:ext cx="10515600" cy="1325563"/>
          </a:xfrm>
        </p:spPr>
        <p:txBody>
          <a:bodyPr/>
          <a:lstStyle/>
          <a:p>
            <a:r>
              <a:rPr lang="en-US" dirty="0"/>
              <a:t>Prompt Definition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EA81B3E-1D06-B658-D1B9-2EC005E8B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12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EC4B6E-2B85-A389-4FF4-CC5C8D1B7BE3}"/>
              </a:ext>
            </a:extLst>
          </p:cNvPr>
          <p:cNvSpPr txBox="1"/>
          <p:nvPr/>
        </p:nvSpPr>
        <p:spPr>
          <a:xfrm>
            <a:off x="3552739" y="6352143"/>
            <a:ext cx="50865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A Systematic Survey of Prompt Engineering - 2024</a:t>
            </a:r>
            <a:endParaRPr lang="en-US" dirty="0"/>
          </a:p>
        </p:txBody>
      </p:sp>
      <p:pic>
        <p:nvPicPr>
          <p:cNvPr id="9" name="Picture 8" descr="A diagram of a diagram&#10;&#10;Description automatically generated">
            <a:extLst>
              <a:ext uri="{FF2B5EF4-FFF2-40B4-BE49-F238E27FC236}">
                <a16:creationId xmlns:a16="http://schemas.microsoft.com/office/drawing/2014/main" id="{4FD4C787-DE0A-BD7C-92F1-4422EBEED2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75843" y="1924050"/>
            <a:ext cx="7772400" cy="2618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2315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BCF7B-8D0B-8A09-F8D9-C758DDED9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BB8CA63-6A17-620A-D95A-1A829B8711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13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75BAAA-0119-196F-1A78-2716F548FFE0}"/>
              </a:ext>
            </a:extLst>
          </p:cNvPr>
          <p:cNvSpPr txBox="1"/>
          <p:nvPr/>
        </p:nvSpPr>
        <p:spPr>
          <a:xfrm>
            <a:off x="4433686" y="6356349"/>
            <a:ext cx="33246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Measuring Agents in Production</a:t>
            </a:r>
            <a:endParaRPr lang="en-US" dirty="0"/>
          </a:p>
        </p:txBody>
      </p:sp>
      <p:pic>
        <p:nvPicPr>
          <p:cNvPr id="7" name="Picture 6" descr="A chart with text and numbers&#10;&#10;Description automatically generated with medium confidence">
            <a:extLst>
              <a:ext uri="{FF2B5EF4-FFF2-40B4-BE49-F238E27FC236}">
                <a16:creationId xmlns:a16="http://schemas.microsoft.com/office/drawing/2014/main" id="{1B94A793-D7C8-BC7E-1181-3E39027A12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55522" y="0"/>
            <a:ext cx="542893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00008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329958-D640-7B54-BADB-F60BEEA64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1BEF8AA9-A919-D59D-F01D-828DF8DD7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243" y="-5432"/>
            <a:ext cx="10515600" cy="1325563"/>
          </a:xfrm>
        </p:spPr>
        <p:txBody>
          <a:bodyPr/>
          <a:lstStyle/>
          <a:p>
            <a:r>
              <a:rPr lang="en-US" dirty="0"/>
              <a:t>What happens with real use case?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E05F3BA-FA28-3970-4825-22AE8B7CF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14</a:t>
            </a:fld>
            <a:endParaRPr lang="en-US"/>
          </a:p>
        </p:txBody>
      </p:sp>
      <p:pic>
        <p:nvPicPr>
          <p:cNvPr id="4" name="Picture 3" descr="A graph with text and numbers&#10;&#10;Description automatically generated">
            <a:extLst>
              <a:ext uri="{FF2B5EF4-FFF2-40B4-BE49-F238E27FC236}">
                <a16:creationId xmlns:a16="http://schemas.microsoft.com/office/drawing/2014/main" id="{E51B7A7A-1362-86F9-7272-0EB5575773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800" y="1692306"/>
            <a:ext cx="7772400" cy="428345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9DAEBB5-0672-0440-A9E6-A0FA8F0EF48B}"/>
              </a:ext>
            </a:extLst>
          </p:cNvPr>
          <p:cNvSpPr txBox="1"/>
          <p:nvPr/>
        </p:nvSpPr>
        <p:spPr>
          <a:xfrm>
            <a:off x="4101062" y="6352143"/>
            <a:ext cx="39898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4"/>
              </a:rPr>
              <a:t>Measuring Agents in Production - 2025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81914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8A523-C628-B04A-78E0-3E4931FF0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22F3BC8D-CB7C-6D07-880D-624105224D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243" y="-5432"/>
            <a:ext cx="10515600" cy="1325563"/>
          </a:xfrm>
        </p:spPr>
        <p:txBody>
          <a:bodyPr/>
          <a:lstStyle/>
          <a:p>
            <a:r>
              <a:rPr lang="en-US" dirty="0"/>
              <a:t>Why Prompt Engineering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84814508-9EFD-568E-2E82-D2546CEF2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15</a:t>
            </a:fld>
            <a:endParaRPr lang="en-US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8B4FA7E-C1E9-2E99-A5BA-F40EEE4FFFE5}"/>
              </a:ext>
            </a:extLst>
          </p:cNvPr>
          <p:cNvSpPr/>
          <p:nvPr/>
        </p:nvSpPr>
        <p:spPr>
          <a:xfrm>
            <a:off x="2345068" y="2230838"/>
            <a:ext cx="450014" cy="460482"/>
          </a:xfrm>
          <a:prstGeom prst="ellipse">
            <a:avLst/>
          </a:prstGeom>
          <a:solidFill>
            <a:srgbClr val="147BBF"/>
          </a:solidFill>
          <a:ln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07C203-A02E-6164-5BE8-2282ABBF8BF9}"/>
              </a:ext>
            </a:extLst>
          </p:cNvPr>
          <p:cNvSpPr txBox="1"/>
          <p:nvPr/>
        </p:nvSpPr>
        <p:spPr>
          <a:xfrm>
            <a:off x="3005470" y="2276412"/>
            <a:ext cx="4947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Easiest way to control LLM output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5930C7-8388-8ACE-E5A7-BD37EF2B3257}"/>
              </a:ext>
            </a:extLst>
          </p:cNvPr>
          <p:cNvSpPr txBox="1"/>
          <p:nvPr/>
        </p:nvSpPr>
        <p:spPr>
          <a:xfrm>
            <a:off x="3005470" y="3117715"/>
            <a:ext cx="4947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Less technical concept, easy to grasp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6C6B53-40B1-41BE-4075-367B4E584C2A}"/>
              </a:ext>
            </a:extLst>
          </p:cNvPr>
          <p:cNvSpPr txBox="1"/>
          <p:nvPr/>
        </p:nvSpPr>
        <p:spPr>
          <a:xfrm>
            <a:off x="3005470" y="3941728"/>
            <a:ext cx="4947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Low cost / high impact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07ECFB4B-8BC5-8F20-F38E-E8A755DB8454}"/>
              </a:ext>
            </a:extLst>
          </p:cNvPr>
          <p:cNvSpPr/>
          <p:nvPr/>
        </p:nvSpPr>
        <p:spPr>
          <a:xfrm>
            <a:off x="2345068" y="3072140"/>
            <a:ext cx="450014" cy="460482"/>
          </a:xfrm>
          <a:prstGeom prst="ellipse">
            <a:avLst/>
          </a:prstGeom>
          <a:solidFill>
            <a:srgbClr val="147BB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C2C6327-C417-07B8-DD24-8FDB690A3FCE}"/>
              </a:ext>
            </a:extLst>
          </p:cNvPr>
          <p:cNvSpPr/>
          <p:nvPr/>
        </p:nvSpPr>
        <p:spPr>
          <a:xfrm>
            <a:off x="2340556" y="3896153"/>
            <a:ext cx="450014" cy="460482"/>
          </a:xfrm>
          <a:prstGeom prst="ellipse">
            <a:avLst/>
          </a:prstGeom>
          <a:solidFill>
            <a:srgbClr val="147BB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757396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/>
      <p:bldP spid="7" grpId="0"/>
      <p:bldP spid="8" grpId="0"/>
      <p:bldP spid="9" grpId="0" animBg="1"/>
      <p:bldP spid="1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03A68-0D14-5BD3-5D2A-ACCA939FE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18F25CB6-2919-7960-7995-27E99B6614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243" y="-5432"/>
            <a:ext cx="10515600" cy="1325563"/>
          </a:xfrm>
        </p:spPr>
        <p:txBody>
          <a:bodyPr/>
          <a:lstStyle/>
          <a:p>
            <a:r>
              <a:rPr lang="en-US" dirty="0"/>
              <a:t>Chain-of-Thought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05DD62D-B2D9-9900-672D-33D14D926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16</a:t>
            </a:fld>
            <a:endParaRPr lang="en-US"/>
          </a:p>
        </p:txBody>
      </p:sp>
      <p:pic>
        <p:nvPicPr>
          <p:cNvPr id="6" name="Picture 5" descr="A screenshot of a computer&#10;&#10;Description automatically generated">
            <a:extLst>
              <a:ext uri="{FF2B5EF4-FFF2-40B4-BE49-F238E27FC236}">
                <a16:creationId xmlns:a16="http://schemas.microsoft.com/office/drawing/2014/main" id="{503B3E42-4D2F-47F9-1F67-32EC1A1B2E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4511" y="1541417"/>
            <a:ext cx="8219402" cy="399228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3F899E2-DBBE-F99F-CCC7-B4551DD5C370}"/>
              </a:ext>
            </a:extLst>
          </p:cNvPr>
          <p:cNvSpPr txBox="1"/>
          <p:nvPr/>
        </p:nvSpPr>
        <p:spPr>
          <a:xfrm>
            <a:off x="2880953" y="6356350"/>
            <a:ext cx="6246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hlinkClick r:id="rId4"/>
              </a:rPr>
              <a:t>Chain-of-Thought Prompting Elicits Reasoning in Large Language Models - 2022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7648089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1B6214-2810-34DD-EEDB-1DB9BEF33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02E7190B-1040-DB4E-8079-BB69E0AE26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243" y="-5432"/>
            <a:ext cx="10515600" cy="1325563"/>
          </a:xfrm>
        </p:spPr>
        <p:txBody>
          <a:bodyPr/>
          <a:lstStyle/>
          <a:p>
            <a:r>
              <a:rPr lang="en-US" dirty="0"/>
              <a:t>Chain of Thought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C569C9C-918E-F838-8976-C0744FB80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17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969318-7F38-B7FB-64BD-7B513B129FD4}"/>
              </a:ext>
            </a:extLst>
          </p:cNvPr>
          <p:cNvSpPr txBox="1"/>
          <p:nvPr/>
        </p:nvSpPr>
        <p:spPr>
          <a:xfrm>
            <a:off x="2938784" y="6385023"/>
            <a:ext cx="624651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hlinkClick r:id="rId3"/>
              </a:rPr>
              <a:t>Chain-of-Thought Prompting Elicits Reasoning in Large Language Models - 2022</a:t>
            </a:r>
            <a:endParaRPr lang="en-US" sz="1400" dirty="0"/>
          </a:p>
        </p:txBody>
      </p:sp>
      <p:pic>
        <p:nvPicPr>
          <p:cNvPr id="3" name="Picture 2" descr="A graph of a number of numbers and a bar chart&#10;&#10;Description automatically generated with medium confidence">
            <a:extLst>
              <a:ext uri="{FF2B5EF4-FFF2-40B4-BE49-F238E27FC236}">
                <a16:creationId xmlns:a16="http://schemas.microsoft.com/office/drawing/2014/main" id="{824B0D31-14A5-FEA1-B806-1FA056ED11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4734" y="969107"/>
            <a:ext cx="5342532" cy="51246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14013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D15754-C9BB-A70C-4075-4F1A66068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8FC078FE-3A3C-6F39-1BDE-46F1E9A11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243" y="-5432"/>
            <a:ext cx="10515600" cy="1325563"/>
          </a:xfrm>
        </p:spPr>
        <p:txBody>
          <a:bodyPr/>
          <a:lstStyle/>
          <a:p>
            <a:r>
              <a:rPr lang="en-US" dirty="0"/>
              <a:t>Tree-of-Though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E432757-8876-F126-F0A0-49A7540FC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18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CEDA351-9239-DDB0-7666-6B94188B0B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3403" y="1320131"/>
            <a:ext cx="8717280" cy="430889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DBB0C4B-83CB-1D4B-FE2B-8D168C064284}"/>
              </a:ext>
            </a:extLst>
          </p:cNvPr>
          <p:cNvSpPr txBox="1"/>
          <p:nvPr/>
        </p:nvSpPr>
        <p:spPr>
          <a:xfrm>
            <a:off x="2865014" y="6202461"/>
            <a:ext cx="639405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hlinkClick r:id="rId4"/>
              </a:rPr>
              <a:t>Tree of Thoughts: Deliberate Problem Solving with Large Language Models – 2023</a:t>
            </a:r>
            <a:endParaRPr lang="en-US" sz="1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DA53A59-06F1-2365-42D4-0E850919690A}"/>
              </a:ext>
            </a:extLst>
          </p:cNvPr>
          <p:cNvSpPr txBox="1"/>
          <p:nvPr/>
        </p:nvSpPr>
        <p:spPr>
          <a:xfrm>
            <a:off x="10686553" y="3474577"/>
            <a:ext cx="10910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FF0000"/>
                </a:solidFill>
              </a:rPr>
              <a:t>! COST</a:t>
            </a:r>
          </a:p>
        </p:txBody>
      </p:sp>
    </p:spTree>
    <p:extLst>
      <p:ext uri="{BB962C8B-B14F-4D97-AF65-F5344CB8AC3E}">
        <p14:creationId xmlns:p14="http://schemas.microsoft.com/office/powerpoint/2010/main" val="4204143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1A4DAB-45DE-BC96-B415-B65F242CA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FFCD1D79-BB12-4BA0-7254-95BDE24EAA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243" y="-5432"/>
            <a:ext cx="10515600" cy="1325563"/>
          </a:xfrm>
        </p:spPr>
        <p:txBody>
          <a:bodyPr/>
          <a:lstStyle/>
          <a:p>
            <a:r>
              <a:rPr lang="en-US" dirty="0"/>
              <a:t>Prompt Chaining &amp; Stepwise Prompt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FBD73DC-DDE7-CA66-30B7-AAD2FDA86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19</a:t>
            </a:fld>
            <a:endParaRPr lang="en-US"/>
          </a:p>
        </p:txBody>
      </p:sp>
      <p:pic>
        <p:nvPicPr>
          <p:cNvPr id="6" name="Picture 5" descr="A screenshot of a diagram&#10;&#10;Description automatically generated">
            <a:extLst>
              <a:ext uri="{FF2B5EF4-FFF2-40B4-BE49-F238E27FC236}">
                <a16:creationId xmlns:a16="http://schemas.microsoft.com/office/drawing/2014/main" id="{F14DB2EE-FF10-F40E-4329-09614F9092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5631" y="999388"/>
            <a:ext cx="6091656" cy="553786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8F74A05-3735-D6EA-D1F0-13AC32FB05C2}"/>
              </a:ext>
            </a:extLst>
          </p:cNvPr>
          <p:cNvSpPr txBox="1"/>
          <p:nvPr/>
        </p:nvSpPr>
        <p:spPr>
          <a:xfrm>
            <a:off x="2504172" y="6519446"/>
            <a:ext cx="65857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hlinkClick r:id="rId4"/>
              </a:rPr>
              <a:t>Prompt Chaining or Stepwise Prompt? Refinement in Text Summarization</a:t>
            </a:r>
            <a:endParaRPr lang="en-US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D2CFAC-222E-5289-43C8-C23ED411E924}"/>
              </a:ext>
            </a:extLst>
          </p:cNvPr>
          <p:cNvSpPr txBox="1"/>
          <p:nvPr/>
        </p:nvSpPr>
        <p:spPr>
          <a:xfrm>
            <a:off x="8689629" y="2828835"/>
            <a:ext cx="324858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“Experimental results </a:t>
            </a:r>
          </a:p>
          <a:p>
            <a:r>
              <a:rPr lang="en-US" dirty="0"/>
              <a:t>show that the prompt chaining </a:t>
            </a:r>
          </a:p>
          <a:p>
            <a:r>
              <a:rPr lang="en-US" dirty="0"/>
              <a:t>method can produce a </a:t>
            </a:r>
          </a:p>
          <a:p>
            <a:r>
              <a:rPr lang="en-US" dirty="0"/>
              <a:t>more favorable outcome”</a:t>
            </a:r>
          </a:p>
        </p:txBody>
      </p:sp>
      <p:pic>
        <p:nvPicPr>
          <p:cNvPr id="14" name="Graphic 13" descr="Badge Tick1 with solid fill">
            <a:extLst>
              <a:ext uri="{FF2B5EF4-FFF2-40B4-BE49-F238E27FC236}">
                <a16:creationId xmlns:a16="http://schemas.microsoft.com/office/drawing/2014/main" id="{2F595768-522E-0C95-3D55-E40713F0C8C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339861" y="5640441"/>
            <a:ext cx="914400" cy="914400"/>
          </a:xfrm>
          <a:prstGeom prst="rect">
            <a:avLst/>
          </a:prstGeom>
        </p:spPr>
      </p:pic>
      <p:pic>
        <p:nvPicPr>
          <p:cNvPr id="16" name="Graphic 15" descr="Badge Cross with solid fill">
            <a:extLst>
              <a:ext uri="{FF2B5EF4-FFF2-40B4-BE49-F238E27FC236}">
                <a16:creationId xmlns:a16="http://schemas.microsoft.com/office/drawing/2014/main" id="{3AB39154-0FD2-99B1-7376-F017D87055BA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949999" y="4378569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8271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A821A-03BA-11AD-7C83-4C1BF67098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0EBBF179-05BA-B3B7-E80D-B533241E5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243" y="-5432"/>
            <a:ext cx="10515600" cy="1325563"/>
          </a:xfrm>
        </p:spPr>
        <p:txBody>
          <a:bodyPr/>
          <a:lstStyle/>
          <a:p>
            <a:r>
              <a:rPr lang="en-US" dirty="0" err="1"/>
              <a:t>ReAct</a:t>
            </a:r>
            <a:r>
              <a:rPr lang="en-US" dirty="0"/>
              <a:t>: Reason + Act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747B2982-0B7F-E90B-D395-C2287670F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20</a:t>
            </a:fld>
            <a:endParaRPr lang="en-US"/>
          </a:p>
        </p:txBody>
      </p:sp>
      <p:pic>
        <p:nvPicPr>
          <p:cNvPr id="3" name="Picture 2" descr="A screenshot of a computer&#10;&#10;Description automatically generated">
            <a:extLst>
              <a:ext uri="{FF2B5EF4-FFF2-40B4-BE49-F238E27FC236}">
                <a16:creationId xmlns:a16="http://schemas.microsoft.com/office/drawing/2014/main" id="{47FDA78E-9400-02ED-D48E-190183A0E4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7975" y="1478392"/>
            <a:ext cx="9676050" cy="412230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107CC5A-DE14-8031-539D-B4FDCDEEB62D}"/>
              </a:ext>
            </a:extLst>
          </p:cNvPr>
          <p:cNvSpPr txBox="1"/>
          <p:nvPr/>
        </p:nvSpPr>
        <p:spPr>
          <a:xfrm>
            <a:off x="2963008" y="6187073"/>
            <a:ext cx="61874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>
                <a:hlinkClick r:id="rId4"/>
              </a:rPr>
              <a:t>ReAct</a:t>
            </a:r>
            <a:r>
              <a:rPr lang="en-US" sz="1600" dirty="0">
                <a:hlinkClick r:id="rId4"/>
              </a:rPr>
              <a:t>: Synergizing Reasoning and Acting in Language Models - 2022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9323757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541A8-D1A0-48C8-047F-3B026FED6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92AD9F17-1E75-4691-0343-936A962FF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243" y="-5432"/>
            <a:ext cx="10515600" cy="1325563"/>
          </a:xfrm>
        </p:spPr>
        <p:txBody>
          <a:bodyPr/>
          <a:lstStyle/>
          <a:p>
            <a:r>
              <a:rPr lang="en-US" dirty="0"/>
              <a:t>Anthropic Prompt Guide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E7D5865-96F0-7782-4B51-C8D63391D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21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5BB45F3-CBD6-3116-576A-EBE664FF57E4}"/>
              </a:ext>
            </a:extLst>
          </p:cNvPr>
          <p:cNvSpPr txBox="1"/>
          <p:nvPr/>
        </p:nvSpPr>
        <p:spPr>
          <a:xfrm>
            <a:off x="5227519" y="3075057"/>
            <a:ext cx="166904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3"/>
              </a:rPr>
              <a:t>GUIDE</a:t>
            </a:r>
            <a:endParaRPr lang="en-US" sz="4000" dirty="0"/>
          </a:p>
        </p:txBody>
      </p:sp>
      <p:pic>
        <p:nvPicPr>
          <p:cNvPr id="4" name="Picture 2" descr="Anthropic Vector Logo - Download Free SVG Icon | Worldvectorlogo">
            <a:extLst>
              <a:ext uri="{FF2B5EF4-FFF2-40B4-BE49-F238E27FC236}">
                <a16:creationId xmlns:a16="http://schemas.microsoft.com/office/drawing/2014/main" id="{8C8C7178-555A-8194-A959-1F6D357D9B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41407" y="2532537"/>
            <a:ext cx="1792925" cy="1792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971775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9EE7E2-C088-83DB-33CD-1EBEFCBF5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AF419FF8-0AA1-080D-923A-20400D24BF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243" y="-5432"/>
            <a:ext cx="10515600" cy="1325563"/>
          </a:xfrm>
        </p:spPr>
        <p:txBody>
          <a:bodyPr/>
          <a:lstStyle/>
          <a:p>
            <a:r>
              <a:rPr lang="en-US" dirty="0"/>
              <a:t>OpenAI Prompt Guide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1A5A7B9D-C3B4-3749-7AAE-B31E5568F5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22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A5A5E6-5FBB-42D5-898E-300B35F2C511}"/>
              </a:ext>
            </a:extLst>
          </p:cNvPr>
          <p:cNvSpPr txBox="1"/>
          <p:nvPr/>
        </p:nvSpPr>
        <p:spPr>
          <a:xfrm>
            <a:off x="5227519" y="3075057"/>
            <a:ext cx="1669047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3"/>
              </a:rPr>
              <a:t>GUIDE</a:t>
            </a:r>
            <a:endParaRPr lang="en-US" sz="4000" dirty="0"/>
          </a:p>
        </p:txBody>
      </p:sp>
      <p:pic>
        <p:nvPicPr>
          <p:cNvPr id="6" name="Picture 2" descr="OpenAI Vector Logo - Download Free SVG Icon | Worldvectorlogo">
            <a:extLst>
              <a:ext uri="{FF2B5EF4-FFF2-40B4-BE49-F238E27FC236}">
                <a16:creationId xmlns:a16="http://schemas.microsoft.com/office/drawing/2014/main" id="{727A2113-980E-4B42-D105-03F4BDFDE9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27646" y="2718776"/>
            <a:ext cx="1420445" cy="14204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706227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6929E-9B94-92F8-BE51-00512FC1B9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BE0757B1-BC61-3AB4-8209-8CAB42200E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2279"/>
            <a:ext cx="10515600" cy="1325563"/>
          </a:xfrm>
        </p:spPr>
        <p:txBody>
          <a:bodyPr/>
          <a:lstStyle/>
          <a:p>
            <a:r>
              <a:rPr lang="en-US" dirty="0"/>
              <a:t>Inference Parameters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1C1287B-F9A4-F5C7-C5B9-E3DF174DE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23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F293B87-715B-D5B3-54AA-B39E34A715DA}"/>
              </a:ext>
            </a:extLst>
          </p:cNvPr>
          <p:cNvSpPr txBox="1"/>
          <p:nvPr/>
        </p:nvSpPr>
        <p:spPr>
          <a:xfrm>
            <a:off x="804243" y="1555845"/>
            <a:ext cx="1931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Temperature [0:1]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95C780-B083-83C3-DCAE-8E905B046BCB}"/>
              </a:ext>
            </a:extLst>
          </p:cNvPr>
          <p:cNvSpPr txBox="1"/>
          <p:nvPr/>
        </p:nvSpPr>
        <p:spPr>
          <a:xfrm>
            <a:off x="1220202" y="3169608"/>
            <a:ext cx="24806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  <a:cs typeface="Al Bayan Plain" pitchFamily="2" charset="-78"/>
              </a:rPr>
              <a:t>“The city of Paris is”</a:t>
            </a:r>
            <a:r>
              <a:rPr lang="en-US" dirty="0">
                <a:latin typeface="American Typewriter" panose="02090604020004020304" pitchFamily="18" charset="77"/>
                <a:cs typeface="Al Bayan Plain" pitchFamily="2" charset="-78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5CBF6C-BF45-6086-30A5-E637FC19AC37}"/>
              </a:ext>
            </a:extLst>
          </p:cNvPr>
          <p:cNvSpPr txBox="1"/>
          <p:nvPr/>
        </p:nvSpPr>
        <p:spPr>
          <a:xfrm>
            <a:off x="4458103" y="2713942"/>
            <a:ext cx="1167307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beautiful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EFC333-B6D4-D17C-A822-3143EDEF4335}"/>
              </a:ext>
            </a:extLst>
          </p:cNvPr>
          <p:cNvSpPr txBox="1"/>
          <p:nvPr/>
        </p:nvSpPr>
        <p:spPr>
          <a:xfrm>
            <a:off x="4458103" y="3134884"/>
            <a:ext cx="784189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small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356A0D-2D32-9645-F7AA-069023BCEDC4}"/>
              </a:ext>
            </a:extLst>
          </p:cNvPr>
          <p:cNvSpPr txBox="1"/>
          <p:nvPr/>
        </p:nvSpPr>
        <p:spPr>
          <a:xfrm>
            <a:off x="4458103" y="3555826"/>
            <a:ext cx="1164101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walkable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523654-38F4-EC40-D989-0401EE112803}"/>
              </a:ext>
            </a:extLst>
          </p:cNvPr>
          <p:cNvSpPr txBox="1"/>
          <p:nvPr/>
        </p:nvSpPr>
        <p:spPr>
          <a:xfrm>
            <a:off x="1488929" y="4982705"/>
            <a:ext cx="15231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i="1" dirty="0"/>
              <a:t>LLM input sequence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114EF1-E0E5-0815-CC35-BEA173F4EE6D}"/>
              </a:ext>
            </a:extLst>
          </p:cNvPr>
          <p:cNvSpPr txBox="1"/>
          <p:nvPr/>
        </p:nvSpPr>
        <p:spPr>
          <a:xfrm>
            <a:off x="4174980" y="5002696"/>
            <a:ext cx="18824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i="1" dirty="0"/>
              <a:t>Output candidates T = 0.5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E8CAA1B-8C0A-2076-2997-947F1BA048F3}"/>
              </a:ext>
            </a:extLst>
          </p:cNvPr>
          <p:cNvSpPr txBox="1"/>
          <p:nvPr/>
        </p:nvSpPr>
        <p:spPr>
          <a:xfrm>
            <a:off x="4846991" y="3978637"/>
            <a:ext cx="221536" cy="55399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000" dirty="0"/>
              <a:t>.</a:t>
            </a:r>
          </a:p>
          <a:p>
            <a:r>
              <a:rPr lang="en-US" sz="1000" dirty="0"/>
              <a:t>.</a:t>
            </a:r>
          </a:p>
          <a:p>
            <a:r>
              <a:rPr lang="en-US" sz="1000" dirty="0"/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53EE7A-2211-5784-427C-2C97D7EBDCFB}"/>
              </a:ext>
            </a:extLst>
          </p:cNvPr>
          <p:cNvSpPr txBox="1"/>
          <p:nvPr/>
        </p:nvSpPr>
        <p:spPr>
          <a:xfrm>
            <a:off x="4454902" y="2719729"/>
            <a:ext cx="1167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beautiful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3D8ECE0-3987-F11E-EC93-D25427E6EC77}"/>
              </a:ext>
            </a:extLst>
          </p:cNvPr>
          <p:cNvSpPr txBox="1"/>
          <p:nvPr/>
        </p:nvSpPr>
        <p:spPr>
          <a:xfrm>
            <a:off x="4454902" y="3134230"/>
            <a:ext cx="7841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small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348494B-CEBB-1AB4-B088-A4E82449E0CD}"/>
              </a:ext>
            </a:extLst>
          </p:cNvPr>
          <p:cNvSpPr txBox="1"/>
          <p:nvPr/>
        </p:nvSpPr>
        <p:spPr>
          <a:xfrm>
            <a:off x="4454902" y="3561613"/>
            <a:ext cx="11641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walkable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B97B693-66B5-AFCF-93E3-2FEB44C6F442}"/>
              </a:ext>
            </a:extLst>
          </p:cNvPr>
          <p:cNvSpPr txBox="1"/>
          <p:nvPr/>
        </p:nvSpPr>
        <p:spPr>
          <a:xfrm>
            <a:off x="5854478" y="2713942"/>
            <a:ext cx="6639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72%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2BA43EE-8899-1A03-1803-87BBDABF1115}"/>
              </a:ext>
            </a:extLst>
          </p:cNvPr>
          <p:cNvSpPr txBox="1"/>
          <p:nvPr/>
        </p:nvSpPr>
        <p:spPr>
          <a:xfrm>
            <a:off x="5854478" y="3133553"/>
            <a:ext cx="5445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15%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6258064-5DBD-C3EF-A270-3F523524E1E4}"/>
              </a:ext>
            </a:extLst>
          </p:cNvPr>
          <p:cNvSpPr txBox="1"/>
          <p:nvPr/>
        </p:nvSpPr>
        <p:spPr>
          <a:xfrm>
            <a:off x="5854478" y="3604804"/>
            <a:ext cx="4058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merican Typewriter" panose="02090604020004020304" pitchFamily="18" charset="77"/>
              </a:rPr>
              <a:t>8%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B719972-40D4-0AEC-0F1E-6B67F5505846}"/>
              </a:ext>
            </a:extLst>
          </p:cNvPr>
          <p:cNvSpPr txBox="1"/>
          <p:nvPr/>
        </p:nvSpPr>
        <p:spPr>
          <a:xfrm>
            <a:off x="5864096" y="4096615"/>
            <a:ext cx="38664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American Typewriter" panose="02090604020004020304" pitchFamily="18" charset="77"/>
              </a:rPr>
              <a:t>5%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90B8FD1-5E80-6DE6-67DC-8A3D69E581F1}"/>
              </a:ext>
            </a:extLst>
          </p:cNvPr>
          <p:cNvSpPr txBox="1"/>
          <p:nvPr/>
        </p:nvSpPr>
        <p:spPr>
          <a:xfrm>
            <a:off x="2869594" y="1583896"/>
            <a:ext cx="15397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rgbClr val="FF0000"/>
                </a:solidFill>
              </a:rPr>
              <a:t>High (e.g. &gt;0.8)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D369538-30F4-7BCE-6898-160089770296}"/>
              </a:ext>
            </a:extLst>
          </p:cNvPr>
          <p:cNvSpPr txBox="1"/>
          <p:nvPr/>
        </p:nvSpPr>
        <p:spPr>
          <a:xfrm>
            <a:off x="7449705" y="2713942"/>
            <a:ext cx="1167307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beautiful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F01DB88-9309-B5FA-5F92-51AA08057B35}"/>
              </a:ext>
            </a:extLst>
          </p:cNvPr>
          <p:cNvSpPr txBox="1"/>
          <p:nvPr/>
        </p:nvSpPr>
        <p:spPr>
          <a:xfrm>
            <a:off x="7449705" y="3134884"/>
            <a:ext cx="784189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small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921E511-B5D2-FD4F-83F1-FF4A43632C8C}"/>
              </a:ext>
            </a:extLst>
          </p:cNvPr>
          <p:cNvSpPr txBox="1"/>
          <p:nvPr/>
        </p:nvSpPr>
        <p:spPr>
          <a:xfrm>
            <a:off x="7449705" y="3555826"/>
            <a:ext cx="1164101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walkable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316BEC6-81AF-4FE7-3A41-259A2F9D1B15}"/>
              </a:ext>
            </a:extLst>
          </p:cNvPr>
          <p:cNvSpPr txBox="1"/>
          <p:nvPr/>
        </p:nvSpPr>
        <p:spPr>
          <a:xfrm>
            <a:off x="7838593" y="3976768"/>
            <a:ext cx="221536" cy="55399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000" dirty="0"/>
              <a:t>.</a:t>
            </a:r>
          </a:p>
          <a:p>
            <a:r>
              <a:rPr lang="en-US" sz="1000" dirty="0"/>
              <a:t>.</a:t>
            </a:r>
          </a:p>
          <a:p>
            <a:r>
              <a:rPr lang="en-US" sz="1000" dirty="0"/>
              <a:t>.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EF065A1-3D16-22A6-FAEB-2F5543AB39FD}"/>
              </a:ext>
            </a:extLst>
          </p:cNvPr>
          <p:cNvSpPr txBox="1"/>
          <p:nvPr/>
        </p:nvSpPr>
        <p:spPr>
          <a:xfrm>
            <a:off x="8846080" y="2713942"/>
            <a:ext cx="6639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42%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26CF142-7D5B-1690-0AC8-900481F28D50}"/>
              </a:ext>
            </a:extLst>
          </p:cNvPr>
          <p:cNvSpPr txBox="1"/>
          <p:nvPr/>
        </p:nvSpPr>
        <p:spPr>
          <a:xfrm>
            <a:off x="8846080" y="3133553"/>
            <a:ext cx="55656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39%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EFB5D00-2EC0-72D5-E23A-D0247F39F0BE}"/>
              </a:ext>
            </a:extLst>
          </p:cNvPr>
          <p:cNvSpPr txBox="1"/>
          <p:nvPr/>
        </p:nvSpPr>
        <p:spPr>
          <a:xfrm>
            <a:off x="8846080" y="3604804"/>
            <a:ext cx="49167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merican Typewriter" panose="02090604020004020304" pitchFamily="18" charset="77"/>
              </a:rPr>
              <a:t>11%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C4C0197-7EAC-0846-D07C-FC3A7BAE47C1}"/>
              </a:ext>
            </a:extLst>
          </p:cNvPr>
          <p:cNvSpPr txBox="1"/>
          <p:nvPr/>
        </p:nvSpPr>
        <p:spPr>
          <a:xfrm>
            <a:off x="8846080" y="4100608"/>
            <a:ext cx="38664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American Typewriter" panose="02090604020004020304" pitchFamily="18" charset="77"/>
              </a:rPr>
              <a:t>9%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35C8ECB-1CD6-2B0A-2290-85383975D21D}"/>
              </a:ext>
            </a:extLst>
          </p:cNvPr>
          <p:cNvCxnSpPr/>
          <p:nvPr/>
        </p:nvCxnSpPr>
        <p:spPr>
          <a:xfrm>
            <a:off x="6518442" y="3504216"/>
            <a:ext cx="547902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3676E54C-6257-44CC-FD34-365E2C086A6E}"/>
              </a:ext>
            </a:extLst>
          </p:cNvPr>
          <p:cNvSpPr txBox="1"/>
          <p:nvPr/>
        </p:nvSpPr>
        <p:spPr>
          <a:xfrm>
            <a:off x="9803153" y="3331223"/>
            <a:ext cx="1893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“More Creativity”</a:t>
            </a:r>
          </a:p>
        </p:txBody>
      </p:sp>
    </p:spTree>
    <p:extLst>
      <p:ext uri="{BB962C8B-B14F-4D97-AF65-F5344CB8AC3E}">
        <p14:creationId xmlns:p14="http://schemas.microsoft.com/office/powerpoint/2010/main" val="25932928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7" grpId="0" animBg="1"/>
      <p:bldP spid="8" grpId="0" animBg="1"/>
      <p:bldP spid="9" grpId="0" animBg="1"/>
      <p:bldP spid="11" grpId="0"/>
      <p:bldP spid="12" grpId="0"/>
      <p:bldP spid="13" grpId="0"/>
      <p:bldP spid="13" grpId="1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 animBg="1"/>
      <p:bldP spid="26" grpId="0" animBg="1"/>
      <p:bldP spid="27" grpId="0" animBg="1"/>
      <p:bldP spid="28" grpId="0" animBg="1"/>
      <p:bldP spid="32" grpId="0"/>
      <p:bldP spid="33" grpId="0"/>
      <p:bldP spid="34" grpId="0"/>
      <p:bldP spid="35" grpId="0"/>
      <p:bldP spid="39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9051E-7D2F-269B-8C69-762DA02E67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62AD3615-96DE-D62D-D0FF-3D9132E3B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2279"/>
            <a:ext cx="10515600" cy="1325563"/>
          </a:xfrm>
        </p:spPr>
        <p:txBody>
          <a:bodyPr/>
          <a:lstStyle/>
          <a:p>
            <a:r>
              <a:rPr lang="en-US" dirty="0"/>
              <a:t>Inference Parameters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5F087D4-83F9-3354-E971-4FE9AB51E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24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5441BCF-AB7B-7078-40B4-7B98585B4E3F}"/>
              </a:ext>
            </a:extLst>
          </p:cNvPr>
          <p:cNvSpPr txBox="1"/>
          <p:nvPr/>
        </p:nvSpPr>
        <p:spPr>
          <a:xfrm>
            <a:off x="804243" y="1555845"/>
            <a:ext cx="1931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Temperature [0:1]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B940F9C-04E9-48B3-286E-DC30AFB20A9E}"/>
              </a:ext>
            </a:extLst>
          </p:cNvPr>
          <p:cNvSpPr txBox="1"/>
          <p:nvPr/>
        </p:nvSpPr>
        <p:spPr>
          <a:xfrm>
            <a:off x="1220202" y="3169608"/>
            <a:ext cx="24806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  <a:cs typeface="Al Bayan Plain" pitchFamily="2" charset="-78"/>
              </a:rPr>
              <a:t>“The city of Paris is”</a:t>
            </a:r>
            <a:r>
              <a:rPr lang="en-US" dirty="0">
                <a:latin typeface="American Typewriter" panose="02090604020004020304" pitchFamily="18" charset="77"/>
                <a:cs typeface="Al Bayan Plain" pitchFamily="2" charset="-78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C23A64-F17C-5B41-BD5F-90371626929E}"/>
              </a:ext>
            </a:extLst>
          </p:cNvPr>
          <p:cNvSpPr txBox="1"/>
          <p:nvPr/>
        </p:nvSpPr>
        <p:spPr>
          <a:xfrm>
            <a:off x="4458103" y="2713942"/>
            <a:ext cx="1167307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beautiful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515F65-3ADC-1DCB-536F-09786773CF79}"/>
              </a:ext>
            </a:extLst>
          </p:cNvPr>
          <p:cNvSpPr txBox="1"/>
          <p:nvPr/>
        </p:nvSpPr>
        <p:spPr>
          <a:xfrm>
            <a:off x="4458103" y="3134884"/>
            <a:ext cx="784189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small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56F1D2-A262-DCB1-D58F-F7704F6F5BF0}"/>
              </a:ext>
            </a:extLst>
          </p:cNvPr>
          <p:cNvSpPr txBox="1"/>
          <p:nvPr/>
        </p:nvSpPr>
        <p:spPr>
          <a:xfrm>
            <a:off x="4458103" y="3555826"/>
            <a:ext cx="1164101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walkable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6D523C8-1320-EA17-E5FC-1731FAEDEB0A}"/>
              </a:ext>
            </a:extLst>
          </p:cNvPr>
          <p:cNvSpPr txBox="1"/>
          <p:nvPr/>
        </p:nvSpPr>
        <p:spPr>
          <a:xfrm>
            <a:off x="1488929" y="4982705"/>
            <a:ext cx="15231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i="1" dirty="0"/>
              <a:t>LLM input sequence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511C679-F916-2242-A9B4-0484ECEB8F69}"/>
              </a:ext>
            </a:extLst>
          </p:cNvPr>
          <p:cNvSpPr txBox="1"/>
          <p:nvPr/>
        </p:nvSpPr>
        <p:spPr>
          <a:xfrm>
            <a:off x="4174980" y="5002696"/>
            <a:ext cx="18824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i="1" dirty="0"/>
              <a:t>Output candidates T = 0.5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6E235ED-EE3C-3F0A-B7F9-399FC436F02C}"/>
              </a:ext>
            </a:extLst>
          </p:cNvPr>
          <p:cNvSpPr txBox="1"/>
          <p:nvPr/>
        </p:nvSpPr>
        <p:spPr>
          <a:xfrm>
            <a:off x="4846991" y="3978637"/>
            <a:ext cx="221536" cy="55399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000" dirty="0"/>
              <a:t>.</a:t>
            </a:r>
          </a:p>
          <a:p>
            <a:r>
              <a:rPr lang="en-US" sz="1000" dirty="0"/>
              <a:t>.</a:t>
            </a:r>
          </a:p>
          <a:p>
            <a:r>
              <a:rPr lang="en-US" sz="1000" dirty="0"/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6E7035C-AFFB-A453-8CDD-7DA0AE2CDC72}"/>
              </a:ext>
            </a:extLst>
          </p:cNvPr>
          <p:cNvSpPr txBox="1"/>
          <p:nvPr/>
        </p:nvSpPr>
        <p:spPr>
          <a:xfrm>
            <a:off x="4454902" y="2719729"/>
            <a:ext cx="1167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beautiful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111ADD1-D401-FCC1-E21E-736218AD347C}"/>
              </a:ext>
            </a:extLst>
          </p:cNvPr>
          <p:cNvSpPr txBox="1"/>
          <p:nvPr/>
        </p:nvSpPr>
        <p:spPr>
          <a:xfrm>
            <a:off x="4454902" y="3134230"/>
            <a:ext cx="7841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small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41D8F09-6C61-8D99-FCEE-EF4D1E6EA626}"/>
              </a:ext>
            </a:extLst>
          </p:cNvPr>
          <p:cNvSpPr txBox="1"/>
          <p:nvPr/>
        </p:nvSpPr>
        <p:spPr>
          <a:xfrm>
            <a:off x="4454902" y="3561613"/>
            <a:ext cx="11641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walkable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116C88E-E7A3-26E9-9328-8EDD5C39820B}"/>
              </a:ext>
            </a:extLst>
          </p:cNvPr>
          <p:cNvSpPr txBox="1"/>
          <p:nvPr/>
        </p:nvSpPr>
        <p:spPr>
          <a:xfrm>
            <a:off x="5854478" y="2713942"/>
            <a:ext cx="6639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72%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8B2DC23-F123-A780-7002-010271C97CD8}"/>
              </a:ext>
            </a:extLst>
          </p:cNvPr>
          <p:cNvSpPr txBox="1"/>
          <p:nvPr/>
        </p:nvSpPr>
        <p:spPr>
          <a:xfrm>
            <a:off x="5854478" y="3133553"/>
            <a:ext cx="5445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15%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FCE3833-6566-12C1-5555-229C7A194262}"/>
              </a:ext>
            </a:extLst>
          </p:cNvPr>
          <p:cNvSpPr txBox="1"/>
          <p:nvPr/>
        </p:nvSpPr>
        <p:spPr>
          <a:xfrm>
            <a:off x="5854478" y="3604804"/>
            <a:ext cx="4058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merican Typewriter" panose="02090604020004020304" pitchFamily="18" charset="77"/>
              </a:rPr>
              <a:t>8%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BEC887E-14BA-B8F6-6926-4A314E5FEC10}"/>
              </a:ext>
            </a:extLst>
          </p:cNvPr>
          <p:cNvSpPr txBox="1"/>
          <p:nvPr/>
        </p:nvSpPr>
        <p:spPr>
          <a:xfrm>
            <a:off x="5864096" y="4096615"/>
            <a:ext cx="38664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American Typewriter" panose="02090604020004020304" pitchFamily="18" charset="77"/>
              </a:rPr>
              <a:t>5%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A24880C-BF01-2A4E-186C-6FDB4E4FF330}"/>
              </a:ext>
            </a:extLst>
          </p:cNvPr>
          <p:cNvSpPr txBox="1"/>
          <p:nvPr/>
        </p:nvSpPr>
        <p:spPr>
          <a:xfrm>
            <a:off x="2869594" y="1583896"/>
            <a:ext cx="14911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Low (e.g. &lt;0.3)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F4A8855-18A8-68A9-B669-452DC8FC97A2}"/>
              </a:ext>
            </a:extLst>
          </p:cNvPr>
          <p:cNvSpPr txBox="1"/>
          <p:nvPr/>
        </p:nvSpPr>
        <p:spPr>
          <a:xfrm>
            <a:off x="7449705" y="2713942"/>
            <a:ext cx="1167307" cy="369332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beautiful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9C2626E-8F77-FE44-9EE7-2DE20DD7059B}"/>
              </a:ext>
            </a:extLst>
          </p:cNvPr>
          <p:cNvSpPr txBox="1"/>
          <p:nvPr/>
        </p:nvSpPr>
        <p:spPr>
          <a:xfrm>
            <a:off x="7449705" y="3134884"/>
            <a:ext cx="784189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small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F68402C-D4A9-8133-CB9C-7B640FE052F5}"/>
              </a:ext>
            </a:extLst>
          </p:cNvPr>
          <p:cNvSpPr txBox="1"/>
          <p:nvPr/>
        </p:nvSpPr>
        <p:spPr>
          <a:xfrm>
            <a:off x="7449705" y="3555826"/>
            <a:ext cx="1164101" cy="36933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walkable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A5D266B-C8E3-6916-CDF6-EC0D22DD3113}"/>
              </a:ext>
            </a:extLst>
          </p:cNvPr>
          <p:cNvSpPr txBox="1"/>
          <p:nvPr/>
        </p:nvSpPr>
        <p:spPr>
          <a:xfrm>
            <a:off x="7838593" y="3976768"/>
            <a:ext cx="221536" cy="55399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000" dirty="0"/>
              <a:t>.</a:t>
            </a:r>
          </a:p>
          <a:p>
            <a:r>
              <a:rPr lang="en-US" sz="1000" dirty="0"/>
              <a:t>.</a:t>
            </a:r>
          </a:p>
          <a:p>
            <a:r>
              <a:rPr lang="en-US" sz="1000" dirty="0"/>
              <a:t>.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3A69DAD-D0C4-E132-09F2-3414671108E6}"/>
              </a:ext>
            </a:extLst>
          </p:cNvPr>
          <p:cNvSpPr txBox="1"/>
          <p:nvPr/>
        </p:nvSpPr>
        <p:spPr>
          <a:xfrm>
            <a:off x="8846080" y="2713942"/>
            <a:ext cx="6639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90%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A6FB2CD-4058-463F-D927-F3F34BB9196B}"/>
              </a:ext>
            </a:extLst>
          </p:cNvPr>
          <p:cNvSpPr txBox="1"/>
          <p:nvPr/>
        </p:nvSpPr>
        <p:spPr>
          <a:xfrm>
            <a:off x="8846080" y="3133553"/>
            <a:ext cx="4427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7%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C210250-4A83-F033-7724-BABA87C5DA21}"/>
              </a:ext>
            </a:extLst>
          </p:cNvPr>
          <p:cNvSpPr txBox="1"/>
          <p:nvPr/>
        </p:nvSpPr>
        <p:spPr>
          <a:xfrm>
            <a:off x="8846080" y="3604804"/>
            <a:ext cx="4058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merican Typewriter" panose="02090604020004020304" pitchFamily="18" charset="77"/>
              </a:rPr>
              <a:t>2%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B260463-A35C-9AE9-1BD5-ECFF083CFF03}"/>
              </a:ext>
            </a:extLst>
          </p:cNvPr>
          <p:cNvSpPr txBox="1"/>
          <p:nvPr/>
        </p:nvSpPr>
        <p:spPr>
          <a:xfrm>
            <a:off x="8846080" y="4100608"/>
            <a:ext cx="38664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American Typewriter" panose="02090604020004020304" pitchFamily="18" charset="77"/>
              </a:rPr>
              <a:t>1%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C858D187-8152-4871-C25C-C3F34BDF6E6D}"/>
              </a:ext>
            </a:extLst>
          </p:cNvPr>
          <p:cNvCxnSpPr/>
          <p:nvPr/>
        </p:nvCxnSpPr>
        <p:spPr>
          <a:xfrm>
            <a:off x="6518442" y="3504216"/>
            <a:ext cx="547902" cy="0"/>
          </a:xfrm>
          <a:prstGeom prst="straightConnector1">
            <a:avLst/>
          </a:prstGeom>
          <a:ln>
            <a:solidFill>
              <a:schemeClr val="tx2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1893D3BB-B3C1-1632-93B0-97B155F98750}"/>
              </a:ext>
            </a:extLst>
          </p:cNvPr>
          <p:cNvSpPr txBox="1"/>
          <p:nvPr/>
        </p:nvSpPr>
        <p:spPr>
          <a:xfrm>
            <a:off x="9803153" y="3331223"/>
            <a:ext cx="18503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“Less Creativity”</a:t>
            </a:r>
          </a:p>
        </p:txBody>
      </p:sp>
    </p:spTree>
    <p:extLst>
      <p:ext uri="{BB962C8B-B14F-4D97-AF65-F5344CB8AC3E}">
        <p14:creationId xmlns:p14="http://schemas.microsoft.com/office/powerpoint/2010/main" val="38841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7" grpId="0" animBg="1"/>
      <p:bldP spid="8" grpId="0" animBg="1"/>
      <p:bldP spid="9" grpId="0" animBg="1"/>
      <p:bldP spid="11" grpId="0"/>
      <p:bldP spid="12" grpId="0"/>
      <p:bldP spid="13" grpId="0"/>
      <p:bldP spid="13" grpId="1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  <p:bldP spid="25" grpId="0" animBg="1"/>
      <p:bldP spid="26" grpId="0" animBg="1"/>
      <p:bldP spid="27" grpId="0" animBg="1"/>
      <p:bldP spid="28" grpId="0" animBg="1"/>
      <p:bldP spid="32" grpId="0"/>
      <p:bldP spid="33" grpId="0"/>
      <p:bldP spid="34" grpId="0"/>
      <p:bldP spid="35" grpId="0"/>
      <p:bldP spid="39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E33E69-B8FC-73C7-44EB-89207456B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46FDD84F-02C5-FFBA-E69E-0A8E61DE5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243" y="-5432"/>
            <a:ext cx="10515600" cy="1325563"/>
          </a:xfrm>
        </p:spPr>
        <p:txBody>
          <a:bodyPr/>
          <a:lstStyle/>
          <a:p>
            <a:r>
              <a:rPr lang="en-US" dirty="0"/>
              <a:t>Inference Parameters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12BCA4F-0915-5BC7-7B42-344DF128A5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25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BF5F8A3-AF47-86B9-C818-AF71122466D7}"/>
              </a:ext>
            </a:extLst>
          </p:cNvPr>
          <p:cNvSpPr txBox="1"/>
          <p:nvPr/>
        </p:nvSpPr>
        <p:spPr>
          <a:xfrm>
            <a:off x="804243" y="1555845"/>
            <a:ext cx="1206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Top P [0:1]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CE4BF0-91B1-DCDF-F85A-EDEE61FD57AC}"/>
              </a:ext>
            </a:extLst>
          </p:cNvPr>
          <p:cNvSpPr txBox="1"/>
          <p:nvPr/>
        </p:nvSpPr>
        <p:spPr>
          <a:xfrm>
            <a:off x="1220202" y="3169608"/>
            <a:ext cx="24806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  <a:cs typeface="Al Bayan Plain" pitchFamily="2" charset="-78"/>
              </a:rPr>
              <a:t>“The city of Paris is”</a:t>
            </a:r>
            <a:r>
              <a:rPr lang="en-US" dirty="0">
                <a:latin typeface="American Typewriter" panose="02090604020004020304" pitchFamily="18" charset="77"/>
                <a:cs typeface="Al Bayan Plain" pitchFamily="2" charset="-78"/>
              </a:rPr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74916D5-B942-ECB5-E372-DACC12D3DECB}"/>
              </a:ext>
            </a:extLst>
          </p:cNvPr>
          <p:cNvSpPr txBox="1"/>
          <p:nvPr/>
        </p:nvSpPr>
        <p:spPr>
          <a:xfrm>
            <a:off x="4458103" y="2713942"/>
            <a:ext cx="1167307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beautiful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4F1B7B-A91E-85F9-2AA7-54E81CE779FE}"/>
              </a:ext>
            </a:extLst>
          </p:cNvPr>
          <p:cNvSpPr txBox="1"/>
          <p:nvPr/>
        </p:nvSpPr>
        <p:spPr>
          <a:xfrm>
            <a:off x="4458103" y="3134884"/>
            <a:ext cx="784189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small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EC95AB8-4A5B-D544-849D-EE6AC9205B6E}"/>
              </a:ext>
            </a:extLst>
          </p:cNvPr>
          <p:cNvSpPr txBox="1"/>
          <p:nvPr/>
        </p:nvSpPr>
        <p:spPr>
          <a:xfrm>
            <a:off x="4458103" y="3555826"/>
            <a:ext cx="1164101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walkable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5C9563-63E8-E290-7B6B-7917C8E3296C}"/>
              </a:ext>
            </a:extLst>
          </p:cNvPr>
          <p:cNvSpPr txBox="1"/>
          <p:nvPr/>
        </p:nvSpPr>
        <p:spPr>
          <a:xfrm>
            <a:off x="1488929" y="4982705"/>
            <a:ext cx="15231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i="1" dirty="0"/>
              <a:t>LLM input sequence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D4F79D2-1F14-BE0C-34E6-87FF5F67D32F}"/>
              </a:ext>
            </a:extLst>
          </p:cNvPr>
          <p:cNvSpPr txBox="1"/>
          <p:nvPr/>
        </p:nvSpPr>
        <p:spPr>
          <a:xfrm>
            <a:off x="4174980" y="5002696"/>
            <a:ext cx="18824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i="1" dirty="0"/>
              <a:t>Output candidates T = 0.5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0FF86A-F6A3-7B8B-79FD-2F5F582BA6CA}"/>
              </a:ext>
            </a:extLst>
          </p:cNvPr>
          <p:cNvSpPr txBox="1"/>
          <p:nvPr/>
        </p:nvSpPr>
        <p:spPr>
          <a:xfrm>
            <a:off x="4846991" y="3978637"/>
            <a:ext cx="221536" cy="55399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000" dirty="0"/>
              <a:t>.</a:t>
            </a:r>
          </a:p>
          <a:p>
            <a:r>
              <a:rPr lang="en-US" sz="1000" dirty="0"/>
              <a:t>.</a:t>
            </a:r>
          </a:p>
          <a:p>
            <a:r>
              <a:rPr lang="en-US" sz="1000" dirty="0"/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19AF81-873A-954C-0B19-28287BABFF5C}"/>
              </a:ext>
            </a:extLst>
          </p:cNvPr>
          <p:cNvSpPr txBox="1"/>
          <p:nvPr/>
        </p:nvSpPr>
        <p:spPr>
          <a:xfrm>
            <a:off x="4454902" y="2719729"/>
            <a:ext cx="1167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beautiful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8895406-4800-64CC-AE2D-FAB014E3BF08}"/>
              </a:ext>
            </a:extLst>
          </p:cNvPr>
          <p:cNvSpPr txBox="1"/>
          <p:nvPr/>
        </p:nvSpPr>
        <p:spPr>
          <a:xfrm>
            <a:off x="4454902" y="3134230"/>
            <a:ext cx="7841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small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84ADB2A-AEDA-BDCE-B939-884FA6C9AA15}"/>
              </a:ext>
            </a:extLst>
          </p:cNvPr>
          <p:cNvSpPr txBox="1"/>
          <p:nvPr/>
        </p:nvSpPr>
        <p:spPr>
          <a:xfrm>
            <a:off x="4454902" y="3561613"/>
            <a:ext cx="11641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walkable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72BCD0-7AE4-F63D-5E3F-3201E0DBB1C1}"/>
              </a:ext>
            </a:extLst>
          </p:cNvPr>
          <p:cNvSpPr txBox="1"/>
          <p:nvPr/>
        </p:nvSpPr>
        <p:spPr>
          <a:xfrm>
            <a:off x="5854478" y="2713942"/>
            <a:ext cx="6639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72%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0D52935-CBF7-BD9F-22EB-6CEAF83FA191}"/>
              </a:ext>
            </a:extLst>
          </p:cNvPr>
          <p:cNvSpPr txBox="1"/>
          <p:nvPr/>
        </p:nvSpPr>
        <p:spPr>
          <a:xfrm>
            <a:off x="5854478" y="3133553"/>
            <a:ext cx="5445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15%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1D3E7E-D51C-B575-6CBC-0CD057BCB1AE}"/>
              </a:ext>
            </a:extLst>
          </p:cNvPr>
          <p:cNvSpPr txBox="1"/>
          <p:nvPr/>
        </p:nvSpPr>
        <p:spPr>
          <a:xfrm>
            <a:off x="5854478" y="3604804"/>
            <a:ext cx="4058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merican Typewriter" panose="02090604020004020304" pitchFamily="18" charset="77"/>
              </a:rPr>
              <a:t>8%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F8DBA86-C6BC-E316-8072-5AEFC2169145}"/>
              </a:ext>
            </a:extLst>
          </p:cNvPr>
          <p:cNvSpPr txBox="1"/>
          <p:nvPr/>
        </p:nvSpPr>
        <p:spPr>
          <a:xfrm>
            <a:off x="5864096" y="4096615"/>
            <a:ext cx="38664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American Typewriter" panose="02090604020004020304" pitchFamily="18" charset="77"/>
              </a:rPr>
              <a:t>5%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8CBFD99-F371-6479-D2B5-4E49D8C76AA3}"/>
              </a:ext>
            </a:extLst>
          </p:cNvPr>
          <p:cNvSpPr txBox="1"/>
          <p:nvPr/>
        </p:nvSpPr>
        <p:spPr>
          <a:xfrm>
            <a:off x="2010792" y="1573014"/>
            <a:ext cx="856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5">
                    <a:lumMod val="75000"/>
                  </a:schemeClr>
                </a:solidFill>
              </a:rPr>
              <a:t>P = 0.9</a:t>
            </a:r>
          </a:p>
        </p:txBody>
      </p:sp>
      <p:sp>
        <p:nvSpPr>
          <p:cNvPr id="20" name="Right Brace 19">
            <a:extLst>
              <a:ext uri="{FF2B5EF4-FFF2-40B4-BE49-F238E27FC236}">
                <a16:creationId xmlns:a16="http://schemas.microsoft.com/office/drawing/2014/main" id="{7F7E6C7C-9C35-E030-1F0C-5E611CCFD6F6}"/>
              </a:ext>
            </a:extLst>
          </p:cNvPr>
          <p:cNvSpPr/>
          <p:nvPr/>
        </p:nvSpPr>
        <p:spPr>
          <a:xfrm>
            <a:off x="6518442" y="2652366"/>
            <a:ext cx="736202" cy="788964"/>
          </a:xfrm>
          <a:prstGeom prst="rightBrac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BB19A96-7A20-4C91-BE1E-D8DBBDC53727}"/>
              </a:ext>
            </a:extLst>
          </p:cNvPr>
          <p:cNvSpPr txBox="1"/>
          <p:nvPr/>
        </p:nvSpPr>
        <p:spPr>
          <a:xfrm>
            <a:off x="7319108" y="2884289"/>
            <a:ext cx="261950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5">
                    <a:lumMod val="75000"/>
                  </a:schemeClr>
                </a:solidFill>
              </a:rPr>
              <a:t>Cumulative sum inferior to </a:t>
            </a:r>
            <a:r>
              <a:rPr lang="en-US" sz="1400" b="1" dirty="0">
                <a:solidFill>
                  <a:schemeClr val="accent5">
                    <a:lumMod val="75000"/>
                  </a:schemeClr>
                </a:solidFill>
              </a:rPr>
              <a:t>90%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5F71236-D65E-D4B4-41A5-97C957A908CE}"/>
              </a:ext>
            </a:extLst>
          </p:cNvPr>
          <p:cNvSpPr txBox="1"/>
          <p:nvPr/>
        </p:nvSpPr>
        <p:spPr>
          <a:xfrm>
            <a:off x="7669381" y="3169608"/>
            <a:ext cx="18199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i="1" dirty="0">
                <a:solidFill>
                  <a:schemeClr val="accent5">
                    <a:lumMod val="75000"/>
                  </a:schemeClr>
                </a:solidFill>
              </a:rPr>
              <a:t>Less output candidates</a:t>
            </a:r>
          </a:p>
        </p:txBody>
      </p:sp>
    </p:spTree>
    <p:extLst>
      <p:ext uri="{BB962C8B-B14F-4D97-AF65-F5344CB8AC3E}">
        <p14:creationId xmlns:p14="http://schemas.microsoft.com/office/powerpoint/2010/main" val="2946961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animBg="1"/>
      <p:bldP spid="21" grpId="0"/>
      <p:bldP spid="22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C2FEC7-915B-440B-50E8-0E5B10646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62D4859D-5A2A-5726-5664-B46730A3C7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243" y="-5432"/>
            <a:ext cx="10515600" cy="1325563"/>
          </a:xfrm>
        </p:spPr>
        <p:txBody>
          <a:bodyPr/>
          <a:lstStyle/>
          <a:p>
            <a:r>
              <a:rPr lang="en-US" dirty="0"/>
              <a:t>Inference Parameters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8DB2128-1A20-F80C-1503-CB4358F49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26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E47B53E-4A17-4A41-AC0B-D8D7EA61EC6B}"/>
              </a:ext>
            </a:extLst>
          </p:cNvPr>
          <p:cNvSpPr txBox="1"/>
          <p:nvPr/>
        </p:nvSpPr>
        <p:spPr>
          <a:xfrm>
            <a:off x="804243" y="1555845"/>
            <a:ext cx="12049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Top K [0:1]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5795753-AFBE-92C6-8849-064B25AD6C0F}"/>
              </a:ext>
            </a:extLst>
          </p:cNvPr>
          <p:cNvSpPr txBox="1"/>
          <p:nvPr/>
        </p:nvSpPr>
        <p:spPr>
          <a:xfrm>
            <a:off x="1220202" y="3169608"/>
            <a:ext cx="24806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  <a:cs typeface="Al Bayan Plain" pitchFamily="2" charset="-78"/>
              </a:rPr>
              <a:t>“The city of Paris is”</a:t>
            </a:r>
            <a:r>
              <a:rPr lang="en-US" dirty="0">
                <a:latin typeface="American Typewriter" panose="02090604020004020304" pitchFamily="18" charset="77"/>
                <a:cs typeface="Al Bayan Plain" pitchFamily="2" charset="-78"/>
              </a:rPr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7F4E37A-44F6-2C18-81A2-1E9F7EB04A0E}"/>
              </a:ext>
            </a:extLst>
          </p:cNvPr>
          <p:cNvSpPr txBox="1"/>
          <p:nvPr/>
        </p:nvSpPr>
        <p:spPr>
          <a:xfrm>
            <a:off x="4458103" y="2713942"/>
            <a:ext cx="1167307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beautiful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045E85-FA95-37D3-3A5D-B97BC9F8A1E8}"/>
              </a:ext>
            </a:extLst>
          </p:cNvPr>
          <p:cNvSpPr txBox="1"/>
          <p:nvPr/>
        </p:nvSpPr>
        <p:spPr>
          <a:xfrm>
            <a:off x="4458103" y="3134884"/>
            <a:ext cx="784189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small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4F0B4F-D141-DF06-B78C-A668DEF8E9FB}"/>
              </a:ext>
            </a:extLst>
          </p:cNvPr>
          <p:cNvSpPr txBox="1"/>
          <p:nvPr/>
        </p:nvSpPr>
        <p:spPr>
          <a:xfrm>
            <a:off x="4458103" y="3555826"/>
            <a:ext cx="1164101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walkable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9A9EB3-D355-8978-6B32-302084070351}"/>
              </a:ext>
            </a:extLst>
          </p:cNvPr>
          <p:cNvSpPr txBox="1"/>
          <p:nvPr/>
        </p:nvSpPr>
        <p:spPr>
          <a:xfrm>
            <a:off x="1488929" y="4982705"/>
            <a:ext cx="15231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i="1" dirty="0"/>
              <a:t>LLM input sequence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5E45D9-ADAD-4CC5-4A02-1694FD2D8AEE}"/>
              </a:ext>
            </a:extLst>
          </p:cNvPr>
          <p:cNvSpPr txBox="1"/>
          <p:nvPr/>
        </p:nvSpPr>
        <p:spPr>
          <a:xfrm>
            <a:off x="4174980" y="5002696"/>
            <a:ext cx="188243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i="1" dirty="0"/>
              <a:t>Output candidates T = 0.5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C791FD-6E3D-64E4-987B-8F79DC97B563}"/>
              </a:ext>
            </a:extLst>
          </p:cNvPr>
          <p:cNvSpPr txBox="1"/>
          <p:nvPr/>
        </p:nvSpPr>
        <p:spPr>
          <a:xfrm>
            <a:off x="4846991" y="3978637"/>
            <a:ext cx="221536" cy="553998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000" dirty="0"/>
              <a:t>.</a:t>
            </a:r>
          </a:p>
          <a:p>
            <a:r>
              <a:rPr lang="en-US" sz="1000" dirty="0"/>
              <a:t>.</a:t>
            </a:r>
          </a:p>
          <a:p>
            <a:r>
              <a:rPr lang="en-US" sz="1000" dirty="0"/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443E3DE-165E-B505-E682-D6DE406B6769}"/>
              </a:ext>
            </a:extLst>
          </p:cNvPr>
          <p:cNvSpPr txBox="1"/>
          <p:nvPr/>
        </p:nvSpPr>
        <p:spPr>
          <a:xfrm>
            <a:off x="4454902" y="2719729"/>
            <a:ext cx="1167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beautiful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CEE07E-FF9A-BA0E-4322-0B66C22AEC1F}"/>
              </a:ext>
            </a:extLst>
          </p:cNvPr>
          <p:cNvSpPr txBox="1"/>
          <p:nvPr/>
        </p:nvSpPr>
        <p:spPr>
          <a:xfrm>
            <a:off x="4454902" y="3134230"/>
            <a:ext cx="7841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small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8943773-334C-5986-D6D7-B0D030536852}"/>
              </a:ext>
            </a:extLst>
          </p:cNvPr>
          <p:cNvSpPr txBox="1"/>
          <p:nvPr/>
        </p:nvSpPr>
        <p:spPr>
          <a:xfrm>
            <a:off x="4454902" y="3561613"/>
            <a:ext cx="11641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walkable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F807EF8-B635-0090-EAAC-3B0EEDCAA431}"/>
              </a:ext>
            </a:extLst>
          </p:cNvPr>
          <p:cNvSpPr txBox="1"/>
          <p:nvPr/>
        </p:nvSpPr>
        <p:spPr>
          <a:xfrm>
            <a:off x="5854478" y="2713942"/>
            <a:ext cx="6639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merican Typewriter" panose="02090604020004020304" pitchFamily="18" charset="77"/>
              </a:rPr>
              <a:t>72%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B76B596-362D-1641-2402-A78E7AB4AD65}"/>
              </a:ext>
            </a:extLst>
          </p:cNvPr>
          <p:cNvSpPr txBox="1"/>
          <p:nvPr/>
        </p:nvSpPr>
        <p:spPr>
          <a:xfrm>
            <a:off x="5854478" y="3133553"/>
            <a:ext cx="54450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merican Typewriter" panose="02090604020004020304" pitchFamily="18" charset="77"/>
              </a:rPr>
              <a:t>15%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B5E8C9D-4445-DC16-B237-0C0D1A1A906F}"/>
              </a:ext>
            </a:extLst>
          </p:cNvPr>
          <p:cNvSpPr txBox="1"/>
          <p:nvPr/>
        </p:nvSpPr>
        <p:spPr>
          <a:xfrm>
            <a:off x="5854478" y="3604804"/>
            <a:ext cx="40588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latin typeface="American Typewriter" panose="02090604020004020304" pitchFamily="18" charset="77"/>
              </a:rPr>
              <a:t>8%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AA31CD6-5417-64BB-61CB-E0223A0D4DEF}"/>
              </a:ext>
            </a:extLst>
          </p:cNvPr>
          <p:cNvSpPr txBox="1"/>
          <p:nvPr/>
        </p:nvSpPr>
        <p:spPr>
          <a:xfrm>
            <a:off x="5864096" y="4096615"/>
            <a:ext cx="38664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American Typewriter" panose="02090604020004020304" pitchFamily="18" charset="77"/>
              </a:rPr>
              <a:t>5%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371BF1-29A5-998B-7FE1-4AE73A1D00B5}"/>
              </a:ext>
            </a:extLst>
          </p:cNvPr>
          <p:cNvSpPr txBox="1"/>
          <p:nvPr/>
        </p:nvSpPr>
        <p:spPr>
          <a:xfrm>
            <a:off x="2010792" y="1573014"/>
            <a:ext cx="6687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</a:rPr>
              <a:t>K = 3</a:t>
            </a:r>
          </a:p>
        </p:txBody>
      </p:sp>
      <p:sp>
        <p:nvSpPr>
          <p:cNvPr id="20" name="Right Brace 19">
            <a:extLst>
              <a:ext uri="{FF2B5EF4-FFF2-40B4-BE49-F238E27FC236}">
                <a16:creationId xmlns:a16="http://schemas.microsoft.com/office/drawing/2014/main" id="{9EF31587-620D-04ED-6085-BDF3F1E293D4}"/>
              </a:ext>
            </a:extLst>
          </p:cNvPr>
          <p:cNvSpPr/>
          <p:nvPr/>
        </p:nvSpPr>
        <p:spPr>
          <a:xfrm>
            <a:off x="6518442" y="2652365"/>
            <a:ext cx="736202" cy="1229437"/>
          </a:xfrm>
          <a:prstGeom prst="rightBrace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5685D5-BA69-4E28-7B3E-8406C398A47E}"/>
              </a:ext>
            </a:extLst>
          </p:cNvPr>
          <p:cNvSpPr txBox="1"/>
          <p:nvPr/>
        </p:nvSpPr>
        <p:spPr>
          <a:xfrm>
            <a:off x="7328856" y="3020777"/>
            <a:ext cx="11305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accent6">
                    <a:lumMod val="75000"/>
                  </a:schemeClr>
                </a:solidFill>
              </a:rPr>
              <a:t>K</a:t>
            </a:r>
            <a:r>
              <a:rPr lang="en-US" sz="1400" dirty="0">
                <a:solidFill>
                  <a:schemeClr val="accent6">
                    <a:lumMod val="75000"/>
                  </a:schemeClr>
                </a:solidFill>
              </a:rPr>
              <a:t> first token</a:t>
            </a:r>
            <a:endParaRPr lang="en-US" sz="1400" b="1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25F1A14-EE09-9FAB-D533-CFE63E919A5F}"/>
              </a:ext>
            </a:extLst>
          </p:cNvPr>
          <p:cNvSpPr txBox="1"/>
          <p:nvPr/>
        </p:nvSpPr>
        <p:spPr>
          <a:xfrm>
            <a:off x="7062950" y="3313119"/>
            <a:ext cx="181992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i="1" dirty="0">
                <a:solidFill>
                  <a:schemeClr val="accent6">
                    <a:lumMod val="75000"/>
                  </a:schemeClr>
                </a:solidFill>
              </a:rPr>
              <a:t>Less output candidates</a:t>
            </a:r>
          </a:p>
        </p:txBody>
      </p:sp>
    </p:spTree>
    <p:extLst>
      <p:ext uri="{BB962C8B-B14F-4D97-AF65-F5344CB8AC3E}">
        <p14:creationId xmlns:p14="http://schemas.microsoft.com/office/powerpoint/2010/main" val="1270152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animBg="1"/>
      <p:bldP spid="21" grpId="0"/>
      <p:bldP spid="2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277884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3" name="Text 1"/>
          <p:cNvSpPr/>
          <p:nvPr/>
        </p:nvSpPr>
        <p:spPr>
          <a:xfrm>
            <a:off x="365760" y="274056"/>
            <a:ext cx="9144000" cy="5295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200" b="1" dirty="0">
                <a:solidFill>
                  <a:srgbClr val="FFFFFF"/>
                </a:solidFill>
              </a:rPr>
              <a:t>Prompt Engineering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341120"/>
            <a:ext cx="11460480" cy="1554474"/>
          </a:xfrm>
          <a:prstGeom prst="rect">
            <a:avLst/>
          </a:prstGeom>
          <a:solidFill>
            <a:srgbClr val="F4F6F6"/>
          </a:solidFill>
          <a:ln w="254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5" name="Text 3"/>
          <p:cNvSpPr/>
          <p:nvPr/>
        </p:nvSpPr>
        <p:spPr>
          <a:xfrm>
            <a:off x="609600" y="146304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dirty="0">
                <a:solidFill>
                  <a:srgbClr val="1C2833"/>
                </a:solidFill>
              </a:rPr>
              <a:t>Your AI needs to solve: 'A company has 3 offices. Office A has twice as many employees as Office B. Office C has 30 more employees than Office B. Together they have 330 employees. How many work in each office?'</a:t>
            </a:r>
            <a:endParaRPr lang="en-US" sz="1867" dirty="0"/>
          </a:p>
        </p:txBody>
      </p:sp>
      <p:sp>
        <p:nvSpPr>
          <p:cNvPr id="6" name="Text 4"/>
          <p:cNvSpPr/>
          <p:nvPr/>
        </p:nvSpPr>
        <p:spPr>
          <a:xfrm>
            <a:off x="365760" y="3291840"/>
            <a:ext cx="114604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133" b="1" dirty="0">
                <a:solidFill>
                  <a:srgbClr val="1C2833"/>
                </a:solidFill>
              </a:rPr>
              <a:t>Which prompting technique would be MOST effective and why?</a:t>
            </a:r>
            <a:endParaRPr lang="en-US" sz="2133" dirty="0"/>
          </a:p>
        </p:txBody>
      </p:sp>
      <p:sp>
        <p:nvSpPr>
          <p:cNvPr id="7" name="Text 5"/>
          <p:cNvSpPr/>
          <p:nvPr/>
        </p:nvSpPr>
        <p:spPr>
          <a:xfrm>
            <a:off x="609600" y="4120896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C2833"/>
                </a:solidFill>
              </a:rPr>
              <a:t>A) Zero-shot: 'Solve this problem'</a:t>
            </a:r>
            <a:endParaRPr lang="en-US" sz="1733" dirty="0"/>
          </a:p>
        </p:txBody>
      </p:sp>
      <p:sp>
        <p:nvSpPr>
          <p:cNvPr id="8" name="Text 6"/>
          <p:cNvSpPr/>
          <p:nvPr/>
        </p:nvSpPr>
        <p:spPr>
          <a:xfrm>
            <a:off x="609600" y="4791456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C2833"/>
                </a:solidFill>
              </a:rPr>
              <a:t>B) Few-shot with 3 similar examples but no reasoning steps</a:t>
            </a:r>
            <a:endParaRPr lang="en-US" sz="1733" dirty="0"/>
          </a:p>
        </p:txBody>
      </p:sp>
      <p:sp>
        <p:nvSpPr>
          <p:cNvPr id="9" name="Shape 7"/>
          <p:cNvSpPr/>
          <p:nvPr/>
        </p:nvSpPr>
        <p:spPr>
          <a:xfrm>
            <a:off x="365760" y="5187696"/>
            <a:ext cx="11460480" cy="548640"/>
          </a:xfrm>
          <a:prstGeom prst="rect">
            <a:avLst/>
          </a:prstGeom>
          <a:solidFill>
            <a:srgbClr val="E8F5E9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0" name="Text 8"/>
          <p:cNvSpPr/>
          <p:nvPr/>
        </p:nvSpPr>
        <p:spPr>
          <a:xfrm>
            <a:off x="609600" y="5462016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/>
              <a:t>C) Chain-of-Thought: 'Let's solve this step-by-step. First, define variables...' </a:t>
            </a:r>
          </a:p>
        </p:txBody>
      </p:sp>
      <p:sp>
        <p:nvSpPr>
          <p:cNvPr id="11" name="Text 9"/>
          <p:cNvSpPr/>
          <p:nvPr/>
        </p:nvSpPr>
        <p:spPr>
          <a:xfrm>
            <a:off x="609600" y="6132576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C2833"/>
                </a:solidFill>
              </a:rPr>
              <a:t>D) Tree-of-Thought: Explore multiple solution paths simultaneously</a:t>
            </a:r>
            <a:endParaRPr lang="en-US" sz="173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2"/>
          <p:cNvSpPr/>
          <p:nvPr/>
        </p:nvSpPr>
        <p:spPr>
          <a:xfrm>
            <a:off x="365760" y="1341120"/>
            <a:ext cx="11460480" cy="2022814"/>
          </a:xfrm>
          <a:prstGeom prst="rect">
            <a:avLst/>
          </a:prstGeom>
          <a:solidFill>
            <a:srgbClr val="F4F6F6"/>
          </a:solidFill>
          <a:ln w="254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5" name="Text 3"/>
          <p:cNvSpPr/>
          <p:nvPr/>
        </p:nvSpPr>
        <p:spPr>
          <a:xfrm>
            <a:off x="609600" y="1463040"/>
            <a:ext cx="10972800" cy="975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C2833"/>
                </a:solidFill>
              </a:rPr>
              <a:t>You need to: 1) Extract key points from a 50-page report, 2) Categorize them by department, 3) Generate action items, 4) Create an executive summary. The model struggles with the full task.</a:t>
            </a:r>
            <a:endParaRPr lang="en-US" sz="1733" dirty="0"/>
          </a:p>
        </p:txBody>
      </p:sp>
      <p:sp>
        <p:nvSpPr>
          <p:cNvPr id="6" name="Shape 4"/>
          <p:cNvSpPr/>
          <p:nvPr/>
        </p:nvSpPr>
        <p:spPr>
          <a:xfrm>
            <a:off x="609600" y="2377439"/>
            <a:ext cx="10972800" cy="853440"/>
          </a:xfrm>
          <a:prstGeom prst="rect">
            <a:avLst/>
          </a:prstGeom>
          <a:solidFill>
            <a:srgbClr val="2C3E50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7" name="Text 5"/>
          <p:cNvSpPr/>
          <p:nvPr/>
        </p:nvSpPr>
        <p:spPr>
          <a:xfrm>
            <a:off x="731520" y="2494058"/>
            <a:ext cx="10728960" cy="609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467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Single Prompt: 'Read this report and extract key points, categorize by dept, create actions, write summary'</a:t>
            </a:r>
            <a:endParaRPr lang="en-US" sz="1467" dirty="0"/>
          </a:p>
        </p:txBody>
      </p:sp>
      <p:sp>
        <p:nvSpPr>
          <p:cNvPr id="8" name="Text 6"/>
          <p:cNvSpPr/>
          <p:nvPr/>
        </p:nvSpPr>
        <p:spPr>
          <a:xfrm>
            <a:off x="365760" y="3657600"/>
            <a:ext cx="114604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133" b="1" dirty="0">
                <a:solidFill>
                  <a:srgbClr val="1C2833"/>
                </a:solidFill>
              </a:rPr>
              <a:t>What's the BEST approach to handle this complex task?</a:t>
            </a:r>
            <a:endParaRPr lang="en-US" sz="2133" dirty="0"/>
          </a:p>
        </p:txBody>
      </p:sp>
      <p:sp>
        <p:nvSpPr>
          <p:cNvPr id="9" name="Text 7"/>
          <p:cNvSpPr/>
          <p:nvPr/>
        </p:nvSpPr>
        <p:spPr>
          <a:xfrm>
            <a:off x="609600" y="4486656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1C2833"/>
                </a:solidFill>
              </a:rPr>
              <a:t>A) Increase model temperature to be more creative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65760" y="4852416"/>
            <a:ext cx="11460480" cy="487680"/>
          </a:xfrm>
          <a:prstGeom prst="rect">
            <a:avLst/>
          </a:prstGeom>
          <a:solidFill>
            <a:srgbClr val="E8F5E9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Text 9"/>
          <p:cNvSpPr/>
          <p:nvPr/>
        </p:nvSpPr>
        <p:spPr>
          <a:xfrm>
            <a:off x="609600" y="5096256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/>
              <a:t>B) Chain 4 prompts: Extract→Categorize→Generate→Summarize, passing outputs forward</a:t>
            </a:r>
          </a:p>
        </p:txBody>
      </p:sp>
      <p:sp>
        <p:nvSpPr>
          <p:cNvPr id="12" name="Text 10"/>
          <p:cNvSpPr/>
          <p:nvPr/>
        </p:nvSpPr>
        <p:spPr>
          <a:xfrm>
            <a:off x="609600" y="5705856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1C2833"/>
                </a:solidFill>
              </a:rPr>
              <a:t>C) Use Tree-of-Thought to explore different categorization schemes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09600" y="6315456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600" dirty="0">
                <a:solidFill>
                  <a:srgbClr val="1C2833"/>
                </a:solidFill>
              </a:rPr>
              <a:t>D) Add more examples in a single few-shot prompt</a:t>
            </a:r>
            <a:endParaRPr lang="en-US" sz="1600" dirty="0"/>
          </a:p>
        </p:txBody>
      </p:sp>
      <p:sp>
        <p:nvSpPr>
          <p:cNvPr id="14" name="Shape 0">
            <a:extLst>
              <a:ext uri="{FF2B5EF4-FFF2-40B4-BE49-F238E27FC236}">
                <a16:creationId xmlns:a16="http://schemas.microsoft.com/office/drawing/2014/main" id="{FEC3CCF3-6B1B-C509-ED57-4EBCE0FF13E4}"/>
              </a:ext>
            </a:extLst>
          </p:cNvPr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277884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DF22425C-DF97-1CD8-676B-E90B890FA9C7}"/>
              </a:ext>
            </a:extLst>
          </p:cNvPr>
          <p:cNvSpPr/>
          <p:nvPr/>
        </p:nvSpPr>
        <p:spPr>
          <a:xfrm>
            <a:off x="365760" y="274056"/>
            <a:ext cx="9144000" cy="5295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3200" b="1" dirty="0">
                <a:solidFill>
                  <a:srgbClr val="FFFFFF"/>
                </a:solidFill>
              </a:rPr>
              <a:t>Prompt Engineering</a:t>
            </a:r>
            <a:endParaRPr lang="en-US" sz="3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A4466-D9ED-44C7-05D3-0E7E8A39BC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235200"/>
            <a:ext cx="9144000" cy="2387600"/>
          </a:xfrm>
        </p:spPr>
        <p:txBody>
          <a:bodyPr/>
          <a:lstStyle/>
          <a:p>
            <a:r>
              <a:rPr lang="en-US" dirty="0"/>
              <a:t>Retrieval Augmented Generation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C641203-DD4A-A4D3-ECFD-DDF25F9D3E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8905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CF9111-DF58-F769-3C8E-617300063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41D61E7-78BC-C62A-6EA2-D8AA28375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30</a:t>
            </a:fld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F373E71-6B5A-29AB-9402-F831F6407ACE}"/>
              </a:ext>
            </a:extLst>
          </p:cNvPr>
          <p:cNvSpPr/>
          <p:nvPr/>
        </p:nvSpPr>
        <p:spPr>
          <a:xfrm>
            <a:off x="5455591" y="1911288"/>
            <a:ext cx="2809870" cy="2865701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Evaluate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EA75FDB7-7434-AE61-4E73-9DA7A46B3353}"/>
              </a:ext>
            </a:extLst>
          </p:cNvPr>
          <p:cNvSpPr/>
          <p:nvPr/>
        </p:nvSpPr>
        <p:spPr>
          <a:xfrm>
            <a:off x="1125069" y="1905301"/>
            <a:ext cx="1401857" cy="2865701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Define a use case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9F2089C3-AB51-C24D-034B-45BECBF95607}"/>
              </a:ext>
            </a:extLst>
          </p:cNvPr>
          <p:cNvSpPr/>
          <p:nvPr/>
        </p:nvSpPr>
        <p:spPr>
          <a:xfrm>
            <a:off x="3165669" y="1905301"/>
            <a:ext cx="1651179" cy="1432851"/>
          </a:xfrm>
          <a:prstGeom prst="round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Choose a model provider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E777E38-C638-AA0D-C4BC-8BD99010B75C}"/>
              </a:ext>
            </a:extLst>
          </p:cNvPr>
          <p:cNvSpPr/>
          <p:nvPr/>
        </p:nvSpPr>
        <p:spPr>
          <a:xfrm>
            <a:off x="5703794" y="2459379"/>
            <a:ext cx="2297206" cy="546083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Prompt Engineering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CD9735C-A59F-C5F9-E9A6-85E17CA714ED}"/>
              </a:ext>
            </a:extLst>
          </p:cNvPr>
          <p:cNvSpPr/>
          <p:nvPr/>
        </p:nvSpPr>
        <p:spPr>
          <a:xfrm>
            <a:off x="5703794" y="3191830"/>
            <a:ext cx="2297206" cy="546083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Fine-tune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1FC492E-3BF8-F5DA-64B0-B275CCC49492}"/>
              </a:ext>
            </a:extLst>
          </p:cNvPr>
          <p:cNvSpPr/>
          <p:nvPr/>
        </p:nvSpPr>
        <p:spPr>
          <a:xfrm>
            <a:off x="5703794" y="3888920"/>
            <a:ext cx="2297206" cy="546083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Align with Human feedback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CEC132B-A9AE-DD77-FED5-0862F8225CFD}"/>
              </a:ext>
            </a:extLst>
          </p:cNvPr>
          <p:cNvSpPr/>
          <p:nvPr/>
        </p:nvSpPr>
        <p:spPr>
          <a:xfrm>
            <a:off x="8904204" y="1905301"/>
            <a:ext cx="1828800" cy="2895003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Deploy &amp; Optimize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DC6827FC-306D-3C9D-5E2D-05B91062E6A5}"/>
              </a:ext>
            </a:extLst>
          </p:cNvPr>
          <p:cNvSpPr/>
          <p:nvPr/>
        </p:nvSpPr>
        <p:spPr>
          <a:xfrm>
            <a:off x="3165669" y="3422631"/>
            <a:ext cx="1651179" cy="1354357"/>
          </a:xfrm>
          <a:prstGeom prst="round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Integrate with systems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FE43BFB-EAE7-A9C1-10D6-58A9D524E86A}"/>
              </a:ext>
            </a:extLst>
          </p:cNvPr>
          <p:cNvSpPr/>
          <p:nvPr/>
        </p:nvSpPr>
        <p:spPr>
          <a:xfrm>
            <a:off x="5455590" y="5052038"/>
            <a:ext cx="5277414" cy="546083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Observability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B4A2F9DB-DE4A-5031-61CB-40023E5B0C3D}"/>
              </a:ext>
            </a:extLst>
          </p:cNvPr>
          <p:cNvSpPr/>
          <p:nvPr/>
        </p:nvSpPr>
        <p:spPr>
          <a:xfrm>
            <a:off x="8904204" y="5742051"/>
            <a:ext cx="1828800" cy="546083"/>
          </a:xfrm>
          <a:prstGeom prst="round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Monitoring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BC9400E-7D26-4A36-AE93-44677A0ED6D7}"/>
              </a:ext>
            </a:extLst>
          </p:cNvPr>
          <p:cNvSpPr/>
          <p:nvPr/>
        </p:nvSpPr>
        <p:spPr>
          <a:xfrm>
            <a:off x="1600990" y="1320131"/>
            <a:ext cx="450014" cy="460482"/>
          </a:xfrm>
          <a:prstGeom prst="ellipse">
            <a:avLst/>
          </a:prstGeom>
          <a:solidFill>
            <a:srgbClr val="147BBF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264548C7-3EE7-D841-9774-FE6BE5BA6868}"/>
              </a:ext>
            </a:extLst>
          </p:cNvPr>
          <p:cNvSpPr/>
          <p:nvPr/>
        </p:nvSpPr>
        <p:spPr>
          <a:xfrm>
            <a:off x="3766251" y="1320131"/>
            <a:ext cx="450014" cy="460482"/>
          </a:xfrm>
          <a:prstGeom prst="ellipse">
            <a:avLst/>
          </a:prstGeom>
          <a:solidFill>
            <a:srgbClr val="147BBF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901C10C3-5346-6C25-93D0-BE84722A6FD9}"/>
              </a:ext>
            </a:extLst>
          </p:cNvPr>
          <p:cNvSpPr/>
          <p:nvPr/>
        </p:nvSpPr>
        <p:spPr>
          <a:xfrm>
            <a:off x="6627390" y="1322289"/>
            <a:ext cx="450014" cy="460482"/>
          </a:xfrm>
          <a:prstGeom prst="ellipse">
            <a:avLst/>
          </a:prstGeom>
          <a:solidFill>
            <a:srgbClr val="147BBF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1988671-47D5-BC2A-9E95-E11B02A4EDB1}"/>
              </a:ext>
            </a:extLst>
          </p:cNvPr>
          <p:cNvSpPr/>
          <p:nvPr/>
        </p:nvSpPr>
        <p:spPr>
          <a:xfrm>
            <a:off x="9593597" y="1320131"/>
            <a:ext cx="450014" cy="460482"/>
          </a:xfrm>
          <a:prstGeom prst="ellipse">
            <a:avLst/>
          </a:prstGeom>
          <a:solidFill>
            <a:srgbClr val="147BBF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4AAB3CCC-FE76-BCA0-AE69-FCCB952F611B}"/>
              </a:ext>
            </a:extLst>
          </p:cNvPr>
          <p:cNvSpPr/>
          <p:nvPr/>
        </p:nvSpPr>
        <p:spPr>
          <a:xfrm>
            <a:off x="2931459" y="3287806"/>
            <a:ext cx="2117912" cy="1600200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43396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7BFE6-EBE1-6750-96DD-1718A938A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using RAG ?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C4456C6-7360-10EB-A166-918A8E777F7E}"/>
              </a:ext>
            </a:extLst>
          </p:cNvPr>
          <p:cNvSpPr/>
          <p:nvPr/>
        </p:nvSpPr>
        <p:spPr>
          <a:xfrm>
            <a:off x="2345068" y="2230838"/>
            <a:ext cx="450014" cy="460482"/>
          </a:xfrm>
          <a:prstGeom prst="ellipse">
            <a:avLst/>
          </a:prstGeom>
          <a:solidFill>
            <a:srgbClr val="147BBF"/>
          </a:solidFill>
          <a:ln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CADEF6-71AA-6929-EEE1-41A8FB38EA28}"/>
              </a:ext>
            </a:extLst>
          </p:cNvPr>
          <p:cNvSpPr txBox="1"/>
          <p:nvPr/>
        </p:nvSpPr>
        <p:spPr>
          <a:xfrm>
            <a:off x="3005470" y="2276412"/>
            <a:ext cx="4947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Up-to-date  Information &amp; Reduce Information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70A0CE-71FC-C685-9770-B67F197CE686}"/>
              </a:ext>
            </a:extLst>
          </p:cNvPr>
          <p:cNvSpPr txBox="1"/>
          <p:nvPr/>
        </p:nvSpPr>
        <p:spPr>
          <a:xfrm>
            <a:off x="3005470" y="3117715"/>
            <a:ext cx="4947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Domain Adaptation and Customization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B8B3B6-1B31-AA0D-9249-5B62DEE689CD}"/>
              </a:ext>
            </a:extLst>
          </p:cNvPr>
          <p:cNvSpPr txBox="1"/>
          <p:nvPr/>
        </p:nvSpPr>
        <p:spPr>
          <a:xfrm>
            <a:off x="3005470" y="3941728"/>
            <a:ext cx="4947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Control and Transparency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227EB371-179D-33DC-C75C-23BBF4AD39CD}"/>
              </a:ext>
            </a:extLst>
          </p:cNvPr>
          <p:cNvSpPr/>
          <p:nvPr/>
        </p:nvSpPr>
        <p:spPr>
          <a:xfrm>
            <a:off x="2345068" y="3072140"/>
            <a:ext cx="450014" cy="460482"/>
          </a:xfrm>
          <a:prstGeom prst="ellipse">
            <a:avLst/>
          </a:prstGeom>
          <a:solidFill>
            <a:srgbClr val="147BB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0D97ED9-E07D-4D12-8BEF-18EB5C7B8A80}"/>
              </a:ext>
            </a:extLst>
          </p:cNvPr>
          <p:cNvSpPr/>
          <p:nvPr/>
        </p:nvSpPr>
        <p:spPr>
          <a:xfrm>
            <a:off x="2340556" y="3896153"/>
            <a:ext cx="450014" cy="460482"/>
          </a:xfrm>
          <a:prstGeom prst="ellipse">
            <a:avLst/>
          </a:prstGeom>
          <a:solidFill>
            <a:srgbClr val="147BB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pic>
        <p:nvPicPr>
          <p:cNvPr id="12" name="Graphic 11" descr="Books with solid fill">
            <a:extLst>
              <a:ext uri="{FF2B5EF4-FFF2-40B4-BE49-F238E27FC236}">
                <a16:creationId xmlns:a16="http://schemas.microsoft.com/office/drawing/2014/main" id="{6703E7FC-29D0-8059-86C9-7646788AC9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097091" y="2552540"/>
            <a:ext cx="1499681" cy="1499681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C6FB5F-B6FC-9E37-6772-F4315A222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717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/>
      <p:bldP spid="8" grpId="0"/>
      <p:bldP spid="9" grpId="0"/>
      <p:bldP spid="3" grpId="0" animBg="1"/>
      <p:bldP spid="10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AADFD0-A540-1A35-4D7B-5CBCA26AF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E125A-FF5D-1990-D7DA-E6953D1D2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Retrieval Augmented Generation Phases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ECE1D22-A399-E5F3-5EBF-90D424C2206C}"/>
              </a:ext>
            </a:extLst>
          </p:cNvPr>
          <p:cNvGrpSpPr/>
          <p:nvPr/>
        </p:nvGrpSpPr>
        <p:grpSpPr>
          <a:xfrm>
            <a:off x="3106366" y="2609499"/>
            <a:ext cx="1376653" cy="1639002"/>
            <a:chOff x="3171217" y="2794165"/>
            <a:chExt cx="1376653" cy="1639002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B033262-F965-AB24-D21B-9FD8D21F6467}"/>
                </a:ext>
              </a:extLst>
            </p:cNvPr>
            <p:cNvSpPr txBox="1"/>
            <p:nvPr/>
          </p:nvSpPr>
          <p:spPr>
            <a:xfrm>
              <a:off x="3171217" y="4063835"/>
              <a:ext cx="137665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INGESTION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C703576F-13C8-BD46-130C-B82102B870CA}"/>
                </a:ext>
              </a:extLst>
            </p:cNvPr>
            <p:cNvSpPr/>
            <p:nvPr/>
          </p:nvSpPr>
          <p:spPr>
            <a:xfrm>
              <a:off x="3207790" y="2794165"/>
              <a:ext cx="1303507" cy="1269670"/>
            </a:xfrm>
            <a:prstGeom prst="ellipse">
              <a:avLst/>
            </a:prstGeom>
            <a:solidFill>
              <a:srgbClr val="147BBF"/>
            </a:solidFill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/>
                <a:t>1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B5287A4-71F4-210A-268F-806A3EC30140}"/>
              </a:ext>
            </a:extLst>
          </p:cNvPr>
          <p:cNvGrpSpPr/>
          <p:nvPr/>
        </p:nvGrpSpPr>
        <p:grpSpPr>
          <a:xfrm>
            <a:off x="7217018" y="2609499"/>
            <a:ext cx="1376653" cy="1639002"/>
            <a:chOff x="7281869" y="2794165"/>
            <a:chExt cx="1376653" cy="1639002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2FE8D5A-9469-DADE-BFFC-022CA81BB7E2}"/>
                </a:ext>
              </a:extLst>
            </p:cNvPr>
            <p:cNvSpPr txBox="1"/>
            <p:nvPr/>
          </p:nvSpPr>
          <p:spPr>
            <a:xfrm>
              <a:off x="7281869" y="4063835"/>
              <a:ext cx="137665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RETRIEVAL</a:t>
              </a: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EC86DFF0-631C-FE5E-16B7-E71A34112FBD}"/>
                </a:ext>
              </a:extLst>
            </p:cNvPr>
            <p:cNvSpPr/>
            <p:nvPr/>
          </p:nvSpPr>
          <p:spPr>
            <a:xfrm>
              <a:off x="7318442" y="2794165"/>
              <a:ext cx="1303507" cy="1269670"/>
            </a:xfrm>
            <a:prstGeom prst="ellipse">
              <a:avLst/>
            </a:prstGeom>
            <a:solidFill>
              <a:srgbClr val="147BBF"/>
            </a:solidFill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/>
                <a:t>2</a:t>
              </a: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42BB5C3-9208-31ED-0169-BB02F6EE9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268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4DE4FA-D145-85AA-56DB-E3A83A3425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Ingestion Phase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EFF6CDDF-735E-9655-DA33-4A42C3BC746C}"/>
              </a:ext>
            </a:extLst>
          </p:cNvPr>
          <p:cNvSpPr/>
          <p:nvPr/>
        </p:nvSpPr>
        <p:spPr>
          <a:xfrm>
            <a:off x="1966714" y="1874718"/>
            <a:ext cx="1400783" cy="804153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86FE430D-9DF9-32C0-2995-BB32B6CB7F9D}"/>
              </a:ext>
            </a:extLst>
          </p:cNvPr>
          <p:cNvSpPr/>
          <p:nvPr/>
        </p:nvSpPr>
        <p:spPr>
          <a:xfrm>
            <a:off x="1966714" y="2759935"/>
            <a:ext cx="1400783" cy="804153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0F7E8E5-5D09-42CB-1F00-A0B5EA6C1B73}"/>
              </a:ext>
            </a:extLst>
          </p:cNvPr>
          <p:cNvSpPr/>
          <p:nvPr/>
        </p:nvSpPr>
        <p:spPr>
          <a:xfrm>
            <a:off x="1966714" y="3645152"/>
            <a:ext cx="1400783" cy="804153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917B24-5874-3CA3-22F3-9A8E0190C35C}"/>
              </a:ext>
            </a:extLst>
          </p:cNvPr>
          <p:cNvSpPr txBox="1"/>
          <p:nvPr/>
        </p:nvSpPr>
        <p:spPr>
          <a:xfrm>
            <a:off x="2145054" y="1907462"/>
            <a:ext cx="104410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-----------</a:t>
            </a:r>
          </a:p>
          <a:p>
            <a:r>
              <a:rPr lang="en-US" sz="1400" dirty="0"/>
              <a:t>--------------</a:t>
            </a:r>
          </a:p>
          <a:p>
            <a:r>
              <a:rPr lang="en-US" sz="1400" dirty="0"/>
              <a:t>------------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3C9785-A19D-C61F-037E-9F3B29FA31F2}"/>
              </a:ext>
            </a:extLst>
          </p:cNvPr>
          <p:cNvSpPr txBox="1"/>
          <p:nvPr/>
        </p:nvSpPr>
        <p:spPr>
          <a:xfrm>
            <a:off x="2145054" y="2759935"/>
            <a:ext cx="104410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-----------</a:t>
            </a:r>
          </a:p>
          <a:p>
            <a:r>
              <a:rPr lang="en-US" sz="1400" dirty="0"/>
              <a:t>--------------</a:t>
            </a:r>
          </a:p>
          <a:p>
            <a:r>
              <a:rPr lang="en-US" sz="1400" dirty="0"/>
              <a:t>------------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524CB45-3A72-0CCA-B28A-4F97D49F06AD}"/>
              </a:ext>
            </a:extLst>
          </p:cNvPr>
          <p:cNvSpPr txBox="1"/>
          <p:nvPr/>
        </p:nvSpPr>
        <p:spPr>
          <a:xfrm>
            <a:off x="2145054" y="3635424"/>
            <a:ext cx="104410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-----------</a:t>
            </a:r>
          </a:p>
          <a:p>
            <a:r>
              <a:rPr lang="en-US" sz="1400" dirty="0"/>
              <a:t>--------------</a:t>
            </a:r>
          </a:p>
          <a:p>
            <a:r>
              <a:rPr lang="en-US" sz="1400" dirty="0"/>
              <a:t>------------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58C4F937-F366-C43A-C5DF-5DB955FA08BE}"/>
              </a:ext>
            </a:extLst>
          </p:cNvPr>
          <p:cNvSpPr/>
          <p:nvPr/>
        </p:nvSpPr>
        <p:spPr>
          <a:xfrm>
            <a:off x="4424569" y="1871450"/>
            <a:ext cx="1400783" cy="220175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B5762595-C42F-B9E5-71FB-2D00AD0BB535}"/>
              </a:ext>
            </a:extLst>
          </p:cNvPr>
          <p:cNvSpPr/>
          <p:nvPr/>
        </p:nvSpPr>
        <p:spPr>
          <a:xfrm>
            <a:off x="4424569" y="2163438"/>
            <a:ext cx="1400783" cy="220175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--------------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6B17254B-D46D-A48A-3B99-1BB0885BA6EA}"/>
              </a:ext>
            </a:extLst>
          </p:cNvPr>
          <p:cNvSpPr/>
          <p:nvPr/>
        </p:nvSpPr>
        <p:spPr>
          <a:xfrm>
            <a:off x="4424569" y="2452040"/>
            <a:ext cx="1400783" cy="220175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------------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D779E440-FD66-223B-19CD-49D1A9D965FA}"/>
              </a:ext>
            </a:extLst>
          </p:cNvPr>
          <p:cNvSpPr/>
          <p:nvPr/>
        </p:nvSpPr>
        <p:spPr>
          <a:xfrm>
            <a:off x="6405769" y="2904549"/>
            <a:ext cx="2555132" cy="53826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Embeddings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B84184BF-3049-F014-C0A6-043830845D60}"/>
              </a:ext>
            </a:extLst>
          </p:cNvPr>
          <p:cNvSpPr/>
          <p:nvPr/>
        </p:nvSpPr>
        <p:spPr>
          <a:xfrm>
            <a:off x="9401892" y="2701568"/>
            <a:ext cx="1031132" cy="94358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Index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74340319-EEF8-B65B-2122-E1EE6E7E7928}"/>
              </a:ext>
            </a:extLst>
          </p:cNvPr>
          <p:cNvSpPr/>
          <p:nvPr/>
        </p:nvSpPr>
        <p:spPr>
          <a:xfrm>
            <a:off x="4424569" y="2759907"/>
            <a:ext cx="1400783" cy="220175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29540AF-3784-669A-49F7-FF8B35A271D9}"/>
              </a:ext>
            </a:extLst>
          </p:cNvPr>
          <p:cNvSpPr/>
          <p:nvPr/>
        </p:nvSpPr>
        <p:spPr>
          <a:xfrm>
            <a:off x="4424569" y="3051895"/>
            <a:ext cx="1400783" cy="220175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--------------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9A2AAA04-748F-2E3C-A933-ABC72641A05B}"/>
              </a:ext>
            </a:extLst>
          </p:cNvPr>
          <p:cNvSpPr/>
          <p:nvPr/>
        </p:nvSpPr>
        <p:spPr>
          <a:xfrm>
            <a:off x="4424569" y="3340497"/>
            <a:ext cx="1400783" cy="220175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------------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9769A0AF-6C9E-21A1-91BE-868BA82297AF}"/>
              </a:ext>
            </a:extLst>
          </p:cNvPr>
          <p:cNvSpPr/>
          <p:nvPr/>
        </p:nvSpPr>
        <p:spPr>
          <a:xfrm>
            <a:off x="4424569" y="3648835"/>
            <a:ext cx="1400783" cy="220175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</a:t>
            </a: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20DDB264-E70F-C591-9CDB-FC4B2F292B3E}"/>
              </a:ext>
            </a:extLst>
          </p:cNvPr>
          <p:cNvSpPr/>
          <p:nvPr/>
        </p:nvSpPr>
        <p:spPr>
          <a:xfrm>
            <a:off x="4424569" y="3940823"/>
            <a:ext cx="1400783" cy="220175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--------------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B6A654D6-72D8-75A0-B08F-1C349938510C}"/>
              </a:ext>
            </a:extLst>
          </p:cNvPr>
          <p:cNvSpPr/>
          <p:nvPr/>
        </p:nvSpPr>
        <p:spPr>
          <a:xfrm>
            <a:off x="4424569" y="4229425"/>
            <a:ext cx="1400783" cy="220175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------------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2" name="Right Brace 31">
            <a:extLst>
              <a:ext uri="{FF2B5EF4-FFF2-40B4-BE49-F238E27FC236}">
                <a16:creationId xmlns:a16="http://schemas.microsoft.com/office/drawing/2014/main" id="{9704CB5D-AFF0-320C-68A8-83427F8FBFCA}"/>
              </a:ext>
            </a:extLst>
          </p:cNvPr>
          <p:cNvSpPr/>
          <p:nvPr/>
        </p:nvSpPr>
        <p:spPr>
          <a:xfrm>
            <a:off x="6016663" y="1904194"/>
            <a:ext cx="389106" cy="2541843"/>
          </a:xfrm>
          <a:prstGeom prst="righ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E374851-9A18-B3BB-E326-21207CF4BC5F}"/>
              </a:ext>
            </a:extLst>
          </p:cNvPr>
          <p:cNvCxnSpPr>
            <a:stCxn id="21" idx="3"/>
            <a:endCxn id="22" idx="2"/>
          </p:cNvCxnSpPr>
          <p:nvPr/>
        </p:nvCxnSpPr>
        <p:spPr>
          <a:xfrm flipV="1">
            <a:off x="8960901" y="3173360"/>
            <a:ext cx="440991" cy="3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9" name="Left Brace 38">
            <a:extLst>
              <a:ext uri="{FF2B5EF4-FFF2-40B4-BE49-F238E27FC236}">
                <a16:creationId xmlns:a16="http://schemas.microsoft.com/office/drawing/2014/main" id="{1F29D26B-3DFC-C09D-4225-6484B5DCC925}"/>
              </a:ext>
            </a:extLst>
          </p:cNvPr>
          <p:cNvSpPr/>
          <p:nvPr/>
        </p:nvSpPr>
        <p:spPr>
          <a:xfrm>
            <a:off x="3435591" y="1904194"/>
            <a:ext cx="830094" cy="774677"/>
          </a:xfrm>
          <a:prstGeom prst="leftBrace">
            <a:avLst>
              <a:gd name="adj1" fmla="val 8333"/>
              <a:gd name="adj2" fmla="val 51607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Left Brace 39">
            <a:extLst>
              <a:ext uri="{FF2B5EF4-FFF2-40B4-BE49-F238E27FC236}">
                <a16:creationId xmlns:a16="http://schemas.microsoft.com/office/drawing/2014/main" id="{61337EA4-9661-24FA-AE1B-FE3A21D03B7D}"/>
              </a:ext>
            </a:extLst>
          </p:cNvPr>
          <p:cNvSpPr/>
          <p:nvPr/>
        </p:nvSpPr>
        <p:spPr>
          <a:xfrm>
            <a:off x="3433969" y="2769011"/>
            <a:ext cx="830094" cy="774677"/>
          </a:xfrm>
          <a:prstGeom prst="leftBrace">
            <a:avLst>
              <a:gd name="adj1" fmla="val 8333"/>
              <a:gd name="adj2" fmla="val 51607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Left Brace 40">
            <a:extLst>
              <a:ext uri="{FF2B5EF4-FFF2-40B4-BE49-F238E27FC236}">
                <a16:creationId xmlns:a16="http://schemas.microsoft.com/office/drawing/2014/main" id="{273DB087-4359-C4C8-F7CE-C77A8AEF97A9}"/>
              </a:ext>
            </a:extLst>
          </p:cNvPr>
          <p:cNvSpPr/>
          <p:nvPr/>
        </p:nvSpPr>
        <p:spPr>
          <a:xfrm>
            <a:off x="3442076" y="3669569"/>
            <a:ext cx="830094" cy="774677"/>
          </a:xfrm>
          <a:prstGeom prst="leftBrace">
            <a:avLst>
              <a:gd name="adj1" fmla="val 8333"/>
              <a:gd name="adj2" fmla="val 51607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2216BC3C-76AE-3BFD-7BDC-9B259C62C473}"/>
              </a:ext>
            </a:extLst>
          </p:cNvPr>
          <p:cNvGrpSpPr/>
          <p:nvPr/>
        </p:nvGrpSpPr>
        <p:grpSpPr>
          <a:xfrm>
            <a:off x="1882144" y="4890089"/>
            <a:ext cx="1352358" cy="685805"/>
            <a:chOff x="1882144" y="4890089"/>
            <a:chExt cx="1352358" cy="685805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7A4FEFF3-2BEC-27F3-7223-9E2EAE0316A5}"/>
                </a:ext>
              </a:extLst>
            </p:cNvPr>
            <p:cNvSpPr txBox="1"/>
            <p:nvPr/>
          </p:nvSpPr>
          <p:spPr>
            <a:xfrm>
              <a:off x="1882144" y="5206562"/>
              <a:ext cx="135235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Documents</a:t>
              </a: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E9B7DB0F-C903-582B-B467-62A21B6CDE90}"/>
                </a:ext>
              </a:extLst>
            </p:cNvPr>
            <p:cNvSpPr/>
            <p:nvPr/>
          </p:nvSpPr>
          <p:spPr>
            <a:xfrm>
              <a:off x="2375957" y="4890089"/>
              <a:ext cx="364732" cy="348580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1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1DB64584-D985-074C-BB83-7CBDAA774EB8}"/>
              </a:ext>
            </a:extLst>
          </p:cNvPr>
          <p:cNvGrpSpPr/>
          <p:nvPr/>
        </p:nvGrpSpPr>
        <p:grpSpPr>
          <a:xfrm>
            <a:off x="4448732" y="4890089"/>
            <a:ext cx="947760" cy="685805"/>
            <a:chOff x="4448732" y="4890089"/>
            <a:chExt cx="947760" cy="685805"/>
          </a:xfrm>
        </p:grpSpPr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3F393947-BDFA-EAB2-9A18-C9594C864812}"/>
                </a:ext>
              </a:extLst>
            </p:cNvPr>
            <p:cNvSpPr txBox="1"/>
            <p:nvPr/>
          </p:nvSpPr>
          <p:spPr>
            <a:xfrm>
              <a:off x="4448732" y="5206562"/>
              <a:ext cx="9477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Chunks</a:t>
              </a:r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35E8273D-DFC8-448C-9DAF-15C14C92E424}"/>
                </a:ext>
              </a:extLst>
            </p:cNvPr>
            <p:cNvSpPr/>
            <p:nvPr/>
          </p:nvSpPr>
          <p:spPr>
            <a:xfrm>
              <a:off x="4740246" y="4890089"/>
              <a:ext cx="364732" cy="348580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2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F793423-C238-5176-A6B4-D2F1B09F5B60}"/>
              </a:ext>
            </a:extLst>
          </p:cNvPr>
          <p:cNvGrpSpPr/>
          <p:nvPr/>
        </p:nvGrpSpPr>
        <p:grpSpPr>
          <a:xfrm>
            <a:off x="6892551" y="4890089"/>
            <a:ext cx="1489767" cy="685805"/>
            <a:chOff x="6892551" y="4890089"/>
            <a:chExt cx="1489767" cy="685805"/>
          </a:xfrm>
        </p:grpSpPr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A21264BF-A28E-0C6E-EC70-A0528595138C}"/>
                </a:ext>
              </a:extLst>
            </p:cNvPr>
            <p:cNvSpPr txBox="1"/>
            <p:nvPr/>
          </p:nvSpPr>
          <p:spPr>
            <a:xfrm>
              <a:off x="6892551" y="5206562"/>
              <a:ext cx="14897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Vectorization</a:t>
              </a: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0BCBBB54-9792-0343-3E3D-013E9A96E86F}"/>
                </a:ext>
              </a:extLst>
            </p:cNvPr>
            <p:cNvSpPr/>
            <p:nvPr/>
          </p:nvSpPr>
          <p:spPr>
            <a:xfrm>
              <a:off x="7455068" y="4890089"/>
              <a:ext cx="364732" cy="348580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3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15893903-48CA-4AC4-7AA8-641FA315651B}"/>
              </a:ext>
            </a:extLst>
          </p:cNvPr>
          <p:cNvGrpSpPr/>
          <p:nvPr/>
        </p:nvGrpSpPr>
        <p:grpSpPr>
          <a:xfrm>
            <a:off x="9401892" y="4890089"/>
            <a:ext cx="1175578" cy="685805"/>
            <a:chOff x="9257446" y="4890089"/>
            <a:chExt cx="1175578" cy="685805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720155F-896B-4F64-CF55-855292F41576}"/>
                </a:ext>
              </a:extLst>
            </p:cNvPr>
            <p:cNvSpPr txBox="1"/>
            <p:nvPr/>
          </p:nvSpPr>
          <p:spPr>
            <a:xfrm>
              <a:off x="9257446" y="5206562"/>
              <a:ext cx="1175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Vector DB</a:t>
              </a:r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FF026758-534D-52B6-7CA2-05D6F6E11624}"/>
                </a:ext>
              </a:extLst>
            </p:cNvPr>
            <p:cNvSpPr/>
            <p:nvPr/>
          </p:nvSpPr>
          <p:spPr>
            <a:xfrm>
              <a:off x="9662868" y="4890089"/>
              <a:ext cx="364734" cy="348580"/>
            </a:xfrm>
            <a:prstGeom prst="ellips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4</a:t>
              </a:r>
            </a:p>
          </p:txBody>
        </p:sp>
      </p:grp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DD7CF7BF-A2CD-EFD6-52FC-BFAAEA75E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5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/>
      <p:bldP spid="9" grpId="0"/>
      <p:bldP spid="10" grpId="0"/>
      <p:bldP spid="11" grpId="0" animBg="1"/>
      <p:bldP spid="12" grpId="0" animBg="1"/>
      <p:bldP spid="13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32" grpId="0" animBg="1"/>
      <p:bldP spid="39" grpId="0" animBg="1"/>
      <p:bldP spid="40" grpId="0" animBg="1"/>
      <p:bldP spid="4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F4C0B-271E-B993-455A-5A96A336B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288AB-6362-F72D-DA6D-88311C2CE3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Retrieval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D5D487CB-132C-C2D2-D1EE-CD0864AEF16E}"/>
              </a:ext>
            </a:extLst>
          </p:cNvPr>
          <p:cNvSpPr/>
          <p:nvPr/>
        </p:nvSpPr>
        <p:spPr>
          <a:xfrm>
            <a:off x="3770575" y="1566506"/>
            <a:ext cx="2555132" cy="53826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Embeddings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96BE6C0-8C59-3BF1-5661-21661C50E3BF}"/>
              </a:ext>
            </a:extLst>
          </p:cNvPr>
          <p:cNvSpPr/>
          <p:nvPr/>
        </p:nvSpPr>
        <p:spPr>
          <a:xfrm>
            <a:off x="7447630" y="1363846"/>
            <a:ext cx="1031132" cy="94358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Index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6B6469B2-FC57-3883-D7A3-93ADA6D5B11D}"/>
              </a:ext>
            </a:extLst>
          </p:cNvPr>
          <p:cNvCxnSpPr>
            <a:cxnSpLocks/>
          </p:cNvCxnSpPr>
          <p:nvPr/>
        </p:nvCxnSpPr>
        <p:spPr>
          <a:xfrm>
            <a:off x="6325707" y="1834267"/>
            <a:ext cx="112192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73DC2E57-343A-78CA-4F8A-0F812ADA219A}"/>
              </a:ext>
            </a:extLst>
          </p:cNvPr>
          <p:cNvSpPr/>
          <p:nvPr/>
        </p:nvSpPr>
        <p:spPr>
          <a:xfrm>
            <a:off x="2084556" y="1517746"/>
            <a:ext cx="971038" cy="635784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Query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5250C29-1FC9-D729-6020-F63ACAB05590}"/>
              </a:ext>
            </a:extLst>
          </p:cNvPr>
          <p:cNvCxnSpPr>
            <a:cxnSpLocks/>
            <a:endCxn id="29" idx="0"/>
          </p:cNvCxnSpPr>
          <p:nvPr/>
        </p:nvCxnSpPr>
        <p:spPr>
          <a:xfrm>
            <a:off x="7955090" y="2306059"/>
            <a:ext cx="2" cy="5377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B4703723-01D7-8B51-8A1D-65D768FE044B}"/>
              </a:ext>
            </a:extLst>
          </p:cNvPr>
          <p:cNvSpPr/>
          <p:nvPr/>
        </p:nvSpPr>
        <p:spPr>
          <a:xfrm>
            <a:off x="7254701" y="3126905"/>
            <a:ext cx="1400783" cy="220175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--------------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98C02757-499A-6C5B-26EC-B0863B714FC4}"/>
              </a:ext>
            </a:extLst>
          </p:cNvPr>
          <p:cNvSpPr/>
          <p:nvPr/>
        </p:nvSpPr>
        <p:spPr>
          <a:xfrm>
            <a:off x="7254701" y="3415507"/>
            <a:ext cx="1400783" cy="220175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------------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38E01B25-C8E8-9563-44EF-7BA2280E87EB}"/>
              </a:ext>
            </a:extLst>
          </p:cNvPr>
          <p:cNvSpPr/>
          <p:nvPr/>
        </p:nvSpPr>
        <p:spPr>
          <a:xfrm>
            <a:off x="7254699" y="3701350"/>
            <a:ext cx="1400783" cy="220175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--------------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DAA98A67-0241-BAA1-1FF0-E754A703E13B}"/>
              </a:ext>
            </a:extLst>
          </p:cNvPr>
          <p:cNvSpPr/>
          <p:nvPr/>
        </p:nvSpPr>
        <p:spPr>
          <a:xfrm>
            <a:off x="7254700" y="2843853"/>
            <a:ext cx="1400783" cy="220175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------------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303AAFA9-B6CC-24EE-E28F-5194ED6A6630}"/>
              </a:ext>
            </a:extLst>
          </p:cNvPr>
          <p:cNvSpPr/>
          <p:nvPr/>
        </p:nvSpPr>
        <p:spPr>
          <a:xfrm>
            <a:off x="7254698" y="3996092"/>
            <a:ext cx="1400783" cy="220175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957DEB8-E90C-B155-F87D-396DF69E8B4B}"/>
              </a:ext>
            </a:extLst>
          </p:cNvPr>
          <p:cNvSpPr txBox="1"/>
          <p:nvPr/>
        </p:nvSpPr>
        <p:spPr>
          <a:xfrm>
            <a:off x="9450423" y="1650972"/>
            <a:ext cx="1505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Top K Results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66FDD5EE-9E89-5A1C-C91F-A5CCFCF040DA}"/>
              </a:ext>
            </a:extLst>
          </p:cNvPr>
          <p:cNvSpPr/>
          <p:nvPr/>
        </p:nvSpPr>
        <p:spPr>
          <a:xfrm>
            <a:off x="4979434" y="3285741"/>
            <a:ext cx="971038" cy="635784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Query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9E1B176-22CC-9F44-DBFF-E8F3B3BE6501}"/>
              </a:ext>
            </a:extLst>
          </p:cNvPr>
          <p:cNvSpPr txBox="1"/>
          <p:nvPr/>
        </p:nvSpPr>
        <p:spPr>
          <a:xfrm>
            <a:off x="6350616" y="3250656"/>
            <a:ext cx="3947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+</a:t>
            </a:r>
          </a:p>
        </p:txBody>
      </p:sp>
      <p:sp>
        <p:nvSpPr>
          <p:cNvPr id="50" name="Right Brace 49">
            <a:extLst>
              <a:ext uri="{FF2B5EF4-FFF2-40B4-BE49-F238E27FC236}">
                <a16:creationId xmlns:a16="http://schemas.microsoft.com/office/drawing/2014/main" id="{AC736C51-4A43-8D23-B096-3FC8665D2423}"/>
              </a:ext>
            </a:extLst>
          </p:cNvPr>
          <p:cNvSpPr/>
          <p:nvPr/>
        </p:nvSpPr>
        <p:spPr>
          <a:xfrm rot="5400000">
            <a:off x="6516791" y="2961065"/>
            <a:ext cx="655629" cy="3621749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Amazon Bedrock - Solution de mise à l'échelle des applications d'IAG">
            <a:extLst>
              <a:ext uri="{FF2B5EF4-FFF2-40B4-BE49-F238E27FC236}">
                <a16:creationId xmlns:a16="http://schemas.microsoft.com/office/drawing/2014/main" id="{87A8E35E-1212-6CAA-B6B4-A8BDA328F77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60" t="9485" r="19311" b="10830"/>
          <a:stretch/>
        </p:blipFill>
        <p:spPr bwMode="auto">
          <a:xfrm>
            <a:off x="6388950" y="5179004"/>
            <a:ext cx="995435" cy="1009376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73B777B0-CB83-9030-6E3B-B3382A2F67A2}"/>
              </a:ext>
            </a:extLst>
          </p:cNvPr>
          <p:cNvSpPr txBox="1"/>
          <p:nvPr/>
        </p:nvSpPr>
        <p:spPr>
          <a:xfrm>
            <a:off x="6096000" y="6285611"/>
            <a:ext cx="1584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LLM Inference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EF0E8B6-9167-51A5-7A70-C04ADC4D5455}"/>
              </a:ext>
            </a:extLst>
          </p:cNvPr>
          <p:cNvSpPr txBox="1"/>
          <p:nvPr/>
        </p:nvSpPr>
        <p:spPr>
          <a:xfrm>
            <a:off x="9450423" y="3289033"/>
            <a:ext cx="21119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Augmented prompt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DC3B99D0-D00B-5E25-036D-4F8EDEE6185C}"/>
              </a:ext>
            </a:extLst>
          </p:cNvPr>
          <p:cNvCxnSpPr>
            <a:cxnSpLocks/>
          </p:cNvCxnSpPr>
          <p:nvPr/>
        </p:nvCxnSpPr>
        <p:spPr>
          <a:xfrm flipV="1">
            <a:off x="3054924" y="1834425"/>
            <a:ext cx="715651" cy="51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Oval 4">
            <a:extLst>
              <a:ext uri="{FF2B5EF4-FFF2-40B4-BE49-F238E27FC236}">
                <a16:creationId xmlns:a16="http://schemas.microsoft.com/office/drawing/2014/main" id="{749B751E-6878-8484-A8F1-0D512655C602}"/>
              </a:ext>
            </a:extLst>
          </p:cNvPr>
          <p:cNvSpPr/>
          <p:nvPr/>
        </p:nvSpPr>
        <p:spPr>
          <a:xfrm>
            <a:off x="8817908" y="1661348"/>
            <a:ext cx="364732" cy="34858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AE4E860-EC3F-7713-6738-4683428EC96D}"/>
              </a:ext>
            </a:extLst>
          </p:cNvPr>
          <p:cNvSpPr/>
          <p:nvPr/>
        </p:nvSpPr>
        <p:spPr>
          <a:xfrm>
            <a:off x="2378348" y="2320520"/>
            <a:ext cx="364732" cy="34858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D7B3FD4-3816-F708-901B-BBE4FD8F5DA7}"/>
              </a:ext>
            </a:extLst>
          </p:cNvPr>
          <p:cNvSpPr/>
          <p:nvPr/>
        </p:nvSpPr>
        <p:spPr>
          <a:xfrm>
            <a:off x="4865775" y="2315570"/>
            <a:ext cx="364732" cy="34858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A901F674-40B1-0862-11E5-8F372424B04C}"/>
              </a:ext>
            </a:extLst>
          </p:cNvPr>
          <p:cNvSpPr/>
          <p:nvPr/>
        </p:nvSpPr>
        <p:spPr>
          <a:xfrm>
            <a:off x="8817908" y="3311688"/>
            <a:ext cx="364732" cy="34858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5C9FDCF-EC81-9D5F-89A7-35B6CD17311C}"/>
              </a:ext>
            </a:extLst>
          </p:cNvPr>
          <p:cNvSpPr/>
          <p:nvPr/>
        </p:nvSpPr>
        <p:spPr>
          <a:xfrm>
            <a:off x="10506417" y="5501044"/>
            <a:ext cx="364732" cy="34858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6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C84AEB7-8F72-A072-1AE9-6482FB3712E8}"/>
              </a:ext>
            </a:extLst>
          </p:cNvPr>
          <p:cNvSpPr/>
          <p:nvPr/>
        </p:nvSpPr>
        <p:spPr>
          <a:xfrm>
            <a:off x="8616053" y="5357442"/>
            <a:ext cx="1725444" cy="635784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LLM Response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1521CD3-EBE0-FA3B-5757-E70B0C2B5CC1}"/>
              </a:ext>
            </a:extLst>
          </p:cNvPr>
          <p:cNvSpPr/>
          <p:nvPr/>
        </p:nvSpPr>
        <p:spPr>
          <a:xfrm>
            <a:off x="5592473" y="6295987"/>
            <a:ext cx="364732" cy="34858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1B513E3-6377-2C64-E481-8C0C822A23BB}"/>
              </a:ext>
            </a:extLst>
          </p:cNvPr>
          <p:cNvCxnSpPr>
            <a:cxnSpLocks/>
          </p:cNvCxnSpPr>
          <p:nvPr/>
        </p:nvCxnSpPr>
        <p:spPr>
          <a:xfrm flipV="1">
            <a:off x="7494130" y="5679548"/>
            <a:ext cx="1121923" cy="27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8A11D5-B596-8A62-1D96-7D182E27F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8798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3" grpId="0" animBg="1"/>
      <p:bldP spid="18" grpId="0" animBg="1"/>
      <p:bldP spid="19" grpId="0" animBg="1"/>
      <p:bldP spid="20" grpId="0" animBg="1"/>
      <p:bldP spid="29" grpId="0" animBg="1"/>
      <p:bldP spid="30" grpId="0" animBg="1"/>
      <p:bldP spid="31" grpId="0"/>
      <p:bldP spid="37" grpId="0" animBg="1"/>
      <p:bldP spid="38" grpId="0"/>
      <p:bldP spid="50" grpId="0" animBg="1"/>
      <p:bldP spid="51" grpId="0"/>
      <p:bldP spid="53" grpId="0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39349-1B51-98E9-89E8-34BE25155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149886-5492-6BF5-2872-281199FB9D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Re-Ranking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11F630C6-FD76-8B03-19FA-4C7CF73FD9F2}"/>
              </a:ext>
            </a:extLst>
          </p:cNvPr>
          <p:cNvSpPr/>
          <p:nvPr/>
        </p:nvSpPr>
        <p:spPr>
          <a:xfrm>
            <a:off x="1854905" y="1660562"/>
            <a:ext cx="1031132" cy="94358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Index</a:t>
            </a:r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C610B4E-9831-20A7-BFF4-76163DA508A0}"/>
              </a:ext>
            </a:extLst>
          </p:cNvPr>
          <p:cNvCxnSpPr>
            <a:cxnSpLocks/>
            <a:endCxn id="22" idx="2"/>
          </p:cNvCxnSpPr>
          <p:nvPr/>
        </p:nvCxnSpPr>
        <p:spPr>
          <a:xfrm flipV="1">
            <a:off x="732982" y="2132354"/>
            <a:ext cx="1121923" cy="27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F57524B-90F1-0166-06DE-37FB2CB61D96}"/>
              </a:ext>
            </a:extLst>
          </p:cNvPr>
          <p:cNvCxnSpPr>
            <a:cxnSpLocks/>
            <a:endCxn id="29" idx="0"/>
          </p:cNvCxnSpPr>
          <p:nvPr/>
        </p:nvCxnSpPr>
        <p:spPr>
          <a:xfrm>
            <a:off x="2362365" y="2602775"/>
            <a:ext cx="2" cy="5377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6D71908E-1216-E622-A81F-09B10A392295}"/>
              </a:ext>
            </a:extLst>
          </p:cNvPr>
          <p:cNvSpPr/>
          <p:nvPr/>
        </p:nvSpPr>
        <p:spPr>
          <a:xfrm>
            <a:off x="1661976" y="3423621"/>
            <a:ext cx="1400783" cy="220175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--------------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B9A89F1D-DD63-33C0-100E-183370D9DA91}"/>
              </a:ext>
            </a:extLst>
          </p:cNvPr>
          <p:cNvSpPr/>
          <p:nvPr/>
        </p:nvSpPr>
        <p:spPr>
          <a:xfrm>
            <a:off x="1661976" y="3712223"/>
            <a:ext cx="1400783" cy="220175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------------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59C28DE0-ECC5-BC14-5D8E-A470C518A3CA}"/>
              </a:ext>
            </a:extLst>
          </p:cNvPr>
          <p:cNvSpPr/>
          <p:nvPr/>
        </p:nvSpPr>
        <p:spPr>
          <a:xfrm>
            <a:off x="1661974" y="3998066"/>
            <a:ext cx="1400783" cy="220175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--------------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1434A85D-C0DE-4E2E-94F0-78AA3E461EB6}"/>
              </a:ext>
            </a:extLst>
          </p:cNvPr>
          <p:cNvSpPr/>
          <p:nvPr/>
        </p:nvSpPr>
        <p:spPr>
          <a:xfrm>
            <a:off x="1661975" y="3140569"/>
            <a:ext cx="1400783" cy="220175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------------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9859AD91-C093-9D5B-E0A5-27AB0E6F2CED}"/>
              </a:ext>
            </a:extLst>
          </p:cNvPr>
          <p:cNvSpPr/>
          <p:nvPr/>
        </p:nvSpPr>
        <p:spPr>
          <a:xfrm>
            <a:off x="1661973" y="4292808"/>
            <a:ext cx="1400783" cy="220175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EF078AC-D43D-5B5E-8BC2-A272DE315F91}"/>
              </a:ext>
            </a:extLst>
          </p:cNvPr>
          <p:cNvSpPr txBox="1"/>
          <p:nvPr/>
        </p:nvSpPr>
        <p:spPr>
          <a:xfrm>
            <a:off x="3607422" y="1923701"/>
            <a:ext cx="1505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Top K Results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6CA3BA5C-86B6-9352-2ABA-6962BE82D402}"/>
              </a:ext>
            </a:extLst>
          </p:cNvPr>
          <p:cNvSpPr/>
          <p:nvPr/>
        </p:nvSpPr>
        <p:spPr>
          <a:xfrm>
            <a:off x="3160930" y="1952725"/>
            <a:ext cx="343711" cy="311285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47B39EB-EE5C-8696-76CF-D733973E287A}"/>
              </a:ext>
            </a:extLst>
          </p:cNvPr>
          <p:cNvSpPr txBox="1"/>
          <p:nvPr/>
        </p:nvSpPr>
        <p:spPr>
          <a:xfrm>
            <a:off x="7059988" y="6419256"/>
            <a:ext cx="1584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LLM Inference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4B7042B8-F5DA-91B0-1E62-B2CE75C8E847}"/>
              </a:ext>
            </a:extLst>
          </p:cNvPr>
          <p:cNvSpPr/>
          <p:nvPr/>
        </p:nvSpPr>
        <p:spPr>
          <a:xfrm>
            <a:off x="6613046" y="6448279"/>
            <a:ext cx="343711" cy="311285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B7642EC-73C9-1AF4-9196-670C994E34A6}"/>
              </a:ext>
            </a:extLst>
          </p:cNvPr>
          <p:cNvSpPr/>
          <p:nvPr/>
        </p:nvSpPr>
        <p:spPr>
          <a:xfrm>
            <a:off x="3743001" y="3509053"/>
            <a:ext cx="1438598" cy="631525"/>
          </a:xfrm>
          <a:prstGeom prst="roundRect">
            <a:avLst/>
          </a:prstGeom>
          <a:solidFill>
            <a:schemeClr val="bg2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Re-Ranker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F45EF0F-FB36-E119-308D-67ACE06650AE}"/>
              </a:ext>
            </a:extLst>
          </p:cNvPr>
          <p:cNvCxnSpPr>
            <a:cxnSpLocks/>
          </p:cNvCxnSpPr>
          <p:nvPr/>
        </p:nvCxnSpPr>
        <p:spPr>
          <a:xfrm>
            <a:off x="3101492" y="3822310"/>
            <a:ext cx="62733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7FE7F789-FFB4-18C3-8C40-278AA252AE03}"/>
              </a:ext>
            </a:extLst>
          </p:cNvPr>
          <p:cNvSpPr/>
          <p:nvPr/>
        </p:nvSpPr>
        <p:spPr>
          <a:xfrm>
            <a:off x="5912658" y="3423621"/>
            <a:ext cx="1400783" cy="220175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--------------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9DF762FC-9543-18BD-E215-22751D425D25}"/>
              </a:ext>
            </a:extLst>
          </p:cNvPr>
          <p:cNvSpPr/>
          <p:nvPr/>
        </p:nvSpPr>
        <p:spPr>
          <a:xfrm>
            <a:off x="5912658" y="3712223"/>
            <a:ext cx="1400783" cy="220175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------------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1BBA1FEB-67A9-7F06-AB1B-1FE5B18C55FB}"/>
              </a:ext>
            </a:extLst>
          </p:cNvPr>
          <p:cNvSpPr/>
          <p:nvPr/>
        </p:nvSpPr>
        <p:spPr>
          <a:xfrm>
            <a:off x="5912656" y="3998066"/>
            <a:ext cx="1400783" cy="220175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--------------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507B64E-ABFF-8BB4-231E-F0AD144699C6}"/>
              </a:ext>
            </a:extLst>
          </p:cNvPr>
          <p:cNvSpPr/>
          <p:nvPr/>
        </p:nvSpPr>
        <p:spPr>
          <a:xfrm>
            <a:off x="5912657" y="3140569"/>
            <a:ext cx="1400783" cy="220175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------------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18369A60-F209-8DBD-94FB-006482FB0C78}"/>
              </a:ext>
            </a:extLst>
          </p:cNvPr>
          <p:cNvSpPr/>
          <p:nvPr/>
        </p:nvSpPr>
        <p:spPr>
          <a:xfrm>
            <a:off x="5912655" y="4292808"/>
            <a:ext cx="1400783" cy="220175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C6C3C5CA-820D-F167-16E0-4A62F28AC256}"/>
              </a:ext>
            </a:extLst>
          </p:cNvPr>
          <p:cNvSpPr/>
          <p:nvPr/>
        </p:nvSpPr>
        <p:spPr>
          <a:xfrm>
            <a:off x="3976781" y="2455590"/>
            <a:ext cx="971038" cy="635784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Query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CA657E7-7262-F2E6-151E-89DA8EA0F2E6}"/>
              </a:ext>
            </a:extLst>
          </p:cNvPr>
          <p:cNvCxnSpPr>
            <a:cxnSpLocks/>
            <a:stCxn id="13" idx="2"/>
            <a:endCxn id="5" idx="0"/>
          </p:cNvCxnSpPr>
          <p:nvPr/>
        </p:nvCxnSpPr>
        <p:spPr>
          <a:xfrm>
            <a:off x="4462300" y="3091374"/>
            <a:ext cx="0" cy="4176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D402B07-AE33-4DE8-6866-E335F278F613}"/>
              </a:ext>
            </a:extLst>
          </p:cNvPr>
          <p:cNvCxnSpPr>
            <a:cxnSpLocks/>
          </p:cNvCxnSpPr>
          <p:nvPr/>
        </p:nvCxnSpPr>
        <p:spPr>
          <a:xfrm>
            <a:off x="5181599" y="3832525"/>
            <a:ext cx="62733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5" name="Oval 24">
            <a:extLst>
              <a:ext uri="{FF2B5EF4-FFF2-40B4-BE49-F238E27FC236}">
                <a16:creationId xmlns:a16="http://schemas.microsoft.com/office/drawing/2014/main" id="{3AEFACE0-ADF1-44F8-E319-2794D49042C2}"/>
              </a:ext>
            </a:extLst>
          </p:cNvPr>
          <p:cNvSpPr/>
          <p:nvPr/>
        </p:nvSpPr>
        <p:spPr>
          <a:xfrm>
            <a:off x="4290519" y="4247252"/>
            <a:ext cx="343711" cy="311285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26" name="Right Brace 25">
            <a:extLst>
              <a:ext uri="{FF2B5EF4-FFF2-40B4-BE49-F238E27FC236}">
                <a16:creationId xmlns:a16="http://schemas.microsoft.com/office/drawing/2014/main" id="{C89EB3E4-2843-5D28-EFE2-0830B084AB30}"/>
              </a:ext>
            </a:extLst>
          </p:cNvPr>
          <p:cNvSpPr/>
          <p:nvPr/>
        </p:nvSpPr>
        <p:spPr>
          <a:xfrm rot="5400000">
            <a:off x="7142265" y="3191941"/>
            <a:ext cx="655629" cy="3621749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7" name="Picture 2" descr="Amazon Bedrock - Solution de mise à l'échelle des applications d'IAG">
            <a:extLst>
              <a:ext uri="{FF2B5EF4-FFF2-40B4-BE49-F238E27FC236}">
                <a16:creationId xmlns:a16="http://schemas.microsoft.com/office/drawing/2014/main" id="{577C52C0-5108-E8FE-793F-3322BA0A88D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60" t="9485" r="19311" b="10830"/>
          <a:stretch/>
        </p:blipFill>
        <p:spPr bwMode="auto">
          <a:xfrm>
            <a:off x="7014424" y="5409880"/>
            <a:ext cx="995435" cy="1009376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74EC2B50-BDED-9F18-4D3B-DC1F21ED78D6}"/>
              </a:ext>
            </a:extLst>
          </p:cNvPr>
          <p:cNvSpPr/>
          <p:nvPr/>
        </p:nvSpPr>
        <p:spPr>
          <a:xfrm>
            <a:off x="8105642" y="3472369"/>
            <a:ext cx="971038" cy="635784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Query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FB6EA8E-61B5-FCC7-65E8-982052C23A74}"/>
              </a:ext>
            </a:extLst>
          </p:cNvPr>
          <p:cNvSpPr txBox="1"/>
          <p:nvPr/>
        </p:nvSpPr>
        <p:spPr>
          <a:xfrm>
            <a:off x="7512142" y="3478582"/>
            <a:ext cx="3947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+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1FBAD0A-E743-4AC5-3848-A4A84E86E793}"/>
              </a:ext>
            </a:extLst>
          </p:cNvPr>
          <p:cNvSpPr txBox="1"/>
          <p:nvPr/>
        </p:nvSpPr>
        <p:spPr>
          <a:xfrm>
            <a:off x="5963871" y="843240"/>
            <a:ext cx="52545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Re-rankers types: Cross-encoder, Multi-vector, LLM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BD07408-5A0C-DD1B-C578-853D35CDC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8955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18" grpId="0" animBg="1"/>
      <p:bldP spid="19" grpId="0" animBg="1"/>
      <p:bldP spid="20" grpId="0" animBg="1"/>
      <p:bldP spid="29" grpId="0" animBg="1"/>
      <p:bldP spid="30" grpId="0" animBg="1"/>
      <p:bldP spid="31" grpId="0"/>
      <p:bldP spid="36" grpId="0" animBg="1"/>
      <p:bldP spid="51" grpId="0"/>
      <p:bldP spid="54" grpId="0" animBg="1"/>
      <p:bldP spid="5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25" grpId="0" animBg="1"/>
      <p:bldP spid="26" grpId="0" animBg="1"/>
      <p:bldP spid="28" grpId="0" animBg="1"/>
      <p:bldP spid="32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353C0D-21E3-A8AF-913E-B53768F12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615BCD-3907-41B8-2E4B-E6CFCAEC6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Example (running phase)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42AC9-3DCD-12E3-B050-D6D7E980FB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297" y="2186317"/>
            <a:ext cx="7772400" cy="363971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7CCAFFA-C93B-56EC-6EC2-01DCFA9D4B30}"/>
              </a:ext>
            </a:extLst>
          </p:cNvPr>
          <p:cNvSpPr txBox="1"/>
          <p:nvPr/>
        </p:nvSpPr>
        <p:spPr>
          <a:xfrm>
            <a:off x="7088222" y="5834928"/>
            <a:ext cx="503099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 don’t want to retrieve data every time I talk to my LLM. </a:t>
            </a:r>
            <a:br>
              <a:rPr lang="en-US" sz="1600" dirty="0"/>
            </a:br>
            <a:r>
              <a:rPr lang="en-US" sz="1600" dirty="0"/>
              <a:t>How can I do ?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07F346-33F8-49CA-2E66-F329FD47A2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4940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67B13-DCEB-2982-5141-09FE6B1E8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444112-50F4-942C-71AF-D50384768B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Architecture Example (Ingestion)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4A0BC23-A2E0-FAE2-3CEA-68A68227DD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595" y="2282474"/>
            <a:ext cx="8993745" cy="2652169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D7534-6833-A29F-1242-0C9726A17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73348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8E1A5-213B-7D1B-4EF6-E695EE214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05A7BA-FBD4-2A38-5FEC-C862348ABD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Re-Ranking</a:t>
            </a:r>
          </a:p>
        </p:txBody>
      </p:sp>
      <p:pic>
        <p:nvPicPr>
          <p:cNvPr id="3074" name="Picture 2" descr="BiEncoder">
            <a:extLst>
              <a:ext uri="{FF2B5EF4-FFF2-40B4-BE49-F238E27FC236}">
                <a16:creationId xmlns:a16="http://schemas.microsoft.com/office/drawing/2014/main" id="{58F1471F-BF12-5E46-6D7B-DEF08ECBF4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4350" y="1690688"/>
            <a:ext cx="6083300" cy="3390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639735A-3D0C-8AEE-8FD7-9EBAED9DAD9A}"/>
              </a:ext>
            </a:extLst>
          </p:cNvPr>
          <p:cNvSpPr txBox="1"/>
          <p:nvPr/>
        </p:nvSpPr>
        <p:spPr>
          <a:xfrm>
            <a:off x="4039812" y="5396671"/>
            <a:ext cx="1505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Top K Results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DBFDF08-2896-4B9B-1998-8BB4F2A6E12F}"/>
              </a:ext>
            </a:extLst>
          </p:cNvPr>
          <p:cNvSpPr txBox="1"/>
          <p:nvPr/>
        </p:nvSpPr>
        <p:spPr>
          <a:xfrm>
            <a:off x="7539838" y="5396671"/>
            <a:ext cx="11501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Re-ranker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C18FA99-8EC6-867C-2FB8-1AE8FCA01061}"/>
              </a:ext>
            </a:extLst>
          </p:cNvPr>
          <p:cNvSpPr txBox="1"/>
          <p:nvPr/>
        </p:nvSpPr>
        <p:spPr>
          <a:xfrm>
            <a:off x="500052" y="6222781"/>
            <a:ext cx="7264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Tradeoff between accuracy (cross-encoder) and efficiency (Bi-Encoder) 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9A1A080-E064-7AEC-9F91-88DA561A90E1}"/>
              </a:ext>
            </a:extLst>
          </p:cNvPr>
          <p:cNvSpPr/>
          <p:nvPr/>
        </p:nvSpPr>
        <p:spPr>
          <a:xfrm>
            <a:off x="2878100" y="1513929"/>
            <a:ext cx="6435799" cy="383014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8F4B71-F4F1-C12A-EC7D-F1B166673FEE}"/>
              </a:ext>
            </a:extLst>
          </p:cNvPr>
          <p:cNvSpPr txBox="1"/>
          <p:nvPr/>
        </p:nvSpPr>
        <p:spPr>
          <a:xfrm>
            <a:off x="8789059" y="5644926"/>
            <a:ext cx="64261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hlinkClick r:id="rId3"/>
              </a:rPr>
              <a:t>source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120A9A-3073-6628-77E8-70D7AB533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814166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17D67D-B311-6386-9CBE-7FC331622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C2BE79-AAA9-0C1B-D513-F8DA14976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Cosine-Similarity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989DAC4-2B77-159E-1088-442AF66B650A}"/>
                  </a:ext>
                </a:extLst>
              </p:cNvPr>
              <p:cNvSpPr txBox="1"/>
              <p:nvPr/>
            </p:nvSpPr>
            <p:spPr>
              <a:xfrm>
                <a:off x="726339" y="1745910"/>
                <a:ext cx="7528077" cy="9580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800" b="0" i="1" smtClean="0">
                          <a:latin typeface="Cambria Math" panose="02040503050406030204" pitchFamily="18" charset="0"/>
                        </a:rPr>
                        <m:t>𝑐𝑜𝑠𝑖𝑛𝑒𝑆𝑖𝑚𝑖𝑙𝑎𝑟𝑖𝑡𝑦</m:t>
                      </m:r>
                      <m:d>
                        <m:dPr>
                          <m:ctrlPr>
                            <a:rPr lang="fr-F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  <m:r>
                            <a:rPr lang="fr-FR" sz="28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𝑩</m:t>
                          </m:r>
                        </m:e>
                      </m:d>
                      <m:r>
                        <a:rPr lang="fr-F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fr-FR" sz="2800" b="0" i="0" smtClean="0">
                          <a:latin typeface="Cambria Math" panose="02040503050406030204" pitchFamily="18" charset="0"/>
                        </a:rPr>
                        <m:t>cos</m:t>
                      </m:r>
                      <m:r>
                        <a:rPr lang="fr-FR" sz="2800" b="0" i="1" smtClean="0">
                          <a:latin typeface="Cambria Math" panose="02040503050406030204" pitchFamily="18" charset="0"/>
                        </a:rPr>
                        <m:t>⁡(</m:t>
                      </m:r>
                      <m:r>
                        <a:rPr lang="fr-F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fr-FR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fr-FR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𝑨</m:t>
                          </m:r>
                          <m:r>
                            <a:rPr lang="fr-FR" sz="2800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r>
                            <a:rPr lang="fr-FR" sz="2800" b="1" i="1" smtClean="0">
                              <a:latin typeface="Cambria Math" panose="02040503050406030204" pitchFamily="18" charset="0"/>
                            </a:rPr>
                            <m:t>𝑩</m:t>
                          </m:r>
                        </m:num>
                        <m:den>
                          <m:d>
                            <m:dPr>
                              <m:begChr m:val="‖"/>
                              <m:endChr m:val="‖"/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e>
                          </m:d>
                          <m:d>
                            <m:dPr>
                              <m:begChr m:val="‖"/>
                              <m:endChr m:val="‖"/>
                              <m:ctrlP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2800" b="1" i="1" smtClean="0">
                                  <a:latin typeface="Cambria Math" panose="02040503050406030204" pitchFamily="18" charset="0"/>
                                </a:rPr>
                                <m:t>𝑩</m:t>
                              </m:r>
                            </m:e>
                          </m:d>
                        </m:den>
                      </m:f>
                      <m:r>
                        <a:rPr lang="fr-FR" sz="28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989DAC4-2B77-159E-1088-442AF66B65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339" y="1745910"/>
                <a:ext cx="7528077" cy="95801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F48936E-6C69-3726-E4B8-74F3C59BBEA3}"/>
              </a:ext>
            </a:extLst>
          </p:cNvPr>
          <p:cNvCxnSpPr>
            <a:cxnSpLocks/>
          </p:cNvCxnSpPr>
          <p:nvPr/>
        </p:nvCxnSpPr>
        <p:spPr>
          <a:xfrm flipV="1">
            <a:off x="9541483" y="2119506"/>
            <a:ext cx="1552354" cy="5440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3E8F55D-8E6D-304A-DB9C-D651CB155B87}"/>
              </a:ext>
            </a:extLst>
          </p:cNvPr>
          <p:cNvCxnSpPr>
            <a:cxnSpLocks/>
          </p:cNvCxnSpPr>
          <p:nvPr/>
        </p:nvCxnSpPr>
        <p:spPr>
          <a:xfrm flipV="1">
            <a:off x="9541483" y="969473"/>
            <a:ext cx="659219" cy="16825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4B756F0-3C65-8EBC-5838-1DA00A21F82A}"/>
              </a:ext>
            </a:extLst>
          </p:cNvPr>
          <p:cNvCxnSpPr>
            <a:cxnSpLocks/>
          </p:cNvCxnSpPr>
          <p:nvPr/>
        </p:nvCxnSpPr>
        <p:spPr>
          <a:xfrm flipV="1">
            <a:off x="9541483" y="797668"/>
            <a:ext cx="21153" cy="187739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C1E58E5-07E6-AA7F-008B-2C62C047B05A}"/>
              </a:ext>
            </a:extLst>
          </p:cNvPr>
          <p:cNvCxnSpPr>
            <a:cxnSpLocks/>
          </p:cNvCxnSpPr>
          <p:nvPr/>
        </p:nvCxnSpPr>
        <p:spPr>
          <a:xfrm flipV="1">
            <a:off x="9541483" y="2652020"/>
            <a:ext cx="2010002" cy="230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6439EDC-1FD2-D1A6-4511-EE030F281848}"/>
                  </a:ext>
                </a:extLst>
              </p:cNvPr>
              <p:cNvSpPr txBox="1"/>
              <p:nvPr/>
            </p:nvSpPr>
            <p:spPr>
              <a:xfrm>
                <a:off x="9779561" y="2242281"/>
                <a:ext cx="18306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16439EDC-1FD2-D1A6-4511-EE030F2818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79561" y="2242281"/>
                <a:ext cx="183062" cy="276999"/>
              </a:xfrm>
              <a:prstGeom prst="rect">
                <a:avLst/>
              </a:prstGeom>
              <a:blipFill>
                <a:blip r:embed="rId3"/>
                <a:stretch>
                  <a:fillRect l="-25000" r="-25000" b="-43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Arc 29">
            <a:extLst>
              <a:ext uri="{FF2B5EF4-FFF2-40B4-BE49-F238E27FC236}">
                <a16:creationId xmlns:a16="http://schemas.microsoft.com/office/drawing/2014/main" id="{0933EFE8-24BE-3530-FDC8-DB814AFC2527}"/>
              </a:ext>
            </a:extLst>
          </p:cNvPr>
          <p:cNvSpPr/>
          <p:nvPr/>
        </p:nvSpPr>
        <p:spPr>
          <a:xfrm>
            <a:off x="9562636" y="2372404"/>
            <a:ext cx="200493" cy="410670"/>
          </a:xfrm>
          <a:prstGeom prst="arc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696C28A-AA3E-4951-3DEC-CB5A23F524EF}"/>
                  </a:ext>
                </a:extLst>
              </p:cNvPr>
              <p:cNvSpPr txBox="1"/>
              <p:nvPr/>
            </p:nvSpPr>
            <p:spPr>
              <a:xfrm>
                <a:off x="10125720" y="644723"/>
                <a:ext cx="3834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b="1" i="1" smtClean="0">
                          <a:latin typeface="Cambria Math" panose="02040503050406030204" pitchFamily="18" charset="0"/>
                        </a:rPr>
                        <m:t>𝑨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E696C28A-AA3E-4951-3DEC-CB5A23F524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25720" y="644723"/>
                <a:ext cx="383438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F41EDBA-6F63-404C-7483-695C193D5E59}"/>
                  </a:ext>
                </a:extLst>
              </p:cNvPr>
              <p:cNvSpPr txBox="1"/>
              <p:nvPr/>
            </p:nvSpPr>
            <p:spPr>
              <a:xfrm>
                <a:off x="11067796" y="1851505"/>
                <a:ext cx="39786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b="1" i="1" smtClean="0"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F41EDBA-6F63-404C-7483-695C193D5E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67796" y="1851505"/>
                <a:ext cx="397865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8" name="Picture 4" descr="Visualization of the word embedding space">
            <a:extLst>
              <a:ext uri="{FF2B5EF4-FFF2-40B4-BE49-F238E27FC236}">
                <a16:creationId xmlns:a16="http://schemas.microsoft.com/office/drawing/2014/main" id="{9981FEE4-1E72-E9E7-455F-2F7803F519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662" y="2945618"/>
            <a:ext cx="3654824" cy="3547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A228189-0501-56B1-238F-D666120F6C02}"/>
              </a:ext>
            </a:extLst>
          </p:cNvPr>
          <p:cNvSpPr txBox="1"/>
          <p:nvPr/>
        </p:nvSpPr>
        <p:spPr>
          <a:xfrm>
            <a:off x="3973833" y="6492875"/>
            <a:ext cx="60465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i="1" dirty="0">
                <a:hlinkClick r:id="rId7"/>
              </a:rPr>
              <a:t>source</a:t>
            </a:r>
            <a:endParaRPr lang="en-US" sz="1100" i="1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C749A3C-FBEB-F78A-A85D-8044D3F368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14368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E84DC5-37D8-95F5-4696-A01AF6562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685655-A439-10CE-6D53-9A0AB7AFD9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Chunking strategy: Fixed-size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EDCBEF-8B2F-5A06-972E-5A9D56BA60C8}"/>
              </a:ext>
            </a:extLst>
          </p:cNvPr>
          <p:cNvSpPr txBox="1"/>
          <p:nvPr/>
        </p:nvSpPr>
        <p:spPr>
          <a:xfrm>
            <a:off x="588336" y="1899684"/>
            <a:ext cx="11256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u="none" strike="noStrike" dirty="0">
                <a:solidFill>
                  <a:srgbClr val="161616"/>
                </a:solidFill>
                <a:effectLst/>
                <a:highlight>
                  <a:srgbClr val="FFFF00"/>
                </a:highlight>
                <a:latin typeface="IBM Plex Sans" panose="020F0502020204030204" pitchFamily="34" charset="0"/>
              </a:rPr>
              <a:t>Artificial intelligence is a technology </a:t>
            </a:r>
            <a:r>
              <a:rPr lang="en-US" b="0" i="0" u="none" strike="noStrike" dirty="0">
                <a:solidFill>
                  <a:srgbClr val="161616"/>
                </a:solidFill>
                <a:effectLst/>
                <a:highlight>
                  <a:srgbClr val="00FF00"/>
                </a:highlight>
                <a:latin typeface="IBM Plex Sans" panose="020F0502020204030204" pitchFamily="34" charset="0"/>
              </a:rPr>
              <a:t>that enables computers and </a:t>
            </a:r>
            <a:r>
              <a:rPr lang="en-US" b="0" i="0" u="none" strike="noStrike" dirty="0">
                <a:solidFill>
                  <a:srgbClr val="161616"/>
                </a:solidFill>
                <a:effectLst/>
                <a:highlight>
                  <a:srgbClr val="FF00FF"/>
                </a:highlight>
                <a:latin typeface="IBM Plex Sans" panose="020F0502020204030204" pitchFamily="34" charset="0"/>
              </a:rPr>
              <a:t>machines to simulate human learning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BC4F519-BC8D-2CE5-E5D2-2654C30AA2C5}"/>
              </a:ext>
            </a:extLst>
          </p:cNvPr>
          <p:cNvSpPr txBox="1"/>
          <p:nvPr/>
        </p:nvSpPr>
        <p:spPr>
          <a:xfrm>
            <a:off x="588336" y="3758978"/>
            <a:ext cx="38879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u="none" strike="noStrike" dirty="0">
                <a:solidFill>
                  <a:srgbClr val="161616"/>
                </a:solidFill>
                <a:effectLst/>
                <a:highlight>
                  <a:srgbClr val="FFFF00"/>
                </a:highlight>
                <a:latin typeface="IBM Plex Sans" panose="020F0502020204030204" pitchFamily="34" charset="0"/>
              </a:rPr>
              <a:t>Artificial intelligence is a technology </a:t>
            </a:r>
            <a:br>
              <a:rPr lang="en-US" b="0" i="0" u="none" strike="noStrike" dirty="0">
                <a:solidFill>
                  <a:srgbClr val="161616"/>
                </a:solidFill>
                <a:effectLst/>
                <a:highlight>
                  <a:srgbClr val="FFFF00"/>
                </a:highlight>
                <a:latin typeface="IBM Plex Sans" panose="020F0502020204030204" pitchFamily="34" charset="0"/>
              </a:rPr>
            </a:br>
            <a:r>
              <a:rPr lang="en-US" b="0" i="0" u="none" strike="noStrike" dirty="0">
                <a:solidFill>
                  <a:srgbClr val="161616"/>
                </a:solidFill>
                <a:effectLst/>
                <a:highlight>
                  <a:srgbClr val="00FF00"/>
                </a:highlight>
                <a:latin typeface="IBM Plex Sans" panose="020F0502020204030204" pitchFamily="34" charset="0"/>
              </a:rPr>
              <a:t>that enables computers and</a:t>
            </a:r>
            <a:r>
              <a:rPr lang="en-US" b="0" i="0" u="none" strike="noStrike" dirty="0">
                <a:solidFill>
                  <a:srgbClr val="161616"/>
                </a:solidFill>
                <a:effectLst/>
                <a:latin typeface="IBM Plex Sans" panose="020F0502020204030204" pitchFamily="34" charset="0"/>
              </a:rPr>
              <a:t>.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9E2C93-337B-968B-F062-D6A621AF4662}"/>
              </a:ext>
            </a:extLst>
          </p:cNvPr>
          <p:cNvSpPr txBox="1"/>
          <p:nvPr/>
        </p:nvSpPr>
        <p:spPr>
          <a:xfrm>
            <a:off x="6797750" y="3794788"/>
            <a:ext cx="41041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0" i="0" u="none" strike="noStrike" dirty="0">
                <a:solidFill>
                  <a:srgbClr val="161616"/>
                </a:solidFill>
                <a:effectLst/>
                <a:highlight>
                  <a:srgbClr val="00FF00"/>
                </a:highlight>
                <a:latin typeface="IBM Plex Sans" panose="020F0502020204030204" pitchFamily="34" charset="0"/>
              </a:rPr>
              <a:t>that enables computers and </a:t>
            </a:r>
            <a:br>
              <a:rPr lang="en-US" b="0" i="0" u="none" strike="noStrike" dirty="0">
                <a:solidFill>
                  <a:srgbClr val="161616"/>
                </a:solidFill>
                <a:effectLst/>
                <a:highlight>
                  <a:srgbClr val="00FF00"/>
                </a:highlight>
                <a:latin typeface="IBM Plex Sans" panose="020F0502020204030204" pitchFamily="34" charset="0"/>
              </a:rPr>
            </a:br>
            <a:r>
              <a:rPr lang="en-US" b="0" i="0" u="none" strike="noStrike" dirty="0">
                <a:solidFill>
                  <a:srgbClr val="161616"/>
                </a:solidFill>
                <a:effectLst/>
                <a:highlight>
                  <a:srgbClr val="FF00FF"/>
                </a:highlight>
                <a:latin typeface="IBM Plex Sans" panose="020F0502020204030204" pitchFamily="34" charset="0"/>
              </a:rPr>
              <a:t>machines to simulate human learning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4F66C9-D405-0234-E91D-917C72817D38}"/>
              </a:ext>
            </a:extLst>
          </p:cNvPr>
          <p:cNvSpPr txBox="1"/>
          <p:nvPr/>
        </p:nvSpPr>
        <p:spPr>
          <a:xfrm>
            <a:off x="2028017" y="3425456"/>
            <a:ext cx="10086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Chunk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06B8DDA-4435-A552-BAE0-76583984C502}"/>
              </a:ext>
            </a:extLst>
          </p:cNvPr>
          <p:cNvSpPr txBox="1"/>
          <p:nvPr/>
        </p:nvSpPr>
        <p:spPr>
          <a:xfrm>
            <a:off x="8345529" y="3455949"/>
            <a:ext cx="10086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Chunk 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8D6AED-A5B0-A998-986A-6A360ED30534}"/>
              </a:ext>
            </a:extLst>
          </p:cNvPr>
          <p:cNvSpPr txBox="1"/>
          <p:nvPr/>
        </p:nvSpPr>
        <p:spPr>
          <a:xfrm>
            <a:off x="5454884" y="1648626"/>
            <a:ext cx="7616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overlap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9DAA694-274E-564E-0AD7-381B0167D3B7}"/>
              </a:ext>
            </a:extLst>
          </p:cNvPr>
          <p:cNvCxnSpPr/>
          <p:nvPr/>
        </p:nvCxnSpPr>
        <p:spPr>
          <a:xfrm flipH="1">
            <a:off x="3144064" y="2354651"/>
            <a:ext cx="1973741" cy="107080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C50BAC1-D346-8CF7-F50D-B06E68BB24AE}"/>
              </a:ext>
            </a:extLst>
          </p:cNvPr>
          <p:cNvCxnSpPr>
            <a:cxnSpLocks/>
          </p:cNvCxnSpPr>
          <p:nvPr/>
        </p:nvCxnSpPr>
        <p:spPr>
          <a:xfrm>
            <a:off x="6541537" y="2404131"/>
            <a:ext cx="1872361" cy="9415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19D3EC-F603-275B-06B7-360694911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279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8" grpId="0"/>
      <p:bldP spid="9" grpId="0"/>
      <p:bldP spid="10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DC0395-D5C0-867C-094C-924AFB67D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CC4E1-CA1E-CB50-4C29-10A791215B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Chunking strategy: Semantic Chunking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12A483C0-AF93-5FF1-7049-F10C8DAD13F5}"/>
              </a:ext>
            </a:extLst>
          </p:cNvPr>
          <p:cNvSpPr/>
          <p:nvPr/>
        </p:nvSpPr>
        <p:spPr>
          <a:xfrm>
            <a:off x="1462391" y="1935829"/>
            <a:ext cx="1400783" cy="804153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160F0A-F178-0AA1-539B-5F4A363C1E6A}"/>
              </a:ext>
            </a:extLst>
          </p:cNvPr>
          <p:cNvSpPr txBox="1"/>
          <p:nvPr/>
        </p:nvSpPr>
        <p:spPr>
          <a:xfrm>
            <a:off x="1640731" y="1968573"/>
            <a:ext cx="104410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-----------</a:t>
            </a:r>
          </a:p>
          <a:p>
            <a:r>
              <a:rPr lang="en-US" sz="1400" dirty="0"/>
              <a:t>--------------</a:t>
            </a:r>
          </a:p>
          <a:p>
            <a:r>
              <a:rPr lang="en-US" sz="1400" dirty="0"/>
              <a:t>------------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9161F8B0-5023-745B-6103-A423C8EC3588}"/>
              </a:ext>
            </a:extLst>
          </p:cNvPr>
          <p:cNvSpPr/>
          <p:nvPr/>
        </p:nvSpPr>
        <p:spPr>
          <a:xfrm>
            <a:off x="5018944" y="1927149"/>
            <a:ext cx="1400783" cy="220175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087C01C-0241-BFC8-967B-EC3275C4DCD3}"/>
              </a:ext>
            </a:extLst>
          </p:cNvPr>
          <p:cNvSpPr/>
          <p:nvPr/>
        </p:nvSpPr>
        <p:spPr>
          <a:xfrm>
            <a:off x="5018944" y="2219137"/>
            <a:ext cx="1400783" cy="220175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--------------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F42CDAB7-D589-6595-6A53-0CBD05A3C124}"/>
              </a:ext>
            </a:extLst>
          </p:cNvPr>
          <p:cNvSpPr/>
          <p:nvPr/>
        </p:nvSpPr>
        <p:spPr>
          <a:xfrm>
            <a:off x="5018944" y="2507739"/>
            <a:ext cx="1400783" cy="220175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------------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5EDCAFD2-1F6D-60E0-A693-4259F999BBC9}"/>
              </a:ext>
            </a:extLst>
          </p:cNvPr>
          <p:cNvCxnSpPr>
            <a:cxnSpLocks/>
            <a:stCxn id="3" idx="3"/>
            <a:endCxn id="21" idx="3"/>
          </p:cNvCxnSpPr>
          <p:nvPr/>
        </p:nvCxnSpPr>
        <p:spPr>
          <a:xfrm flipV="1">
            <a:off x="2863174" y="2335911"/>
            <a:ext cx="2033335" cy="19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9196A0D8-CC99-771B-1109-17D1F0C6D4C1}"/>
              </a:ext>
            </a:extLst>
          </p:cNvPr>
          <p:cNvSpPr txBox="1"/>
          <p:nvPr/>
        </p:nvSpPr>
        <p:spPr>
          <a:xfrm>
            <a:off x="3041514" y="1966579"/>
            <a:ext cx="185499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Segment Doc</a:t>
            </a:r>
          </a:p>
          <a:p>
            <a:endParaRPr lang="en-US" sz="1400" i="1" dirty="0"/>
          </a:p>
          <a:p>
            <a:r>
              <a:rPr lang="en-US" sz="1400" i="1" dirty="0"/>
              <a:t>(sentence/paragraph)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A449F94-C96C-2075-88A5-897C32A1E3E8}"/>
              </a:ext>
            </a:extLst>
          </p:cNvPr>
          <p:cNvCxnSpPr>
            <a:cxnSpLocks/>
          </p:cNvCxnSpPr>
          <p:nvPr/>
        </p:nvCxnSpPr>
        <p:spPr>
          <a:xfrm>
            <a:off x="6653644" y="2335911"/>
            <a:ext cx="70408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E202BBDF-D6CA-5AF6-42CD-26F5ED92B7F6}"/>
              </a:ext>
            </a:extLst>
          </p:cNvPr>
          <p:cNvSpPr/>
          <p:nvPr/>
        </p:nvSpPr>
        <p:spPr>
          <a:xfrm>
            <a:off x="7563294" y="2219136"/>
            <a:ext cx="1400783" cy="220175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C4915F4-E946-59A9-B40F-336D92F0CDD8}"/>
              </a:ext>
            </a:extLst>
          </p:cNvPr>
          <p:cNvSpPr txBox="1"/>
          <p:nvPr/>
        </p:nvSpPr>
        <p:spPr>
          <a:xfrm>
            <a:off x="7283726" y="1729881"/>
            <a:ext cx="20403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Initial First </a:t>
            </a:r>
            <a:r>
              <a:rPr lang="en-US" dirty="0" err="1"/>
              <a:t>Chunck</a:t>
            </a:r>
            <a:endParaRPr lang="en-US" dirty="0"/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258C325-4329-34F3-3728-666049642E2B}"/>
              </a:ext>
            </a:extLst>
          </p:cNvPr>
          <p:cNvCxnSpPr>
            <a:cxnSpLocks/>
          </p:cNvCxnSpPr>
          <p:nvPr/>
        </p:nvCxnSpPr>
        <p:spPr>
          <a:xfrm>
            <a:off x="8247128" y="2507739"/>
            <a:ext cx="0" cy="55776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803F13BE-1DF2-91A0-AFCD-36E724034CEA}"/>
              </a:ext>
            </a:extLst>
          </p:cNvPr>
          <p:cNvSpPr/>
          <p:nvPr/>
        </p:nvSpPr>
        <p:spPr>
          <a:xfrm>
            <a:off x="7603486" y="3137012"/>
            <a:ext cx="1400783" cy="220175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</a:t>
            </a: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F214D3EB-9A59-D40F-86FE-2C240EE2A3D3}"/>
              </a:ext>
            </a:extLst>
          </p:cNvPr>
          <p:cNvSpPr/>
          <p:nvPr/>
        </p:nvSpPr>
        <p:spPr>
          <a:xfrm>
            <a:off x="7603486" y="3429000"/>
            <a:ext cx="1400783" cy="220175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--------------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0569F4C-953A-0B3B-62AB-5A655F123EF5}"/>
              </a:ext>
            </a:extLst>
          </p:cNvPr>
          <p:cNvSpPr txBox="1"/>
          <p:nvPr/>
        </p:nvSpPr>
        <p:spPr>
          <a:xfrm>
            <a:off x="9215308" y="3105834"/>
            <a:ext cx="217937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Keep adding chunks</a:t>
            </a:r>
          </a:p>
          <a:p>
            <a:r>
              <a:rPr lang="en-US" dirty="0"/>
              <a:t>until cosine drops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9D0FB00-84CC-2EC6-9DEA-E408AEFF7FC5}"/>
              </a:ext>
            </a:extLst>
          </p:cNvPr>
          <p:cNvSpPr txBox="1"/>
          <p:nvPr/>
        </p:nvSpPr>
        <p:spPr>
          <a:xfrm>
            <a:off x="5528417" y="2696172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324193A-43D8-9A06-2AF3-D56FC6120302}"/>
              </a:ext>
            </a:extLst>
          </p:cNvPr>
          <p:cNvSpPr txBox="1"/>
          <p:nvPr/>
        </p:nvSpPr>
        <p:spPr>
          <a:xfrm>
            <a:off x="1424535" y="4649972"/>
            <a:ext cx="147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Final Chunks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69211ADC-3EF9-A6B8-6FC2-CF6131EE58BD}"/>
              </a:ext>
            </a:extLst>
          </p:cNvPr>
          <p:cNvSpPr/>
          <p:nvPr/>
        </p:nvSpPr>
        <p:spPr>
          <a:xfrm>
            <a:off x="1567737" y="5297190"/>
            <a:ext cx="1400783" cy="220175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</a:t>
            </a:r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19D45C5C-92A3-F41E-F7C4-47B96A09EF96}"/>
              </a:ext>
            </a:extLst>
          </p:cNvPr>
          <p:cNvSpPr/>
          <p:nvPr/>
        </p:nvSpPr>
        <p:spPr>
          <a:xfrm>
            <a:off x="1567737" y="5589178"/>
            <a:ext cx="1400783" cy="220175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--------------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1BDF9A35-0730-799B-A029-8FED6DB8883A}"/>
              </a:ext>
            </a:extLst>
          </p:cNvPr>
          <p:cNvSpPr/>
          <p:nvPr/>
        </p:nvSpPr>
        <p:spPr>
          <a:xfrm>
            <a:off x="3370897" y="5479090"/>
            <a:ext cx="1400783" cy="220175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------------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799748B6-E870-274D-B837-65A9125E0E1B}"/>
              </a:ext>
            </a:extLst>
          </p:cNvPr>
          <p:cNvSpPr/>
          <p:nvPr/>
        </p:nvSpPr>
        <p:spPr>
          <a:xfrm>
            <a:off x="5159352" y="5297190"/>
            <a:ext cx="1400783" cy="220175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</a:t>
            </a: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17771625-E0A9-BD52-6EEA-7ACE403F469C}"/>
              </a:ext>
            </a:extLst>
          </p:cNvPr>
          <p:cNvSpPr/>
          <p:nvPr/>
        </p:nvSpPr>
        <p:spPr>
          <a:xfrm>
            <a:off x="5159352" y="5589178"/>
            <a:ext cx="1400783" cy="220175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--------------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2F373C84-F070-DA60-04AA-2AD33B78F485}"/>
              </a:ext>
            </a:extLst>
          </p:cNvPr>
          <p:cNvSpPr/>
          <p:nvPr/>
        </p:nvSpPr>
        <p:spPr>
          <a:xfrm>
            <a:off x="5159352" y="5877780"/>
            <a:ext cx="1400783" cy="220175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--------------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69F6EFFC-D3CB-1B9E-7AA0-27D52969ACDB}"/>
              </a:ext>
            </a:extLst>
          </p:cNvPr>
          <p:cNvSpPr/>
          <p:nvPr/>
        </p:nvSpPr>
        <p:spPr>
          <a:xfrm>
            <a:off x="1424535" y="5149174"/>
            <a:ext cx="1688316" cy="821614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A14FC0ED-3C41-1C20-1F80-644112F95EF5}"/>
              </a:ext>
            </a:extLst>
          </p:cNvPr>
          <p:cNvSpPr/>
          <p:nvPr/>
        </p:nvSpPr>
        <p:spPr>
          <a:xfrm>
            <a:off x="3208193" y="5149174"/>
            <a:ext cx="1688316" cy="82360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5B60D9A-7A56-D5A4-7FFA-AECDDE03149E}"/>
              </a:ext>
            </a:extLst>
          </p:cNvPr>
          <p:cNvSpPr/>
          <p:nvPr/>
        </p:nvSpPr>
        <p:spPr>
          <a:xfrm>
            <a:off x="5059213" y="5164258"/>
            <a:ext cx="1688316" cy="104846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29E428-4905-33AF-86EB-E32154E41F7B}"/>
              </a:ext>
            </a:extLst>
          </p:cNvPr>
          <p:cNvSpPr txBox="1"/>
          <p:nvPr/>
        </p:nvSpPr>
        <p:spPr>
          <a:xfrm>
            <a:off x="1854156" y="6319713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Chunk 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BB8F21-9B7C-A3C1-202F-C639D856CBDA}"/>
              </a:ext>
            </a:extLst>
          </p:cNvPr>
          <p:cNvSpPr txBox="1"/>
          <p:nvPr/>
        </p:nvSpPr>
        <p:spPr>
          <a:xfrm>
            <a:off x="3655949" y="6326040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Chunk 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743FF3-E2DD-CFD8-2DB4-71B836DE8B34}"/>
              </a:ext>
            </a:extLst>
          </p:cNvPr>
          <p:cNvSpPr txBox="1"/>
          <p:nvPr/>
        </p:nvSpPr>
        <p:spPr>
          <a:xfrm>
            <a:off x="5444404" y="6319714"/>
            <a:ext cx="83067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Chunk 3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384C32CA-0FFF-605B-5514-40C0A0920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59937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11" grpId="0" animBg="1"/>
      <p:bldP spid="14" grpId="0" animBg="1"/>
      <p:bldP spid="15" grpId="0" animBg="1"/>
      <p:bldP spid="21" grpId="0"/>
      <p:bldP spid="26" grpId="0" animBg="1"/>
      <p:bldP spid="27" grpId="0"/>
      <p:bldP spid="31" grpId="0" animBg="1"/>
      <p:bldP spid="32" grpId="0" animBg="1"/>
      <p:bldP spid="33" grpId="0"/>
      <p:bldP spid="34" grpId="0"/>
      <p:bldP spid="35" grpId="0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5" grpId="0" animBg="1"/>
      <p:bldP spid="6" grpId="0" animBg="1"/>
      <p:bldP spid="7" grpId="0" animBg="1"/>
      <p:bldP spid="8" grpId="0"/>
      <p:bldP spid="9" grpId="0"/>
      <p:bldP spid="10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FD3AAD-E428-8921-338D-6ADF07F6C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F0D9C-C1F7-1BF6-EFC5-A333C0A9AE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/>
              <a:t>Chunking strategy: Other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1FB6234-8922-32B1-7561-ABA234CF6C40}"/>
              </a:ext>
            </a:extLst>
          </p:cNvPr>
          <p:cNvSpPr/>
          <p:nvPr/>
        </p:nvSpPr>
        <p:spPr>
          <a:xfrm>
            <a:off x="1536706" y="2278972"/>
            <a:ext cx="1887187" cy="1887187"/>
          </a:xfrm>
          <a:prstGeom prst="ellipse">
            <a:avLst/>
          </a:prstGeom>
        </p:spPr>
        <p:style>
          <a:lnRef idx="0">
            <a:schemeClr val="accent2">
              <a:hueOff val="0"/>
              <a:satOff val="0"/>
              <a:lumOff val="0"/>
              <a:alphaOff val="0"/>
            </a:schemeClr>
          </a:lnRef>
          <a:fillRef idx="1">
            <a:schemeClr val="accent2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2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22" name="Rectangle 21" descr="Document">
            <a:extLst>
              <a:ext uri="{FF2B5EF4-FFF2-40B4-BE49-F238E27FC236}">
                <a16:creationId xmlns:a16="http://schemas.microsoft.com/office/drawing/2014/main" id="{020A5622-3BCB-B850-BAFC-97C323EDFE90}"/>
              </a:ext>
            </a:extLst>
          </p:cNvPr>
          <p:cNvSpPr/>
          <p:nvPr/>
        </p:nvSpPr>
        <p:spPr>
          <a:xfrm>
            <a:off x="1938893" y="2681159"/>
            <a:ext cx="1082812" cy="1082812"/>
          </a:xfrm>
          <a:prstGeom prst="rect">
            <a:avLst/>
          </a:prstGeom>
          <a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11FAA042-5493-8BF8-F02B-638CAD1C0542}"/>
              </a:ext>
            </a:extLst>
          </p:cNvPr>
          <p:cNvGrpSpPr/>
          <p:nvPr/>
        </p:nvGrpSpPr>
        <p:grpSpPr>
          <a:xfrm>
            <a:off x="933424" y="4753972"/>
            <a:ext cx="3093750" cy="720000"/>
            <a:chOff x="75768" y="3053169"/>
            <a:chExt cx="3093750" cy="7200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91C3053-FB95-C6C2-E192-1D05F329269A}"/>
                </a:ext>
              </a:extLst>
            </p:cNvPr>
            <p:cNvSpPr/>
            <p:nvPr/>
          </p:nvSpPr>
          <p:spPr>
            <a:xfrm>
              <a:off x="75768" y="3053169"/>
              <a:ext cx="3093750" cy="720000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8A45EB01-B184-8735-9C1A-EA3DF95183CF}"/>
                </a:ext>
              </a:extLst>
            </p:cNvPr>
            <p:cNvSpPr txBox="1"/>
            <p:nvPr/>
          </p:nvSpPr>
          <p:spPr>
            <a:xfrm>
              <a:off x="75768" y="3053169"/>
              <a:ext cx="3093750" cy="72000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0" rIns="0" bIns="0" numCol="1" spcCol="1270" anchor="t" anchorCtr="0">
              <a:noAutofit/>
            </a:bodyPr>
            <a:lstStyle/>
            <a:p>
              <a:pPr marL="0" lvl="0" indent="0" algn="ctr" defTabSz="9334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  <a:defRPr cap="all"/>
              </a:pPr>
              <a:r>
                <a:rPr lang="en-US" sz="2100" kern="1200"/>
                <a:t>Document structure-based chunking</a:t>
              </a:r>
            </a:p>
          </p:txBody>
        </p:sp>
      </p:grpSp>
      <p:sp>
        <p:nvSpPr>
          <p:cNvPr id="24" name="Oval 23">
            <a:extLst>
              <a:ext uri="{FF2B5EF4-FFF2-40B4-BE49-F238E27FC236}">
                <a16:creationId xmlns:a16="http://schemas.microsoft.com/office/drawing/2014/main" id="{09996A1A-0277-98CE-41FE-6532FBFCF151}"/>
              </a:ext>
            </a:extLst>
          </p:cNvPr>
          <p:cNvSpPr/>
          <p:nvPr/>
        </p:nvSpPr>
        <p:spPr>
          <a:xfrm>
            <a:off x="5171862" y="2278972"/>
            <a:ext cx="1887187" cy="1887187"/>
          </a:xfrm>
          <a:prstGeom prst="ellipse">
            <a:avLst/>
          </a:prstGeom>
        </p:spPr>
        <p:style>
          <a:lnRef idx="0">
            <a:schemeClr val="accent2">
              <a:hueOff val="0"/>
              <a:satOff val="0"/>
              <a:lumOff val="0"/>
              <a:alphaOff val="0"/>
            </a:schemeClr>
          </a:lnRef>
          <a:fillRef idx="1">
            <a:schemeClr val="accent2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2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25" name="Rectangle 24" descr="Puzzle">
            <a:extLst>
              <a:ext uri="{FF2B5EF4-FFF2-40B4-BE49-F238E27FC236}">
                <a16:creationId xmlns:a16="http://schemas.microsoft.com/office/drawing/2014/main" id="{5516BB56-9A30-6DFC-79BB-A90791F9D1B8}"/>
              </a:ext>
            </a:extLst>
          </p:cNvPr>
          <p:cNvSpPr/>
          <p:nvPr/>
        </p:nvSpPr>
        <p:spPr>
          <a:xfrm>
            <a:off x="5574049" y="2681159"/>
            <a:ext cx="1082812" cy="1082812"/>
          </a:xfrm>
          <a:prstGeom prst="rect">
            <a:avLst/>
          </a:prstGeom>
          <a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2FD1EE0-CF6C-488E-EAF5-76387ADB742C}"/>
              </a:ext>
            </a:extLst>
          </p:cNvPr>
          <p:cNvGrpSpPr/>
          <p:nvPr/>
        </p:nvGrpSpPr>
        <p:grpSpPr>
          <a:xfrm>
            <a:off x="4568581" y="4753972"/>
            <a:ext cx="3093750" cy="720000"/>
            <a:chOff x="3710925" y="3053169"/>
            <a:chExt cx="3093750" cy="7200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D3C0F06C-ADED-2910-D5FE-A8712A04BA73}"/>
                </a:ext>
              </a:extLst>
            </p:cNvPr>
            <p:cNvSpPr/>
            <p:nvPr/>
          </p:nvSpPr>
          <p:spPr>
            <a:xfrm>
              <a:off x="3710925" y="3053169"/>
              <a:ext cx="3093750" cy="720000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60BD2A52-5DF7-F17B-4217-B842724A9C55}"/>
                </a:ext>
              </a:extLst>
            </p:cNvPr>
            <p:cNvSpPr txBox="1"/>
            <p:nvPr/>
          </p:nvSpPr>
          <p:spPr>
            <a:xfrm>
              <a:off x="3710925" y="3053169"/>
              <a:ext cx="3093750" cy="72000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0" rIns="0" bIns="0" numCol="1" spcCol="1270" anchor="t" anchorCtr="0">
              <a:noAutofit/>
            </a:bodyPr>
            <a:lstStyle/>
            <a:p>
              <a:pPr marL="0" lvl="0" indent="0" algn="ctr" defTabSz="9334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  <a:defRPr cap="all"/>
              </a:pPr>
              <a:r>
                <a:rPr lang="en-US" sz="2100" kern="1200"/>
                <a:t>Recursive chunking</a:t>
              </a:r>
            </a:p>
          </p:txBody>
        </p:sp>
      </p:grpSp>
      <p:sp>
        <p:nvSpPr>
          <p:cNvPr id="27" name="Oval 26">
            <a:extLst>
              <a:ext uri="{FF2B5EF4-FFF2-40B4-BE49-F238E27FC236}">
                <a16:creationId xmlns:a16="http://schemas.microsoft.com/office/drawing/2014/main" id="{8EB5B508-D255-A2BC-3E9F-5F35401F0CD4}"/>
              </a:ext>
            </a:extLst>
          </p:cNvPr>
          <p:cNvSpPr/>
          <p:nvPr/>
        </p:nvSpPr>
        <p:spPr>
          <a:xfrm>
            <a:off x="8807018" y="2278972"/>
            <a:ext cx="1887187" cy="1887187"/>
          </a:xfrm>
          <a:prstGeom prst="ellipse">
            <a:avLst/>
          </a:prstGeom>
        </p:spPr>
        <p:style>
          <a:lnRef idx="0">
            <a:schemeClr val="accent2">
              <a:hueOff val="0"/>
              <a:satOff val="0"/>
              <a:lumOff val="0"/>
              <a:alphaOff val="0"/>
            </a:schemeClr>
          </a:lnRef>
          <a:fillRef idx="1">
            <a:schemeClr val="accent2">
              <a:tint val="40000"/>
              <a:hueOff val="0"/>
              <a:satOff val="0"/>
              <a:lumOff val="0"/>
              <a:alphaOff val="0"/>
            </a:schemeClr>
          </a:fillRef>
          <a:effectRef idx="0">
            <a:schemeClr val="accent2">
              <a:tint val="40000"/>
              <a:hueOff val="0"/>
              <a:satOff val="0"/>
              <a:lumOff val="0"/>
              <a:alphaOff val="0"/>
            </a:schemeClr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28" name="Rectangle 27" descr="Head with Gears">
            <a:extLst>
              <a:ext uri="{FF2B5EF4-FFF2-40B4-BE49-F238E27FC236}">
                <a16:creationId xmlns:a16="http://schemas.microsoft.com/office/drawing/2014/main" id="{6734A1DF-DAFC-7320-46EE-5E1467C12F21}"/>
              </a:ext>
            </a:extLst>
          </p:cNvPr>
          <p:cNvSpPr/>
          <p:nvPr/>
        </p:nvSpPr>
        <p:spPr>
          <a:xfrm>
            <a:off x="9209206" y="2681159"/>
            <a:ext cx="1082812" cy="1082812"/>
          </a:xfrm>
          <a:prstGeom prst="rect">
            <a:avLst/>
          </a:prstGeom>
          <a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rgbClr r="0" g="0" b="0"/>
          </a:lnRef>
          <a:fillRef idx="1">
            <a:scrgbClr r="0" g="0" b="0"/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FC3B99A2-AAAF-0DF2-05C0-4BCBEAD5EE80}"/>
              </a:ext>
            </a:extLst>
          </p:cNvPr>
          <p:cNvGrpSpPr/>
          <p:nvPr/>
        </p:nvGrpSpPr>
        <p:grpSpPr>
          <a:xfrm>
            <a:off x="8203737" y="4753972"/>
            <a:ext cx="3093750" cy="720000"/>
            <a:chOff x="7346081" y="3053169"/>
            <a:chExt cx="3093750" cy="7200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984CEB7-02BC-E805-FF45-11D5148FAB0E}"/>
                </a:ext>
              </a:extLst>
            </p:cNvPr>
            <p:cNvSpPr/>
            <p:nvPr/>
          </p:nvSpPr>
          <p:spPr>
            <a:xfrm>
              <a:off x="7346081" y="3053169"/>
              <a:ext cx="3093750" cy="720000"/>
            </a:xfrm>
            <a:prstGeom prst="rect">
              <a:avLst/>
            </a:prstGeom>
          </p:spPr>
          <p:style>
            <a:lnRef idx="0">
              <a:schemeClr val="dk1">
                <a:alpha val="0"/>
                <a:hueOff val="0"/>
                <a:satOff val="0"/>
                <a:lumOff val="0"/>
                <a:alphaOff val="0"/>
              </a:schemeClr>
            </a:lnRef>
            <a:fillRef idx="0">
              <a:schemeClr val="lt1">
                <a:alpha val="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0"/>
                <a:hueOff val="0"/>
                <a:satOff val="0"/>
                <a:lumOff val="0"/>
                <a:alphaOff val="0"/>
              </a:schemeClr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68B08AD5-F076-44E4-00B3-01EB89F1920E}"/>
                </a:ext>
              </a:extLst>
            </p:cNvPr>
            <p:cNvSpPr txBox="1"/>
            <p:nvPr/>
          </p:nvSpPr>
          <p:spPr>
            <a:xfrm>
              <a:off x="7346081" y="3053169"/>
              <a:ext cx="3093750" cy="720000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0" tIns="0" rIns="0" bIns="0" numCol="1" spcCol="1270" anchor="t" anchorCtr="0">
              <a:noAutofit/>
            </a:bodyPr>
            <a:lstStyle/>
            <a:p>
              <a:pPr marL="0" lvl="0" indent="0" algn="ctr" defTabSz="9334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  <a:defRPr cap="all"/>
              </a:pPr>
              <a:r>
                <a:rPr lang="en-US" sz="2100" kern="1200"/>
                <a:t>LLM Based chunking</a:t>
              </a:r>
            </a:p>
          </p:txBody>
        </p: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CA1C24F-4F01-8BF0-B92A-F47F84918C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0726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4" grpId="0" animBg="1"/>
      <p:bldP spid="25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75360"/>
          </a:xfrm>
          <a:prstGeom prst="rect">
            <a:avLst/>
          </a:prstGeom>
          <a:solidFill>
            <a:srgbClr val="277884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4" name="Text 2"/>
          <p:cNvSpPr/>
          <p:nvPr/>
        </p:nvSpPr>
        <p:spPr>
          <a:xfrm>
            <a:off x="365760" y="42672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667" b="1" dirty="0">
                <a:solidFill>
                  <a:srgbClr val="FFFFFF"/>
                </a:solidFill>
              </a:rPr>
              <a:t>RAG Chunking Strategy</a:t>
            </a:r>
            <a:endParaRPr lang="en-US" sz="2667" dirty="0"/>
          </a:p>
        </p:txBody>
      </p:sp>
      <p:sp>
        <p:nvSpPr>
          <p:cNvPr id="5" name="Shape 3"/>
          <p:cNvSpPr/>
          <p:nvPr/>
        </p:nvSpPr>
        <p:spPr>
          <a:xfrm>
            <a:off x="365760" y="1219200"/>
            <a:ext cx="11460480" cy="1463040"/>
          </a:xfrm>
          <a:prstGeom prst="rect">
            <a:avLst/>
          </a:prstGeom>
          <a:solidFill>
            <a:srgbClr val="F4F6F6"/>
          </a:solidFill>
          <a:ln w="254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609600" y="1341120"/>
            <a:ext cx="10972800" cy="121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dirty="0">
                <a:solidFill>
                  <a:srgbClr val="1C2833"/>
                </a:solidFill>
              </a:rPr>
              <a:t>Your RAG system answers technical documentation queries. It retrieves relevant chunks but often loses important context from adjacent sections.</a:t>
            </a:r>
            <a:endParaRPr lang="en-US" sz="1867" dirty="0"/>
          </a:p>
        </p:txBody>
      </p:sp>
      <p:sp>
        <p:nvSpPr>
          <p:cNvPr id="7" name="Text 5"/>
          <p:cNvSpPr/>
          <p:nvPr/>
        </p:nvSpPr>
        <p:spPr>
          <a:xfrm>
            <a:off x="365760" y="2926080"/>
            <a:ext cx="114604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133" b="1" dirty="0">
                <a:solidFill>
                  <a:srgbClr val="1C2833"/>
                </a:solidFill>
              </a:rPr>
              <a:t>Which chunking improvement would help most?</a:t>
            </a:r>
            <a:endParaRPr lang="en-US" sz="2133" dirty="0"/>
          </a:p>
        </p:txBody>
      </p:sp>
      <p:sp>
        <p:nvSpPr>
          <p:cNvPr id="8" name="Text 6"/>
          <p:cNvSpPr/>
          <p:nvPr/>
        </p:nvSpPr>
        <p:spPr>
          <a:xfrm>
            <a:off x="609600" y="365760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C2833"/>
                </a:solidFill>
              </a:rPr>
              <a:t>A) Increase chunk size from 512 to 2048 tokens</a:t>
            </a:r>
            <a:endParaRPr lang="en-US" sz="1733" dirty="0"/>
          </a:p>
        </p:txBody>
      </p:sp>
      <p:sp>
        <p:nvSpPr>
          <p:cNvPr id="9" name="Text 7"/>
          <p:cNvSpPr/>
          <p:nvPr/>
        </p:nvSpPr>
        <p:spPr>
          <a:xfrm>
            <a:off x="609600" y="43891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C2833"/>
                </a:solidFill>
              </a:rPr>
              <a:t>B) Decrease chunk size to 128 tokens for precision</a:t>
            </a:r>
            <a:endParaRPr lang="en-US" sz="1733" dirty="0"/>
          </a:p>
        </p:txBody>
      </p:sp>
      <p:sp>
        <p:nvSpPr>
          <p:cNvPr id="10" name="Shape 8"/>
          <p:cNvSpPr/>
          <p:nvPr/>
        </p:nvSpPr>
        <p:spPr>
          <a:xfrm>
            <a:off x="365760" y="4815840"/>
            <a:ext cx="11460480" cy="609600"/>
          </a:xfrm>
          <a:prstGeom prst="rect">
            <a:avLst/>
          </a:prstGeom>
          <a:solidFill>
            <a:srgbClr val="E8F5E9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Text 9"/>
          <p:cNvSpPr/>
          <p:nvPr/>
        </p:nvSpPr>
        <p:spPr>
          <a:xfrm>
            <a:off x="609600" y="512064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/>
              <a:t>C) Implement overlapping chunks with semantic boundaries </a:t>
            </a:r>
          </a:p>
        </p:txBody>
      </p:sp>
      <p:sp>
        <p:nvSpPr>
          <p:cNvPr id="12" name="Text 10"/>
          <p:cNvSpPr/>
          <p:nvPr/>
        </p:nvSpPr>
        <p:spPr>
          <a:xfrm>
            <a:off x="609600" y="585216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C2833"/>
                </a:solidFill>
              </a:rPr>
              <a:t>D) Use LLM to regenerate all documentation first</a:t>
            </a:r>
            <a:endParaRPr lang="en-US" sz="173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1598E-80BF-8F68-17C3-F4E9DCF523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45FC5-7224-BCED-417D-16667EF118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 dirty="0"/>
              <a:t>RAG Evaluation</a:t>
            </a:r>
          </a:p>
        </p:txBody>
      </p:sp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AB16669B-13B1-620E-BD50-7E34C056BAB2}"/>
              </a:ext>
            </a:extLst>
          </p:cNvPr>
          <p:cNvSpPr/>
          <p:nvPr/>
        </p:nvSpPr>
        <p:spPr>
          <a:xfrm>
            <a:off x="3770575" y="1566506"/>
            <a:ext cx="2555132" cy="53826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Embeddings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7B1E8FD-EECD-711C-D097-9ED0AEA673F3}"/>
              </a:ext>
            </a:extLst>
          </p:cNvPr>
          <p:cNvSpPr/>
          <p:nvPr/>
        </p:nvSpPr>
        <p:spPr>
          <a:xfrm>
            <a:off x="7447630" y="1363846"/>
            <a:ext cx="1031132" cy="94358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Index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1984AB3-DA94-C0E3-EE89-402AF8A2FDCE}"/>
              </a:ext>
            </a:extLst>
          </p:cNvPr>
          <p:cNvCxnSpPr>
            <a:cxnSpLocks/>
          </p:cNvCxnSpPr>
          <p:nvPr/>
        </p:nvCxnSpPr>
        <p:spPr>
          <a:xfrm>
            <a:off x="6325707" y="1834267"/>
            <a:ext cx="112192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F8D3E1A-4641-5D41-6901-299A4A48CE10}"/>
              </a:ext>
            </a:extLst>
          </p:cNvPr>
          <p:cNvSpPr/>
          <p:nvPr/>
        </p:nvSpPr>
        <p:spPr>
          <a:xfrm>
            <a:off x="2084556" y="1517746"/>
            <a:ext cx="971038" cy="635784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Query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66E935D-CDC7-4C57-7E8D-AF3DC9D60374}"/>
              </a:ext>
            </a:extLst>
          </p:cNvPr>
          <p:cNvCxnSpPr>
            <a:cxnSpLocks/>
            <a:endCxn id="11" idx="0"/>
          </p:cNvCxnSpPr>
          <p:nvPr/>
        </p:nvCxnSpPr>
        <p:spPr>
          <a:xfrm>
            <a:off x="7955090" y="2306059"/>
            <a:ext cx="2" cy="5377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4B822FB3-9A9D-475F-1067-C02D94E48329}"/>
              </a:ext>
            </a:extLst>
          </p:cNvPr>
          <p:cNvSpPr/>
          <p:nvPr/>
        </p:nvSpPr>
        <p:spPr>
          <a:xfrm>
            <a:off x="7254701" y="3126905"/>
            <a:ext cx="1400783" cy="220175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--------------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58E5AD4-9D30-4F51-A1DB-53F26D184237}"/>
              </a:ext>
            </a:extLst>
          </p:cNvPr>
          <p:cNvSpPr/>
          <p:nvPr/>
        </p:nvSpPr>
        <p:spPr>
          <a:xfrm>
            <a:off x="7254701" y="3415507"/>
            <a:ext cx="1400783" cy="220175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------------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DBF13245-45C1-E2F0-D5FF-B7A4FCACF804}"/>
              </a:ext>
            </a:extLst>
          </p:cNvPr>
          <p:cNvSpPr/>
          <p:nvPr/>
        </p:nvSpPr>
        <p:spPr>
          <a:xfrm>
            <a:off x="7254699" y="3701350"/>
            <a:ext cx="1400783" cy="220175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--------------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58C308A-555E-93C1-EE65-31D94B5B4EFB}"/>
              </a:ext>
            </a:extLst>
          </p:cNvPr>
          <p:cNvSpPr/>
          <p:nvPr/>
        </p:nvSpPr>
        <p:spPr>
          <a:xfrm>
            <a:off x="7254700" y="2843853"/>
            <a:ext cx="1400783" cy="220175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------------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D09CE14B-F9E7-F65F-72E8-D0AEBC173BE7}"/>
              </a:ext>
            </a:extLst>
          </p:cNvPr>
          <p:cNvSpPr/>
          <p:nvPr/>
        </p:nvSpPr>
        <p:spPr>
          <a:xfrm>
            <a:off x="7254698" y="3996092"/>
            <a:ext cx="1400783" cy="220175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FF3029-2160-9752-A356-274D50BEDF64}"/>
              </a:ext>
            </a:extLst>
          </p:cNvPr>
          <p:cNvSpPr txBox="1"/>
          <p:nvPr/>
        </p:nvSpPr>
        <p:spPr>
          <a:xfrm>
            <a:off x="9450423" y="1650972"/>
            <a:ext cx="1505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Top K Results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2323F0A1-90B5-0B45-44AA-71C84587D838}"/>
              </a:ext>
            </a:extLst>
          </p:cNvPr>
          <p:cNvSpPr/>
          <p:nvPr/>
        </p:nvSpPr>
        <p:spPr>
          <a:xfrm>
            <a:off x="4979434" y="3285741"/>
            <a:ext cx="971038" cy="635784"/>
          </a:xfrm>
          <a:prstGeom prst="roundRect">
            <a:avLst/>
          </a:prstGeom>
          <a:solidFill>
            <a:schemeClr val="accent6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Query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2B13BA3-3669-F057-B67E-9076BFF4D6F2}"/>
              </a:ext>
            </a:extLst>
          </p:cNvPr>
          <p:cNvSpPr txBox="1"/>
          <p:nvPr/>
        </p:nvSpPr>
        <p:spPr>
          <a:xfrm>
            <a:off x="6350616" y="3250656"/>
            <a:ext cx="3947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/>
              <a:t>+</a:t>
            </a:r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261BEA95-3813-C3B0-4227-BCB84E08E4E7}"/>
              </a:ext>
            </a:extLst>
          </p:cNvPr>
          <p:cNvSpPr/>
          <p:nvPr/>
        </p:nvSpPr>
        <p:spPr>
          <a:xfrm rot="5400000">
            <a:off x="6516791" y="2961065"/>
            <a:ext cx="655629" cy="3621749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2" descr="Amazon Bedrock - Solution de mise à l'échelle des applications d'IAG">
            <a:extLst>
              <a:ext uri="{FF2B5EF4-FFF2-40B4-BE49-F238E27FC236}">
                <a16:creationId xmlns:a16="http://schemas.microsoft.com/office/drawing/2014/main" id="{84CF5076-1921-04A6-0BAE-C56B2A4CB63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60" t="9485" r="19311" b="10830"/>
          <a:stretch/>
        </p:blipFill>
        <p:spPr bwMode="auto">
          <a:xfrm>
            <a:off x="6388950" y="5179004"/>
            <a:ext cx="995435" cy="1009376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BF212CB-4AF5-D357-2684-21B05AC184D0}"/>
              </a:ext>
            </a:extLst>
          </p:cNvPr>
          <p:cNvSpPr txBox="1"/>
          <p:nvPr/>
        </p:nvSpPr>
        <p:spPr>
          <a:xfrm>
            <a:off x="6096000" y="6285611"/>
            <a:ext cx="1584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LLM Inference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AD64A69-0358-7809-62C7-B01E349A7ACA}"/>
              </a:ext>
            </a:extLst>
          </p:cNvPr>
          <p:cNvSpPr txBox="1"/>
          <p:nvPr/>
        </p:nvSpPr>
        <p:spPr>
          <a:xfrm>
            <a:off x="9450423" y="3289033"/>
            <a:ext cx="21119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Augmented prompt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110027A-1054-E551-1AE0-8CE3F7F7AC22}"/>
              </a:ext>
            </a:extLst>
          </p:cNvPr>
          <p:cNvCxnSpPr>
            <a:cxnSpLocks/>
          </p:cNvCxnSpPr>
          <p:nvPr/>
        </p:nvCxnSpPr>
        <p:spPr>
          <a:xfrm flipV="1">
            <a:off x="3054924" y="1834425"/>
            <a:ext cx="715651" cy="51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" name="Oval 35">
            <a:extLst>
              <a:ext uri="{FF2B5EF4-FFF2-40B4-BE49-F238E27FC236}">
                <a16:creationId xmlns:a16="http://schemas.microsoft.com/office/drawing/2014/main" id="{E5EF8885-9D06-FEE7-DC4E-F970C7F83374}"/>
              </a:ext>
            </a:extLst>
          </p:cNvPr>
          <p:cNvSpPr/>
          <p:nvPr/>
        </p:nvSpPr>
        <p:spPr>
          <a:xfrm>
            <a:off x="8817908" y="1661348"/>
            <a:ext cx="364732" cy="34858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0B0E8A04-C598-63C5-7DF7-B5B8A010F7BB}"/>
              </a:ext>
            </a:extLst>
          </p:cNvPr>
          <p:cNvSpPr/>
          <p:nvPr/>
        </p:nvSpPr>
        <p:spPr>
          <a:xfrm>
            <a:off x="2378348" y="2320520"/>
            <a:ext cx="364732" cy="34858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A690FBDB-4795-95FA-5C86-40EB528DFC3C}"/>
              </a:ext>
            </a:extLst>
          </p:cNvPr>
          <p:cNvSpPr/>
          <p:nvPr/>
        </p:nvSpPr>
        <p:spPr>
          <a:xfrm>
            <a:off x="4865775" y="2315570"/>
            <a:ext cx="364732" cy="34858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0BFA01FC-DD8E-37AB-7846-5C4A9A6F53E3}"/>
              </a:ext>
            </a:extLst>
          </p:cNvPr>
          <p:cNvSpPr/>
          <p:nvPr/>
        </p:nvSpPr>
        <p:spPr>
          <a:xfrm>
            <a:off x="8817908" y="3311688"/>
            <a:ext cx="364732" cy="34858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2E89A4E1-52B8-F1D3-4543-CD02F977F6A3}"/>
              </a:ext>
            </a:extLst>
          </p:cNvPr>
          <p:cNvSpPr/>
          <p:nvPr/>
        </p:nvSpPr>
        <p:spPr>
          <a:xfrm>
            <a:off x="10506417" y="5501044"/>
            <a:ext cx="364732" cy="34858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6</a:t>
            </a: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82E908CD-EF27-584F-5C77-713D5518AAFE}"/>
              </a:ext>
            </a:extLst>
          </p:cNvPr>
          <p:cNvSpPr/>
          <p:nvPr/>
        </p:nvSpPr>
        <p:spPr>
          <a:xfrm>
            <a:off x="8616053" y="5357442"/>
            <a:ext cx="1725444" cy="635784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LLM Response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3E61EA6-26D0-0296-72DE-73F043361E09}"/>
              </a:ext>
            </a:extLst>
          </p:cNvPr>
          <p:cNvSpPr/>
          <p:nvPr/>
        </p:nvSpPr>
        <p:spPr>
          <a:xfrm>
            <a:off x="5592473" y="6295987"/>
            <a:ext cx="364732" cy="348580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863492DC-79DA-B689-6EC3-9BA45877D137}"/>
              </a:ext>
            </a:extLst>
          </p:cNvPr>
          <p:cNvCxnSpPr>
            <a:cxnSpLocks/>
          </p:cNvCxnSpPr>
          <p:nvPr/>
        </p:nvCxnSpPr>
        <p:spPr>
          <a:xfrm flipV="1">
            <a:off x="7494130" y="5679548"/>
            <a:ext cx="1121923" cy="27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AA66BA50-E08D-7629-D297-CC699C81AAAD}"/>
              </a:ext>
            </a:extLst>
          </p:cNvPr>
          <p:cNvSpPr/>
          <p:nvPr/>
        </p:nvSpPr>
        <p:spPr>
          <a:xfrm>
            <a:off x="7032812" y="2664150"/>
            <a:ext cx="1889312" cy="1726315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10E98026-C0F7-4DCD-BEA6-1FEB80FC23B4}"/>
              </a:ext>
            </a:extLst>
          </p:cNvPr>
          <p:cNvSpPr/>
          <p:nvPr/>
        </p:nvSpPr>
        <p:spPr>
          <a:xfrm>
            <a:off x="8526991" y="5198859"/>
            <a:ext cx="1889312" cy="917464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D68376D-C473-3B99-18D8-5DCA103331DA}"/>
              </a:ext>
            </a:extLst>
          </p:cNvPr>
          <p:cNvSpPr txBox="1"/>
          <p:nvPr/>
        </p:nvSpPr>
        <p:spPr>
          <a:xfrm>
            <a:off x="9016917" y="2557707"/>
            <a:ext cx="1760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Chunk Retrieval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CB4C8FF-3353-AE7F-114E-EC30D652BA18}"/>
              </a:ext>
            </a:extLst>
          </p:cNvPr>
          <p:cNvSpPr txBox="1"/>
          <p:nvPr/>
        </p:nvSpPr>
        <p:spPr>
          <a:xfrm>
            <a:off x="9211742" y="4750236"/>
            <a:ext cx="20448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Output Generation</a:t>
            </a:r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1C273FC7-6EC8-A40E-0071-5EC9116F5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4767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4" grpId="0" animBg="1"/>
      <p:bldP spid="45" grpId="0" animBg="1"/>
      <p:bldP spid="46" grpId="0"/>
      <p:bldP spid="47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920896-C982-FDDC-0015-2F2FD69357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8BBE9-22EC-E3B7-3CE5-A6DCE3AFD5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 dirty="0"/>
              <a:t>RAG Evaluation - Retrieval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C3830A7-9702-FFAE-D9A7-54B5DAD04DF2}"/>
              </a:ext>
            </a:extLst>
          </p:cNvPr>
          <p:cNvSpPr txBox="1"/>
          <p:nvPr/>
        </p:nvSpPr>
        <p:spPr>
          <a:xfrm>
            <a:off x="860370" y="1522709"/>
            <a:ext cx="15680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Precision@ K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FEF5D2F3-F38A-C39A-47BF-9F8D49C9C5CA}"/>
              </a:ext>
            </a:extLst>
          </p:cNvPr>
          <p:cNvSpPr/>
          <p:nvPr/>
        </p:nvSpPr>
        <p:spPr>
          <a:xfrm>
            <a:off x="987388" y="2343588"/>
            <a:ext cx="1400783" cy="22017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F5275D75-781D-92B6-D307-D7450FF44AE1}"/>
              </a:ext>
            </a:extLst>
          </p:cNvPr>
          <p:cNvSpPr/>
          <p:nvPr/>
        </p:nvSpPr>
        <p:spPr>
          <a:xfrm>
            <a:off x="987388" y="2639500"/>
            <a:ext cx="1400783" cy="22017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</a:t>
            </a:r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BB0BF6FF-E3F2-FDF4-357B-A9294FDAD5A8}"/>
              </a:ext>
            </a:extLst>
          </p:cNvPr>
          <p:cNvSpPr/>
          <p:nvPr/>
        </p:nvSpPr>
        <p:spPr>
          <a:xfrm>
            <a:off x="987388" y="2935412"/>
            <a:ext cx="1400783" cy="220175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2BE21ED-D1CD-B34A-0FF2-3858D7C60E8E}"/>
                  </a:ext>
                </a:extLst>
              </p:cNvPr>
              <p:cNvSpPr txBox="1"/>
              <p:nvPr/>
            </p:nvSpPr>
            <p:spPr>
              <a:xfrm>
                <a:off x="4248132" y="3429000"/>
                <a:ext cx="6861430" cy="6765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𝑃𝑟𝑒𝑐𝑖𝑠𝑖𝑜𝑛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@ 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# </m:t>
                          </m:r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𝑅𝑒𝑙𝑒𝑣𝑎𝑛𝑡</m:t>
                          </m:r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𝐼𝑡𝑒𝑚𝑠</m:t>
                          </m:r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𝑎𝑡</m:t>
                          </m:r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 (</m:t>
                          </m:r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𝑔𝑟𝑜𝑢𝑛𝑑</m:t>
                          </m:r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𝑡𝑟𝑢𝑡h</m:t>
                          </m:r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2BE21ED-D1CD-B34A-0FF2-3858D7C60E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8132" y="3429000"/>
                <a:ext cx="6861430" cy="676532"/>
              </a:xfrm>
              <a:prstGeom prst="rect">
                <a:avLst/>
              </a:prstGeom>
              <a:blipFill>
                <a:blip r:embed="rId2"/>
                <a:stretch>
                  <a:fillRect t="-1852" b="-55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439453A9-2DBD-C325-7AE7-915474B79705}"/>
              </a:ext>
            </a:extLst>
          </p:cNvPr>
          <p:cNvSpPr/>
          <p:nvPr/>
        </p:nvSpPr>
        <p:spPr>
          <a:xfrm>
            <a:off x="860370" y="5734891"/>
            <a:ext cx="1400783" cy="22017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127267A9-1432-D414-B012-5BC33B3BA6DF}"/>
              </a:ext>
            </a:extLst>
          </p:cNvPr>
          <p:cNvSpPr/>
          <p:nvPr/>
        </p:nvSpPr>
        <p:spPr>
          <a:xfrm>
            <a:off x="860370" y="6090816"/>
            <a:ext cx="1400783" cy="220175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2E9BC9E-B173-CB7B-A7E1-A0C06B3309F7}"/>
              </a:ext>
            </a:extLst>
          </p:cNvPr>
          <p:cNvSpPr txBox="1"/>
          <p:nvPr/>
        </p:nvSpPr>
        <p:spPr>
          <a:xfrm>
            <a:off x="2334633" y="5660312"/>
            <a:ext cx="1055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Relevant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0177F19-5B00-3E40-9F6F-912FEC474DF3}"/>
              </a:ext>
            </a:extLst>
          </p:cNvPr>
          <p:cNvSpPr txBox="1"/>
          <p:nvPr/>
        </p:nvSpPr>
        <p:spPr>
          <a:xfrm>
            <a:off x="2334633" y="6016237"/>
            <a:ext cx="14676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 Relevant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011BE06C-A681-CE69-73A4-4A11798EA8E7}"/>
              </a:ext>
            </a:extLst>
          </p:cNvPr>
          <p:cNvCxnSpPr>
            <a:cxnSpLocks/>
          </p:cNvCxnSpPr>
          <p:nvPr/>
        </p:nvCxnSpPr>
        <p:spPr>
          <a:xfrm>
            <a:off x="527241" y="3781404"/>
            <a:ext cx="223431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13ECFB28-AC60-F005-3D6F-FD93EAF4ED8B}"/>
              </a:ext>
            </a:extLst>
          </p:cNvPr>
          <p:cNvSpPr txBox="1"/>
          <p:nvPr/>
        </p:nvSpPr>
        <p:spPr>
          <a:xfrm>
            <a:off x="2852870" y="3596738"/>
            <a:ext cx="655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 = 5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660D9241-E871-AD91-FBA6-EDBC93C27807}"/>
              </a:ext>
            </a:extLst>
          </p:cNvPr>
          <p:cNvSpPr/>
          <p:nvPr/>
        </p:nvSpPr>
        <p:spPr>
          <a:xfrm>
            <a:off x="987388" y="3231324"/>
            <a:ext cx="1400783" cy="22017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</a:t>
            </a:r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B998D8C3-C1F4-546F-EACA-4FCA9244B8CD}"/>
              </a:ext>
            </a:extLst>
          </p:cNvPr>
          <p:cNvSpPr/>
          <p:nvPr/>
        </p:nvSpPr>
        <p:spPr>
          <a:xfrm>
            <a:off x="987388" y="3527236"/>
            <a:ext cx="1400783" cy="220175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</a:t>
            </a:r>
          </a:p>
        </p:txBody>
      </p:sp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FE72DE4B-FAD4-83A0-0D2A-FCCE17879DCB}"/>
              </a:ext>
            </a:extLst>
          </p:cNvPr>
          <p:cNvSpPr/>
          <p:nvPr/>
        </p:nvSpPr>
        <p:spPr>
          <a:xfrm>
            <a:off x="987388" y="3823148"/>
            <a:ext cx="1400783" cy="220175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</a:t>
            </a:r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5A235C73-3B90-E248-7D7B-3C9ABB2FE06F}"/>
              </a:ext>
            </a:extLst>
          </p:cNvPr>
          <p:cNvSpPr/>
          <p:nvPr/>
        </p:nvSpPr>
        <p:spPr>
          <a:xfrm>
            <a:off x="987388" y="4119061"/>
            <a:ext cx="1400783" cy="22017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1473779-56BC-6C99-5C9F-EC4E11C8C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1513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7" grpId="0" animBg="1"/>
      <p:bldP spid="28" grpId="0" animBg="1"/>
      <p:bldP spid="34" grpId="0" animBg="1"/>
      <p:bldP spid="35" grpId="0" animBg="1"/>
      <p:bldP spid="49" grpId="0" animBg="1"/>
      <p:bldP spid="5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092A1-1903-5B46-CFD4-98DDBD6B8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C1F5A3-9288-BB77-1B11-C84A0CA703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 dirty="0"/>
              <a:t>RAG Evaluation - Retrieval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B5E1B66-951E-3BF9-4A55-8798C7B9316D}"/>
                  </a:ext>
                </a:extLst>
              </p:cNvPr>
              <p:cNvSpPr txBox="1"/>
              <p:nvPr/>
            </p:nvSpPr>
            <p:spPr>
              <a:xfrm>
                <a:off x="4256083" y="3415150"/>
                <a:ext cx="6484724" cy="73250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𝑅𝑒𝑐𝑎𝑙𝑙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@ 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fr-FR" sz="20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# </m:t>
                          </m:r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𝑅𝑒𝑙𝑒𝑣𝑎𝑛𝑡</m:t>
                          </m:r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𝐼𝑡𝑒𝑚𝑠</m:t>
                          </m:r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𝑎𝑡</m:t>
                          </m:r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 (</m:t>
                          </m:r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𝑔𝑟𝑜𝑢𝑛𝑑</m:t>
                          </m:r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𝑡𝑟𝑢𝑡h</m:t>
                          </m:r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# </m:t>
                          </m:r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𝑜𝑓</m:t>
                          </m:r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𝑅𝑒𝑙𝑒𝑣𝑎𝑛𝑡</m:t>
                          </m:r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sz="2000" b="0" i="1" smtClean="0">
                              <a:latin typeface="Cambria Math" panose="02040503050406030204" pitchFamily="18" charset="0"/>
                            </a:rPr>
                            <m:t>𝐼𝑡𝑒𝑚𝑠</m:t>
                          </m:r>
                        </m:den>
                      </m:f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B5E1B66-951E-3BF9-4A55-8798C7B931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56083" y="3415150"/>
                <a:ext cx="6484724" cy="732508"/>
              </a:xfrm>
              <a:prstGeom prst="rect">
                <a:avLst/>
              </a:prstGeom>
              <a:blipFill>
                <a:blip r:embed="rId2"/>
                <a:stretch>
                  <a:fillRect b="-101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9D704A2B-153F-9E3D-F702-FD39D5F83957}"/>
              </a:ext>
            </a:extLst>
          </p:cNvPr>
          <p:cNvSpPr/>
          <p:nvPr/>
        </p:nvSpPr>
        <p:spPr>
          <a:xfrm>
            <a:off x="987388" y="2343588"/>
            <a:ext cx="1400783" cy="22017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</a:t>
            </a: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D76EAD0-ECD6-1EA5-45E4-3CFA902BD171}"/>
              </a:ext>
            </a:extLst>
          </p:cNvPr>
          <p:cNvSpPr/>
          <p:nvPr/>
        </p:nvSpPr>
        <p:spPr>
          <a:xfrm>
            <a:off x="987388" y="2639500"/>
            <a:ext cx="1400783" cy="22017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81C0F27-95CA-D11C-58DC-AF56CFEB121A}"/>
              </a:ext>
            </a:extLst>
          </p:cNvPr>
          <p:cNvSpPr/>
          <p:nvPr/>
        </p:nvSpPr>
        <p:spPr>
          <a:xfrm>
            <a:off x="987388" y="2935412"/>
            <a:ext cx="1400783" cy="220175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3BBF84E-EA29-0769-4CCA-B5B4CDF09BCF}"/>
              </a:ext>
            </a:extLst>
          </p:cNvPr>
          <p:cNvSpPr/>
          <p:nvPr/>
        </p:nvSpPr>
        <p:spPr>
          <a:xfrm>
            <a:off x="860370" y="5734891"/>
            <a:ext cx="1400783" cy="22017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454AEC1-9F48-5B18-C90A-E25C6D70C142}"/>
              </a:ext>
            </a:extLst>
          </p:cNvPr>
          <p:cNvSpPr/>
          <p:nvPr/>
        </p:nvSpPr>
        <p:spPr>
          <a:xfrm>
            <a:off x="860370" y="6090816"/>
            <a:ext cx="1400783" cy="220175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C0BCAC-5588-DBF0-0A1D-D2FC67DC8B45}"/>
              </a:ext>
            </a:extLst>
          </p:cNvPr>
          <p:cNvSpPr txBox="1"/>
          <p:nvPr/>
        </p:nvSpPr>
        <p:spPr>
          <a:xfrm>
            <a:off x="2334633" y="5660312"/>
            <a:ext cx="1055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Relevant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BE701CD-3AC7-A37A-0E48-EC16C5056C45}"/>
              </a:ext>
            </a:extLst>
          </p:cNvPr>
          <p:cNvSpPr txBox="1"/>
          <p:nvPr/>
        </p:nvSpPr>
        <p:spPr>
          <a:xfrm>
            <a:off x="2334633" y="6016237"/>
            <a:ext cx="14676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 Relevant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E26E669-EA0C-BE99-ECA1-3D61239EFC92}"/>
              </a:ext>
            </a:extLst>
          </p:cNvPr>
          <p:cNvCxnSpPr>
            <a:cxnSpLocks/>
          </p:cNvCxnSpPr>
          <p:nvPr/>
        </p:nvCxnSpPr>
        <p:spPr>
          <a:xfrm>
            <a:off x="527241" y="3781404"/>
            <a:ext cx="223431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C70E0DAB-15A7-B8A3-AD34-30D47879CC6C}"/>
              </a:ext>
            </a:extLst>
          </p:cNvPr>
          <p:cNvSpPr txBox="1"/>
          <p:nvPr/>
        </p:nvSpPr>
        <p:spPr>
          <a:xfrm>
            <a:off x="2852870" y="3596738"/>
            <a:ext cx="6559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K = 5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9751E6AB-701E-3DE3-6881-5ACB63B35234}"/>
              </a:ext>
            </a:extLst>
          </p:cNvPr>
          <p:cNvSpPr/>
          <p:nvPr/>
        </p:nvSpPr>
        <p:spPr>
          <a:xfrm>
            <a:off x="987388" y="3231324"/>
            <a:ext cx="1400783" cy="22017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37379DF3-AE04-F6A8-AE9D-52A6087048A2}"/>
              </a:ext>
            </a:extLst>
          </p:cNvPr>
          <p:cNvSpPr/>
          <p:nvPr/>
        </p:nvSpPr>
        <p:spPr>
          <a:xfrm>
            <a:off x="987388" y="3527236"/>
            <a:ext cx="1400783" cy="220175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893763F6-6988-179D-F51F-C2A9DBA90573}"/>
              </a:ext>
            </a:extLst>
          </p:cNvPr>
          <p:cNvSpPr/>
          <p:nvPr/>
        </p:nvSpPr>
        <p:spPr>
          <a:xfrm>
            <a:off x="987388" y="3823148"/>
            <a:ext cx="1400783" cy="220175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72EF49E4-48A1-A5EE-61A6-6291C4316248}"/>
              </a:ext>
            </a:extLst>
          </p:cNvPr>
          <p:cNvSpPr/>
          <p:nvPr/>
        </p:nvSpPr>
        <p:spPr>
          <a:xfrm>
            <a:off x="987388" y="4119061"/>
            <a:ext cx="1400783" cy="220175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800" dirty="0">
                <a:solidFill>
                  <a:schemeClr val="tx1"/>
                </a:solidFill>
              </a:rPr>
              <a:t>-----------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4605F70-8F87-220E-40F0-BEA013DFC248}"/>
              </a:ext>
            </a:extLst>
          </p:cNvPr>
          <p:cNvSpPr txBox="1"/>
          <p:nvPr/>
        </p:nvSpPr>
        <p:spPr>
          <a:xfrm>
            <a:off x="860370" y="1522709"/>
            <a:ext cx="12471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Recall@ K</a:t>
            </a:r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8323EB62-12C4-9E9C-6FF8-C980F42B03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23658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12" grpId="0" animBg="1"/>
      <p:bldP spid="13" grpId="0" animBg="1"/>
      <p:bldP spid="14" grpId="0" animBg="1"/>
      <p:bldP spid="1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C38D8-4EE2-05EB-A6AD-587C17805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DF84D74C-22E5-061D-DDE9-C622BC56BD06}"/>
              </a:ext>
            </a:extLst>
          </p:cNvPr>
          <p:cNvSpPr txBox="1">
            <a:spLocks/>
          </p:cNvSpPr>
          <p:nvPr/>
        </p:nvSpPr>
        <p:spPr>
          <a:xfrm>
            <a:off x="304800" y="304800"/>
            <a:ext cx="11582400" cy="638175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spc="-1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How to choose good metrics ?</a:t>
            </a:r>
          </a:p>
        </p:txBody>
      </p: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7C39F391-F9D0-5105-7C1A-93E1D94CDB51}"/>
              </a:ext>
            </a:extLst>
          </p:cNvPr>
          <p:cNvGrpSpPr/>
          <p:nvPr/>
        </p:nvGrpSpPr>
        <p:grpSpPr>
          <a:xfrm>
            <a:off x="1255753" y="2018620"/>
            <a:ext cx="3391820" cy="461913"/>
            <a:chOff x="1255753" y="2018620"/>
            <a:chExt cx="3391820" cy="461913"/>
          </a:xfrm>
        </p:grpSpPr>
        <p:sp>
          <p:nvSpPr>
            <p:cNvPr id="2" name="Ellipse 1">
              <a:extLst>
                <a:ext uri="{FF2B5EF4-FFF2-40B4-BE49-F238E27FC236}">
                  <a16:creationId xmlns:a16="http://schemas.microsoft.com/office/drawing/2014/main" id="{8D90C798-797B-9297-FB79-F5568A3534A9}"/>
                </a:ext>
              </a:extLst>
            </p:cNvPr>
            <p:cNvSpPr/>
            <p:nvPr/>
          </p:nvSpPr>
          <p:spPr>
            <a:xfrm>
              <a:off x="1255753" y="2018620"/>
              <a:ext cx="490194" cy="461913"/>
            </a:xfrm>
            <a:prstGeom prst="ellipse">
              <a:avLst/>
            </a:prstGeom>
            <a:solidFill>
              <a:srgbClr val="147BB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/>
                <a:t>1</a:t>
              </a:r>
            </a:p>
          </p:txBody>
        </p:sp>
        <p:sp>
          <p:nvSpPr>
            <p:cNvPr id="3" name="ZoneTexte 2">
              <a:extLst>
                <a:ext uri="{FF2B5EF4-FFF2-40B4-BE49-F238E27FC236}">
                  <a16:creationId xmlns:a16="http://schemas.microsoft.com/office/drawing/2014/main" id="{FF9F80F5-8748-0246-AEEA-0D9C9AD100E5}"/>
                </a:ext>
              </a:extLst>
            </p:cNvPr>
            <p:cNvSpPr txBox="1"/>
            <p:nvPr/>
          </p:nvSpPr>
          <p:spPr>
            <a:xfrm>
              <a:off x="1825967" y="2064910"/>
              <a:ext cx="28216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 err="1"/>
                <a:t>Task-Appropriate</a:t>
              </a:r>
              <a:r>
                <a:rPr lang="fr-FR" dirty="0"/>
                <a:t> </a:t>
              </a:r>
              <a:r>
                <a:rPr lang="fr-FR" dirty="0" err="1"/>
                <a:t>Metrics</a:t>
              </a:r>
              <a:endParaRPr lang="en-US" dirty="0"/>
            </a:p>
          </p:txBody>
        </p:sp>
      </p:grpSp>
      <p:grpSp>
        <p:nvGrpSpPr>
          <p:cNvPr id="13" name="Groupe 12">
            <a:extLst>
              <a:ext uri="{FF2B5EF4-FFF2-40B4-BE49-F238E27FC236}">
                <a16:creationId xmlns:a16="http://schemas.microsoft.com/office/drawing/2014/main" id="{B0419715-8AEC-13C7-0C89-EE5E3D2ECBC6}"/>
              </a:ext>
            </a:extLst>
          </p:cNvPr>
          <p:cNvGrpSpPr/>
          <p:nvPr/>
        </p:nvGrpSpPr>
        <p:grpSpPr>
          <a:xfrm>
            <a:off x="1255753" y="3117410"/>
            <a:ext cx="2349868" cy="461913"/>
            <a:chOff x="1255753" y="3094264"/>
            <a:chExt cx="2349868" cy="461913"/>
          </a:xfrm>
        </p:grpSpPr>
        <p:sp>
          <p:nvSpPr>
            <p:cNvPr id="4" name="Ellipse 3">
              <a:extLst>
                <a:ext uri="{FF2B5EF4-FFF2-40B4-BE49-F238E27FC236}">
                  <a16:creationId xmlns:a16="http://schemas.microsoft.com/office/drawing/2014/main" id="{D09FCC50-A9D9-6E10-1C69-DFFA76236AB7}"/>
                </a:ext>
              </a:extLst>
            </p:cNvPr>
            <p:cNvSpPr/>
            <p:nvPr/>
          </p:nvSpPr>
          <p:spPr>
            <a:xfrm>
              <a:off x="1255753" y="3094264"/>
              <a:ext cx="490194" cy="461913"/>
            </a:xfrm>
            <a:prstGeom prst="ellipse">
              <a:avLst/>
            </a:prstGeom>
            <a:solidFill>
              <a:srgbClr val="147BB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/>
                <a:t>2</a:t>
              </a:r>
            </a:p>
          </p:txBody>
        </p:sp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AC2FAC8E-1B74-DA2E-1C81-F3523F8F3943}"/>
                </a:ext>
              </a:extLst>
            </p:cNvPr>
            <p:cNvSpPr txBox="1"/>
            <p:nvPr/>
          </p:nvSpPr>
          <p:spPr>
            <a:xfrm>
              <a:off x="1825967" y="3140554"/>
              <a:ext cx="17796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 err="1"/>
                <a:t>Practical</a:t>
              </a:r>
              <a:r>
                <a:rPr lang="fr-FR" dirty="0"/>
                <a:t> Utility</a:t>
              </a:r>
              <a:endParaRPr lang="en-US" dirty="0"/>
            </a:p>
          </p:txBody>
        </p:sp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75B09106-1E0B-5672-98D9-2D0F95C51A5B}"/>
              </a:ext>
            </a:extLst>
          </p:cNvPr>
          <p:cNvGrpSpPr/>
          <p:nvPr/>
        </p:nvGrpSpPr>
        <p:grpSpPr>
          <a:xfrm>
            <a:off x="1255753" y="4216199"/>
            <a:ext cx="2349868" cy="461913"/>
            <a:chOff x="1255753" y="4216199"/>
            <a:chExt cx="2349868" cy="461913"/>
          </a:xfrm>
        </p:grpSpPr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18B8C64F-EC0F-BABF-6602-00CA0C8E179D}"/>
                </a:ext>
              </a:extLst>
            </p:cNvPr>
            <p:cNvSpPr/>
            <p:nvPr/>
          </p:nvSpPr>
          <p:spPr>
            <a:xfrm>
              <a:off x="1255753" y="4216199"/>
              <a:ext cx="490194" cy="461913"/>
            </a:xfrm>
            <a:prstGeom prst="ellipse">
              <a:avLst/>
            </a:prstGeom>
            <a:solidFill>
              <a:srgbClr val="147BB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/>
                <a:t>3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DF7D9237-9CEE-D0DC-E391-E0410212C714}"/>
                </a:ext>
              </a:extLst>
            </p:cNvPr>
            <p:cNvSpPr txBox="1"/>
            <p:nvPr/>
          </p:nvSpPr>
          <p:spPr>
            <a:xfrm>
              <a:off x="1825967" y="4262489"/>
              <a:ext cx="17796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 err="1"/>
                <a:t>Interpretability</a:t>
              </a:r>
              <a:endParaRPr lang="en-US" dirty="0"/>
            </a:p>
          </p:txBody>
        </p:sp>
      </p:grpSp>
      <p:pic>
        <p:nvPicPr>
          <p:cNvPr id="9" name="Graphique 8" descr="Coche avec un remplissage uni">
            <a:extLst>
              <a:ext uri="{FF2B5EF4-FFF2-40B4-BE49-F238E27FC236}">
                <a16:creationId xmlns:a16="http://schemas.microsoft.com/office/drawing/2014/main" id="{8A099322-1345-2456-FE0A-BFCCCFF8FE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37185" y="1952979"/>
            <a:ext cx="2744481" cy="2744481"/>
          </a:xfrm>
          <a:prstGeom prst="rect">
            <a:avLst/>
          </a:prstGeom>
        </p:spPr>
      </p:pic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A72F82C4-5ACD-DC49-D46C-B6D3A4845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699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912D4D-447B-7882-2EFF-D6243F8C4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1">
            <a:extLst>
              <a:ext uri="{FF2B5EF4-FFF2-40B4-BE49-F238E27FC236}">
                <a16:creationId xmlns:a16="http://schemas.microsoft.com/office/drawing/2014/main" id="{698C9873-EFB9-008A-8F4A-DAA6EEE28871}"/>
              </a:ext>
            </a:extLst>
          </p:cNvPr>
          <p:cNvSpPr txBox="1">
            <a:spLocks/>
          </p:cNvSpPr>
          <p:nvPr/>
        </p:nvSpPr>
        <p:spPr>
          <a:xfrm>
            <a:off x="304800" y="304800"/>
            <a:ext cx="11582400" cy="638175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spc="-1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How to constitute a good evaluation </a:t>
            </a:r>
            <a:r>
              <a:rPr lang="en-US" dirty="0" err="1"/>
              <a:t>dasaset</a:t>
            </a:r>
            <a:r>
              <a:rPr lang="en-US" dirty="0"/>
              <a:t> ?</a:t>
            </a:r>
          </a:p>
        </p:txBody>
      </p:sp>
      <p:grpSp>
        <p:nvGrpSpPr>
          <p:cNvPr id="9" name="Groupe 8">
            <a:extLst>
              <a:ext uri="{FF2B5EF4-FFF2-40B4-BE49-F238E27FC236}">
                <a16:creationId xmlns:a16="http://schemas.microsoft.com/office/drawing/2014/main" id="{9EE09EF6-D493-50E1-C923-227E42AED0C0}"/>
              </a:ext>
            </a:extLst>
          </p:cNvPr>
          <p:cNvGrpSpPr/>
          <p:nvPr/>
        </p:nvGrpSpPr>
        <p:grpSpPr>
          <a:xfrm>
            <a:off x="1255753" y="2018620"/>
            <a:ext cx="4845743" cy="461913"/>
            <a:chOff x="1255753" y="2018620"/>
            <a:chExt cx="4845743" cy="461913"/>
          </a:xfrm>
        </p:grpSpPr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C1A59916-EF1D-93FA-A689-169CEF0AD715}"/>
                </a:ext>
              </a:extLst>
            </p:cNvPr>
            <p:cNvSpPr/>
            <p:nvPr/>
          </p:nvSpPr>
          <p:spPr>
            <a:xfrm>
              <a:off x="1255753" y="2018620"/>
              <a:ext cx="490194" cy="461913"/>
            </a:xfrm>
            <a:prstGeom prst="ellipse">
              <a:avLst/>
            </a:prstGeom>
            <a:solidFill>
              <a:srgbClr val="147BB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/>
                <a:t>1</a:t>
              </a:r>
            </a:p>
          </p:txBody>
        </p:sp>
        <p:sp>
          <p:nvSpPr>
            <p:cNvPr id="11" name="ZoneTexte 10">
              <a:extLst>
                <a:ext uri="{FF2B5EF4-FFF2-40B4-BE49-F238E27FC236}">
                  <a16:creationId xmlns:a16="http://schemas.microsoft.com/office/drawing/2014/main" id="{B0A4C4D0-F0F0-18D7-F393-115881D3C7DA}"/>
                </a:ext>
              </a:extLst>
            </p:cNvPr>
            <p:cNvSpPr txBox="1"/>
            <p:nvPr/>
          </p:nvSpPr>
          <p:spPr>
            <a:xfrm>
              <a:off x="1825967" y="2064910"/>
              <a:ext cx="42755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/>
                <a:t>Diversity of </a:t>
              </a:r>
              <a:r>
                <a:rPr lang="fr-FR" dirty="0" err="1"/>
                <a:t>Task</a:t>
              </a:r>
              <a:r>
                <a:rPr lang="fr-FR" dirty="0"/>
                <a:t> Types and </a:t>
              </a:r>
              <a:r>
                <a:rPr lang="fr-FR" dirty="0" err="1"/>
                <a:t>Complexity</a:t>
              </a:r>
              <a:endParaRPr lang="en-US" dirty="0"/>
            </a:p>
          </p:txBody>
        </p:sp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07A125D1-E2D5-7F1C-A538-A4D0805C8D54}"/>
              </a:ext>
            </a:extLst>
          </p:cNvPr>
          <p:cNvGrpSpPr/>
          <p:nvPr/>
        </p:nvGrpSpPr>
        <p:grpSpPr>
          <a:xfrm>
            <a:off x="1255753" y="3117410"/>
            <a:ext cx="1732712" cy="461913"/>
            <a:chOff x="1255753" y="3094264"/>
            <a:chExt cx="1732712" cy="461913"/>
          </a:xfrm>
        </p:grpSpPr>
        <p:sp>
          <p:nvSpPr>
            <p:cNvPr id="13" name="Ellipse 12">
              <a:extLst>
                <a:ext uri="{FF2B5EF4-FFF2-40B4-BE49-F238E27FC236}">
                  <a16:creationId xmlns:a16="http://schemas.microsoft.com/office/drawing/2014/main" id="{408B3CDD-C02F-A4BB-95C9-1D1EE2B3995D}"/>
                </a:ext>
              </a:extLst>
            </p:cNvPr>
            <p:cNvSpPr/>
            <p:nvPr/>
          </p:nvSpPr>
          <p:spPr>
            <a:xfrm>
              <a:off x="1255753" y="3094264"/>
              <a:ext cx="490194" cy="461913"/>
            </a:xfrm>
            <a:prstGeom prst="ellipse">
              <a:avLst/>
            </a:prstGeom>
            <a:solidFill>
              <a:srgbClr val="147BB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/>
                <a:t>2</a:t>
              </a:r>
            </a:p>
          </p:txBody>
        </p:sp>
        <p:sp>
          <p:nvSpPr>
            <p:cNvPr id="14" name="ZoneTexte 13">
              <a:extLst>
                <a:ext uri="{FF2B5EF4-FFF2-40B4-BE49-F238E27FC236}">
                  <a16:creationId xmlns:a16="http://schemas.microsoft.com/office/drawing/2014/main" id="{BD3DBFC4-60E2-62BF-CB66-50F165DB6A49}"/>
                </a:ext>
              </a:extLst>
            </p:cNvPr>
            <p:cNvSpPr txBox="1"/>
            <p:nvPr/>
          </p:nvSpPr>
          <p:spPr>
            <a:xfrm>
              <a:off x="1825967" y="3140554"/>
              <a:ext cx="11624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 err="1"/>
                <a:t>Coverage</a:t>
              </a:r>
              <a:endParaRPr lang="en-US" dirty="0"/>
            </a:p>
          </p:txBody>
        </p:sp>
      </p:grp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C376145E-6348-B408-2F88-820FBB6348A5}"/>
              </a:ext>
            </a:extLst>
          </p:cNvPr>
          <p:cNvGrpSpPr/>
          <p:nvPr/>
        </p:nvGrpSpPr>
        <p:grpSpPr>
          <a:xfrm>
            <a:off x="1255753" y="4216199"/>
            <a:ext cx="3005496" cy="461913"/>
            <a:chOff x="1255753" y="4216199"/>
            <a:chExt cx="3005496" cy="461913"/>
          </a:xfrm>
        </p:grpSpPr>
        <p:sp>
          <p:nvSpPr>
            <p:cNvPr id="16" name="Ellipse 15">
              <a:extLst>
                <a:ext uri="{FF2B5EF4-FFF2-40B4-BE49-F238E27FC236}">
                  <a16:creationId xmlns:a16="http://schemas.microsoft.com/office/drawing/2014/main" id="{60114AD1-1179-5415-A5C7-AA0EAAC068C1}"/>
                </a:ext>
              </a:extLst>
            </p:cNvPr>
            <p:cNvSpPr/>
            <p:nvPr/>
          </p:nvSpPr>
          <p:spPr>
            <a:xfrm>
              <a:off x="1255753" y="4216199"/>
              <a:ext cx="490194" cy="461913"/>
            </a:xfrm>
            <a:prstGeom prst="ellipse">
              <a:avLst/>
            </a:prstGeom>
            <a:solidFill>
              <a:srgbClr val="147BB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/>
                <a:t>3</a:t>
              </a:r>
            </a:p>
          </p:txBody>
        </p:sp>
        <p:sp>
          <p:nvSpPr>
            <p:cNvPr id="17" name="ZoneTexte 16">
              <a:extLst>
                <a:ext uri="{FF2B5EF4-FFF2-40B4-BE49-F238E27FC236}">
                  <a16:creationId xmlns:a16="http://schemas.microsoft.com/office/drawing/2014/main" id="{480547FF-9D57-BCA0-A820-4A883787FE0E}"/>
                </a:ext>
              </a:extLst>
            </p:cNvPr>
            <p:cNvSpPr txBox="1"/>
            <p:nvPr/>
          </p:nvSpPr>
          <p:spPr>
            <a:xfrm>
              <a:off x="1825967" y="4262489"/>
              <a:ext cx="24352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dirty="0"/>
                <a:t>Ground Truth </a:t>
              </a:r>
              <a:r>
                <a:rPr lang="fr-FR" dirty="0" err="1"/>
                <a:t>Quality</a:t>
              </a:r>
              <a:endParaRPr lang="en-US" dirty="0"/>
            </a:p>
          </p:txBody>
        </p:sp>
      </p:grpSp>
      <p:pic>
        <p:nvPicPr>
          <p:cNvPr id="20" name="Graphique 19" descr="Liste de contrôle avec un remplissage uni">
            <a:extLst>
              <a:ext uri="{FF2B5EF4-FFF2-40B4-BE49-F238E27FC236}">
                <a16:creationId xmlns:a16="http://schemas.microsoft.com/office/drawing/2014/main" id="{1DD98A33-F65A-F5C9-EA05-36F1BDCF6D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96950" y="1812744"/>
            <a:ext cx="3024949" cy="3024949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E305130-B601-2B22-4C88-8A62F4560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4837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75360"/>
          </a:xfrm>
          <a:prstGeom prst="rect">
            <a:avLst/>
          </a:prstGeom>
          <a:solidFill>
            <a:srgbClr val="277884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4" name="Text 2"/>
          <p:cNvSpPr/>
          <p:nvPr/>
        </p:nvSpPr>
        <p:spPr>
          <a:xfrm>
            <a:off x="365760" y="42672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667" b="1" dirty="0">
                <a:solidFill>
                  <a:srgbClr val="FFFFFF"/>
                </a:solidFill>
              </a:rPr>
              <a:t>RAG System Implementation</a:t>
            </a:r>
            <a:endParaRPr lang="en-US" sz="2667" dirty="0"/>
          </a:p>
        </p:txBody>
      </p:sp>
      <p:sp>
        <p:nvSpPr>
          <p:cNvPr id="5" name="Shape 3"/>
          <p:cNvSpPr/>
          <p:nvPr/>
        </p:nvSpPr>
        <p:spPr>
          <a:xfrm>
            <a:off x="365760" y="1219200"/>
            <a:ext cx="11460480" cy="1463040"/>
          </a:xfrm>
          <a:prstGeom prst="rect">
            <a:avLst/>
          </a:prstGeom>
          <a:solidFill>
            <a:srgbClr val="F4F6F6"/>
          </a:solidFill>
          <a:ln w="254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609600" y="1341120"/>
            <a:ext cx="10972800" cy="121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dirty="0">
                <a:solidFill>
                  <a:srgbClr val="1C2833"/>
                </a:solidFill>
              </a:rPr>
              <a:t>Your customer support AI is providing outdated product information despite having accurate data in your knowledge base. Support tickets are increasing.</a:t>
            </a:r>
            <a:endParaRPr lang="en-US" sz="1867" dirty="0"/>
          </a:p>
        </p:txBody>
      </p:sp>
      <p:sp>
        <p:nvSpPr>
          <p:cNvPr id="7" name="Text 5"/>
          <p:cNvSpPr/>
          <p:nvPr/>
        </p:nvSpPr>
        <p:spPr>
          <a:xfrm>
            <a:off x="365760" y="2926080"/>
            <a:ext cx="114604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133" b="1" dirty="0">
                <a:solidFill>
                  <a:srgbClr val="1C2833"/>
                </a:solidFill>
              </a:rPr>
              <a:t>Which RAG component should you investigate FIRST?</a:t>
            </a:r>
            <a:endParaRPr lang="en-US" sz="2133" dirty="0"/>
          </a:p>
        </p:txBody>
      </p:sp>
      <p:sp>
        <p:nvSpPr>
          <p:cNvPr id="8" name="Text 6"/>
          <p:cNvSpPr/>
          <p:nvPr/>
        </p:nvSpPr>
        <p:spPr>
          <a:xfrm>
            <a:off x="609600" y="365760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C2833"/>
                </a:solidFill>
              </a:rPr>
              <a:t>A) Increase the LLM model size for better comprehension</a:t>
            </a:r>
            <a:endParaRPr lang="en-US" sz="1733" dirty="0"/>
          </a:p>
        </p:txBody>
      </p:sp>
      <p:sp>
        <p:nvSpPr>
          <p:cNvPr id="9" name="Shape 7"/>
          <p:cNvSpPr/>
          <p:nvPr/>
        </p:nvSpPr>
        <p:spPr>
          <a:xfrm>
            <a:off x="365760" y="4084320"/>
            <a:ext cx="11460480" cy="609600"/>
          </a:xfrm>
          <a:prstGeom prst="rect">
            <a:avLst/>
          </a:prstGeom>
          <a:solidFill>
            <a:srgbClr val="E8F5E9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0" name="Text 8"/>
          <p:cNvSpPr/>
          <p:nvPr/>
        </p:nvSpPr>
        <p:spPr>
          <a:xfrm>
            <a:off x="609600" y="43891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/>
              <a:t>B) Review the chunking strategy and retrieval relevance metrics</a:t>
            </a:r>
          </a:p>
        </p:txBody>
      </p:sp>
      <p:sp>
        <p:nvSpPr>
          <p:cNvPr id="11" name="Text 9"/>
          <p:cNvSpPr/>
          <p:nvPr/>
        </p:nvSpPr>
        <p:spPr>
          <a:xfrm>
            <a:off x="609600" y="512064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C2833"/>
                </a:solidFill>
              </a:rPr>
              <a:t>C) Add more documents to the vector database</a:t>
            </a:r>
            <a:endParaRPr lang="en-US" sz="1733" dirty="0"/>
          </a:p>
        </p:txBody>
      </p:sp>
      <p:sp>
        <p:nvSpPr>
          <p:cNvPr id="12" name="Text 10"/>
          <p:cNvSpPr/>
          <p:nvPr/>
        </p:nvSpPr>
        <p:spPr>
          <a:xfrm>
            <a:off x="609600" y="585216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C2833"/>
                </a:solidFill>
              </a:rPr>
              <a:t>D) Switch to a different embedding model</a:t>
            </a:r>
            <a:endParaRPr lang="en-US" sz="173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75360"/>
          </a:xfrm>
          <a:prstGeom prst="rect">
            <a:avLst/>
          </a:prstGeom>
          <a:solidFill>
            <a:srgbClr val="277884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4" name="Text 2"/>
          <p:cNvSpPr/>
          <p:nvPr/>
        </p:nvSpPr>
        <p:spPr>
          <a:xfrm>
            <a:off x="365760" y="42672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667" b="1" dirty="0">
                <a:solidFill>
                  <a:srgbClr val="FFFFFF"/>
                </a:solidFill>
              </a:rPr>
              <a:t>Cost &amp; Performance Optimization</a:t>
            </a:r>
            <a:endParaRPr lang="en-US" sz="2667" dirty="0"/>
          </a:p>
        </p:txBody>
      </p:sp>
      <p:sp>
        <p:nvSpPr>
          <p:cNvPr id="5" name="Shape 3"/>
          <p:cNvSpPr/>
          <p:nvPr/>
        </p:nvSpPr>
        <p:spPr>
          <a:xfrm>
            <a:off x="365760" y="1219200"/>
            <a:ext cx="11460480" cy="1463040"/>
          </a:xfrm>
          <a:prstGeom prst="rect">
            <a:avLst/>
          </a:prstGeom>
          <a:solidFill>
            <a:srgbClr val="F4F6F6"/>
          </a:solidFill>
          <a:ln w="254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609600" y="1341120"/>
            <a:ext cx="10972800" cy="121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dirty="0">
                <a:solidFill>
                  <a:srgbClr val="1C2833"/>
                </a:solidFill>
              </a:rPr>
              <a:t>Your GenAI application costs $50,000/month. Usage shows 80% simple FAQs, 15% document search, 5% complex reasoning.</a:t>
            </a:r>
            <a:endParaRPr lang="en-US" sz="1867" dirty="0"/>
          </a:p>
        </p:txBody>
      </p:sp>
      <p:sp>
        <p:nvSpPr>
          <p:cNvPr id="7" name="Text 5"/>
          <p:cNvSpPr/>
          <p:nvPr/>
        </p:nvSpPr>
        <p:spPr>
          <a:xfrm>
            <a:off x="365760" y="2926080"/>
            <a:ext cx="114604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133" b="1" dirty="0">
                <a:solidFill>
                  <a:srgbClr val="1C2833"/>
                </a:solidFill>
              </a:rPr>
              <a:t>What's the most effective optimization strategy?</a:t>
            </a:r>
            <a:endParaRPr lang="en-US" sz="2133" dirty="0"/>
          </a:p>
        </p:txBody>
      </p:sp>
      <p:sp>
        <p:nvSpPr>
          <p:cNvPr id="8" name="Text 6"/>
          <p:cNvSpPr/>
          <p:nvPr/>
        </p:nvSpPr>
        <p:spPr>
          <a:xfrm>
            <a:off x="609600" y="365760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C2833"/>
                </a:solidFill>
              </a:rPr>
              <a:t>A) Negotiate better pricing with your current LLM provider</a:t>
            </a:r>
            <a:endParaRPr lang="en-US" sz="1733" dirty="0"/>
          </a:p>
        </p:txBody>
      </p:sp>
      <p:sp>
        <p:nvSpPr>
          <p:cNvPr id="9" name="Text 7"/>
          <p:cNvSpPr/>
          <p:nvPr/>
        </p:nvSpPr>
        <p:spPr>
          <a:xfrm>
            <a:off x="609600" y="43891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C2833"/>
                </a:solidFill>
              </a:rPr>
              <a:t>B) Implement caching to reduce redundant API calls</a:t>
            </a:r>
            <a:endParaRPr lang="en-US" sz="1733" dirty="0"/>
          </a:p>
        </p:txBody>
      </p:sp>
      <p:sp>
        <p:nvSpPr>
          <p:cNvPr id="10" name="Shape 8"/>
          <p:cNvSpPr/>
          <p:nvPr/>
        </p:nvSpPr>
        <p:spPr>
          <a:xfrm>
            <a:off x="365760" y="4815840"/>
            <a:ext cx="11460480" cy="609600"/>
          </a:xfrm>
          <a:prstGeom prst="rect">
            <a:avLst/>
          </a:prstGeom>
          <a:solidFill>
            <a:srgbClr val="E8F5E9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Text 9"/>
          <p:cNvSpPr/>
          <p:nvPr/>
        </p:nvSpPr>
        <p:spPr>
          <a:xfrm>
            <a:off x="609600" y="512064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/>
              <a:t>C) Use tiered models: smaller for FAQs, medium for search, large for complex tasks</a:t>
            </a:r>
          </a:p>
        </p:txBody>
      </p:sp>
      <p:sp>
        <p:nvSpPr>
          <p:cNvPr id="12" name="Text 10"/>
          <p:cNvSpPr/>
          <p:nvPr/>
        </p:nvSpPr>
        <p:spPr>
          <a:xfrm>
            <a:off x="609600" y="585216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C2833"/>
                </a:solidFill>
              </a:rPr>
              <a:t>D) Reduce the maximum token limit for all responses</a:t>
            </a:r>
            <a:endParaRPr lang="en-US" sz="173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C25D7-5DB3-9534-E515-F5E62D2FD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695B99-BFA0-EEC0-1F7C-1AF51C91DB4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Fine-Tuning </a:t>
            </a:r>
          </a:p>
        </p:txBody>
      </p:sp>
      <p:pic>
        <p:nvPicPr>
          <p:cNvPr id="4" name="Picture 3" descr="A blue and black logo&#10;&#10;Description automatically generated">
            <a:extLst>
              <a:ext uri="{FF2B5EF4-FFF2-40B4-BE49-F238E27FC236}">
                <a16:creationId xmlns:a16="http://schemas.microsoft.com/office/drawing/2014/main" id="{AED26199-B0B0-A366-A4DC-9263A8CD87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465" y="93663"/>
            <a:ext cx="3187700" cy="102870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05397CF-5775-B52F-48A3-AB6121371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26390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CFAA1-824F-B37F-A117-4DB8B70A7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65EF0D-4F3A-8CD0-3C4D-DD88A45B5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52</a:t>
            </a:fld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2B34B4D-9305-73E3-4393-F5D58CD9F297}"/>
              </a:ext>
            </a:extLst>
          </p:cNvPr>
          <p:cNvSpPr/>
          <p:nvPr/>
        </p:nvSpPr>
        <p:spPr>
          <a:xfrm>
            <a:off x="5455591" y="1911288"/>
            <a:ext cx="2809870" cy="2865701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Evaluate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D4CDBA9-D22C-92DE-552A-CD230297E325}"/>
              </a:ext>
            </a:extLst>
          </p:cNvPr>
          <p:cNvSpPr/>
          <p:nvPr/>
        </p:nvSpPr>
        <p:spPr>
          <a:xfrm>
            <a:off x="1125069" y="1905301"/>
            <a:ext cx="1401857" cy="2865701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Define a use case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370D161A-0FF1-E224-2BD9-7858AD6A388C}"/>
              </a:ext>
            </a:extLst>
          </p:cNvPr>
          <p:cNvSpPr/>
          <p:nvPr/>
        </p:nvSpPr>
        <p:spPr>
          <a:xfrm>
            <a:off x="3165669" y="1905301"/>
            <a:ext cx="1651179" cy="1432851"/>
          </a:xfrm>
          <a:prstGeom prst="round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Choose a model provider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E606ED7-CD20-067B-D980-46DF314B587B}"/>
              </a:ext>
            </a:extLst>
          </p:cNvPr>
          <p:cNvSpPr/>
          <p:nvPr/>
        </p:nvSpPr>
        <p:spPr>
          <a:xfrm>
            <a:off x="5703794" y="2459379"/>
            <a:ext cx="2297206" cy="546083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Prompt Engineering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FFD02171-0D38-A0E6-0C75-A29448D3B80A}"/>
              </a:ext>
            </a:extLst>
          </p:cNvPr>
          <p:cNvSpPr/>
          <p:nvPr/>
        </p:nvSpPr>
        <p:spPr>
          <a:xfrm>
            <a:off x="5703794" y="3191830"/>
            <a:ext cx="2297206" cy="546083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Fine-tune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00DF6468-C4F8-F084-4B5D-4D74FBEF8E14}"/>
              </a:ext>
            </a:extLst>
          </p:cNvPr>
          <p:cNvSpPr/>
          <p:nvPr/>
        </p:nvSpPr>
        <p:spPr>
          <a:xfrm>
            <a:off x="5703794" y="3888920"/>
            <a:ext cx="2297206" cy="546083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Align with Human feedback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A2C42050-E6C2-40EF-5206-F73A8B4B56AE}"/>
              </a:ext>
            </a:extLst>
          </p:cNvPr>
          <p:cNvSpPr/>
          <p:nvPr/>
        </p:nvSpPr>
        <p:spPr>
          <a:xfrm>
            <a:off x="8904204" y="1905301"/>
            <a:ext cx="1828800" cy="2895003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Deploy &amp; Optimize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938BBA5B-2A85-BFBE-5874-6C4D6ED49279}"/>
              </a:ext>
            </a:extLst>
          </p:cNvPr>
          <p:cNvSpPr/>
          <p:nvPr/>
        </p:nvSpPr>
        <p:spPr>
          <a:xfrm>
            <a:off x="3165669" y="3422631"/>
            <a:ext cx="1651179" cy="1354357"/>
          </a:xfrm>
          <a:prstGeom prst="round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Integrate with systems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E58508C-CDD4-3BD1-D11C-AB0B9F8F4F4C}"/>
              </a:ext>
            </a:extLst>
          </p:cNvPr>
          <p:cNvSpPr/>
          <p:nvPr/>
        </p:nvSpPr>
        <p:spPr>
          <a:xfrm>
            <a:off x="5455590" y="5052038"/>
            <a:ext cx="5277414" cy="546083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Observability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53605473-4342-BE47-9E56-406049151AF9}"/>
              </a:ext>
            </a:extLst>
          </p:cNvPr>
          <p:cNvSpPr/>
          <p:nvPr/>
        </p:nvSpPr>
        <p:spPr>
          <a:xfrm>
            <a:off x="8904204" y="5742051"/>
            <a:ext cx="1828800" cy="546083"/>
          </a:xfrm>
          <a:prstGeom prst="round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Monitoring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C562D65B-9867-D24F-85C4-F4658DCAA54C}"/>
              </a:ext>
            </a:extLst>
          </p:cNvPr>
          <p:cNvSpPr/>
          <p:nvPr/>
        </p:nvSpPr>
        <p:spPr>
          <a:xfrm>
            <a:off x="1600990" y="1320131"/>
            <a:ext cx="450014" cy="460482"/>
          </a:xfrm>
          <a:prstGeom prst="ellipse">
            <a:avLst/>
          </a:prstGeom>
          <a:solidFill>
            <a:srgbClr val="147BBF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FB0B5A18-B4AD-C4B3-CE3B-4A58153BE846}"/>
              </a:ext>
            </a:extLst>
          </p:cNvPr>
          <p:cNvSpPr/>
          <p:nvPr/>
        </p:nvSpPr>
        <p:spPr>
          <a:xfrm>
            <a:off x="3766251" y="1320131"/>
            <a:ext cx="450014" cy="460482"/>
          </a:xfrm>
          <a:prstGeom prst="ellipse">
            <a:avLst/>
          </a:prstGeom>
          <a:solidFill>
            <a:srgbClr val="147BBF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564726F3-1BA3-F0B9-32DC-0E865C19993B}"/>
              </a:ext>
            </a:extLst>
          </p:cNvPr>
          <p:cNvSpPr/>
          <p:nvPr/>
        </p:nvSpPr>
        <p:spPr>
          <a:xfrm>
            <a:off x="6627390" y="1322289"/>
            <a:ext cx="450014" cy="460482"/>
          </a:xfrm>
          <a:prstGeom prst="ellipse">
            <a:avLst/>
          </a:prstGeom>
          <a:solidFill>
            <a:srgbClr val="147BBF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BE6E052-DD05-03AE-6EED-0DF5D3BE9238}"/>
              </a:ext>
            </a:extLst>
          </p:cNvPr>
          <p:cNvSpPr/>
          <p:nvPr/>
        </p:nvSpPr>
        <p:spPr>
          <a:xfrm>
            <a:off x="9593597" y="1320131"/>
            <a:ext cx="450014" cy="460482"/>
          </a:xfrm>
          <a:prstGeom prst="ellipse">
            <a:avLst/>
          </a:prstGeom>
          <a:solidFill>
            <a:srgbClr val="147BBF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A7B40E9D-FD00-D7A8-D470-4D9A65C7A85C}"/>
              </a:ext>
            </a:extLst>
          </p:cNvPr>
          <p:cNvSpPr/>
          <p:nvPr/>
        </p:nvSpPr>
        <p:spPr>
          <a:xfrm>
            <a:off x="5351930" y="1835877"/>
            <a:ext cx="2998694" cy="301178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2163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DD59EA-0AC9-0926-FC80-80972C671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0AC13-06F4-5B44-3AD3-A3F9B8D108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872701" cy="1325563"/>
          </a:xfrm>
        </p:spPr>
        <p:txBody>
          <a:bodyPr/>
          <a:lstStyle/>
          <a:p>
            <a:r>
              <a:rPr lang="en-US" dirty="0"/>
              <a:t>Pretraining vs Fine-tuning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E456AB8-9125-0028-9E1F-A0DE45EBC6C7}"/>
              </a:ext>
            </a:extLst>
          </p:cNvPr>
          <p:cNvSpPr txBox="1"/>
          <p:nvPr/>
        </p:nvSpPr>
        <p:spPr>
          <a:xfrm>
            <a:off x="838200" y="2709839"/>
            <a:ext cx="418835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u="sng" dirty="0">
                <a:solidFill>
                  <a:schemeClr val="tx1"/>
                </a:solidFill>
              </a:rPr>
              <a:t>Pretraining</a:t>
            </a:r>
            <a:r>
              <a:rPr lang="en-US" dirty="0">
                <a:solidFill>
                  <a:schemeClr val="tx1"/>
                </a:solidFill>
              </a:rPr>
              <a:t>: self-supervised learning on vast amount of raw text.</a:t>
            </a:r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5B720A5-A0B3-CA53-3A6F-3AA2E388773D}"/>
              </a:ext>
            </a:extLst>
          </p:cNvPr>
          <p:cNvSpPr txBox="1"/>
          <p:nvPr/>
        </p:nvSpPr>
        <p:spPr>
          <a:xfrm>
            <a:off x="838200" y="3810778"/>
            <a:ext cx="418834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u="sng" dirty="0">
                <a:solidFill>
                  <a:schemeClr val="tx1"/>
                </a:solidFill>
              </a:rPr>
              <a:t>Supervised Fine Tuning</a:t>
            </a:r>
            <a:r>
              <a:rPr lang="en-US" dirty="0">
                <a:solidFill>
                  <a:schemeClr val="tx1"/>
                </a:solidFill>
              </a:rPr>
              <a:t>: labeled data to train domain-specific application 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5CA623CC-9A97-09DD-7371-E815BF953A21}"/>
              </a:ext>
            </a:extLst>
          </p:cNvPr>
          <p:cNvSpPr txBox="1"/>
          <p:nvPr/>
        </p:nvSpPr>
        <p:spPr>
          <a:xfrm>
            <a:off x="6450092" y="5472112"/>
            <a:ext cx="5152373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700" b="1" dirty="0">
                <a:hlinkClick r:id="rId2"/>
              </a:rPr>
              <a:t>Source: Snapshot Ensemble‑Based Residual Network (SnapEnsemResNet) for Remote Sensing Image Scene Classification</a:t>
            </a:r>
            <a:endParaRPr lang="fr-FR" sz="700" b="1" dirty="0"/>
          </a:p>
        </p:txBody>
      </p:sp>
      <p:sp>
        <p:nvSpPr>
          <p:cNvPr id="4" name="AutoShape 2" descr="Training from scratch vs fine-tuning pretrained network. Utilizing fine-tuning approach using ImageNet weights has resulted into substantial improvement in classification performance as shown in the graph">
            <a:extLst>
              <a:ext uri="{FF2B5EF4-FFF2-40B4-BE49-F238E27FC236}">
                <a16:creationId xmlns:a16="http://schemas.microsoft.com/office/drawing/2014/main" id="{1E7E47D9-535D-3019-1ADE-D1E78F01004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5A7FD1FD-BE3B-46D6-30A8-E5ABBA4B16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6782" y="2119607"/>
            <a:ext cx="5363269" cy="2923586"/>
          </a:xfrm>
          <a:prstGeom prst="rect">
            <a:avLst/>
          </a:prstGeom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16B4F09C-3363-1EA2-A38B-FBAF0EB7DE45}"/>
              </a:ext>
            </a:extLst>
          </p:cNvPr>
          <p:cNvSpPr txBox="1"/>
          <p:nvPr/>
        </p:nvSpPr>
        <p:spPr>
          <a:xfrm>
            <a:off x="5836618" y="4962241"/>
            <a:ext cx="55660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/>
              <a:t>Training </a:t>
            </a:r>
            <a:r>
              <a:rPr lang="fr-FR" sz="1400" dirty="0" err="1"/>
              <a:t>from</a:t>
            </a:r>
            <a:r>
              <a:rPr lang="fr-FR" sz="1400" dirty="0"/>
              <a:t> scratch vs fine-tuning </a:t>
            </a:r>
            <a:r>
              <a:rPr lang="fr-FR" sz="1400" dirty="0" err="1"/>
              <a:t>pretrained</a:t>
            </a:r>
            <a:r>
              <a:rPr lang="fr-FR" sz="1400" dirty="0"/>
              <a:t> network (classification)</a:t>
            </a:r>
          </a:p>
          <a:p>
            <a:endParaRPr lang="en-US" sz="14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0C84E1D-2869-48B5-21BB-72839084D5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143592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D8925-292A-D76C-E9F5-F38CB4F77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7127EF-6912-B429-E144-397B7352FF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872701" cy="1325563"/>
          </a:xfrm>
        </p:spPr>
        <p:txBody>
          <a:bodyPr/>
          <a:lstStyle/>
          <a:p>
            <a:r>
              <a:rPr lang="en-US" dirty="0"/>
              <a:t>Pre-trained models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91A1856-CC8F-F9BC-3FFC-68FA644F9FE3}"/>
              </a:ext>
            </a:extLst>
          </p:cNvPr>
          <p:cNvSpPr txBox="1"/>
          <p:nvPr/>
        </p:nvSpPr>
        <p:spPr>
          <a:xfrm>
            <a:off x="838200" y="2043486"/>
            <a:ext cx="48964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Base models are not answer questions oriented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3E8892-B2AD-EF03-CDA7-7AB97C821EC0}"/>
              </a:ext>
            </a:extLst>
          </p:cNvPr>
          <p:cNvSpPr txBox="1"/>
          <p:nvPr/>
        </p:nvSpPr>
        <p:spPr>
          <a:xfrm>
            <a:off x="838200" y="2558882"/>
            <a:ext cx="39549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ym typeface="Wingdings" pitchFamily="2" charset="2"/>
              </a:rPr>
              <a:t> They only want to complete the text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E71622-2E37-C895-C8D4-EDAB7D08C4BE}"/>
              </a:ext>
            </a:extLst>
          </p:cNvPr>
          <p:cNvSpPr txBox="1"/>
          <p:nvPr/>
        </p:nvSpPr>
        <p:spPr>
          <a:xfrm>
            <a:off x="6944597" y="2521082"/>
            <a:ext cx="401218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Assistant: “ Write poem about summer</a:t>
            </a:r>
          </a:p>
          <a:p>
            <a:r>
              <a:rPr lang="en-US" i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	Write poem about water…”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947EFC-6F83-B278-FA72-1E7980EB2436}"/>
              </a:ext>
            </a:extLst>
          </p:cNvPr>
          <p:cNvSpPr txBox="1"/>
          <p:nvPr/>
        </p:nvSpPr>
        <p:spPr>
          <a:xfrm>
            <a:off x="1235214" y="3650425"/>
            <a:ext cx="97215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Pre-trained models are used as the raw material to build Fine-tuned models for specific use case</a:t>
            </a:r>
          </a:p>
        </p:txBody>
      </p:sp>
      <p:pic>
        <p:nvPicPr>
          <p:cNvPr id="3074" name="Picture 2" descr="Consignes relatives aux logos et à la marque | NVIDIA">
            <a:extLst>
              <a:ext uri="{FF2B5EF4-FFF2-40B4-BE49-F238E27FC236}">
                <a16:creationId xmlns:a16="http://schemas.microsoft.com/office/drawing/2014/main" id="{D1700C04-7606-855C-0EE3-D3789A3E58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1336" y="5018968"/>
            <a:ext cx="2636957" cy="1476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La start-up d'IA Hugging Face lève 235 millions de dollars auprès de  Google, Amazon,">
            <a:extLst>
              <a:ext uri="{FF2B5EF4-FFF2-40B4-BE49-F238E27FC236}">
                <a16:creationId xmlns:a16="http://schemas.microsoft.com/office/drawing/2014/main" id="{A9874954-37AD-F9AC-943F-90F240701B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93550" y="5176291"/>
            <a:ext cx="1746250" cy="1162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Facebook devient Meta pour refléter sa vision du futur">
            <a:extLst>
              <a:ext uri="{FF2B5EF4-FFF2-40B4-BE49-F238E27FC236}">
                <a16:creationId xmlns:a16="http://schemas.microsoft.com/office/drawing/2014/main" id="{BF208BAC-4910-B36B-A878-B05133F64E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2549" y="5018968"/>
            <a:ext cx="2198255" cy="14628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F34B47F-060E-BFE0-5982-E6BEAF7868D8}"/>
              </a:ext>
            </a:extLst>
          </p:cNvPr>
          <p:cNvSpPr txBox="1"/>
          <p:nvPr/>
        </p:nvSpPr>
        <p:spPr>
          <a:xfrm>
            <a:off x="4636351" y="4470385"/>
            <a:ext cx="26906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err="1"/>
              <a:t>Fondation</a:t>
            </a:r>
            <a:r>
              <a:rPr lang="en-US" sz="2400" b="1" dirty="0"/>
              <a:t> Models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280FDB-EE48-29EB-B852-76EA93A3FC70}"/>
              </a:ext>
            </a:extLst>
          </p:cNvPr>
          <p:cNvSpPr txBox="1"/>
          <p:nvPr/>
        </p:nvSpPr>
        <p:spPr>
          <a:xfrm>
            <a:off x="6978101" y="2005686"/>
            <a:ext cx="36729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chemeClr val="accent5"/>
                </a:solidFill>
              </a:rPr>
              <a:t>User: “Write a poem about flowers”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37BA9BF-EC43-7422-BD28-C088D6D0B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424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6" grpId="0"/>
      <p:bldP spid="7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4639A5-DD29-B94D-9018-1C58FF144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F6606-22AF-066F-8ADF-665CF69D64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523" cy="1325563"/>
          </a:xfrm>
        </p:spPr>
        <p:txBody>
          <a:bodyPr/>
          <a:lstStyle/>
          <a:p>
            <a:r>
              <a:rPr lang="en-US" dirty="0"/>
              <a:t>Challenges of Training LLMs models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721569A8-A296-D309-52CB-A9CA83BC0503}"/>
              </a:ext>
            </a:extLst>
          </p:cNvPr>
          <p:cNvSpPr txBox="1"/>
          <p:nvPr/>
        </p:nvSpPr>
        <p:spPr>
          <a:xfrm>
            <a:off x="932567" y="2325362"/>
            <a:ext cx="31323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 parameter = 4 bytes (32-bit)</a:t>
            </a:r>
          </a:p>
        </p:txBody>
      </p: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02CD04F2-E5AB-AC32-E6BF-5E99B274D971}"/>
              </a:ext>
            </a:extLst>
          </p:cNvPr>
          <p:cNvCxnSpPr/>
          <p:nvPr/>
        </p:nvCxnSpPr>
        <p:spPr>
          <a:xfrm>
            <a:off x="4500593" y="2543364"/>
            <a:ext cx="105973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ZoneTexte 10">
            <a:extLst>
              <a:ext uri="{FF2B5EF4-FFF2-40B4-BE49-F238E27FC236}">
                <a16:creationId xmlns:a16="http://schemas.microsoft.com/office/drawing/2014/main" id="{5F6149BB-472A-4BE4-7FF7-75E3DF2A9C25}"/>
              </a:ext>
            </a:extLst>
          </p:cNvPr>
          <p:cNvSpPr txBox="1"/>
          <p:nvPr/>
        </p:nvSpPr>
        <p:spPr>
          <a:xfrm>
            <a:off x="5826525" y="2358698"/>
            <a:ext cx="22220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1B parameter = 4 GB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049346A1-76D7-087B-6119-B5218E294348}"/>
              </a:ext>
            </a:extLst>
          </p:cNvPr>
          <p:cNvSpPr txBox="1"/>
          <p:nvPr/>
        </p:nvSpPr>
        <p:spPr>
          <a:xfrm>
            <a:off x="932567" y="2867703"/>
            <a:ext cx="292047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+ 8 bytes for Optimizer</a:t>
            </a:r>
          </a:p>
          <a:p>
            <a:r>
              <a:rPr lang="en-US" dirty="0"/>
              <a:t>+ 4 bytes for Gradient</a:t>
            </a:r>
            <a:br>
              <a:rPr lang="en-US" dirty="0"/>
            </a:br>
            <a:r>
              <a:rPr lang="en-US" dirty="0"/>
              <a:t>+ 8  bytes for Temp Memory 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E49748DF-1471-B3D1-F1C7-8A7E1ACD1F72}"/>
              </a:ext>
            </a:extLst>
          </p:cNvPr>
          <p:cNvSpPr txBox="1"/>
          <p:nvPr/>
        </p:nvSpPr>
        <p:spPr>
          <a:xfrm>
            <a:off x="2392806" y="4638550"/>
            <a:ext cx="70323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Training requires  </a:t>
            </a:r>
            <a:r>
              <a:rPr lang="en-US" b="1" dirty="0"/>
              <a:t>6 times </a:t>
            </a:r>
            <a:r>
              <a:rPr lang="en-US" dirty="0"/>
              <a:t>more memory than actual size of the mode</a:t>
            </a:r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1AE7D732-2220-53A0-1D45-4DC0340A0555}"/>
              </a:ext>
            </a:extLst>
          </p:cNvPr>
          <p:cNvSpPr/>
          <p:nvPr/>
        </p:nvSpPr>
        <p:spPr>
          <a:xfrm>
            <a:off x="2289028" y="4487221"/>
            <a:ext cx="7127475" cy="611619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B56AC06-3949-84CB-B89F-140A962D1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281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1" grpId="0"/>
      <p:bldP spid="12" grpId="0"/>
      <p:bldP spid="13" grpId="0"/>
      <p:bldP spid="1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C5C5A5-27C6-8214-45FF-28FC9D9A6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00B304-A9EB-690B-4E49-CA8214ADB9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068809" cy="1325563"/>
          </a:xfrm>
        </p:spPr>
        <p:txBody>
          <a:bodyPr/>
          <a:lstStyle/>
          <a:p>
            <a:r>
              <a:rPr lang="en-US" dirty="0"/>
              <a:t>Scaling Law (Chinchilla Scaling Law)</a:t>
            </a:r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8102ABF9-BC0A-64D7-E179-3BA344FA36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285" y="1518275"/>
            <a:ext cx="10432585" cy="3259615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27258544-3A32-6444-7F6A-8CFDAEDF4ADA}"/>
              </a:ext>
            </a:extLst>
          </p:cNvPr>
          <p:cNvSpPr txBox="1"/>
          <p:nvPr/>
        </p:nvSpPr>
        <p:spPr>
          <a:xfrm>
            <a:off x="5298676" y="5561708"/>
            <a:ext cx="60219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Source: </a:t>
            </a:r>
            <a:r>
              <a:rPr lang="fr-FR" dirty="0">
                <a:hlinkClick r:id="rId3"/>
              </a:rPr>
              <a:t>Training Compute-Optimal Large Language Models</a:t>
            </a:r>
            <a:r>
              <a:rPr lang="en-US" dirty="0">
                <a:hlinkClick r:id="rId3"/>
              </a:rPr>
              <a:t> </a:t>
            </a:r>
            <a:endParaRPr lang="en-US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2DC97FC-36FA-C107-DF8E-E8E96ADA011C}"/>
              </a:ext>
            </a:extLst>
          </p:cNvPr>
          <p:cNvSpPr txBox="1"/>
          <p:nvPr/>
        </p:nvSpPr>
        <p:spPr>
          <a:xfrm>
            <a:off x="920455" y="6049574"/>
            <a:ext cx="3002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Dataset Size = 20 x # Params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38564D7-523F-E3F7-E048-40892F331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646472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4B65EA-BC35-AE0E-B8C5-7086FF2BE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D15BE-BD02-4D4F-4BEE-43BECC7DC4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523" cy="1325563"/>
          </a:xfrm>
        </p:spPr>
        <p:txBody>
          <a:bodyPr/>
          <a:lstStyle/>
          <a:p>
            <a:r>
              <a:rPr lang="en-US" dirty="0"/>
              <a:t>Challenges of Training LLMs models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8FC99A16-43A6-56E2-9CBD-6602842F74B5}"/>
              </a:ext>
            </a:extLst>
          </p:cNvPr>
          <p:cNvSpPr txBox="1"/>
          <p:nvPr/>
        </p:nvSpPr>
        <p:spPr>
          <a:xfrm>
            <a:off x="793287" y="1690688"/>
            <a:ext cx="23024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u="sng" dirty="0"/>
              <a:t>Example (simplified)</a:t>
            </a:r>
            <a:r>
              <a:rPr lang="en-US" dirty="0"/>
              <a:t>  </a:t>
            </a:r>
          </a:p>
          <a:p>
            <a:br>
              <a:rPr lang="en-US" dirty="0"/>
            </a:br>
            <a:r>
              <a:rPr lang="en-US" dirty="0"/>
              <a:t>- Llama 40B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1E7D7F94-7239-281E-8BAB-F6CA2253D6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008" y="1326688"/>
            <a:ext cx="1794161" cy="10047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Connecteur droit avec flèche 4">
            <a:extLst>
              <a:ext uri="{FF2B5EF4-FFF2-40B4-BE49-F238E27FC236}">
                <a16:creationId xmlns:a16="http://schemas.microsoft.com/office/drawing/2014/main" id="{3F1572C1-FBB0-86E6-5E78-FE9F4FEC14C3}"/>
              </a:ext>
            </a:extLst>
          </p:cNvPr>
          <p:cNvCxnSpPr/>
          <p:nvPr/>
        </p:nvCxnSpPr>
        <p:spPr>
          <a:xfrm>
            <a:off x="2314511" y="2429352"/>
            <a:ext cx="105973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ZoneTexte 5">
            <a:extLst>
              <a:ext uri="{FF2B5EF4-FFF2-40B4-BE49-F238E27FC236}">
                <a16:creationId xmlns:a16="http://schemas.microsoft.com/office/drawing/2014/main" id="{3DDF07F0-E647-6B04-12CD-6798C0607CC7}"/>
              </a:ext>
            </a:extLst>
          </p:cNvPr>
          <p:cNvSpPr txBox="1"/>
          <p:nvPr/>
        </p:nvSpPr>
        <p:spPr>
          <a:xfrm>
            <a:off x="3640443" y="2244686"/>
            <a:ext cx="35878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Memory Required to train </a:t>
            </a:r>
            <a:br>
              <a:rPr lang="en-US" dirty="0"/>
            </a:br>
            <a:r>
              <a:rPr lang="en-US" dirty="0"/>
              <a:t>40B parameter = 6*40 GB = 240GB</a:t>
            </a:r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DE6C21DE-2D2D-3969-60CF-482E22A6983E}"/>
              </a:ext>
            </a:extLst>
          </p:cNvPr>
          <p:cNvCxnSpPr/>
          <p:nvPr/>
        </p:nvCxnSpPr>
        <p:spPr>
          <a:xfrm>
            <a:off x="2314511" y="3219090"/>
            <a:ext cx="105973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ZoneTexte 14">
            <a:extLst>
              <a:ext uri="{FF2B5EF4-FFF2-40B4-BE49-F238E27FC236}">
                <a16:creationId xmlns:a16="http://schemas.microsoft.com/office/drawing/2014/main" id="{552B6959-5616-A993-A3F3-92AF848731C6}"/>
              </a:ext>
            </a:extLst>
          </p:cNvPr>
          <p:cNvSpPr txBox="1"/>
          <p:nvPr/>
        </p:nvSpPr>
        <p:spPr>
          <a:xfrm>
            <a:off x="3640443" y="3034424"/>
            <a:ext cx="36742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Dataset Size = 20 x 40 = 800B Token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ZoneTexte 15">
                <a:extLst>
                  <a:ext uri="{FF2B5EF4-FFF2-40B4-BE49-F238E27FC236}">
                    <a16:creationId xmlns:a16="http://schemas.microsoft.com/office/drawing/2014/main" id="{B1E21BF7-3259-CAC5-F09D-AA76AE71364C}"/>
                  </a:ext>
                </a:extLst>
              </p:cNvPr>
              <p:cNvSpPr txBox="1"/>
              <p:nvPr/>
            </p:nvSpPr>
            <p:spPr>
              <a:xfrm>
                <a:off x="1174793" y="4008827"/>
                <a:ext cx="5775684" cy="94699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Compute in Total of floating points for training the model </a:t>
                </a:r>
                <a:br>
                  <a:rPr lang="en-US" dirty="0"/>
                </a:br>
                <a:r>
                  <a:rPr lang="en-US" dirty="0"/>
                  <a:t>	= 4 x 40B x 800B = 128 000 x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9+9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  <a:br>
                  <a:rPr lang="en-US" dirty="0"/>
                </a:br>
                <a:r>
                  <a:rPr lang="en-US" dirty="0"/>
                  <a:t>	= 128 x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21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𝐹𝐿𝑂𝑃𝑆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𝑨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1" dirty="0"/>
                  <a:t> </a:t>
                </a:r>
              </a:p>
            </p:txBody>
          </p:sp>
        </mc:Choice>
        <mc:Fallback xmlns="">
          <p:sp>
            <p:nvSpPr>
              <p:cNvPr id="16" name="ZoneTexte 15">
                <a:extLst>
                  <a:ext uri="{FF2B5EF4-FFF2-40B4-BE49-F238E27FC236}">
                    <a16:creationId xmlns:a16="http://schemas.microsoft.com/office/drawing/2014/main" id="{B1E21BF7-3259-CAC5-F09D-AA76AE7136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4793" y="4008827"/>
                <a:ext cx="5775684" cy="946991"/>
              </a:xfrm>
              <a:prstGeom prst="rect">
                <a:avLst/>
              </a:prstGeom>
              <a:blipFill>
                <a:blip r:embed="rId3"/>
                <a:stretch>
                  <a:fillRect l="-877" t="-2632" b="-6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ZoneTexte 16">
                <a:extLst>
                  <a:ext uri="{FF2B5EF4-FFF2-40B4-BE49-F238E27FC236}">
                    <a16:creationId xmlns:a16="http://schemas.microsoft.com/office/drawing/2014/main" id="{B9C4D21C-2D09-D373-A705-45FA67B90D0B}"/>
                  </a:ext>
                </a:extLst>
              </p:cNvPr>
              <p:cNvSpPr txBox="1"/>
              <p:nvPr/>
            </p:nvSpPr>
            <p:spPr>
              <a:xfrm>
                <a:off x="6667247" y="5158462"/>
                <a:ext cx="195733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i="1" dirty="0"/>
                  <a:t>(1 TFLOP = 1 x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12</m:t>
                        </m:r>
                      </m:sup>
                    </m:sSup>
                  </m:oMath>
                </a14:m>
                <a:r>
                  <a:rPr lang="en-US" sz="1200" i="1" dirty="0"/>
                  <a:t> FLOPS) </a:t>
                </a:r>
              </a:p>
            </p:txBody>
          </p:sp>
        </mc:Choice>
        <mc:Fallback xmlns="">
          <p:sp>
            <p:nvSpPr>
              <p:cNvPr id="17" name="ZoneTexte 16">
                <a:extLst>
                  <a:ext uri="{FF2B5EF4-FFF2-40B4-BE49-F238E27FC236}">
                    <a16:creationId xmlns:a16="http://schemas.microsoft.com/office/drawing/2014/main" id="{B9C4D21C-2D09-D373-A705-45FA67B90D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7247" y="5158462"/>
                <a:ext cx="1957331" cy="276999"/>
              </a:xfrm>
              <a:prstGeom prst="rect">
                <a:avLst/>
              </a:prstGeom>
              <a:blipFill>
                <a:blip r:embed="rId4"/>
                <a:stretch>
                  <a:fillRect b="-13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ZoneTexte 17">
                <a:extLst>
                  <a:ext uri="{FF2B5EF4-FFF2-40B4-BE49-F238E27FC236}">
                    <a16:creationId xmlns:a16="http://schemas.microsoft.com/office/drawing/2014/main" id="{53C8C31F-4AEA-C69B-73C8-D1E87284637F}"/>
                  </a:ext>
                </a:extLst>
              </p:cNvPr>
              <p:cNvSpPr txBox="1"/>
              <p:nvPr/>
            </p:nvSpPr>
            <p:spPr>
              <a:xfrm>
                <a:off x="2549420" y="6073628"/>
                <a:ext cx="705135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Total Time to train = </a:t>
                </a:r>
                <a:r>
                  <a:rPr lang="en-US" b="1" dirty="0"/>
                  <a:t>A</a:t>
                </a:r>
                <a:r>
                  <a:rPr lang="en-US" dirty="0"/>
                  <a:t> / </a:t>
                </a:r>
                <a:r>
                  <a:rPr lang="en-US" b="1" dirty="0"/>
                  <a:t>B</a:t>
                </a:r>
                <a:r>
                  <a:rPr lang="en-US" dirty="0"/>
                  <a:t> = 82 x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7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𝑠𝑒𝑐𝑜𝑛𝑑𝑠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9 490 Days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26 </m:t>
                    </m:r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𝑌𝑒𝑎𝑟𝑠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18" name="ZoneTexte 17">
                <a:extLst>
                  <a:ext uri="{FF2B5EF4-FFF2-40B4-BE49-F238E27FC236}">
                    <a16:creationId xmlns:a16="http://schemas.microsoft.com/office/drawing/2014/main" id="{53C8C31F-4AEA-C69B-73C8-D1E8728463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49420" y="6073628"/>
                <a:ext cx="7051354" cy="369332"/>
              </a:xfrm>
              <a:prstGeom prst="rect">
                <a:avLst/>
              </a:prstGeom>
              <a:blipFill>
                <a:blip r:embed="rId5"/>
                <a:stretch>
                  <a:fillRect l="-719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ZoneTexte 18">
                <a:extLst>
                  <a:ext uri="{FF2B5EF4-FFF2-40B4-BE49-F238E27FC236}">
                    <a16:creationId xmlns:a16="http://schemas.microsoft.com/office/drawing/2014/main" id="{06CF7F9A-1065-C81A-2FD0-D732D3EC01E8}"/>
                  </a:ext>
                </a:extLst>
              </p:cNvPr>
              <p:cNvSpPr txBox="1"/>
              <p:nvPr/>
            </p:nvSpPr>
            <p:spPr>
              <a:xfrm>
                <a:off x="1174793" y="5112296"/>
                <a:ext cx="374634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fr-FR" dirty="0"/>
                  <a:t>1 </a:t>
                </a:r>
                <a:r>
                  <a:rPr lang="fr-FR" dirty="0" err="1"/>
                  <a:t>Nvidia</a:t>
                </a:r>
                <a:r>
                  <a:rPr lang="fr-FR" dirty="0"/>
                  <a:t> A100 = 156 </a:t>
                </a:r>
                <a:r>
                  <a:rPr lang="en-US" dirty="0"/>
                  <a:t>x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i="0" smtClean="0">
                        <a:latin typeface="Cambria Math" panose="02040503050406030204" pitchFamily="18" charset="0"/>
                      </a:rPr>
                      <m:t>FLOP</m:t>
                    </m:r>
                    <m:r>
                      <m:rPr>
                        <m:sty m:val="p"/>
                      </m:rPr>
                      <a:rPr lang="fr-FR" b="0" i="0" smtClean="0">
                        <a:latin typeface="Cambria Math" panose="02040503050406030204" pitchFamily="18" charset="0"/>
                      </a:rPr>
                      <m:t>S</m:t>
                    </m:r>
                    <m:r>
                      <m:rPr>
                        <m:nor/>
                      </m:rPr>
                      <a:rPr lang="fr-FR" b="1" i="0" dirty="0" smtClean="0"/>
                      <m:t> </m:t>
                    </m:r>
                    <m:r>
                      <m:rPr>
                        <m:nor/>
                      </m:rPr>
                      <a:rPr lang="fr-FR" b="1" dirty="0"/>
                      <m:t>(</m:t>
                    </m:r>
                    <m:r>
                      <m:rPr>
                        <m:nor/>
                      </m:rPr>
                      <a:rPr lang="fr-FR" b="1" dirty="0"/>
                      <m:t>B</m:t>
                    </m:r>
                    <m:r>
                      <m:rPr>
                        <m:nor/>
                      </m:rPr>
                      <a:rPr lang="fr-FR" b="1" dirty="0"/>
                      <m:t>)</m:t>
                    </m:r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19" name="ZoneTexte 18">
                <a:extLst>
                  <a:ext uri="{FF2B5EF4-FFF2-40B4-BE49-F238E27FC236}">
                    <a16:creationId xmlns:a16="http://schemas.microsoft.com/office/drawing/2014/main" id="{06CF7F9A-1065-C81A-2FD0-D732D3EC01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4793" y="5112296"/>
                <a:ext cx="3746347" cy="369332"/>
              </a:xfrm>
              <a:prstGeom prst="rect">
                <a:avLst/>
              </a:prstGeom>
              <a:blipFill>
                <a:blip r:embed="rId6"/>
                <a:stretch>
                  <a:fillRect l="-1351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0BEF0B3B-BB1D-9925-FE80-F2CBF4539B20}"/>
              </a:ext>
            </a:extLst>
          </p:cNvPr>
          <p:cNvSpPr txBox="1"/>
          <p:nvPr/>
        </p:nvSpPr>
        <p:spPr>
          <a:xfrm>
            <a:off x="7772951" y="2534062"/>
            <a:ext cx="312438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i="1" dirty="0"/>
              <a:t>(1 single A100 GPU cannot host such model)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9A5DBFC-E199-E3FE-9476-DA5F835A3C43}"/>
              </a:ext>
            </a:extLst>
          </p:cNvPr>
          <p:cNvSpPr txBox="1"/>
          <p:nvPr/>
        </p:nvSpPr>
        <p:spPr>
          <a:xfrm>
            <a:off x="7772950" y="4288768"/>
            <a:ext cx="31643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i="1" dirty="0"/>
              <a:t>(Assuming 4</a:t>
            </a:r>
            <a:r>
              <a:rPr lang="en-US" sz="1200" dirty="0"/>
              <a:t> FLOPs per parameter per token</a:t>
            </a:r>
            <a:r>
              <a:rPr lang="en-US" sz="1200" i="1" dirty="0"/>
              <a:t> )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39C97B7-25D5-C269-A3B2-88EF32CF3D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371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6" grpId="0"/>
      <p:bldP spid="15" grpId="0"/>
      <p:bldP spid="16" grpId="0"/>
      <p:bldP spid="17" grpId="0"/>
      <p:bldP spid="18" grpId="0"/>
      <p:bldP spid="19" grpId="0"/>
      <p:bldP spid="4" grpId="0"/>
      <p:bldP spid="7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C97326-2929-BBBC-B057-C939F0C34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1E333-42A6-7F3C-6D7E-37A0DEA205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523" cy="1325563"/>
          </a:xfrm>
        </p:spPr>
        <p:txBody>
          <a:bodyPr/>
          <a:lstStyle/>
          <a:p>
            <a:r>
              <a:rPr lang="en-US" dirty="0"/>
              <a:t>Challenges of Training LLMs models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7E579D4-3CB2-933C-000A-77605DE8DEDC}"/>
              </a:ext>
            </a:extLst>
          </p:cNvPr>
          <p:cNvSpPr txBox="1"/>
          <p:nvPr/>
        </p:nvSpPr>
        <p:spPr>
          <a:xfrm>
            <a:off x="793287" y="1690688"/>
            <a:ext cx="136127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u="sng" dirty="0"/>
              <a:t>Example</a:t>
            </a:r>
            <a:r>
              <a:rPr lang="en-US" dirty="0"/>
              <a:t>  </a:t>
            </a:r>
          </a:p>
          <a:p>
            <a:br>
              <a:rPr lang="en-US" dirty="0"/>
            </a:br>
            <a:r>
              <a:rPr lang="en-US" dirty="0"/>
              <a:t>- Llama 40B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1C6A1429-044F-3EE2-B318-F1BC5CBB71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17008" y="1326688"/>
            <a:ext cx="1794161" cy="10047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Connecteur droit avec flèche 4">
            <a:extLst>
              <a:ext uri="{FF2B5EF4-FFF2-40B4-BE49-F238E27FC236}">
                <a16:creationId xmlns:a16="http://schemas.microsoft.com/office/drawing/2014/main" id="{7911C73A-B592-CB55-8DA5-17715A7E12BC}"/>
              </a:ext>
            </a:extLst>
          </p:cNvPr>
          <p:cNvCxnSpPr/>
          <p:nvPr/>
        </p:nvCxnSpPr>
        <p:spPr>
          <a:xfrm>
            <a:off x="2314511" y="2429352"/>
            <a:ext cx="105973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ZoneTexte 5">
            <a:extLst>
              <a:ext uri="{FF2B5EF4-FFF2-40B4-BE49-F238E27FC236}">
                <a16:creationId xmlns:a16="http://schemas.microsoft.com/office/drawing/2014/main" id="{12BE4156-5ED8-00F9-2C83-E50C5AB77C11}"/>
              </a:ext>
            </a:extLst>
          </p:cNvPr>
          <p:cNvSpPr txBox="1"/>
          <p:nvPr/>
        </p:nvSpPr>
        <p:spPr>
          <a:xfrm>
            <a:off x="3640443" y="2244686"/>
            <a:ext cx="35878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Memory Required to train </a:t>
            </a:r>
            <a:br>
              <a:rPr lang="en-US" dirty="0"/>
            </a:br>
            <a:r>
              <a:rPr lang="en-US" dirty="0"/>
              <a:t>40B parameter = 6*40 GB = 240GB</a:t>
            </a:r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94CDDD56-E118-4FB4-9FE7-99599E16961D}"/>
              </a:ext>
            </a:extLst>
          </p:cNvPr>
          <p:cNvCxnSpPr/>
          <p:nvPr/>
        </p:nvCxnSpPr>
        <p:spPr>
          <a:xfrm>
            <a:off x="2314511" y="3219090"/>
            <a:ext cx="105973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ZoneTexte 14">
            <a:extLst>
              <a:ext uri="{FF2B5EF4-FFF2-40B4-BE49-F238E27FC236}">
                <a16:creationId xmlns:a16="http://schemas.microsoft.com/office/drawing/2014/main" id="{4970E742-F995-447A-0204-B27C59FD9F4F}"/>
              </a:ext>
            </a:extLst>
          </p:cNvPr>
          <p:cNvSpPr txBox="1"/>
          <p:nvPr/>
        </p:nvSpPr>
        <p:spPr>
          <a:xfrm>
            <a:off x="3640443" y="3034424"/>
            <a:ext cx="36742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Dataset Size = 20 x 40 = 800B Token</a:t>
            </a:r>
          </a:p>
        </p:txBody>
      </p:sp>
      <p:pic>
        <p:nvPicPr>
          <p:cNvPr id="3074" name="Picture 2" descr="dp-pp-tp-3d">
            <a:extLst>
              <a:ext uri="{FF2B5EF4-FFF2-40B4-BE49-F238E27FC236}">
                <a16:creationId xmlns:a16="http://schemas.microsoft.com/office/drawing/2014/main" id="{E5F6FB75-4DF9-FFB9-888C-50DA4A28C4D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287" y="4124306"/>
            <a:ext cx="2972052" cy="17165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2D14A593-1538-92AC-0523-DE31DB0310C5}"/>
              </a:ext>
            </a:extLst>
          </p:cNvPr>
          <p:cNvSpPr txBox="1"/>
          <p:nvPr/>
        </p:nvSpPr>
        <p:spPr>
          <a:xfrm>
            <a:off x="1282994" y="5865484"/>
            <a:ext cx="15854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Parallelization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0A0E57D0-F543-C12E-FF15-208ED6F8102F}"/>
              </a:ext>
            </a:extLst>
          </p:cNvPr>
          <p:cNvSpPr txBox="1"/>
          <p:nvPr/>
        </p:nvSpPr>
        <p:spPr>
          <a:xfrm>
            <a:off x="1490946" y="6335452"/>
            <a:ext cx="150714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Source: </a:t>
            </a:r>
            <a:r>
              <a:rPr lang="en-US" sz="1100" dirty="0">
                <a:hlinkClick r:id="rId5"/>
              </a:rPr>
              <a:t>Hugging Face</a:t>
            </a:r>
            <a:endParaRPr lang="en-US" sz="1100" dirty="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147472D4-D628-361B-9009-240B976517B1}"/>
              </a:ext>
            </a:extLst>
          </p:cNvPr>
          <p:cNvSpPr txBox="1"/>
          <p:nvPr/>
        </p:nvSpPr>
        <p:spPr>
          <a:xfrm>
            <a:off x="6295461" y="3852365"/>
            <a:ext cx="24250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32 Bytes floating point </a:t>
            </a:r>
            <a:br>
              <a:rPr lang="en-US" dirty="0"/>
            </a:br>
            <a:r>
              <a:rPr lang="en-US" dirty="0"/>
              <a:t>(32 FP)</a:t>
            </a:r>
          </a:p>
        </p:txBody>
      </p:sp>
      <p:sp>
        <p:nvSpPr>
          <p:cNvPr id="11" name="Trapèze 10">
            <a:extLst>
              <a:ext uri="{FF2B5EF4-FFF2-40B4-BE49-F238E27FC236}">
                <a16:creationId xmlns:a16="http://schemas.microsoft.com/office/drawing/2014/main" id="{0762F842-6765-DE4B-DF4D-D516871C2056}"/>
              </a:ext>
            </a:extLst>
          </p:cNvPr>
          <p:cNvSpPr/>
          <p:nvPr/>
        </p:nvSpPr>
        <p:spPr>
          <a:xfrm rot="10800000">
            <a:off x="6919817" y="4626501"/>
            <a:ext cx="1188670" cy="926511"/>
          </a:xfrm>
          <a:prstGeom prst="trapezoi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7EFE324F-FA63-AF83-6729-475473BBC5DB}"/>
              </a:ext>
            </a:extLst>
          </p:cNvPr>
          <p:cNvSpPr txBox="1"/>
          <p:nvPr/>
        </p:nvSpPr>
        <p:spPr>
          <a:xfrm>
            <a:off x="7161564" y="5680818"/>
            <a:ext cx="6928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16FB</a:t>
            </a:r>
          </a:p>
        </p:txBody>
      </p: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E3B9B940-AABA-1F85-36CA-2A87272D15E9}"/>
              </a:ext>
            </a:extLst>
          </p:cNvPr>
          <p:cNvCxnSpPr>
            <a:endCxn id="12" idx="0"/>
          </p:cNvCxnSpPr>
          <p:nvPr/>
        </p:nvCxnSpPr>
        <p:spPr>
          <a:xfrm flipH="1">
            <a:off x="7507973" y="4481166"/>
            <a:ext cx="6178" cy="11996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ZoneTexte 19">
            <a:extLst>
              <a:ext uri="{FF2B5EF4-FFF2-40B4-BE49-F238E27FC236}">
                <a16:creationId xmlns:a16="http://schemas.microsoft.com/office/drawing/2014/main" id="{6499879E-770C-040B-DC70-8BD31459FCB4}"/>
              </a:ext>
            </a:extLst>
          </p:cNvPr>
          <p:cNvSpPr txBox="1"/>
          <p:nvPr/>
        </p:nvSpPr>
        <p:spPr>
          <a:xfrm>
            <a:off x="8835163" y="3806198"/>
            <a:ext cx="23661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 parameter = 4 bytes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60B9EC94-285B-521D-D6CB-E21A6DC2BDDC}"/>
              </a:ext>
            </a:extLst>
          </p:cNvPr>
          <p:cNvSpPr txBox="1"/>
          <p:nvPr/>
        </p:nvSpPr>
        <p:spPr>
          <a:xfrm>
            <a:off x="8845008" y="5650310"/>
            <a:ext cx="23196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 parameter = 2 bytes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4851323D-02B7-308F-FD2B-0FA8BADF4D9C}"/>
              </a:ext>
            </a:extLst>
          </p:cNvPr>
          <p:cNvSpPr txBox="1"/>
          <p:nvPr/>
        </p:nvSpPr>
        <p:spPr>
          <a:xfrm>
            <a:off x="6775239" y="6050150"/>
            <a:ext cx="14654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Quantization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07E5F516-13C8-B6E2-5ECF-F6FCCE2F3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44968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72C96-E4FD-70A7-B0A4-91C007697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EB0E8D-A0B7-CA39-2B64-208D4E5AB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384523" cy="1325563"/>
          </a:xfrm>
        </p:spPr>
        <p:txBody>
          <a:bodyPr/>
          <a:lstStyle/>
          <a:p>
            <a:r>
              <a:rPr lang="en-US" dirty="0"/>
              <a:t>Scaling Choices for Pre-training</a:t>
            </a:r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4D998170-8D97-668F-E600-89096B66B7F8}"/>
              </a:ext>
            </a:extLst>
          </p:cNvPr>
          <p:cNvSpPr/>
          <p:nvPr/>
        </p:nvSpPr>
        <p:spPr>
          <a:xfrm>
            <a:off x="2967256" y="4786901"/>
            <a:ext cx="1459407" cy="11445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Dataset Size</a:t>
            </a:r>
          </a:p>
        </p:txBody>
      </p: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5FFFECF3-A4BB-6D87-401B-4183CC6A78F4}"/>
              </a:ext>
            </a:extLst>
          </p:cNvPr>
          <p:cNvSpPr/>
          <p:nvPr/>
        </p:nvSpPr>
        <p:spPr>
          <a:xfrm>
            <a:off x="7507213" y="4786901"/>
            <a:ext cx="1459407" cy="114451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Model </a:t>
            </a:r>
            <a:br>
              <a:rPr lang="en-US" dirty="0"/>
            </a:br>
            <a:r>
              <a:rPr lang="en-US" dirty="0"/>
              <a:t>Size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E5D11F4A-66B5-C0C6-B234-28A59E8C1147}"/>
              </a:ext>
            </a:extLst>
          </p:cNvPr>
          <p:cNvSpPr/>
          <p:nvPr/>
        </p:nvSpPr>
        <p:spPr>
          <a:xfrm>
            <a:off x="5258430" y="1690688"/>
            <a:ext cx="1459407" cy="1144514"/>
          </a:xfrm>
          <a:prstGeom prst="round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Compute Budget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EB8B07D-1018-A332-CD93-9B7480F6E585}"/>
              </a:ext>
            </a:extLst>
          </p:cNvPr>
          <p:cNvSpPr txBox="1"/>
          <p:nvPr/>
        </p:nvSpPr>
        <p:spPr>
          <a:xfrm>
            <a:off x="5056660" y="2831585"/>
            <a:ext cx="18629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Cost/Time/GPUs</a:t>
            </a:r>
          </a:p>
        </p:txBody>
      </p:sp>
      <p:sp>
        <p:nvSpPr>
          <p:cNvPr id="9" name="Triangle 8">
            <a:extLst>
              <a:ext uri="{FF2B5EF4-FFF2-40B4-BE49-F238E27FC236}">
                <a16:creationId xmlns:a16="http://schemas.microsoft.com/office/drawing/2014/main" id="{2BE3B0C3-6D85-82F7-D3E1-8CBC39FDFF9A}"/>
              </a:ext>
            </a:extLst>
          </p:cNvPr>
          <p:cNvSpPr/>
          <p:nvPr/>
        </p:nvSpPr>
        <p:spPr>
          <a:xfrm>
            <a:off x="4469054" y="3212512"/>
            <a:ext cx="3038159" cy="1558378"/>
          </a:xfrm>
          <a:prstGeom prst="triangle">
            <a:avLst/>
          </a:prstGeom>
          <a:noFill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52851856-6150-6A5E-FF15-6F23D98300C4}"/>
              </a:ext>
            </a:extLst>
          </p:cNvPr>
          <p:cNvSpPr txBox="1"/>
          <p:nvPr/>
        </p:nvSpPr>
        <p:spPr>
          <a:xfrm>
            <a:off x="5253862" y="3917910"/>
            <a:ext cx="14685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Model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Performance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57300C6C-64D1-E19B-53B7-DAF66AD15BC4}"/>
              </a:ext>
            </a:extLst>
          </p:cNvPr>
          <p:cNvSpPr txBox="1"/>
          <p:nvPr/>
        </p:nvSpPr>
        <p:spPr>
          <a:xfrm>
            <a:off x="5370913" y="1355098"/>
            <a:ext cx="12344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5"/>
                </a:solidFill>
              </a:rPr>
              <a:t>Constraint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6B321F-7394-A2AA-2984-66E1149AA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738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/>
      <p:bldP spid="9" grpId="0" animBg="1"/>
      <p:bldP spid="18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BE0E60-22AF-BE74-FC3E-F714AF9D7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AFB5E-B3D3-781E-715C-8B3B73EE0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872701" cy="1325563"/>
          </a:xfrm>
        </p:spPr>
        <p:txBody>
          <a:bodyPr/>
          <a:lstStyle/>
          <a:p>
            <a:r>
              <a:rPr lang="en-US" dirty="0"/>
              <a:t>Fine-tuning</a:t>
            </a:r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8787F088-189A-D5C5-D708-F841554B9D98}"/>
              </a:ext>
            </a:extLst>
          </p:cNvPr>
          <p:cNvSpPr/>
          <p:nvPr/>
        </p:nvSpPr>
        <p:spPr>
          <a:xfrm>
            <a:off x="7340433" y="1690688"/>
            <a:ext cx="1877245" cy="1338294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Pre-trained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LLM</a:t>
            </a:r>
          </a:p>
        </p:txBody>
      </p:sp>
      <p:pic>
        <p:nvPicPr>
          <p:cNvPr id="5" name="Graphique 4" descr="Liste de contrôle avec un remplissage uni">
            <a:extLst>
              <a:ext uri="{FF2B5EF4-FFF2-40B4-BE49-F238E27FC236}">
                <a16:creationId xmlns:a16="http://schemas.microsoft.com/office/drawing/2014/main" id="{80A811A2-E739-7628-58CA-ABDA4A55B4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73712" y="1862769"/>
            <a:ext cx="1166213" cy="1166213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BC96F6CC-6D4D-137A-572E-0B409C2ED860}"/>
              </a:ext>
            </a:extLst>
          </p:cNvPr>
          <p:cNvSpPr txBox="1"/>
          <p:nvPr/>
        </p:nvSpPr>
        <p:spPr>
          <a:xfrm>
            <a:off x="3124705" y="1558475"/>
            <a:ext cx="3034229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Prompt: […], Completion:[…]</a:t>
            </a:r>
          </a:p>
          <a:p>
            <a:r>
              <a:rPr lang="en-US" dirty="0"/>
              <a:t>Prompt: […], Completion:[…]</a:t>
            </a:r>
          </a:p>
          <a:p>
            <a:r>
              <a:rPr lang="en-US" dirty="0"/>
              <a:t>Prompt: […], Completion:[…]</a:t>
            </a:r>
          </a:p>
          <a:p>
            <a:r>
              <a:rPr lang="en-US" dirty="0"/>
              <a:t>Prompt: […], Completion:[…]</a:t>
            </a:r>
          </a:p>
          <a:p>
            <a:r>
              <a:rPr lang="en-US" dirty="0"/>
              <a:t>Prompt: […], Completion:[…]</a:t>
            </a:r>
          </a:p>
          <a:p>
            <a:r>
              <a:rPr lang="en-US" dirty="0"/>
              <a:t>Prompt: […], Completion:[…]</a:t>
            </a:r>
          </a:p>
          <a:p>
            <a:endParaRPr lang="en-US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559F304-2A24-F46E-45FD-34AC282F9EEA}"/>
              </a:ext>
            </a:extLst>
          </p:cNvPr>
          <p:cNvSpPr txBox="1"/>
          <p:nvPr/>
        </p:nvSpPr>
        <p:spPr>
          <a:xfrm>
            <a:off x="6400801" y="2085876"/>
            <a:ext cx="45878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b="1" dirty="0"/>
              <a:t>+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9CE3092C-8A39-5704-4851-B65352677077}"/>
              </a:ext>
            </a:extLst>
          </p:cNvPr>
          <p:cNvSpPr txBox="1"/>
          <p:nvPr/>
        </p:nvSpPr>
        <p:spPr>
          <a:xfrm>
            <a:off x="5512572" y="4064239"/>
            <a:ext cx="9528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Training</a:t>
            </a:r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AAB4B09E-7554-078E-FE16-2FB284DAFDDE}"/>
              </a:ext>
            </a:extLst>
          </p:cNvPr>
          <p:cNvSpPr/>
          <p:nvPr/>
        </p:nvSpPr>
        <p:spPr>
          <a:xfrm>
            <a:off x="5050394" y="5167313"/>
            <a:ext cx="1877245" cy="1338294"/>
          </a:xfrm>
          <a:prstGeom prst="roundRect">
            <a:avLst/>
          </a:prstGeom>
          <a:gradFill flip="none" rotWithShape="1">
            <a:gsLst>
              <a:gs pos="0">
                <a:schemeClr val="accent5">
                  <a:tint val="66000"/>
                  <a:satMod val="160000"/>
                </a:schemeClr>
              </a:gs>
              <a:gs pos="50000">
                <a:schemeClr val="accent5">
                  <a:tint val="44500"/>
                  <a:satMod val="160000"/>
                </a:schemeClr>
              </a:gs>
              <a:gs pos="100000">
                <a:schemeClr val="accent5"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508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Fine-tuned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LLM</a:t>
            </a:r>
          </a:p>
        </p:txBody>
      </p:sp>
      <p:cxnSp>
        <p:nvCxnSpPr>
          <p:cNvPr id="14" name="Connecteur droit 13">
            <a:extLst>
              <a:ext uri="{FF2B5EF4-FFF2-40B4-BE49-F238E27FC236}">
                <a16:creationId xmlns:a16="http://schemas.microsoft.com/office/drawing/2014/main" id="{1093506A-ED8F-35E4-D44C-D7E7601CEE18}"/>
              </a:ext>
            </a:extLst>
          </p:cNvPr>
          <p:cNvCxnSpPr>
            <a:endCxn id="11" idx="0"/>
          </p:cNvCxnSpPr>
          <p:nvPr/>
        </p:nvCxnSpPr>
        <p:spPr>
          <a:xfrm>
            <a:off x="5989016" y="3429000"/>
            <a:ext cx="1" cy="63523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34E514C1-DD86-C06B-FCB1-AD77E9FD80DA}"/>
              </a:ext>
            </a:extLst>
          </p:cNvPr>
          <p:cNvCxnSpPr>
            <a:stCxn id="11" idx="2"/>
          </p:cNvCxnSpPr>
          <p:nvPr/>
        </p:nvCxnSpPr>
        <p:spPr>
          <a:xfrm flipH="1">
            <a:off x="5989016" y="4433571"/>
            <a:ext cx="1" cy="6410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DEB179-FD18-631D-9BF6-9888424F89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78431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/>
      <p:bldP spid="7" grpId="0"/>
      <p:bldP spid="11" grpId="0"/>
      <p:bldP spid="12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07DB7-1FB3-E543-BFBA-431F25AF3B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F82AEB-27E4-2309-3995-99C44B963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872701" cy="1325563"/>
          </a:xfrm>
        </p:spPr>
        <p:txBody>
          <a:bodyPr/>
          <a:lstStyle/>
          <a:p>
            <a:r>
              <a:rPr lang="en-US" dirty="0"/>
              <a:t>Fine-tuning</a:t>
            </a:r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2B2D4D3D-8136-FF13-BA60-2C90958B40AF}"/>
              </a:ext>
            </a:extLst>
          </p:cNvPr>
          <p:cNvSpPr/>
          <p:nvPr/>
        </p:nvSpPr>
        <p:spPr>
          <a:xfrm>
            <a:off x="4933825" y="2031063"/>
            <a:ext cx="1877245" cy="1338294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Pre-trained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LLM</a:t>
            </a:r>
          </a:p>
        </p:txBody>
      </p:sp>
      <p:pic>
        <p:nvPicPr>
          <p:cNvPr id="5" name="Graphique 4" descr="Liste de contrôle avec un remplissage uni">
            <a:extLst>
              <a:ext uri="{FF2B5EF4-FFF2-40B4-BE49-F238E27FC236}">
                <a16:creationId xmlns:a16="http://schemas.microsoft.com/office/drawing/2014/main" id="{B7376F28-4B8D-A6E1-47B3-1A1D28A21D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2123161"/>
            <a:ext cx="1166213" cy="1166213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0F29E460-3BD2-D8E4-60D5-92FB00829BC7}"/>
              </a:ext>
            </a:extLst>
          </p:cNvPr>
          <p:cNvSpPr txBox="1"/>
          <p:nvPr/>
        </p:nvSpPr>
        <p:spPr>
          <a:xfrm>
            <a:off x="1237304" y="2100046"/>
            <a:ext cx="2984984" cy="1200329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Classify this product review:</a:t>
            </a:r>
          </a:p>
          <a:p>
            <a:r>
              <a:rPr lang="en-US" dirty="0">
                <a:solidFill>
                  <a:schemeClr val="accent2"/>
                </a:solidFill>
              </a:rPr>
              <a:t>“Really bad product”</a:t>
            </a:r>
          </a:p>
          <a:p>
            <a:endParaRPr lang="en-US" dirty="0">
              <a:solidFill>
                <a:schemeClr val="accent2"/>
              </a:solidFill>
            </a:endParaRPr>
          </a:p>
          <a:p>
            <a:r>
              <a:rPr lang="en-US" dirty="0"/>
              <a:t>Sentiment: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CE4DE9F-EFCF-20BB-CC4F-E37BE76C5552}"/>
              </a:ext>
            </a:extLst>
          </p:cNvPr>
          <p:cNvSpPr txBox="1"/>
          <p:nvPr/>
        </p:nvSpPr>
        <p:spPr>
          <a:xfrm>
            <a:off x="1166213" y="1792269"/>
            <a:ext cx="7561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Prompt</a:t>
            </a:r>
            <a:endParaRPr lang="en-US" i="1" dirty="0"/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48C11737-BA59-E500-B612-31267062B110}"/>
              </a:ext>
            </a:extLst>
          </p:cNvPr>
          <p:cNvCxnSpPr>
            <a:stCxn id="6" idx="3"/>
            <a:endCxn id="3" idx="1"/>
          </p:cNvCxnSpPr>
          <p:nvPr/>
        </p:nvCxnSpPr>
        <p:spPr>
          <a:xfrm flipV="1">
            <a:off x="4222288" y="2700210"/>
            <a:ext cx="71153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ZoneTexte 12">
            <a:extLst>
              <a:ext uri="{FF2B5EF4-FFF2-40B4-BE49-F238E27FC236}">
                <a16:creationId xmlns:a16="http://schemas.microsoft.com/office/drawing/2014/main" id="{8575E716-E8AE-4266-A7B2-DE67ED05F4BD}"/>
              </a:ext>
            </a:extLst>
          </p:cNvPr>
          <p:cNvSpPr txBox="1"/>
          <p:nvPr/>
        </p:nvSpPr>
        <p:spPr>
          <a:xfrm>
            <a:off x="7440854" y="1690688"/>
            <a:ext cx="14590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LLM Completion</a:t>
            </a:r>
            <a:endParaRPr lang="en-US" i="1" dirty="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6EF7A2E6-1918-4197-0DAC-DDB6E7F63F12}"/>
              </a:ext>
            </a:extLst>
          </p:cNvPr>
          <p:cNvSpPr txBox="1"/>
          <p:nvPr/>
        </p:nvSpPr>
        <p:spPr>
          <a:xfrm>
            <a:off x="7522607" y="2031063"/>
            <a:ext cx="2984984" cy="1200329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Classify this product review:</a:t>
            </a:r>
          </a:p>
          <a:p>
            <a:r>
              <a:rPr lang="en-US" dirty="0">
                <a:solidFill>
                  <a:schemeClr val="accent2"/>
                </a:solidFill>
              </a:rPr>
              <a:t>“Really bad product”</a:t>
            </a:r>
          </a:p>
          <a:p>
            <a:endParaRPr lang="en-US" dirty="0">
              <a:solidFill>
                <a:schemeClr val="accent2"/>
              </a:solidFill>
            </a:endParaRPr>
          </a:p>
          <a:p>
            <a:r>
              <a:rPr lang="en-US" dirty="0"/>
              <a:t>Sentiment: </a:t>
            </a:r>
            <a:r>
              <a:rPr lang="en-US" dirty="0">
                <a:solidFill>
                  <a:schemeClr val="accent2"/>
                </a:solidFill>
              </a:rPr>
              <a:t>Neutral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A4DC197D-37B2-8D1D-1397-2E030C64002B}"/>
              </a:ext>
            </a:extLst>
          </p:cNvPr>
          <p:cNvSpPr txBox="1"/>
          <p:nvPr/>
        </p:nvSpPr>
        <p:spPr>
          <a:xfrm>
            <a:off x="7440854" y="3401149"/>
            <a:ext cx="18589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Expected Completion</a:t>
            </a:r>
            <a:endParaRPr lang="en-US" i="1" dirty="0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33FD47EF-40DD-8CA1-0C73-4E03879401E6}"/>
              </a:ext>
            </a:extLst>
          </p:cNvPr>
          <p:cNvSpPr txBox="1"/>
          <p:nvPr/>
        </p:nvSpPr>
        <p:spPr>
          <a:xfrm>
            <a:off x="7522607" y="3741524"/>
            <a:ext cx="2984984" cy="1200329"/>
          </a:xfrm>
          <a:prstGeom prst="rect">
            <a:avLst/>
          </a:prstGeom>
          <a:noFill/>
          <a:ln>
            <a:solidFill>
              <a:schemeClr val="accent5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Classify this product review:</a:t>
            </a:r>
          </a:p>
          <a:p>
            <a:r>
              <a:rPr lang="en-US" dirty="0">
                <a:solidFill>
                  <a:schemeClr val="accent2"/>
                </a:solidFill>
              </a:rPr>
              <a:t>“Really bad product”</a:t>
            </a:r>
          </a:p>
          <a:p>
            <a:endParaRPr lang="en-US" dirty="0">
              <a:solidFill>
                <a:schemeClr val="accent2"/>
              </a:solidFill>
            </a:endParaRPr>
          </a:p>
          <a:p>
            <a:r>
              <a:rPr lang="en-US" dirty="0"/>
              <a:t>Sentiment: </a:t>
            </a:r>
            <a:r>
              <a:rPr lang="en-US" dirty="0">
                <a:solidFill>
                  <a:schemeClr val="accent2"/>
                </a:solidFill>
              </a:rPr>
              <a:t>Negative</a:t>
            </a:r>
          </a:p>
        </p:txBody>
      </p:sp>
      <p:sp>
        <p:nvSpPr>
          <p:cNvPr id="19" name="Accolade fermante 18">
            <a:extLst>
              <a:ext uri="{FF2B5EF4-FFF2-40B4-BE49-F238E27FC236}">
                <a16:creationId xmlns:a16="http://schemas.microsoft.com/office/drawing/2014/main" id="{96F2C26F-67F0-211A-100D-4B0D12C7147F}"/>
              </a:ext>
            </a:extLst>
          </p:cNvPr>
          <p:cNvSpPr/>
          <p:nvPr/>
        </p:nvSpPr>
        <p:spPr>
          <a:xfrm rot="5400000">
            <a:off x="8766596" y="3944297"/>
            <a:ext cx="538951" cy="2984982"/>
          </a:xfrm>
          <a:prstGeom prst="rightBrac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7E8F3088-F04F-D3BC-E5C6-AFEDFD689EE7}"/>
              </a:ext>
            </a:extLst>
          </p:cNvPr>
          <p:cNvSpPr txBox="1"/>
          <p:nvPr/>
        </p:nvSpPr>
        <p:spPr>
          <a:xfrm>
            <a:off x="7869742" y="5747057"/>
            <a:ext cx="22942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Loss = Cross-Entropy</a:t>
            </a:r>
          </a:p>
        </p:txBody>
      </p:sp>
      <p:cxnSp>
        <p:nvCxnSpPr>
          <p:cNvPr id="24" name="Connecteur en angle 23">
            <a:extLst>
              <a:ext uri="{FF2B5EF4-FFF2-40B4-BE49-F238E27FC236}">
                <a16:creationId xmlns:a16="http://schemas.microsoft.com/office/drawing/2014/main" id="{C5937448-5929-76F6-5A71-AD9B31C0214E}"/>
              </a:ext>
            </a:extLst>
          </p:cNvPr>
          <p:cNvCxnSpPr>
            <a:cxnSpLocks/>
            <a:endCxn id="26" idx="2"/>
          </p:cNvCxnSpPr>
          <p:nvPr/>
        </p:nvCxnSpPr>
        <p:spPr>
          <a:xfrm rot="16200000" flipV="1">
            <a:off x="5522862" y="4084879"/>
            <a:ext cx="2135301" cy="1558385"/>
          </a:xfrm>
          <a:prstGeom prst="bentConnector3">
            <a:avLst>
              <a:gd name="adj1" fmla="val 87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ZoneTexte 25">
            <a:extLst>
              <a:ext uri="{FF2B5EF4-FFF2-40B4-BE49-F238E27FC236}">
                <a16:creationId xmlns:a16="http://schemas.microsoft.com/office/drawing/2014/main" id="{09478AC0-7F7A-09D0-051A-A81488E0B14F}"/>
              </a:ext>
            </a:extLst>
          </p:cNvPr>
          <p:cNvSpPr txBox="1"/>
          <p:nvPr/>
        </p:nvSpPr>
        <p:spPr>
          <a:xfrm>
            <a:off x="4988658" y="3488644"/>
            <a:ext cx="16453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/>
              <a:t>Update All Weights</a:t>
            </a:r>
            <a:endParaRPr lang="en-US" i="1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EEC27-8DA0-6DD3-1C19-288700DEB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7156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4" grpId="0"/>
      <p:bldP spid="13" grpId="0"/>
      <p:bldP spid="15" grpId="0" animBg="1"/>
      <p:bldP spid="17" grpId="0"/>
      <p:bldP spid="18" grpId="0" animBg="1"/>
      <p:bldP spid="19" grpId="0" animBg="1"/>
      <p:bldP spid="20" grpId="0"/>
      <p:bldP spid="26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2BA5C5-C336-9247-6C56-48C190332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21E8F-D0BC-497E-378D-A1EE3DB963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872701" cy="1325563"/>
          </a:xfrm>
        </p:spPr>
        <p:txBody>
          <a:bodyPr/>
          <a:lstStyle/>
          <a:p>
            <a:r>
              <a:rPr lang="en-US" dirty="0"/>
              <a:t>Cross Entropy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A973FE19-632A-06BE-1F91-6B802C707FE3}"/>
                  </a:ext>
                </a:extLst>
              </p:cNvPr>
              <p:cNvSpPr txBox="1"/>
              <p:nvPr/>
            </p:nvSpPr>
            <p:spPr>
              <a:xfrm>
                <a:off x="1374983" y="2149748"/>
                <a:ext cx="479913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fr-FR" sz="2800" b="0" i="1" smtClean="0">
                        <a:latin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fr-F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8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fr-FR" sz="28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fr-FR" sz="28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</m:d>
                    <m:r>
                      <a:rPr lang="fr-FR" sz="2800" b="0" i="1" smtClean="0">
                        <a:latin typeface="Cambria Math" panose="02040503050406030204" pitchFamily="18" charset="0"/>
                      </a:rPr>
                      <m:t>=−</m:t>
                    </m:r>
                    <m:nary>
                      <m:naryPr>
                        <m:chr m:val="∑"/>
                        <m:supHide m:val="on"/>
                        <m:ctrlPr>
                          <a:rPr lang="fr-FR" sz="28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fr-FR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fr-FR" sz="28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d>
                          <m:dPr>
                            <m:ctrlPr>
                              <a:rPr lang="fr-FR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fr-FR" sz="2800" b="0" i="1" smtClean="0">
                            <a:latin typeface="Cambria Math" panose="02040503050406030204" pitchFamily="18" charset="0"/>
                          </a:rPr>
                          <m:t>𝑙𝑜𝑔𝑄</m:t>
                        </m:r>
                        <m:r>
                          <a:rPr lang="fr-FR" sz="28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28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-US" sz="2800" dirty="0"/>
                  <a:t>  </a:t>
                </a:r>
              </a:p>
            </p:txBody>
          </p:sp>
        </mc:Choice>
        <mc:Fallback xmlns="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A973FE19-632A-06BE-1F91-6B802C707F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74983" y="2149748"/>
                <a:ext cx="4799134" cy="523220"/>
              </a:xfrm>
              <a:prstGeom prst="rect">
                <a:avLst/>
              </a:prstGeom>
              <a:blipFill>
                <a:blip r:embed="rId3"/>
                <a:stretch>
                  <a:fillRect l="-792" t="-128571" b="-1904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ZoneTexte 7">
            <a:extLst>
              <a:ext uri="{FF2B5EF4-FFF2-40B4-BE49-F238E27FC236}">
                <a16:creationId xmlns:a16="http://schemas.microsoft.com/office/drawing/2014/main" id="{F02BB0BB-A01F-084D-6A32-01FDEDAFAC37}"/>
              </a:ext>
            </a:extLst>
          </p:cNvPr>
          <p:cNvSpPr txBox="1"/>
          <p:nvPr/>
        </p:nvSpPr>
        <p:spPr>
          <a:xfrm>
            <a:off x="7551369" y="2088192"/>
            <a:ext cx="31298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P: true distribution of </a:t>
            </a:r>
            <a:r>
              <a:rPr lang="en-US"/>
              <a:t>the data</a:t>
            </a:r>
            <a:endParaRPr lang="en-US" dirty="0"/>
          </a:p>
          <a:p>
            <a:r>
              <a:rPr lang="en-US" dirty="0"/>
              <a:t>Q: distribution of the model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3F84BD5F-1BF0-F4FE-D992-AC385872D0FB}"/>
              </a:ext>
            </a:extLst>
          </p:cNvPr>
          <p:cNvSpPr txBox="1"/>
          <p:nvPr/>
        </p:nvSpPr>
        <p:spPr>
          <a:xfrm>
            <a:off x="1253516" y="3132028"/>
            <a:ext cx="11114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Example: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081AF014-7ED8-71A9-CDCB-12486CF877BA}"/>
              </a:ext>
            </a:extLst>
          </p:cNvPr>
          <p:cNvSpPr txBox="1"/>
          <p:nvPr/>
        </p:nvSpPr>
        <p:spPr>
          <a:xfrm>
            <a:off x="1877245" y="3905881"/>
            <a:ext cx="27949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Pre-trained model output: 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DB80E35C-D590-DC44-3E2A-4CBAEED0B974}"/>
              </a:ext>
            </a:extLst>
          </p:cNvPr>
          <p:cNvSpPr txBox="1"/>
          <p:nvPr/>
        </p:nvSpPr>
        <p:spPr>
          <a:xfrm>
            <a:off x="1877245" y="4452679"/>
            <a:ext cx="19371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Expected output: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ZoneTexte 15">
                <a:extLst>
                  <a:ext uri="{FF2B5EF4-FFF2-40B4-BE49-F238E27FC236}">
                    <a16:creationId xmlns:a16="http://schemas.microsoft.com/office/drawing/2014/main" id="{C1F026C7-5A84-4231-5D6A-E43E81DD8B03}"/>
                  </a:ext>
                </a:extLst>
              </p:cNvPr>
              <p:cNvSpPr txBox="1"/>
              <p:nvPr/>
            </p:nvSpPr>
            <p:spPr>
              <a:xfrm>
                <a:off x="4578055" y="3934099"/>
                <a:ext cx="652152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[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𝑅𝑒𝑎𝑙𝑙𝑦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𝑁𝑒𝑔𝑎𝑡𝑖𝑣𝑒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𝑁𝑒𝑔𝑎𝑡𝑖𝑣𝑒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𝑁𝑒𝑢𝑡𝑟𝑎𝑙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𝑃𝑜𝑠𝑖𝑡𝑖𝑣𝑒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𝑅𝑒𝑎𝑙𝑙𝑦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𝑃𝑜𝑠𝑖𝑡𝑖𝑣𝑒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ZoneTexte 15">
                <a:extLst>
                  <a:ext uri="{FF2B5EF4-FFF2-40B4-BE49-F238E27FC236}">
                    <a16:creationId xmlns:a16="http://schemas.microsoft.com/office/drawing/2014/main" id="{C1F026C7-5A84-4231-5D6A-E43E81DD8B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8055" y="3934099"/>
                <a:ext cx="6521529" cy="276999"/>
              </a:xfrm>
              <a:prstGeom prst="rect">
                <a:avLst/>
              </a:prstGeom>
              <a:blipFill>
                <a:blip r:embed="rId4"/>
                <a:stretch>
                  <a:fillRect l="-971" t="-4348" r="-777" b="-347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ZoneTexte 20">
                <a:extLst>
                  <a:ext uri="{FF2B5EF4-FFF2-40B4-BE49-F238E27FC236}">
                    <a16:creationId xmlns:a16="http://schemas.microsoft.com/office/drawing/2014/main" id="{2E9AE145-7F2B-6930-FC7E-C49E06BCD36F}"/>
                  </a:ext>
                </a:extLst>
              </p:cNvPr>
              <p:cNvSpPr txBox="1"/>
              <p:nvPr/>
            </p:nvSpPr>
            <p:spPr>
              <a:xfrm>
                <a:off x="4578055" y="4498845"/>
                <a:ext cx="652152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[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𝑅𝑒𝑎𝑙𝑙𝑦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𝑁𝑒𝑔𝑎𝑡𝑖𝑣𝑒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𝑁𝑒𝑔𝑎𝑡𝑖𝑣𝑒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𝑁𝑒𝑢𝑡𝑟𝑎𝑙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𝑃𝑜𝑠𝑖𝑡𝑖𝑣𝑒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𝑅𝑒𝑎𝑙𝑙𝑦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𝑃𝑜𝑠𝑖𝑡𝑖𝑣𝑒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ZoneTexte 20">
                <a:extLst>
                  <a:ext uri="{FF2B5EF4-FFF2-40B4-BE49-F238E27FC236}">
                    <a16:creationId xmlns:a16="http://schemas.microsoft.com/office/drawing/2014/main" id="{2E9AE145-7F2B-6930-FC7E-C49E06BCD3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8055" y="4498845"/>
                <a:ext cx="6521529" cy="276999"/>
              </a:xfrm>
              <a:prstGeom prst="rect">
                <a:avLst/>
              </a:prstGeom>
              <a:blipFill>
                <a:blip r:embed="rId5"/>
                <a:stretch>
                  <a:fillRect l="-971" t="-9091" r="-777" b="-409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ZoneTexte 22">
            <a:extLst>
              <a:ext uri="{FF2B5EF4-FFF2-40B4-BE49-F238E27FC236}">
                <a16:creationId xmlns:a16="http://schemas.microsoft.com/office/drawing/2014/main" id="{08732D0F-5DC1-7A57-E068-844F8ACC4222}"/>
              </a:ext>
            </a:extLst>
          </p:cNvPr>
          <p:cNvSpPr txBox="1"/>
          <p:nvPr/>
        </p:nvSpPr>
        <p:spPr>
          <a:xfrm>
            <a:off x="5741079" y="3520646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0.1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B4AA877B-9F7F-3CF7-5636-81484A4E8EE9}"/>
              </a:ext>
            </a:extLst>
          </p:cNvPr>
          <p:cNvSpPr txBox="1"/>
          <p:nvPr/>
        </p:nvSpPr>
        <p:spPr>
          <a:xfrm>
            <a:off x="6831758" y="3476524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0.1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1E5AF39C-25DF-B434-EBF5-1977F82DC29D}"/>
              </a:ext>
            </a:extLst>
          </p:cNvPr>
          <p:cNvSpPr txBox="1"/>
          <p:nvPr/>
        </p:nvSpPr>
        <p:spPr>
          <a:xfrm>
            <a:off x="7674499" y="3476524"/>
            <a:ext cx="497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0.6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68A1A131-4CB1-DCED-1386-9CE849BC7D35}"/>
              </a:ext>
            </a:extLst>
          </p:cNvPr>
          <p:cNvSpPr txBox="1"/>
          <p:nvPr/>
        </p:nvSpPr>
        <p:spPr>
          <a:xfrm>
            <a:off x="8626898" y="3476524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0.15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F4154ED5-08B2-D6FA-7300-4C3A7C4E66F6}"/>
              </a:ext>
            </a:extLst>
          </p:cNvPr>
          <p:cNvSpPr txBox="1"/>
          <p:nvPr/>
        </p:nvSpPr>
        <p:spPr>
          <a:xfrm>
            <a:off x="9941072" y="3476524"/>
            <a:ext cx="6206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0.05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20AB7E76-27B1-E469-53CA-2E1C3FC50F2C}"/>
              </a:ext>
            </a:extLst>
          </p:cNvPr>
          <p:cNvSpPr txBox="1"/>
          <p:nvPr/>
        </p:nvSpPr>
        <p:spPr>
          <a:xfrm>
            <a:off x="5833784" y="420790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0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E950787C-4A8A-D610-8974-AC45814B346F}"/>
              </a:ext>
            </a:extLst>
          </p:cNvPr>
          <p:cNvSpPr txBox="1"/>
          <p:nvPr/>
        </p:nvSpPr>
        <p:spPr>
          <a:xfrm>
            <a:off x="6845568" y="419613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1</a:t>
            </a: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A28BA68F-788B-E48A-8774-C6EC89BC5C57}"/>
              </a:ext>
            </a:extLst>
          </p:cNvPr>
          <p:cNvSpPr txBox="1"/>
          <p:nvPr/>
        </p:nvSpPr>
        <p:spPr>
          <a:xfrm>
            <a:off x="7688309" y="419613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0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9F24BA67-3FD7-0515-D7C3-6BF5F183D84E}"/>
              </a:ext>
            </a:extLst>
          </p:cNvPr>
          <p:cNvSpPr txBox="1"/>
          <p:nvPr/>
        </p:nvSpPr>
        <p:spPr>
          <a:xfrm>
            <a:off x="8640708" y="419613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0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680FF31E-E791-7A25-343C-A42826B2856D}"/>
              </a:ext>
            </a:extLst>
          </p:cNvPr>
          <p:cNvSpPr txBox="1"/>
          <p:nvPr/>
        </p:nvSpPr>
        <p:spPr>
          <a:xfrm>
            <a:off x="9954882" y="4196136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0</a:t>
            </a: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17DA9890-200F-70BF-9681-039024669346}"/>
              </a:ext>
            </a:extLst>
          </p:cNvPr>
          <p:cNvSpPr txBox="1"/>
          <p:nvPr/>
        </p:nvSpPr>
        <p:spPr>
          <a:xfrm>
            <a:off x="1363674" y="4454471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P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BB4424F3-D7FE-B39C-2DA8-71F2E9DB3AB0}"/>
              </a:ext>
            </a:extLst>
          </p:cNvPr>
          <p:cNvSpPr txBox="1"/>
          <p:nvPr/>
        </p:nvSpPr>
        <p:spPr>
          <a:xfrm>
            <a:off x="1342602" y="3909096"/>
            <a:ext cx="3529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Q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ZoneTexte 36">
                <a:extLst>
                  <a:ext uri="{FF2B5EF4-FFF2-40B4-BE49-F238E27FC236}">
                    <a16:creationId xmlns:a16="http://schemas.microsoft.com/office/drawing/2014/main" id="{27B3BDEB-056E-087A-796D-474E88FEAC4A}"/>
                  </a:ext>
                </a:extLst>
              </p:cNvPr>
              <p:cNvSpPr txBox="1"/>
              <p:nvPr/>
            </p:nvSpPr>
            <p:spPr>
              <a:xfrm>
                <a:off x="1363674" y="5508126"/>
                <a:ext cx="846469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fr-FR" sz="2800" b="0" i="1" smtClean="0">
                        <a:latin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fr-F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8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fr-FR" sz="28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fr-FR" sz="28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</m:d>
                    <m:r>
                      <a:rPr lang="fr-FR" sz="2800" b="0" i="1" smtClean="0">
                        <a:latin typeface="Cambria Math" panose="02040503050406030204" pitchFamily="18" charset="0"/>
                      </a:rPr>
                      <m:t>=0</m:t>
                    </m:r>
                    <m:r>
                      <a:rPr lang="fr-FR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unc>
                      <m:funcPr>
                        <m:ctrlPr>
                          <a:rPr lang="fr-FR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28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fr-FR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0.1</m:t>
                            </m:r>
                          </m:e>
                        </m:d>
                      </m:e>
                    </m:func>
                    <m:r>
                      <a:rPr lang="fr-FR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+0.2</m:t>
                    </m:r>
                    <m:r>
                      <a:rPr lang="fr-FR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sz="2800" dirty="0"/>
                  <a:t>log(1) + …+ </a:t>
                </a:r>
                <a14:m>
                  <m:oMath xmlns:m="http://schemas.openxmlformats.org/officeDocument/2006/math">
                    <m:r>
                      <a:rPr lang="fr-FR" sz="2800" i="1">
                        <a:latin typeface="Cambria Math" panose="02040503050406030204" pitchFamily="18" charset="0"/>
                      </a:rPr>
                      <m:t>0</m:t>
                    </m:r>
                    <m:r>
                      <a:rPr lang="fr-FR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func>
                      <m:funcPr>
                        <m:ctrlPr>
                          <a:rPr lang="fr-F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sz="2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fr-F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  <m:r>
                              <a:rPr lang="fr-FR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.05</m:t>
                            </m:r>
                          </m:e>
                        </m:d>
                      </m:e>
                    </m:func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37" name="ZoneTexte 36">
                <a:extLst>
                  <a:ext uri="{FF2B5EF4-FFF2-40B4-BE49-F238E27FC236}">
                    <a16:creationId xmlns:a16="http://schemas.microsoft.com/office/drawing/2014/main" id="{27B3BDEB-056E-087A-796D-474E88FEAC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3674" y="5508126"/>
                <a:ext cx="8464690" cy="523220"/>
              </a:xfrm>
              <a:prstGeom prst="rect">
                <a:avLst/>
              </a:prstGeom>
              <a:blipFill>
                <a:blip r:embed="rId6"/>
                <a:stretch>
                  <a:fillRect l="-450" t="-1190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8" name="ZoneTexte 37">
                <a:extLst>
                  <a:ext uri="{FF2B5EF4-FFF2-40B4-BE49-F238E27FC236}">
                    <a16:creationId xmlns:a16="http://schemas.microsoft.com/office/drawing/2014/main" id="{B758D551-15FC-3B8D-E544-9D43ABB0E901}"/>
                  </a:ext>
                </a:extLst>
              </p:cNvPr>
              <p:cNvSpPr txBox="1"/>
              <p:nvPr/>
            </p:nvSpPr>
            <p:spPr>
              <a:xfrm>
                <a:off x="1298828" y="6031346"/>
                <a:ext cx="238449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2800" b="0" i="1" smtClean="0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fr-F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2800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fr-FR" sz="28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28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</m:d>
                      <m:r>
                        <a:rPr lang="fr-FR" sz="2800" b="0" i="1" smtClean="0">
                          <a:latin typeface="Cambria Math" panose="02040503050406030204" pitchFamily="18" charset="0"/>
                        </a:rPr>
                        <m:t>=2.3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38" name="ZoneTexte 37">
                <a:extLst>
                  <a:ext uri="{FF2B5EF4-FFF2-40B4-BE49-F238E27FC236}">
                    <a16:creationId xmlns:a16="http://schemas.microsoft.com/office/drawing/2014/main" id="{B758D551-15FC-3B8D-E544-9D43ABB0E9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8828" y="6031346"/>
                <a:ext cx="2384499" cy="523220"/>
              </a:xfrm>
              <a:prstGeom prst="rect">
                <a:avLst/>
              </a:prstGeom>
              <a:blipFill>
                <a:blip r:embed="rId7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F609B3C-1CD9-0791-EDAD-4957F797B8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62</a:t>
            </a:fld>
            <a:endParaRPr lang="en-US"/>
          </a:p>
        </p:txBody>
      </p:sp>
      <p:sp>
        <p:nvSpPr>
          <p:cNvPr id="4" name="ZoneTexte 29">
            <a:extLst>
              <a:ext uri="{FF2B5EF4-FFF2-40B4-BE49-F238E27FC236}">
                <a16:creationId xmlns:a16="http://schemas.microsoft.com/office/drawing/2014/main" id="{7A5E126B-7991-D2F9-852F-2CF3C9C28E7B}"/>
              </a:ext>
            </a:extLst>
          </p:cNvPr>
          <p:cNvSpPr txBox="1"/>
          <p:nvPr/>
        </p:nvSpPr>
        <p:spPr>
          <a:xfrm>
            <a:off x="4909806" y="420790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0</a:t>
            </a:r>
          </a:p>
        </p:txBody>
      </p:sp>
      <p:sp>
        <p:nvSpPr>
          <p:cNvPr id="5" name="ZoneTexte 29">
            <a:extLst>
              <a:ext uri="{FF2B5EF4-FFF2-40B4-BE49-F238E27FC236}">
                <a16:creationId xmlns:a16="http://schemas.microsoft.com/office/drawing/2014/main" id="{C34106E4-CFCC-DE53-4F24-4326BE152436}"/>
              </a:ext>
            </a:extLst>
          </p:cNvPr>
          <p:cNvSpPr txBox="1"/>
          <p:nvPr/>
        </p:nvSpPr>
        <p:spPr>
          <a:xfrm>
            <a:off x="4893539" y="351700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503952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0" grpId="0"/>
      <p:bldP spid="11" grpId="0"/>
      <p:bldP spid="12" grpId="0"/>
      <p:bldP spid="16" grpId="0"/>
      <p:bldP spid="21" grpId="0"/>
      <p:bldP spid="23" grpId="0"/>
      <p:bldP spid="25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  <p:bldP spid="35" grpId="0"/>
      <p:bldP spid="36" grpId="0"/>
      <p:bldP spid="37" grpId="0"/>
      <p:bldP spid="38" grpId="0"/>
      <p:bldP spid="4" grpId="0"/>
      <p:bldP spid="5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1681C-9F22-4E20-35EE-FE24A8F5F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E89384-89EC-0542-9060-DD571440EF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872701" cy="1325563"/>
          </a:xfrm>
        </p:spPr>
        <p:txBody>
          <a:bodyPr/>
          <a:lstStyle/>
          <a:p>
            <a:r>
              <a:rPr lang="en-US" dirty="0"/>
              <a:t>Fine-Tuning Risks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ECC9B97B-9E2C-F301-E592-BD7C7B68C617}"/>
              </a:ext>
            </a:extLst>
          </p:cNvPr>
          <p:cNvSpPr txBox="1"/>
          <p:nvPr/>
        </p:nvSpPr>
        <p:spPr>
          <a:xfrm>
            <a:off x="935090" y="2556643"/>
            <a:ext cx="955197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Catastrophic Forgetting </a:t>
            </a:r>
            <a:r>
              <a:rPr lang="en-US" dirty="0"/>
              <a:t>: LLM learns better the task you ask it to complete, but then degrades </a:t>
            </a:r>
          </a:p>
          <a:p>
            <a:r>
              <a:rPr lang="en-US" dirty="0"/>
              <a:t>its performance on non-related tasks 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7AE9376-D64D-8D60-3220-09264E6350C2}"/>
              </a:ext>
            </a:extLst>
          </p:cNvPr>
          <p:cNvSpPr txBox="1"/>
          <p:nvPr/>
        </p:nvSpPr>
        <p:spPr>
          <a:xfrm>
            <a:off x="999179" y="3882206"/>
            <a:ext cx="42351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Solutions:</a:t>
            </a:r>
          </a:p>
          <a:p>
            <a:pPr marL="285750" indent="-285750">
              <a:buFontTx/>
              <a:buChar char="-"/>
            </a:pPr>
            <a:r>
              <a:rPr lang="en-US" dirty="0" err="1"/>
              <a:t>Mutli</a:t>
            </a:r>
            <a:r>
              <a:rPr lang="en-US" dirty="0"/>
              <a:t>-task Fine-Tuning</a:t>
            </a:r>
          </a:p>
          <a:p>
            <a:pPr marL="285750" indent="-285750">
              <a:buFontTx/>
              <a:buChar char="-"/>
            </a:pPr>
            <a:r>
              <a:rPr lang="en-US" dirty="0"/>
              <a:t>Parameter Efficient Fine-Tuning (PEFT)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DA8AEC-2B09-7149-0F08-B1C1B192F2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506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50EF6-D2A2-1827-2AD6-05F10C9C54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26287C-441A-D0ED-2626-4FD6DEC0E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872701" cy="1325563"/>
          </a:xfrm>
        </p:spPr>
        <p:txBody>
          <a:bodyPr/>
          <a:lstStyle/>
          <a:p>
            <a:r>
              <a:rPr lang="en-US" dirty="0"/>
              <a:t>PEFT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72B9F2AB-9D34-C5BC-0B8E-C621372588E6}"/>
              </a:ext>
            </a:extLst>
          </p:cNvPr>
          <p:cNvSpPr/>
          <p:nvPr/>
        </p:nvSpPr>
        <p:spPr>
          <a:xfrm>
            <a:off x="3174161" y="2941522"/>
            <a:ext cx="1877245" cy="1338294"/>
          </a:xfrm>
          <a:prstGeom prst="roundRect">
            <a:avLst/>
          </a:prstGeom>
          <a:solidFill>
            <a:schemeClr val="bg2"/>
          </a:solidFill>
          <a:ln w="1428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Pre-trained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LLM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4A8092C-CBCC-2B19-3D9C-40FDCC20FC65}"/>
              </a:ext>
            </a:extLst>
          </p:cNvPr>
          <p:cNvSpPr/>
          <p:nvPr/>
        </p:nvSpPr>
        <p:spPr>
          <a:xfrm>
            <a:off x="3174161" y="2391974"/>
            <a:ext cx="884122" cy="127168"/>
          </a:xfrm>
          <a:prstGeom prst="rect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3360A2C5-006D-3FF0-7B45-1A9CA6BBBAB3}"/>
              </a:ext>
            </a:extLst>
          </p:cNvPr>
          <p:cNvSpPr txBox="1"/>
          <p:nvPr/>
        </p:nvSpPr>
        <p:spPr>
          <a:xfrm>
            <a:off x="4160217" y="2270892"/>
            <a:ext cx="2526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Additional Weight Layer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45F374E-22D2-DDDF-F810-A15E0F374BB2}"/>
              </a:ext>
            </a:extLst>
          </p:cNvPr>
          <p:cNvSpPr/>
          <p:nvPr/>
        </p:nvSpPr>
        <p:spPr>
          <a:xfrm>
            <a:off x="3174161" y="2117200"/>
            <a:ext cx="884122" cy="12716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FEB3A823-EB1E-E74E-6851-2BE9B7EA2E75}"/>
              </a:ext>
            </a:extLst>
          </p:cNvPr>
          <p:cNvSpPr txBox="1"/>
          <p:nvPr/>
        </p:nvSpPr>
        <p:spPr>
          <a:xfrm>
            <a:off x="4160217" y="1996118"/>
            <a:ext cx="1808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Weights</a:t>
            </a:r>
          </a:p>
        </p:txBody>
      </p: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3402F900-3D1B-DEB3-D8F5-3C480B8C5D18}"/>
              </a:ext>
            </a:extLst>
          </p:cNvPr>
          <p:cNvCxnSpPr/>
          <p:nvPr/>
        </p:nvCxnSpPr>
        <p:spPr>
          <a:xfrm flipH="1">
            <a:off x="5159396" y="3610669"/>
            <a:ext cx="189541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ZoneTexte 13">
            <a:extLst>
              <a:ext uri="{FF2B5EF4-FFF2-40B4-BE49-F238E27FC236}">
                <a16:creationId xmlns:a16="http://schemas.microsoft.com/office/drawing/2014/main" id="{014C9BF6-E246-46AC-F04D-D6DE430E3A5D}"/>
              </a:ext>
            </a:extLst>
          </p:cNvPr>
          <p:cNvSpPr txBox="1"/>
          <p:nvPr/>
        </p:nvSpPr>
        <p:spPr>
          <a:xfrm>
            <a:off x="7054808" y="3426003"/>
            <a:ext cx="30487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New layer to train on the task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182D84B-3213-A9FD-39A5-DB5C01386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224925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954A4-A621-98CF-3EE8-23CBBD95C9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867C4-B80A-D0D9-836E-BEC80D5D1F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5"/>
            <a:ext cx="1602492" cy="1325563"/>
          </a:xfrm>
        </p:spPr>
        <p:txBody>
          <a:bodyPr/>
          <a:lstStyle/>
          <a:p>
            <a:r>
              <a:rPr lang="en-US" dirty="0"/>
              <a:t>PEFT</a:t>
            </a:r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CDE1E5A3-0C9F-67BF-34D2-040A3C50D60F}"/>
              </a:ext>
            </a:extLst>
          </p:cNvPr>
          <p:cNvSpPr/>
          <p:nvPr/>
        </p:nvSpPr>
        <p:spPr>
          <a:xfrm>
            <a:off x="7837920" y="2110138"/>
            <a:ext cx="1877245" cy="1338294"/>
          </a:xfrm>
          <a:prstGeom prst="roundRect">
            <a:avLst/>
          </a:prstGeom>
          <a:solidFill>
            <a:schemeClr val="bg2"/>
          </a:solidFill>
          <a:ln w="142875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Pre-trained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LLM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4DE2A59-D926-03D2-7757-EF4885451016}"/>
              </a:ext>
            </a:extLst>
          </p:cNvPr>
          <p:cNvSpPr/>
          <p:nvPr/>
        </p:nvSpPr>
        <p:spPr>
          <a:xfrm>
            <a:off x="7837920" y="1560590"/>
            <a:ext cx="884122" cy="127168"/>
          </a:xfrm>
          <a:prstGeom prst="rect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78D7BDB2-16AB-99D3-E402-0C57B6605F7B}"/>
              </a:ext>
            </a:extLst>
          </p:cNvPr>
          <p:cNvSpPr txBox="1"/>
          <p:nvPr/>
        </p:nvSpPr>
        <p:spPr>
          <a:xfrm>
            <a:off x="8823976" y="1439508"/>
            <a:ext cx="23875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Summarize Task Layer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0BB8AA6-7895-7CF9-A9CD-B5D4930FF59B}"/>
              </a:ext>
            </a:extLst>
          </p:cNvPr>
          <p:cNvSpPr/>
          <p:nvPr/>
        </p:nvSpPr>
        <p:spPr>
          <a:xfrm>
            <a:off x="1000443" y="1594845"/>
            <a:ext cx="884122" cy="12716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2A5B8D30-630D-9E23-0FBD-1D7D165E0EF4}"/>
              </a:ext>
            </a:extLst>
          </p:cNvPr>
          <p:cNvSpPr txBox="1"/>
          <p:nvPr/>
        </p:nvSpPr>
        <p:spPr>
          <a:xfrm>
            <a:off x="1986499" y="1473763"/>
            <a:ext cx="18082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Original Weights</a:t>
            </a:r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28D1A2D5-FE54-55A8-5FE1-2B5760A281A4}"/>
              </a:ext>
            </a:extLst>
          </p:cNvPr>
          <p:cNvSpPr/>
          <p:nvPr/>
        </p:nvSpPr>
        <p:spPr>
          <a:xfrm>
            <a:off x="7885353" y="4420360"/>
            <a:ext cx="1877245" cy="1338294"/>
          </a:xfrm>
          <a:prstGeom prst="roundRect">
            <a:avLst/>
          </a:prstGeom>
          <a:solidFill>
            <a:schemeClr val="bg2"/>
          </a:solidFill>
          <a:ln w="142875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Pre-trained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LLM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5908697-0CE3-E068-6873-EBE6039820CA}"/>
              </a:ext>
            </a:extLst>
          </p:cNvPr>
          <p:cNvSpPr/>
          <p:nvPr/>
        </p:nvSpPr>
        <p:spPr>
          <a:xfrm>
            <a:off x="7885353" y="3870812"/>
            <a:ext cx="884122" cy="12716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F0A5BCA-2B22-0FBD-84DC-DCAB1DBEE6E0}"/>
              </a:ext>
            </a:extLst>
          </p:cNvPr>
          <p:cNvSpPr txBox="1"/>
          <p:nvPr/>
        </p:nvSpPr>
        <p:spPr>
          <a:xfrm>
            <a:off x="8871409" y="3749730"/>
            <a:ext cx="15608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QA Task Layer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BDDF412D-280E-08E7-378C-36A860298909}"/>
              </a:ext>
            </a:extLst>
          </p:cNvPr>
          <p:cNvSpPr/>
          <p:nvPr/>
        </p:nvSpPr>
        <p:spPr>
          <a:xfrm>
            <a:off x="1000443" y="2127656"/>
            <a:ext cx="1877245" cy="1338294"/>
          </a:xfrm>
          <a:prstGeom prst="roundRect">
            <a:avLst/>
          </a:prstGeom>
          <a:solidFill>
            <a:schemeClr val="bg2"/>
          </a:solidFill>
          <a:ln w="0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Pre-trained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LLM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9031712A-3826-2870-1C66-659445A50536}"/>
              </a:ext>
            </a:extLst>
          </p:cNvPr>
          <p:cNvSpPr txBox="1"/>
          <p:nvPr/>
        </p:nvSpPr>
        <p:spPr>
          <a:xfrm>
            <a:off x="3069724" y="2436810"/>
            <a:ext cx="48603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+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398C9FE-6EE5-7106-F968-A1330186065D}"/>
              </a:ext>
            </a:extLst>
          </p:cNvPr>
          <p:cNvSpPr/>
          <p:nvPr/>
        </p:nvSpPr>
        <p:spPr>
          <a:xfrm rot="5400000">
            <a:off x="3362407" y="2692880"/>
            <a:ext cx="884122" cy="127168"/>
          </a:xfrm>
          <a:prstGeom prst="rect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86982D9D-F87D-D84E-2BFF-058DBB1F1DEC}"/>
              </a:ext>
            </a:extLst>
          </p:cNvPr>
          <p:cNvSpPr txBox="1"/>
          <p:nvPr/>
        </p:nvSpPr>
        <p:spPr>
          <a:xfrm>
            <a:off x="3069724" y="3327177"/>
            <a:ext cx="1596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MB of Weights</a:t>
            </a:r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D161CEF7-7A18-1773-B178-121696A5B499}"/>
              </a:ext>
            </a:extLst>
          </p:cNvPr>
          <p:cNvSpPr/>
          <p:nvPr/>
        </p:nvSpPr>
        <p:spPr>
          <a:xfrm>
            <a:off x="1000443" y="4520638"/>
            <a:ext cx="1877245" cy="1338294"/>
          </a:xfrm>
          <a:prstGeom prst="roundRect">
            <a:avLst/>
          </a:prstGeom>
          <a:solidFill>
            <a:schemeClr val="bg2"/>
          </a:solidFill>
          <a:ln w="0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Pre-trained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LLM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225C150E-2C62-FE7F-CF86-8585D5A14014}"/>
              </a:ext>
            </a:extLst>
          </p:cNvPr>
          <p:cNvSpPr txBox="1"/>
          <p:nvPr/>
        </p:nvSpPr>
        <p:spPr>
          <a:xfrm>
            <a:off x="3092749" y="4808095"/>
            <a:ext cx="48603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+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5FED382-541B-D46B-A8EF-F4BBDED17C9C}"/>
              </a:ext>
            </a:extLst>
          </p:cNvPr>
          <p:cNvSpPr/>
          <p:nvPr/>
        </p:nvSpPr>
        <p:spPr>
          <a:xfrm rot="5400000">
            <a:off x="3362407" y="5085862"/>
            <a:ext cx="884122" cy="12716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5338369C-7D13-AEBD-C0B2-E1AFB532F2E1}"/>
              </a:ext>
            </a:extLst>
          </p:cNvPr>
          <p:cNvSpPr txBox="1"/>
          <p:nvPr/>
        </p:nvSpPr>
        <p:spPr>
          <a:xfrm>
            <a:off x="3069724" y="5720159"/>
            <a:ext cx="15966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MB of Weights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64AF02C1-57AB-991C-D4FD-29777EFB5228}"/>
              </a:ext>
            </a:extLst>
          </p:cNvPr>
          <p:cNvSpPr txBox="1"/>
          <p:nvPr/>
        </p:nvSpPr>
        <p:spPr>
          <a:xfrm>
            <a:off x="6189000" y="2360322"/>
            <a:ext cx="30809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=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29A412E8-8705-793F-62D7-DE50C5459E41}"/>
              </a:ext>
            </a:extLst>
          </p:cNvPr>
          <p:cNvSpPr txBox="1"/>
          <p:nvPr/>
        </p:nvSpPr>
        <p:spPr>
          <a:xfrm>
            <a:off x="6189000" y="4707385"/>
            <a:ext cx="48603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dirty="0"/>
              <a:t>=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459F4C55-03F7-5642-D6A1-CFE0418235C9}"/>
              </a:ext>
            </a:extLst>
          </p:cNvPr>
          <p:cNvSpPr txBox="1"/>
          <p:nvPr/>
        </p:nvSpPr>
        <p:spPr>
          <a:xfrm>
            <a:off x="3874049" y="2551665"/>
            <a:ext cx="18469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Task: summarize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52010AC4-5D71-8CA2-26D5-8E91724CC7E1}"/>
              </a:ext>
            </a:extLst>
          </p:cNvPr>
          <p:cNvSpPr txBox="1"/>
          <p:nvPr/>
        </p:nvSpPr>
        <p:spPr>
          <a:xfrm>
            <a:off x="3899704" y="4988776"/>
            <a:ext cx="10449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Task: QA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D6680B4-FB39-317F-3009-D9A9E90D1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18957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/>
      <p:bldP spid="8" grpId="0" animBg="1"/>
      <p:bldP spid="9" grpId="0"/>
      <p:bldP spid="3" grpId="0" animBg="1"/>
      <p:bldP spid="4" grpId="0" animBg="1"/>
      <p:bldP spid="10" grpId="0"/>
      <p:bldP spid="11" grpId="0" animBg="1"/>
      <p:bldP spid="12" grpId="0"/>
      <p:bldP spid="15" grpId="0" animBg="1"/>
      <p:bldP spid="16" grpId="0"/>
      <p:bldP spid="17" grpId="0" animBg="1"/>
      <p:bldP spid="18" grpId="0"/>
      <p:bldP spid="19" grpId="0" animBg="1"/>
      <p:bldP spid="20" grpId="0"/>
      <p:bldP spid="21" grpId="0"/>
      <p:bldP spid="22" grpId="0"/>
      <p:bldP spid="23" grpId="0"/>
      <p:bldP spid="24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99CFFC-37B8-F1AD-F142-612227C58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1BCAF9-078E-39FE-0101-DD647D82C8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965818" cy="1325563"/>
          </a:xfrm>
        </p:spPr>
        <p:txBody>
          <a:bodyPr>
            <a:normAutofit/>
          </a:bodyPr>
          <a:lstStyle/>
          <a:p>
            <a:r>
              <a:rPr lang="en-US" dirty="0"/>
              <a:t>PEFT: Low-Rank Adaptation (</a:t>
            </a:r>
            <a:r>
              <a:rPr lang="en-US" dirty="0" err="1"/>
              <a:t>LoRA</a:t>
            </a:r>
            <a:r>
              <a:rPr lang="en-US" dirty="0"/>
              <a:t>)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E8CD9C3D-39E6-CF4C-338F-1ADC863F3D67}"/>
              </a:ext>
            </a:extLst>
          </p:cNvPr>
          <p:cNvSpPr/>
          <p:nvPr/>
        </p:nvSpPr>
        <p:spPr>
          <a:xfrm>
            <a:off x="1993804" y="1595043"/>
            <a:ext cx="2688199" cy="382260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D7C54A47-E2C5-E1DC-B11A-24504448AEA3}"/>
              </a:ext>
            </a:extLst>
          </p:cNvPr>
          <p:cNvSpPr txBox="1"/>
          <p:nvPr/>
        </p:nvSpPr>
        <p:spPr>
          <a:xfrm>
            <a:off x="2868062" y="1897551"/>
            <a:ext cx="10166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Encoder</a:t>
            </a:r>
          </a:p>
        </p:txBody>
      </p:sp>
      <p:sp>
        <p:nvSpPr>
          <p:cNvPr id="25" name="Rectangle : coins arrondis 24">
            <a:extLst>
              <a:ext uri="{FF2B5EF4-FFF2-40B4-BE49-F238E27FC236}">
                <a16:creationId xmlns:a16="http://schemas.microsoft.com/office/drawing/2014/main" id="{AC9CB18A-E1C2-BBAB-79FE-8872A4B45AC2}"/>
              </a:ext>
            </a:extLst>
          </p:cNvPr>
          <p:cNvSpPr/>
          <p:nvPr/>
        </p:nvSpPr>
        <p:spPr>
          <a:xfrm>
            <a:off x="2421520" y="3449263"/>
            <a:ext cx="1966341" cy="92242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5FB60EE0-84EC-80E1-E2C2-462371902FCD}"/>
              </a:ext>
            </a:extLst>
          </p:cNvPr>
          <p:cNvSpPr txBox="1"/>
          <p:nvPr/>
        </p:nvSpPr>
        <p:spPr>
          <a:xfrm>
            <a:off x="2568719" y="3756585"/>
            <a:ext cx="1713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Self-Attention Layer</a:t>
            </a:r>
          </a:p>
        </p:txBody>
      </p:sp>
      <p:sp>
        <p:nvSpPr>
          <p:cNvPr id="27" name="Rectangle : coins arrondis 26">
            <a:extLst>
              <a:ext uri="{FF2B5EF4-FFF2-40B4-BE49-F238E27FC236}">
                <a16:creationId xmlns:a16="http://schemas.microsoft.com/office/drawing/2014/main" id="{2452EFF2-50F7-BB94-3887-FD37E88FEA8A}"/>
              </a:ext>
            </a:extLst>
          </p:cNvPr>
          <p:cNvSpPr/>
          <p:nvPr/>
        </p:nvSpPr>
        <p:spPr>
          <a:xfrm>
            <a:off x="2421520" y="5922793"/>
            <a:ext cx="1847150" cy="508975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9DC4F46C-908A-B795-06CE-60CF72743323}"/>
              </a:ext>
            </a:extLst>
          </p:cNvPr>
          <p:cNvSpPr txBox="1"/>
          <p:nvPr/>
        </p:nvSpPr>
        <p:spPr>
          <a:xfrm>
            <a:off x="2755148" y="5994699"/>
            <a:ext cx="13404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Embeddings</a:t>
            </a:r>
          </a:p>
        </p:txBody>
      </p:sp>
      <p:grpSp>
        <p:nvGrpSpPr>
          <p:cNvPr id="38" name="Groupe 37">
            <a:extLst>
              <a:ext uri="{FF2B5EF4-FFF2-40B4-BE49-F238E27FC236}">
                <a16:creationId xmlns:a16="http://schemas.microsoft.com/office/drawing/2014/main" id="{994A3AA7-FEB9-B55B-7312-C3271661FE93}"/>
              </a:ext>
            </a:extLst>
          </p:cNvPr>
          <p:cNvGrpSpPr/>
          <p:nvPr/>
        </p:nvGrpSpPr>
        <p:grpSpPr>
          <a:xfrm>
            <a:off x="5695255" y="3449625"/>
            <a:ext cx="2975238" cy="922422"/>
            <a:chOff x="8005318" y="3413168"/>
            <a:chExt cx="2975238" cy="922422"/>
          </a:xfrm>
        </p:grpSpPr>
        <p:sp>
          <p:nvSpPr>
            <p:cNvPr id="35" name="Rectangle : coins arrondis 34">
              <a:extLst>
                <a:ext uri="{FF2B5EF4-FFF2-40B4-BE49-F238E27FC236}">
                  <a16:creationId xmlns:a16="http://schemas.microsoft.com/office/drawing/2014/main" id="{17CC9AD8-1C04-E467-3BA9-14D75651416B}"/>
                </a:ext>
              </a:extLst>
            </p:cNvPr>
            <p:cNvSpPr/>
            <p:nvPr/>
          </p:nvSpPr>
          <p:spPr>
            <a:xfrm>
              <a:off x="8005318" y="3413168"/>
              <a:ext cx="1966341" cy="922422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ZoneTexte 36">
              <a:extLst>
                <a:ext uri="{FF2B5EF4-FFF2-40B4-BE49-F238E27FC236}">
                  <a16:creationId xmlns:a16="http://schemas.microsoft.com/office/drawing/2014/main" id="{B43F232B-95FF-8E8A-8C64-071A94A54830}"/>
                </a:ext>
              </a:extLst>
            </p:cNvPr>
            <p:cNvSpPr txBox="1"/>
            <p:nvPr/>
          </p:nvSpPr>
          <p:spPr>
            <a:xfrm>
              <a:off x="8053445" y="3736321"/>
              <a:ext cx="2927111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Self-Attention Weights</a:t>
              </a:r>
            </a:p>
          </p:txBody>
        </p:sp>
      </p:grpSp>
      <p:cxnSp>
        <p:nvCxnSpPr>
          <p:cNvPr id="40" name="Connecteur droit avec flèche 39">
            <a:extLst>
              <a:ext uri="{FF2B5EF4-FFF2-40B4-BE49-F238E27FC236}">
                <a16:creationId xmlns:a16="http://schemas.microsoft.com/office/drawing/2014/main" id="{0F3540E8-C097-9E10-97A6-760C2C84F764}"/>
              </a:ext>
            </a:extLst>
          </p:cNvPr>
          <p:cNvCxnSpPr>
            <a:stCxn id="25" idx="3"/>
            <a:endCxn id="35" idx="1"/>
          </p:cNvCxnSpPr>
          <p:nvPr/>
        </p:nvCxnSpPr>
        <p:spPr>
          <a:xfrm>
            <a:off x="4387861" y="3910474"/>
            <a:ext cx="1307394" cy="36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avec flèche 41">
            <a:extLst>
              <a:ext uri="{FF2B5EF4-FFF2-40B4-BE49-F238E27FC236}">
                <a16:creationId xmlns:a16="http://schemas.microsoft.com/office/drawing/2014/main" id="{6088960B-EE5D-DD65-2848-9973A9C47AEE}"/>
              </a:ext>
            </a:extLst>
          </p:cNvPr>
          <p:cNvCxnSpPr>
            <a:stCxn id="27" idx="0"/>
            <a:endCxn id="13" idx="2"/>
          </p:cNvCxnSpPr>
          <p:nvPr/>
        </p:nvCxnSpPr>
        <p:spPr>
          <a:xfrm flipH="1" flipV="1">
            <a:off x="3337904" y="5417649"/>
            <a:ext cx="7191" cy="5051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ZoneTexte 2">
            <a:extLst>
              <a:ext uri="{FF2B5EF4-FFF2-40B4-BE49-F238E27FC236}">
                <a16:creationId xmlns:a16="http://schemas.microsoft.com/office/drawing/2014/main" id="{EAFE2AA7-110E-1A87-3413-E6D7226FB2AF}"/>
              </a:ext>
            </a:extLst>
          </p:cNvPr>
          <p:cNvSpPr txBox="1"/>
          <p:nvPr/>
        </p:nvSpPr>
        <p:spPr>
          <a:xfrm>
            <a:off x="82502" y="1506022"/>
            <a:ext cx="10932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Standard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55D761-C038-EE51-9B18-A801B62A5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65168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25C0A-773E-A81C-2DFD-86E360CBD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0BB9D-3E5D-8A0F-DD69-A2B6D540D8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965818" cy="1325563"/>
          </a:xfrm>
        </p:spPr>
        <p:txBody>
          <a:bodyPr>
            <a:normAutofit/>
          </a:bodyPr>
          <a:lstStyle/>
          <a:p>
            <a:r>
              <a:rPr lang="en-US" dirty="0"/>
              <a:t>PEFT: Low-Rank Adaptation (</a:t>
            </a:r>
            <a:r>
              <a:rPr lang="en-US" dirty="0" err="1"/>
              <a:t>LoRA</a:t>
            </a:r>
            <a:r>
              <a:rPr lang="en-US" dirty="0"/>
              <a:t>)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66B43967-C640-687B-5D35-B02CD1D28F19}"/>
              </a:ext>
            </a:extLst>
          </p:cNvPr>
          <p:cNvSpPr/>
          <p:nvPr/>
        </p:nvSpPr>
        <p:spPr>
          <a:xfrm>
            <a:off x="1993804" y="1595043"/>
            <a:ext cx="2688199" cy="382260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D30B9E4C-007A-DD53-B5D3-6D81778A84F2}"/>
              </a:ext>
            </a:extLst>
          </p:cNvPr>
          <p:cNvSpPr txBox="1"/>
          <p:nvPr/>
        </p:nvSpPr>
        <p:spPr>
          <a:xfrm>
            <a:off x="2868062" y="1897551"/>
            <a:ext cx="10166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Encoder</a:t>
            </a:r>
          </a:p>
        </p:txBody>
      </p:sp>
      <p:sp>
        <p:nvSpPr>
          <p:cNvPr id="25" name="Rectangle : coins arrondis 24">
            <a:extLst>
              <a:ext uri="{FF2B5EF4-FFF2-40B4-BE49-F238E27FC236}">
                <a16:creationId xmlns:a16="http://schemas.microsoft.com/office/drawing/2014/main" id="{E57DB985-2088-B7F2-D732-624059CAA18A}"/>
              </a:ext>
            </a:extLst>
          </p:cNvPr>
          <p:cNvSpPr/>
          <p:nvPr/>
        </p:nvSpPr>
        <p:spPr>
          <a:xfrm>
            <a:off x="2421520" y="3449263"/>
            <a:ext cx="1966341" cy="922422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B7930196-AC36-B482-0638-7FDF7C672AC5}"/>
              </a:ext>
            </a:extLst>
          </p:cNvPr>
          <p:cNvSpPr txBox="1"/>
          <p:nvPr/>
        </p:nvSpPr>
        <p:spPr>
          <a:xfrm>
            <a:off x="2568719" y="3756585"/>
            <a:ext cx="171335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Self-Attention Layer</a:t>
            </a:r>
          </a:p>
        </p:txBody>
      </p:sp>
      <p:sp>
        <p:nvSpPr>
          <p:cNvPr id="27" name="Rectangle : coins arrondis 26">
            <a:extLst>
              <a:ext uri="{FF2B5EF4-FFF2-40B4-BE49-F238E27FC236}">
                <a16:creationId xmlns:a16="http://schemas.microsoft.com/office/drawing/2014/main" id="{E564A49D-A308-39EA-8B8E-EEA7BCC9079B}"/>
              </a:ext>
            </a:extLst>
          </p:cNvPr>
          <p:cNvSpPr/>
          <p:nvPr/>
        </p:nvSpPr>
        <p:spPr>
          <a:xfrm>
            <a:off x="2421520" y="5922793"/>
            <a:ext cx="1847150" cy="508975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6F2FA8C6-B24F-53F6-3A6D-B25775B661DA}"/>
              </a:ext>
            </a:extLst>
          </p:cNvPr>
          <p:cNvSpPr txBox="1"/>
          <p:nvPr/>
        </p:nvSpPr>
        <p:spPr>
          <a:xfrm>
            <a:off x="2755148" y="5994699"/>
            <a:ext cx="13404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Embeddings</a:t>
            </a:r>
          </a:p>
        </p:txBody>
      </p:sp>
      <p:grpSp>
        <p:nvGrpSpPr>
          <p:cNvPr id="38" name="Groupe 37">
            <a:extLst>
              <a:ext uri="{FF2B5EF4-FFF2-40B4-BE49-F238E27FC236}">
                <a16:creationId xmlns:a16="http://schemas.microsoft.com/office/drawing/2014/main" id="{D537AACC-A911-1667-6301-C1F8539E0519}"/>
              </a:ext>
            </a:extLst>
          </p:cNvPr>
          <p:cNvGrpSpPr/>
          <p:nvPr/>
        </p:nvGrpSpPr>
        <p:grpSpPr>
          <a:xfrm>
            <a:off x="5695255" y="3449625"/>
            <a:ext cx="2975238" cy="922422"/>
            <a:chOff x="8005318" y="3413168"/>
            <a:chExt cx="2975238" cy="922422"/>
          </a:xfrm>
        </p:grpSpPr>
        <p:sp>
          <p:nvSpPr>
            <p:cNvPr id="35" name="Rectangle : coins arrondis 34">
              <a:extLst>
                <a:ext uri="{FF2B5EF4-FFF2-40B4-BE49-F238E27FC236}">
                  <a16:creationId xmlns:a16="http://schemas.microsoft.com/office/drawing/2014/main" id="{4EEAFCA1-21C3-01FE-BCF3-9D84F683F18A}"/>
                </a:ext>
              </a:extLst>
            </p:cNvPr>
            <p:cNvSpPr/>
            <p:nvPr/>
          </p:nvSpPr>
          <p:spPr>
            <a:xfrm>
              <a:off x="8005318" y="3413168"/>
              <a:ext cx="1966341" cy="922422"/>
            </a:xfrm>
            <a:prstGeom prst="roundRect">
              <a:avLst/>
            </a:prstGeom>
            <a:solidFill>
              <a:schemeClr val="bg2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ZoneTexte 36">
              <a:extLst>
                <a:ext uri="{FF2B5EF4-FFF2-40B4-BE49-F238E27FC236}">
                  <a16:creationId xmlns:a16="http://schemas.microsoft.com/office/drawing/2014/main" id="{734A5DD3-5B5E-DB56-58A3-E3E20406C95D}"/>
                </a:ext>
              </a:extLst>
            </p:cNvPr>
            <p:cNvSpPr txBox="1"/>
            <p:nvPr/>
          </p:nvSpPr>
          <p:spPr>
            <a:xfrm>
              <a:off x="8053445" y="3736321"/>
              <a:ext cx="2927111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dirty="0"/>
                <a:t>Self-Attention Weights</a:t>
              </a:r>
            </a:p>
          </p:txBody>
        </p:sp>
      </p:grpSp>
      <p:cxnSp>
        <p:nvCxnSpPr>
          <p:cNvPr id="40" name="Connecteur droit avec flèche 39">
            <a:extLst>
              <a:ext uri="{FF2B5EF4-FFF2-40B4-BE49-F238E27FC236}">
                <a16:creationId xmlns:a16="http://schemas.microsoft.com/office/drawing/2014/main" id="{D7E5C931-568C-55E6-065B-7C15E9B67870}"/>
              </a:ext>
            </a:extLst>
          </p:cNvPr>
          <p:cNvCxnSpPr>
            <a:stCxn id="25" idx="3"/>
            <a:endCxn id="35" idx="1"/>
          </p:cNvCxnSpPr>
          <p:nvPr/>
        </p:nvCxnSpPr>
        <p:spPr>
          <a:xfrm>
            <a:off x="4387861" y="3910474"/>
            <a:ext cx="1307394" cy="36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avec flèche 41">
            <a:extLst>
              <a:ext uri="{FF2B5EF4-FFF2-40B4-BE49-F238E27FC236}">
                <a16:creationId xmlns:a16="http://schemas.microsoft.com/office/drawing/2014/main" id="{21A952DF-F5C0-1BEE-5638-A0038A4E2423}"/>
              </a:ext>
            </a:extLst>
          </p:cNvPr>
          <p:cNvCxnSpPr>
            <a:stCxn id="27" idx="0"/>
            <a:endCxn id="13" idx="2"/>
          </p:cNvCxnSpPr>
          <p:nvPr/>
        </p:nvCxnSpPr>
        <p:spPr>
          <a:xfrm flipH="1" flipV="1">
            <a:off x="3337904" y="5417649"/>
            <a:ext cx="7191" cy="5051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3" name="ZoneTexte 42">
            <a:extLst>
              <a:ext uri="{FF2B5EF4-FFF2-40B4-BE49-F238E27FC236}">
                <a16:creationId xmlns:a16="http://schemas.microsoft.com/office/drawing/2014/main" id="{84676665-7C14-AACE-11B6-48449BF56CB1}"/>
              </a:ext>
            </a:extLst>
          </p:cNvPr>
          <p:cNvSpPr txBox="1"/>
          <p:nvPr/>
        </p:nvSpPr>
        <p:spPr>
          <a:xfrm>
            <a:off x="82502" y="1506022"/>
            <a:ext cx="7018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LoRA</a:t>
            </a:r>
            <a:endParaRPr lang="en-US" i="1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A5C5209-93AB-81F2-1A83-9E5FE1975333}"/>
              </a:ext>
            </a:extLst>
          </p:cNvPr>
          <p:cNvSpPr/>
          <p:nvPr/>
        </p:nvSpPr>
        <p:spPr>
          <a:xfrm rot="10800000">
            <a:off x="8464796" y="3449263"/>
            <a:ext cx="884122" cy="127168"/>
          </a:xfrm>
          <a:prstGeom prst="rect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12489C46-AACB-4E9E-868A-C0FDBD95FF41}"/>
              </a:ext>
            </a:extLst>
          </p:cNvPr>
          <p:cNvSpPr/>
          <p:nvPr/>
        </p:nvSpPr>
        <p:spPr>
          <a:xfrm rot="5400000">
            <a:off x="7660399" y="3827740"/>
            <a:ext cx="884122" cy="127168"/>
          </a:xfrm>
          <a:prstGeom prst="rect">
            <a:avLst/>
          </a:prstGeom>
          <a:solidFill>
            <a:schemeClr val="accent5"/>
          </a:solidFill>
          <a:ln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617B5175-3030-0306-D7B9-645A70D92533}"/>
              </a:ext>
            </a:extLst>
          </p:cNvPr>
          <p:cNvSpPr txBox="1"/>
          <p:nvPr/>
        </p:nvSpPr>
        <p:spPr>
          <a:xfrm>
            <a:off x="7656923" y="3756585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</a:t>
            </a:r>
          </a:p>
        </p:txBody>
      </p:sp>
      <p:cxnSp>
        <p:nvCxnSpPr>
          <p:cNvPr id="48" name="Connecteur droit avec flèche 47">
            <a:extLst>
              <a:ext uri="{FF2B5EF4-FFF2-40B4-BE49-F238E27FC236}">
                <a16:creationId xmlns:a16="http://schemas.microsoft.com/office/drawing/2014/main" id="{FB8876D8-7730-AD32-BB91-14BF7B777AD0}"/>
              </a:ext>
            </a:extLst>
          </p:cNvPr>
          <p:cNvCxnSpPr/>
          <p:nvPr/>
        </p:nvCxnSpPr>
        <p:spPr>
          <a:xfrm flipH="1">
            <a:off x="8965245" y="2082217"/>
            <a:ext cx="639393" cy="125224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ZoneTexte 48">
            <a:extLst>
              <a:ext uri="{FF2B5EF4-FFF2-40B4-BE49-F238E27FC236}">
                <a16:creationId xmlns:a16="http://schemas.microsoft.com/office/drawing/2014/main" id="{FF953D9D-42F9-3A80-46AF-BB5C3713CD13}"/>
              </a:ext>
            </a:extLst>
          </p:cNvPr>
          <p:cNvSpPr txBox="1"/>
          <p:nvPr/>
        </p:nvSpPr>
        <p:spPr>
          <a:xfrm>
            <a:off x="8089060" y="1686566"/>
            <a:ext cx="32647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 rank decomposition matrices</a:t>
            </a:r>
          </a:p>
        </p:txBody>
      </p:sp>
      <p:sp>
        <p:nvSpPr>
          <p:cNvPr id="50" name="ZoneTexte 49">
            <a:extLst>
              <a:ext uri="{FF2B5EF4-FFF2-40B4-BE49-F238E27FC236}">
                <a16:creationId xmlns:a16="http://schemas.microsoft.com/office/drawing/2014/main" id="{65CE4897-FBC7-384D-A1E1-265398C1ABB3}"/>
              </a:ext>
            </a:extLst>
          </p:cNvPr>
          <p:cNvSpPr txBox="1"/>
          <p:nvPr/>
        </p:nvSpPr>
        <p:spPr>
          <a:xfrm>
            <a:off x="7509999" y="5357418"/>
            <a:ext cx="3427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Train the model on </a:t>
            </a:r>
            <a:r>
              <a:rPr lang="en-US" dirty="0">
                <a:solidFill>
                  <a:schemeClr val="accent5"/>
                </a:solidFill>
              </a:rPr>
              <a:t>these weights</a:t>
            </a:r>
          </a:p>
        </p:txBody>
      </p:sp>
      <p:sp>
        <p:nvSpPr>
          <p:cNvPr id="52" name="ZoneTexte 51">
            <a:extLst>
              <a:ext uri="{FF2B5EF4-FFF2-40B4-BE49-F238E27FC236}">
                <a16:creationId xmlns:a16="http://schemas.microsoft.com/office/drawing/2014/main" id="{1CC5ADDE-CF4C-0B85-6AC5-020C21ACD010}"/>
              </a:ext>
            </a:extLst>
          </p:cNvPr>
          <p:cNvSpPr txBox="1"/>
          <p:nvPr/>
        </p:nvSpPr>
        <p:spPr>
          <a:xfrm>
            <a:off x="7928599" y="3059903"/>
            <a:ext cx="3209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</a:t>
            </a:r>
          </a:p>
        </p:txBody>
      </p:sp>
      <p:sp>
        <p:nvSpPr>
          <p:cNvPr id="53" name="ZoneTexte 52">
            <a:extLst>
              <a:ext uri="{FF2B5EF4-FFF2-40B4-BE49-F238E27FC236}">
                <a16:creationId xmlns:a16="http://schemas.microsoft.com/office/drawing/2014/main" id="{0BEC41C5-C001-68BF-10BD-7615E1F72381}"/>
              </a:ext>
            </a:extLst>
          </p:cNvPr>
          <p:cNvSpPr txBox="1"/>
          <p:nvPr/>
        </p:nvSpPr>
        <p:spPr>
          <a:xfrm>
            <a:off x="9560969" y="3320605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</a:t>
            </a:r>
          </a:p>
        </p:txBody>
      </p:sp>
      <p:sp>
        <p:nvSpPr>
          <p:cNvPr id="54" name="ZoneTexte 53">
            <a:extLst>
              <a:ext uri="{FF2B5EF4-FFF2-40B4-BE49-F238E27FC236}">
                <a16:creationId xmlns:a16="http://schemas.microsoft.com/office/drawing/2014/main" id="{2DBB4505-C9C7-7241-AFFD-9489610B4A40}"/>
              </a:ext>
            </a:extLst>
          </p:cNvPr>
          <p:cNvSpPr txBox="1"/>
          <p:nvPr/>
        </p:nvSpPr>
        <p:spPr>
          <a:xfrm>
            <a:off x="8490292" y="3836885"/>
            <a:ext cx="6591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 * B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48FA91E-D92C-0382-EAEA-33FA6EC6E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38237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DB072E-4C31-06B7-E13A-0CBB117653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9E1A0A-623B-2202-64B3-33FB0DCE65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965818" cy="1325563"/>
          </a:xfrm>
        </p:spPr>
        <p:txBody>
          <a:bodyPr>
            <a:normAutofit/>
          </a:bodyPr>
          <a:lstStyle/>
          <a:p>
            <a:r>
              <a:rPr lang="en-US" dirty="0"/>
              <a:t>PEFT: Low-Rank Adaptation (</a:t>
            </a:r>
            <a:r>
              <a:rPr lang="en-US" dirty="0" err="1"/>
              <a:t>LoRA</a:t>
            </a:r>
            <a:r>
              <a:rPr lang="en-US" dirty="0"/>
              <a:t>)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2DC63D64-388B-4538-13E7-153A820ED542}"/>
              </a:ext>
            </a:extLst>
          </p:cNvPr>
          <p:cNvSpPr txBox="1"/>
          <p:nvPr/>
        </p:nvSpPr>
        <p:spPr>
          <a:xfrm>
            <a:off x="1017528" y="2013976"/>
            <a:ext cx="39609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Base Transformer Reference Example: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34626677-FE9E-BFA5-ED41-46664F888950}"/>
              </a:ext>
            </a:extLst>
          </p:cNvPr>
          <p:cNvSpPr txBox="1"/>
          <p:nvPr/>
        </p:nvSpPr>
        <p:spPr>
          <a:xfrm>
            <a:off x="1533168" y="2530069"/>
            <a:ext cx="83451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# of weights = 512 (Embedding Size) x 512 (Embedding Size) x 64 (number of layers)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9D10521-374F-274E-06DF-D4CA1505F2D4}"/>
              </a:ext>
            </a:extLst>
          </p:cNvPr>
          <p:cNvSpPr txBox="1"/>
          <p:nvPr/>
        </p:nvSpPr>
        <p:spPr>
          <a:xfrm>
            <a:off x="1533168" y="2899401"/>
            <a:ext cx="47858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# of weights = 16 777 216 trainable parameters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F12E0B4-37E6-1A0F-BDF7-EED705471777}"/>
              </a:ext>
            </a:extLst>
          </p:cNvPr>
          <p:cNvSpPr txBox="1"/>
          <p:nvPr/>
        </p:nvSpPr>
        <p:spPr>
          <a:xfrm>
            <a:off x="1017528" y="4049601"/>
            <a:ext cx="28734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With </a:t>
            </a:r>
            <a:r>
              <a:rPr lang="en-US" dirty="0" err="1"/>
              <a:t>LoRA</a:t>
            </a:r>
            <a:r>
              <a:rPr lang="en-US" dirty="0"/>
              <a:t> of rank size r = 8 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DF54D364-5BCC-FDE5-AE2A-D19FA80A8B5D}"/>
              </a:ext>
            </a:extLst>
          </p:cNvPr>
          <p:cNvSpPr txBox="1"/>
          <p:nvPr/>
        </p:nvSpPr>
        <p:spPr>
          <a:xfrm>
            <a:off x="1787549" y="4468872"/>
            <a:ext cx="3747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  = r x 512 * 64 = 32 768 parameters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06FE8666-C4B3-1392-D2B4-52DD75E3F627}"/>
              </a:ext>
            </a:extLst>
          </p:cNvPr>
          <p:cNvSpPr txBox="1"/>
          <p:nvPr/>
        </p:nvSpPr>
        <p:spPr>
          <a:xfrm>
            <a:off x="1787549" y="4838204"/>
            <a:ext cx="37507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  = 512 x r * 64 = 32 768 parameters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F91FBD8D-7CFA-7D0F-62A6-DB970D1262DD}"/>
              </a:ext>
            </a:extLst>
          </p:cNvPr>
          <p:cNvSpPr txBox="1"/>
          <p:nvPr/>
        </p:nvSpPr>
        <p:spPr>
          <a:xfrm>
            <a:off x="1017528" y="5370233"/>
            <a:ext cx="55547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Total Parameters to train = 65 536 trainable parameters</a:t>
            </a:r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02099496-AF54-09E7-1297-B82E5109BB4E}"/>
              </a:ext>
            </a:extLst>
          </p:cNvPr>
          <p:cNvCxnSpPr/>
          <p:nvPr/>
        </p:nvCxnSpPr>
        <p:spPr>
          <a:xfrm>
            <a:off x="6524553" y="5568294"/>
            <a:ext cx="135441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ZoneTexte 11">
            <a:extLst>
              <a:ext uri="{FF2B5EF4-FFF2-40B4-BE49-F238E27FC236}">
                <a16:creationId xmlns:a16="http://schemas.microsoft.com/office/drawing/2014/main" id="{632D22F3-7DCC-B7EC-6EE5-B816A93580E3}"/>
              </a:ext>
            </a:extLst>
          </p:cNvPr>
          <p:cNvSpPr txBox="1"/>
          <p:nvPr/>
        </p:nvSpPr>
        <p:spPr>
          <a:xfrm>
            <a:off x="8016470" y="5383628"/>
            <a:ext cx="32088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5"/>
                </a:solidFill>
              </a:rPr>
              <a:t>99.6%</a:t>
            </a:r>
            <a:r>
              <a:rPr lang="en-US" dirty="0">
                <a:solidFill>
                  <a:schemeClr val="accent5"/>
                </a:solidFill>
              </a:rPr>
              <a:t> less parameters to train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26D4459-D77D-BDA7-7C72-40DEC1F0572E}"/>
              </a:ext>
            </a:extLst>
          </p:cNvPr>
          <p:cNvSpPr txBox="1"/>
          <p:nvPr/>
        </p:nvSpPr>
        <p:spPr>
          <a:xfrm>
            <a:off x="7449602" y="6246911"/>
            <a:ext cx="344312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2"/>
                </a:solidFill>
              </a:rPr>
              <a:t>*(Q K V + Projection) </a:t>
            </a:r>
            <a:r>
              <a:rPr lang="en-US" sz="1400" dirty="0">
                <a:solidFill>
                  <a:schemeClr val="accent2"/>
                </a:solidFill>
                <a:sym typeface="Wingdings" pitchFamily="2" charset="2"/>
              </a:rPr>
              <a:t> 4 matrices like this</a:t>
            </a:r>
            <a:endParaRPr lang="en-US" sz="1400" dirty="0">
              <a:solidFill>
                <a:schemeClr val="accent2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7DAD751-50C0-7CC1-5EF0-BF16238C2576}"/>
              </a:ext>
            </a:extLst>
          </p:cNvPr>
          <p:cNvSpPr txBox="1"/>
          <p:nvPr/>
        </p:nvSpPr>
        <p:spPr>
          <a:xfrm>
            <a:off x="6185820" y="2930178"/>
            <a:ext cx="2664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2"/>
                </a:solidFill>
              </a:rPr>
              <a:t>*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B80D1B3-C610-BC5E-AAAB-1D487667AC50}"/>
              </a:ext>
            </a:extLst>
          </p:cNvPr>
          <p:cNvSpPr txBox="1"/>
          <p:nvPr/>
        </p:nvSpPr>
        <p:spPr>
          <a:xfrm>
            <a:off x="5401840" y="4483483"/>
            <a:ext cx="2664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2"/>
                </a:solidFill>
              </a:rPr>
              <a:t>*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EBD19C2-9C2B-A590-56D5-14DDD03E5E87}"/>
              </a:ext>
            </a:extLst>
          </p:cNvPr>
          <p:cNvSpPr txBox="1"/>
          <p:nvPr/>
        </p:nvSpPr>
        <p:spPr>
          <a:xfrm>
            <a:off x="5401840" y="4874892"/>
            <a:ext cx="26642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2"/>
                </a:solidFill>
              </a:rPr>
              <a:t>*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BAD8F910-8711-6D2F-5C15-C089D1A03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2354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6" grpId="0"/>
      <p:bldP spid="7" grpId="0"/>
      <p:bldP spid="8" grpId="0"/>
      <p:bldP spid="9" grpId="0"/>
      <p:bldP spid="12" grpId="0"/>
      <p:bldP spid="10" grpId="0"/>
      <p:bldP spid="14" grpId="0"/>
      <p:bldP spid="15" grpId="0"/>
      <p:bldP spid="16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75360"/>
          </a:xfrm>
          <a:prstGeom prst="rect">
            <a:avLst/>
          </a:prstGeom>
          <a:solidFill>
            <a:srgbClr val="277884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4" name="Text 2"/>
          <p:cNvSpPr/>
          <p:nvPr/>
        </p:nvSpPr>
        <p:spPr>
          <a:xfrm>
            <a:off x="365760" y="42672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667" b="1" dirty="0">
                <a:solidFill>
                  <a:srgbClr val="FFFFFF"/>
                </a:solidFill>
              </a:rPr>
              <a:t>Fine-tuning Strategy</a:t>
            </a:r>
            <a:endParaRPr lang="en-US" sz="2667" dirty="0"/>
          </a:p>
        </p:txBody>
      </p:sp>
      <p:sp>
        <p:nvSpPr>
          <p:cNvPr id="5" name="Shape 3"/>
          <p:cNvSpPr/>
          <p:nvPr/>
        </p:nvSpPr>
        <p:spPr>
          <a:xfrm>
            <a:off x="365760" y="1219200"/>
            <a:ext cx="11460480" cy="1463040"/>
          </a:xfrm>
          <a:prstGeom prst="rect">
            <a:avLst/>
          </a:prstGeom>
          <a:solidFill>
            <a:srgbClr val="F4F6F6"/>
          </a:solidFill>
          <a:ln w="254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609600" y="1341120"/>
            <a:ext cx="10972800" cy="121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dirty="0">
                <a:solidFill>
                  <a:srgbClr val="1C2833"/>
                </a:solidFill>
              </a:rPr>
              <a:t>Your legal team needs an AI to draft contracts in your company's specific style. You have 500 example contracts. The base model produces generic but legally correct text.</a:t>
            </a:r>
            <a:endParaRPr lang="en-US" sz="1867" dirty="0"/>
          </a:p>
        </p:txBody>
      </p:sp>
      <p:sp>
        <p:nvSpPr>
          <p:cNvPr id="7" name="Text 5"/>
          <p:cNvSpPr/>
          <p:nvPr/>
        </p:nvSpPr>
        <p:spPr>
          <a:xfrm>
            <a:off x="365760" y="2926080"/>
            <a:ext cx="114604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133" b="1" dirty="0">
                <a:solidFill>
                  <a:srgbClr val="1C2833"/>
                </a:solidFill>
              </a:rPr>
              <a:t>When should you consider fine-tuning?</a:t>
            </a:r>
            <a:endParaRPr lang="en-US" sz="2133" dirty="0"/>
          </a:p>
        </p:txBody>
      </p:sp>
      <p:sp>
        <p:nvSpPr>
          <p:cNvPr id="8" name="Text 6"/>
          <p:cNvSpPr/>
          <p:nvPr/>
        </p:nvSpPr>
        <p:spPr>
          <a:xfrm>
            <a:off x="609600" y="365760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C2833"/>
                </a:solidFill>
              </a:rPr>
              <a:t>A) Immediately - fine-tuning always improves performance</a:t>
            </a:r>
            <a:endParaRPr lang="en-US" sz="1733" dirty="0"/>
          </a:p>
        </p:txBody>
      </p:sp>
      <p:sp>
        <p:nvSpPr>
          <p:cNvPr id="9" name="Shape 7"/>
          <p:cNvSpPr/>
          <p:nvPr/>
        </p:nvSpPr>
        <p:spPr>
          <a:xfrm>
            <a:off x="365760" y="4084320"/>
            <a:ext cx="11460480" cy="609600"/>
          </a:xfrm>
          <a:prstGeom prst="rect">
            <a:avLst/>
          </a:prstGeom>
          <a:solidFill>
            <a:srgbClr val="E8F5E9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09600" y="43891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/>
              <a:t>B) After exhausting prompt engineering and few-shot learning approaches</a:t>
            </a:r>
          </a:p>
        </p:txBody>
      </p:sp>
      <p:sp>
        <p:nvSpPr>
          <p:cNvPr id="11" name="Text 9"/>
          <p:cNvSpPr/>
          <p:nvPr/>
        </p:nvSpPr>
        <p:spPr>
          <a:xfrm>
            <a:off x="609600" y="512064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C2833"/>
                </a:solidFill>
              </a:rPr>
              <a:t>C) Never - RAG is always sufficient for domain-specific tasks</a:t>
            </a:r>
            <a:endParaRPr lang="en-US" sz="1733" dirty="0"/>
          </a:p>
        </p:txBody>
      </p:sp>
      <p:sp>
        <p:nvSpPr>
          <p:cNvPr id="12" name="Text 10"/>
          <p:cNvSpPr/>
          <p:nvPr/>
        </p:nvSpPr>
        <p:spPr>
          <a:xfrm>
            <a:off x="609600" y="585216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C2833"/>
                </a:solidFill>
              </a:rPr>
              <a:t>D) Only when you have at least 10,000 examples</a:t>
            </a:r>
            <a:endParaRPr lang="en-US" sz="173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75360"/>
          </a:xfrm>
          <a:prstGeom prst="rect">
            <a:avLst/>
          </a:prstGeom>
          <a:solidFill>
            <a:srgbClr val="277884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4" name="Text 2"/>
          <p:cNvSpPr/>
          <p:nvPr/>
        </p:nvSpPr>
        <p:spPr>
          <a:xfrm>
            <a:off x="365760" y="42672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667" b="1" dirty="0">
                <a:solidFill>
                  <a:srgbClr val="FFFFFF"/>
                </a:solidFill>
              </a:rPr>
              <a:t>Fine-tuning Resource Management</a:t>
            </a:r>
            <a:endParaRPr lang="en-US" sz="2667" dirty="0"/>
          </a:p>
        </p:txBody>
      </p:sp>
      <p:sp>
        <p:nvSpPr>
          <p:cNvPr id="5" name="Shape 3"/>
          <p:cNvSpPr/>
          <p:nvPr/>
        </p:nvSpPr>
        <p:spPr>
          <a:xfrm>
            <a:off x="365760" y="1219200"/>
            <a:ext cx="11460480" cy="1463040"/>
          </a:xfrm>
          <a:prstGeom prst="rect">
            <a:avLst/>
          </a:prstGeom>
          <a:solidFill>
            <a:srgbClr val="F4F6F6"/>
          </a:solidFill>
          <a:ln w="254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609600" y="1341120"/>
            <a:ext cx="10972800" cy="121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dirty="0">
                <a:solidFill>
                  <a:srgbClr val="1C2833"/>
                </a:solidFill>
              </a:rPr>
              <a:t>You need to fine-tune a 7B parameter model for three departments (Legal, HR, Marketing). You have limited GPU resources and worry about catastrophic forgetting.</a:t>
            </a:r>
            <a:endParaRPr lang="en-US" sz="1867" dirty="0"/>
          </a:p>
        </p:txBody>
      </p:sp>
      <p:sp>
        <p:nvSpPr>
          <p:cNvPr id="7" name="Text 5"/>
          <p:cNvSpPr/>
          <p:nvPr/>
        </p:nvSpPr>
        <p:spPr>
          <a:xfrm>
            <a:off x="365760" y="2926080"/>
            <a:ext cx="114604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133" b="1" dirty="0">
                <a:solidFill>
                  <a:srgbClr val="1C2833"/>
                </a:solidFill>
              </a:rPr>
              <a:t>Which approach offers the best balance?</a:t>
            </a:r>
            <a:endParaRPr lang="en-US" sz="2133" dirty="0"/>
          </a:p>
        </p:txBody>
      </p:sp>
      <p:sp>
        <p:nvSpPr>
          <p:cNvPr id="8" name="Text 6"/>
          <p:cNvSpPr/>
          <p:nvPr/>
        </p:nvSpPr>
        <p:spPr>
          <a:xfrm>
            <a:off x="609600" y="365760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C2833"/>
                </a:solidFill>
              </a:rPr>
              <a:t>A) Train three separate full models, one for each department</a:t>
            </a:r>
            <a:endParaRPr lang="en-US" sz="1733" dirty="0"/>
          </a:p>
        </p:txBody>
      </p:sp>
      <p:sp>
        <p:nvSpPr>
          <p:cNvPr id="9" name="Text 7"/>
          <p:cNvSpPr/>
          <p:nvPr/>
        </p:nvSpPr>
        <p:spPr>
          <a:xfrm>
            <a:off x="609600" y="43891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C2833"/>
                </a:solidFill>
              </a:rPr>
              <a:t>B) Train one model on combined data from all departments</a:t>
            </a:r>
            <a:endParaRPr lang="en-US" sz="1733" dirty="0"/>
          </a:p>
        </p:txBody>
      </p:sp>
      <p:sp>
        <p:nvSpPr>
          <p:cNvPr id="10" name="Shape 8"/>
          <p:cNvSpPr/>
          <p:nvPr/>
        </p:nvSpPr>
        <p:spPr>
          <a:xfrm>
            <a:off x="365760" y="4815840"/>
            <a:ext cx="11460480" cy="609600"/>
          </a:xfrm>
          <a:prstGeom prst="rect">
            <a:avLst/>
          </a:prstGeom>
          <a:solidFill>
            <a:srgbClr val="E8F5E9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Text 9"/>
          <p:cNvSpPr/>
          <p:nvPr/>
        </p:nvSpPr>
        <p:spPr>
          <a:xfrm>
            <a:off x="609600" y="512064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/>
              <a:t>C) Use LoRA to create small specialized adapters for each department</a:t>
            </a:r>
          </a:p>
        </p:txBody>
      </p:sp>
      <p:sp>
        <p:nvSpPr>
          <p:cNvPr id="12" name="Text 10"/>
          <p:cNvSpPr/>
          <p:nvPr/>
        </p:nvSpPr>
        <p:spPr>
          <a:xfrm>
            <a:off x="609600" y="585216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C2833"/>
                </a:solidFill>
              </a:rPr>
              <a:t>D) Use prompt engineering instead of fine-tuning</a:t>
            </a:r>
            <a:endParaRPr lang="en-US" sz="173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43B08-6E41-461B-4601-7531E66FA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E1282-2B26-4F93-FEDF-F39E193FD2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RHLF &amp; Model Evaluation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815C2A-D751-7D66-6E1E-EDF861D480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559994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F3243F-45D3-171B-EC8A-B09DD0C1B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8192A23-FE37-84C6-1F84-DFE22D5FFA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72</a:t>
            </a:fld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19C84DA-1709-8261-1CB6-8782BBDC7683}"/>
              </a:ext>
            </a:extLst>
          </p:cNvPr>
          <p:cNvSpPr/>
          <p:nvPr/>
        </p:nvSpPr>
        <p:spPr>
          <a:xfrm>
            <a:off x="5455591" y="1911288"/>
            <a:ext cx="2809870" cy="2865701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Evaluate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19C937B3-960C-54FD-2E2C-0E8138234935}"/>
              </a:ext>
            </a:extLst>
          </p:cNvPr>
          <p:cNvSpPr/>
          <p:nvPr/>
        </p:nvSpPr>
        <p:spPr>
          <a:xfrm>
            <a:off x="1125069" y="1905301"/>
            <a:ext cx="1401857" cy="2865701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Define a use case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B33D77D-CC0A-8F9E-88C3-C61732E780B0}"/>
              </a:ext>
            </a:extLst>
          </p:cNvPr>
          <p:cNvSpPr/>
          <p:nvPr/>
        </p:nvSpPr>
        <p:spPr>
          <a:xfrm>
            <a:off x="3165669" y="1905301"/>
            <a:ext cx="1651179" cy="1432851"/>
          </a:xfrm>
          <a:prstGeom prst="round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Choose a model provider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50A35B7-4FD8-35C7-542A-341A0D4E9952}"/>
              </a:ext>
            </a:extLst>
          </p:cNvPr>
          <p:cNvSpPr/>
          <p:nvPr/>
        </p:nvSpPr>
        <p:spPr>
          <a:xfrm>
            <a:off x="5703794" y="2459379"/>
            <a:ext cx="2297206" cy="546083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Prompt Engineering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D22118C-00B8-F919-6E68-06ABABF21A79}"/>
              </a:ext>
            </a:extLst>
          </p:cNvPr>
          <p:cNvSpPr/>
          <p:nvPr/>
        </p:nvSpPr>
        <p:spPr>
          <a:xfrm>
            <a:off x="5703794" y="3191830"/>
            <a:ext cx="2297206" cy="546083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Fine-tune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4FBBD238-9B86-FE33-B4D4-686F01C7225C}"/>
              </a:ext>
            </a:extLst>
          </p:cNvPr>
          <p:cNvSpPr/>
          <p:nvPr/>
        </p:nvSpPr>
        <p:spPr>
          <a:xfrm>
            <a:off x="5703794" y="3888920"/>
            <a:ext cx="2297206" cy="546083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Align with Human feedback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384EA0DA-5C52-DFA3-4632-505F377AA721}"/>
              </a:ext>
            </a:extLst>
          </p:cNvPr>
          <p:cNvSpPr/>
          <p:nvPr/>
        </p:nvSpPr>
        <p:spPr>
          <a:xfrm>
            <a:off x="8904204" y="1905301"/>
            <a:ext cx="1828800" cy="2895003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Deploy &amp; Optimize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7B625C65-19E7-6E76-BF61-88D36D354296}"/>
              </a:ext>
            </a:extLst>
          </p:cNvPr>
          <p:cNvSpPr/>
          <p:nvPr/>
        </p:nvSpPr>
        <p:spPr>
          <a:xfrm>
            <a:off x="3165669" y="3422631"/>
            <a:ext cx="1651179" cy="1354357"/>
          </a:xfrm>
          <a:prstGeom prst="round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Integrate with systems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7D9F78C8-271E-8DAF-E3EB-2108EA9EC0CB}"/>
              </a:ext>
            </a:extLst>
          </p:cNvPr>
          <p:cNvSpPr/>
          <p:nvPr/>
        </p:nvSpPr>
        <p:spPr>
          <a:xfrm>
            <a:off x="5455590" y="5052038"/>
            <a:ext cx="5277414" cy="546083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Observability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A2C2B2B0-213D-312A-0E21-688D0AA5E61A}"/>
              </a:ext>
            </a:extLst>
          </p:cNvPr>
          <p:cNvSpPr/>
          <p:nvPr/>
        </p:nvSpPr>
        <p:spPr>
          <a:xfrm>
            <a:off x="8904204" y="5742051"/>
            <a:ext cx="1828800" cy="546083"/>
          </a:xfrm>
          <a:prstGeom prst="round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Monitoring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757968F-22AC-9736-CC74-B3A1CACBF7E2}"/>
              </a:ext>
            </a:extLst>
          </p:cNvPr>
          <p:cNvSpPr/>
          <p:nvPr/>
        </p:nvSpPr>
        <p:spPr>
          <a:xfrm>
            <a:off x="1600990" y="1320131"/>
            <a:ext cx="450014" cy="460482"/>
          </a:xfrm>
          <a:prstGeom prst="ellipse">
            <a:avLst/>
          </a:prstGeom>
          <a:solidFill>
            <a:srgbClr val="147BBF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81B76ED-947D-9A32-A466-6D0FE0E016B9}"/>
              </a:ext>
            </a:extLst>
          </p:cNvPr>
          <p:cNvSpPr/>
          <p:nvPr/>
        </p:nvSpPr>
        <p:spPr>
          <a:xfrm>
            <a:off x="3766251" y="1320131"/>
            <a:ext cx="450014" cy="460482"/>
          </a:xfrm>
          <a:prstGeom prst="ellipse">
            <a:avLst/>
          </a:prstGeom>
          <a:solidFill>
            <a:srgbClr val="147BBF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F37FFD61-6C1C-7909-4088-B3F64C188047}"/>
              </a:ext>
            </a:extLst>
          </p:cNvPr>
          <p:cNvSpPr/>
          <p:nvPr/>
        </p:nvSpPr>
        <p:spPr>
          <a:xfrm>
            <a:off x="6627390" y="1322289"/>
            <a:ext cx="450014" cy="460482"/>
          </a:xfrm>
          <a:prstGeom prst="ellipse">
            <a:avLst/>
          </a:prstGeom>
          <a:solidFill>
            <a:srgbClr val="147BBF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44D92CC-E2BB-A4A7-E1A2-7C8A4C366A78}"/>
              </a:ext>
            </a:extLst>
          </p:cNvPr>
          <p:cNvSpPr/>
          <p:nvPr/>
        </p:nvSpPr>
        <p:spPr>
          <a:xfrm>
            <a:off x="9593597" y="1320131"/>
            <a:ext cx="450014" cy="460482"/>
          </a:xfrm>
          <a:prstGeom prst="ellipse">
            <a:avLst/>
          </a:prstGeom>
          <a:solidFill>
            <a:srgbClr val="147BBF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3C17DAA5-D586-01BB-B51D-C07C30CCEF48}"/>
              </a:ext>
            </a:extLst>
          </p:cNvPr>
          <p:cNvSpPr/>
          <p:nvPr/>
        </p:nvSpPr>
        <p:spPr>
          <a:xfrm>
            <a:off x="5351930" y="1835877"/>
            <a:ext cx="2998694" cy="3011787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6153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5A52D-6E11-B512-E142-A21B320928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3F50C4-DD38-A95E-D345-7706D09843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872701" cy="1325563"/>
          </a:xfrm>
        </p:spPr>
        <p:txBody>
          <a:bodyPr/>
          <a:lstStyle/>
          <a:p>
            <a:r>
              <a:rPr lang="en-US" dirty="0"/>
              <a:t>Definition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8475039-F663-E0EF-69DE-DB03CE53C966}"/>
              </a:ext>
            </a:extLst>
          </p:cNvPr>
          <p:cNvSpPr txBox="1"/>
          <p:nvPr/>
        </p:nvSpPr>
        <p:spPr>
          <a:xfrm>
            <a:off x="847284" y="2842736"/>
            <a:ext cx="627110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u="sng" dirty="0">
                <a:solidFill>
                  <a:schemeClr val="tx1"/>
                </a:solidFill>
              </a:rPr>
              <a:t>RLHF (</a:t>
            </a:r>
            <a:r>
              <a:rPr lang="en-US" b="1" u="sng" dirty="0" err="1">
                <a:solidFill>
                  <a:schemeClr val="tx1"/>
                </a:solidFill>
              </a:rPr>
              <a:t>Renforcement</a:t>
            </a:r>
            <a:r>
              <a:rPr lang="en-US" b="1" u="sng" dirty="0">
                <a:solidFill>
                  <a:schemeClr val="tx1"/>
                </a:solidFill>
              </a:rPr>
              <a:t> Learning from Human Feedback)</a:t>
            </a:r>
            <a:r>
              <a:rPr lang="en-US" dirty="0">
                <a:solidFill>
                  <a:schemeClr val="tx1"/>
                </a:solidFill>
              </a:rPr>
              <a:t>: </a:t>
            </a:r>
            <a:r>
              <a:rPr lang="fr-FR" dirty="0" err="1"/>
              <a:t>is</a:t>
            </a:r>
            <a:r>
              <a:rPr lang="fr-FR" dirty="0"/>
              <a:t> a machine </a:t>
            </a:r>
            <a:r>
              <a:rPr lang="fr-FR" dirty="0" err="1"/>
              <a:t>learning</a:t>
            </a:r>
            <a:r>
              <a:rPr lang="fr-FR" dirty="0"/>
              <a:t> </a:t>
            </a:r>
            <a:r>
              <a:rPr lang="fr-FR" dirty="0" err="1"/>
              <a:t>approach</a:t>
            </a:r>
            <a:r>
              <a:rPr lang="fr-FR" dirty="0"/>
              <a:t> </a:t>
            </a:r>
            <a:r>
              <a:rPr lang="fr-FR" dirty="0" err="1"/>
              <a:t>that</a:t>
            </a:r>
            <a:r>
              <a:rPr lang="fr-FR" dirty="0"/>
              <a:t> combines </a:t>
            </a:r>
            <a:r>
              <a:rPr lang="fr-FR" dirty="0" err="1"/>
              <a:t>reinforcement</a:t>
            </a:r>
            <a:r>
              <a:rPr lang="fr-FR" dirty="0"/>
              <a:t> </a:t>
            </a:r>
            <a:r>
              <a:rPr lang="fr-FR" dirty="0" err="1"/>
              <a:t>learning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</a:t>
            </a:r>
            <a:r>
              <a:rPr lang="fr-FR" dirty="0" err="1"/>
              <a:t>human-provided</a:t>
            </a:r>
            <a:r>
              <a:rPr lang="fr-FR" dirty="0"/>
              <a:t> </a:t>
            </a:r>
            <a:r>
              <a:rPr lang="fr-FR" dirty="0" err="1"/>
              <a:t>evaluations</a:t>
            </a:r>
            <a:r>
              <a:rPr lang="fr-FR" dirty="0"/>
              <a:t> or </a:t>
            </a:r>
            <a:r>
              <a:rPr lang="fr-FR" dirty="0" err="1"/>
              <a:t>preferences</a:t>
            </a:r>
            <a:r>
              <a:rPr lang="fr-FR" dirty="0"/>
              <a:t> to guide and </a:t>
            </a:r>
            <a:r>
              <a:rPr lang="fr-FR" dirty="0" err="1"/>
              <a:t>improve</a:t>
            </a:r>
            <a:r>
              <a:rPr lang="fr-FR" dirty="0"/>
              <a:t> a </a:t>
            </a:r>
            <a:r>
              <a:rPr lang="fr-FR" dirty="0" err="1"/>
              <a:t>model's</a:t>
            </a:r>
            <a:r>
              <a:rPr lang="fr-FR" dirty="0"/>
              <a:t> </a:t>
            </a:r>
            <a:r>
              <a:rPr lang="fr-FR" dirty="0" err="1"/>
              <a:t>behavior</a:t>
            </a:r>
            <a:r>
              <a:rPr lang="fr-FR" dirty="0"/>
              <a:t> </a:t>
            </a:r>
            <a:r>
              <a:rPr lang="fr-FR" dirty="0" err="1"/>
              <a:t>toward</a:t>
            </a:r>
            <a:r>
              <a:rPr lang="fr-FR" dirty="0"/>
              <a:t> </a:t>
            </a:r>
            <a:r>
              <a:rPr lang="fr-FR" dirty="0" err="1"/>
              <a:t>desired</a:t>
            </a:r>
            <a:r>
              <a:rPr lang="fr-FR" dirty="0"/>
              <a:t> </a:t>
            </a:r>
            <a:r>
              <a:rPr lang="fr-FR" dirty="0" err="1"/>
              <a:t>outcomes</a:t>
            </a:r>
            <a:r>
              <a:rPr lang="fr-FR" dirty="0"/>
              <a:t>.</a:t>
            </a:r>
            <a:endParaRPr lang="en-US" dirty="0"/>
          </a:p>
        </p:txBody>
      </p:sp>
      <p:sp>
        <p:nvSpPr>
          <p:cNvPr id="4" name="AutoShape 2" descr="Training from scratch vs fine-tuning pretrained network. Utilizing fine-tuning approach using ImageNet weights has resulted into substantial improvement in classification performance as shown in the graph">
            <a:extLst>
              <a:ext uri="{FF2B5EF4-FFF2-40B4-BE49-F238E27FC236}">
                <a16:creationId xmlns:a16="http://schemas.microsoft.com/office/drawing/2014/main" id="{52131E87-D926-1CB3-65CB-973DFEA6E4A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8" name="Graphique 7" descr="Groupe avec un remplissage uni">
            <a:extLst>
              <a:ext uri="{FF2B5EF4-FFF2-40B4-BE49-F238E27FC236}">
                <a16:creationId xmlns:a16="http://schemas.microsoft.com/office/drawing/2014/main" id="{536AB73B-C6C0-AADF-BBED-3A88F07F0C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481789" y="2971800"/>
            <a:ext cx="914400" cy="914400"/>
          </a:xfrm>
          <a:prstGeom prst="rect">
            <a:avLst/>
          </a:prstGeom>
        </p:spPr>
      </p:pic>
      <p:pic>
        <p:nvPicPr>
          <p:cNvPr id="10" name="Graphique 9" descr="Ordinateur portable avec un remplissage uni">
            <a:extLst>
              <a:ext uri="{FF2B5EF4-FFF2-40B4-BE49-F238E27FC236}">
                <a16:creationId xmlns:a16="http://schemas.microsoft.com/office/drawing/2014/main" id="{074550B1-E39D-B040-B26B-1DC4ADC424C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418334" y="2971800"/>
            <a:ext cx="914400" cy="914400"/>
          </a:xfrm>
          <a:prstGeom prst="rect">
            <a:avLst/>
          </a:prstGeom>
        </p:spPr>
      </p:pic>
      <p:pic>
        <p:nvPicPr>
          <p:cNvPr id="5" name="Graphic 4" descr="Add with solid fill">
            <a:extLst>
              <a:ext uri="{FF2B5EF4-FFF2-40B4-BE49-F238E27FC236}">
                <a16:creationId xmlns:a16="http://schemas.microsoft.com/office/drawing/2014/main" id="{AB9739CF-2F2C-DD9D-BAE2-FB3D751BFE6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716546" y="3212965"/>
            <a:ext cx="432070" cy="43207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BE33549-A76C-53F4-91A4-EB69C0FBF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42754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CE6084-C3BE-959D-431C-746290155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D9B8A-184C-505D-D2E1-AC14DBACF8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872701" cy="1325563"/>
          </a:xfrm>
        </p:spPr>
        <p:txBody>
          <a:bodyPr/>
          <a:lstStyle/>
          <a:p>
            <a:r>
              <a:rPr lang="en-US" dirty="0"/>
              <a:t>Why RLHF ?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7CC76FAA-89DD-D22F-F226-B18A7CB44CC1}"/>
              </a:ext>
            </a:extLst>
          </p:cNvPr>
          <p:cNvSpPr txBox="1"/>
          <p:nvPr/>
        </p:nvSpPr>
        <p:spPr>
          <a:xfrm>
            <a:off x="6147311" y="5732505"/>
            <a:ext cx="3457998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050" b="1" dirty="0"/>
              <a:t>Source: </a:t>
            </a:r>
            <a:r>
              <a:rPr lang="fr-FR" sz="1050" b="1" dirty="0">
                <a:hlinkClick r:id="rId3"/>
              </a:rPr>
              <a:t>Learning to </a:t>
            </a:r>
            <a:r>
              <a:rPr lang="fr-FR" sz="1050" b="1" dirty="0" err="1">
                <a:hlinkClick r:id="rId3"/>
              </a:rPr>
              <a:t>summarize</a:t>
            </a:r>
            <a:r>
              <a:rPr lang="fr-FR" sz="1050" b="1" dirty="0">
                <a:hlinkClick r:id="rId3"/>
              </a:rPr>
              <a:t> </a:t>
            </a:r>
            <a:r>
              <a:rPr lang="fr-FR" sz="1050" b="1" dirty="0" err="1">
                <a:hlinkClick r:id="rId3"/>
              </a:rPr>
              <a:t>from</a:t>
            </a:r>
            <a:r>
              <a:rPr lang="fr-FR" sz="1050" b="1" dirty="0">
                <a:hlinkClick r:id="rId3"/>
              </a:rPr>
              <a:t> </a:t>
            </a:r>
            <a:r>
              <a:rPr lang="fr-FR" sz="1050" b="1" dirty="0" err="1">
                <a:hlinkClick r:id="rId3"/>
              </a:rPr>
              <a:t>human</a:t>
            </a:r>
            <a:r>
              <a:rPr lang="fr-FR" sz="1050" b="1" dirty="0">
                <a:hlinkClick r:id="rId3"/>
              </a:rPr>
              <a:t> feedback</a:t>
            </a:r>
            <a:endParaRPr lang="fr-FR" sz="1050" b="1" dirty="0"/>
          </a:p>
        </p:txBody>
      </p:sp>
      <p:sp>
        <p:nvSpPr>
          <p:cNvPr id="4" name="AutoShape 2" descr="Training from scratch vs fine-tuning pretrained network. Utilizing fine-tuning approach using ImageNet weights has resulted into substantial improvement in classification performance as shown in the graph">
            <a:extLst>
              <a:ext uri="{FF2B5EF4-FFF2-40B4-BE49-F238E27FC236}">
                <a16:creationId xmlns:a16="http://schemas.microsoft.com/office/drawing/2014/main" id="{6D7B5068-4F4E-F3A6-C4A6-C41785946FB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31D9F686-5571-5B19-2E7C-64D3D54023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6627" y="1287116"/>
            <a:ext cx="6121400" cy="4102100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229FCE0-8AF2-509C-C637-73DEF3A7D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67830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59D03B-615C-0C2C-49BA-3DD582B50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337FDD-4A59-8EC0-C916-9E43FA395B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872701" cy="1325563"/>
          </a:xfrm>
        </p:spPr>
        <p:txBody>
          <a:bodyPr/>
          <a:lstStyle/>
          <a:p>
            <a:r>
              <a:rPr lang="en-US" dirty="0"/>
              <a:t>RLHF</a:t>
            </a:r>
          </a:p>
        </p:txBody>
      </p:sp>
      <p:sp>
        <p:nvSpPr>
          <p:cNvPr id="4" name="AutoShape 2" descr="Training from scratch vs fine-tuning pretrained network. Utilizing fine-tuning approach using ImageNet weights has resulted into substantial improvement in classification performance as shown in the graph">
            <a:extLst>
              <a:ext uri="{FF2B5EF4-FFF2-40B4-BE49-F238E27FC236}">
                <a16:creationId xmlns:a16="http://schemas.microsoft.com/office/drawing/2014/main" id="{3881C46B-B238-A9C0-C767-98C240372A3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871028" y="2812143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5" name="Rectangle : coins arrondis 4">
            <a:extLst>
              <a:ext uri="{FF2B5EF4-FFF2-40B4-BE49-F238E27FC236}">
                <a16:creationId xmlns:a16="http://schemas.microsoft.com/office/drawing/2014/main" id="{3E67EA9D-B5B0-3C69-5808-FBDCD34A95E7}"/>
              </a:ext>
            </a:extLst>
          </p:cNvPr>
          <p:cNvSpPr/>
          <p:nvPr/>
        </p:nvSpPr>
        <p:spPr>
          <a:xfrm>
            <a:off x="1421822" y="2142996"/>
            <a:ext cx="1877245" cy="1338294"/>
          </a:xfrm>
          <a:prstGeom prst="roundRect">
            <a:avLst/>
          </a:prstGeom>
          <a:gradFill flip="none" rotWithShape="1">
            <a:gsLst>
              <a:gs pos="0">
                <a:schemeClr val="accent5">
                  <a:tint val="66000"/>
                  <a:satMod val="160000"/>
                </a:schemeClr>
              </a:gs>
              <a:gs pos="50000">
                <a:schemeClr val="accent5">
                  <a:tint val="44500"/>
                  <a:satMod val="160000"/>
                </a:schemeClr>
              </a:gs>
              <a:gs pos="100000">
                <a:schemeClr val="accent5"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508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Fine-tuned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LLM</a:t>
            </a:r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36D6AE5A-8D06-BB44-974C-E4C5F5309C34}"/>
              </a:ext>
            </a:extLst>
          </p:cNvPr>
          <p:cNvSpPr/>
          <p:nvPr/>
        </p:nvSpPr>
        <p:spPr>
          <a:xfrm>
            <a:off x="8548336" y="2142996"/>
            <a:ext cx="1877245" cy="1338294"/>
          </a:xfrm>
          <a:prstGeom prst="roundRect">
            <a:avLst/>
          </a:prstGeom>
          <a:gradFill flip="none" rotWithShape="1">
            <a:gsLst>
              <a:gs pos="0">
                <a:schemeClr val="accent5">
                  <a:tint val="66000"/>
                  <a:satMod val="160000"/>
                </a:schemeClr>
              </a:gs>
              <a:gs pos="50000">
                <a:schemeClr val="accent5">
                  <a:tint val="44500"/>
                  <a:satMod val="160000"/>
                </a:schemeClr>
              </a:gs>
              <a:gs pos="100000">
                <a:schemeClr val="accent5"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508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Human Aligned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LLM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240552E1-B14F-6132-96D5-76C38D0510EB}"/>
              </a:ext>
            </a:extLst>
          </p:cNvPr>
          <p:cNvSpPr/>
          <p:nvPr/>
        </p:nvSpPr>
        <p:spPr>
          <a:xfrm>
            <a:off x="4865913" y="2325169"/>
            <a:ext cx="2315029" cy="97394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RLHF</a:t>
            </a:r>
          </a:p>
        </p:txBody>
      </p: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A2EBFA78-A9A9-203B-7FF0-8CEA4383D462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3299067" y="2812143"/>
            <a:ext cx="156684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5E094981-5500-4763-D4DD-98892315614E}"/>
              </a:ext>
            </a:extLst>
          </p:cNvPr>
          <p:cNvCxnSpPr/>
          <p:nvPr/>
        </p:nvCxnSpPr>
        <p:spPr>
          <a:xfrm>
            <a:off x="6981490" y="2812142"/>
            <a:ext cx="156684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ZoneTexte 11">
            <a:extLst>
              <a:ext uri="{FF2B5EF4-FFF2-40B4-BE49-F238E27FC236}">
                <a16:creationId xmlns:a16="http://schemas.microsoft.com/office/drawing/2014/main" id="{8238D9F0-491E-41F5-3E4B-3204DA3EDAE9}"/>
              </a:ext>
            </a:extLst>
          </p:cNvPr>
          <p:cNvSpPr txBox="1"/>
          <p:nvPr/>
        </p:nvSpPr>
        <p:spPr>
          <a:xfrm>
            <a:off x="1421822" y="4862286"/>
            <a:ext cx="48951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 </a:t>
            </a:r>
            <a:r>
              <a:rPr lang="en-US" dirty="0"/>
              <a:t>: Maximize </a:t>
            </a:r>
            <a:r>
              <a:rPr lang="en-US" dirty="0" err="1"/>
              <a:t>Helpfuless</a:t>
            </a:r>
            <a:r>
              <a:rPr lang="en-US" dirty="0"/>
              <a:t>, Honesty, Harmless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90FC92BC-C851-0EEA-E9B3-41E2AE143A35}"/>
              </a:ext>
            </a:extLst>
          </p:cNvPr>
          <p:cNvSpPr txBox="1"/>
          <p:nvPr/>
        </p:nvSpPr>
        <p:spPr>
          <a:xfrm>
            <a:off x="7901609" y="-7951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E2FA8E86-83B9-CA80-CED9-09F4B8B909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272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12" grpId="0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0A9FAC-E37D-9625-C124-9794D91A6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045B5-B559-23A4-EEBE-6DD9C6F13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872701" cy="1325563"/>
          </a:xfrm>
        </p:spPr>
        <p:txBody>
          <a:bodyPr/>
          <a:lstStyle/>
          <a:p>
            <a:r>
              <a:rPr lang="en-US" dirty="0"/>
              <a:t>RLHF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421DF1D9-610A-213E-92BC-51F20A9D1A14}"/>
              </a:ext>
            </a:extLst>
          </p:cNvPr>
          <p:cNvSpPr txBox="1"/>
          <p:nvPr/>
        </p:nvSpPr>
        <p:spPr>
          <a:xfrm>
            <a:off x="7296814" y="888244"/>
            <a:ext cx="48951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 </a:t>
            </a:r>
            <a:r>
              <a:rPr lang="en-US" dirty="0"/>
              <a:t>: Maximize </a:t>
            </a:r>
            <a:r>
              <a:rPr lang="en-US" dirty="0" err="1"/>
              <a:t>Helpfuless</a:t>
            </a:r>
            <a:r>
              <a:rPr lang="en-US" dirty="0"/>
              <a:t>, Honesty, Harmless</a:t>
            </a:r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5DCF8C39-E299-3E02-2F7C-55EBCC5F11E3}"/>
              </a:ext>
            </a:extLst>
          </p:cNvPr>
          <p:cNvGrpSpPr/>
          <p:nvPr/>
        </p:nvGrpSpPr>
        <p:grpSpPr>
          <a:xfrm>
            <a:off x="754145" y="2047174"/>
            <a:ext cx="1751826" cy="1283732"/>
            <a:chOff x="754145" y="2010594"/>
            <a:chExt cx="1751826" cy="1283732"/>
          </a:xfrm>
        </p:grpSpPr>
        <p:pic>
          <p:nvPicPr>
            <p:cNvPr id="8" name="Graphique 7" descr="Liste de contrôle avec un remplissage uni">
              <a:extLst>
                <a:ext uri="{FF2B5EF4-FFF2-40B4-BE49-F238E27FC236}">
                  <a16:creationId xmlns:a16="http://schemas.microsoft.com/office/drawing/2014/main" id="{EF4570CD-4D0F-EE58-6D8E-7D8FB9D4ED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95080" y="2010594"/>
              <a:ext cx="914400" cy="914400"/>
            </a:xfrm>
            <a:prstGeom prst="rect">
              <a:avLst/>
            </a:prstGeom>
          </p:spPr>
        </p:pic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D37D8A95-AD26-87E0-469A-3B5040D86EE0}"/>
                </a:ext>
              </a:extLst>
            </p:cNvPr>
            <p:cNvSpPr txBox="1"/>
            <p:nvPr/>
          </p:nvSpPr>
          <p:spPr>
            <a:xfrm>
              <a:off x="754145" y="2924994"/>
              <a:ext cx="175182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Prompt Dataset</a:t>
              </a:r>
            </a:p>
          </p:txBody>
        </p:sp>
      </p:grp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76E6D676-5545-3353-910F-04A606A4FF41}"/>
              </a:ext>
            </a:extLst>
          </p:cNvPr>
          <p:cNvSpPr/>
          <p:nvPr/>
        </p:nvSpPr>
        <p:spPr>
          <a:xfrm>
            <a:off x="4470737" y="1914163"/>
            <a:ext cx="1877245" cy="1338294"/>
          </a:xfrm>
          <a:prstGeom prst="roundRect">
            <a:avLst/>
          </a:prstGeom>
          <a:gradFill flip="none" rotWithShape="1">
            <a:gsLst>
              <a:gs pos="0">
                <a:schemeClr val="accent5">
                  <a:tint val="66000"/>
                  <a:satMod val="160000"/>
                </a:schemeClr>
              </a:gs>
              <a:gs pos="50000">
                <a:schemeClr val="accent5">
                  <a:tint val="44500"/>
                  <a:satMod val="160000"/>
                </a:schemeClr>
              </a:gs>
              <a:gs pos="100000">
                <a:schemeClr val="accent5"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508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Fine-tuned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LLM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(updated by fb)</a:t>
            </a:r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594B81E7-B0A4-C7B4-796B-647B2BC09E37}"/>
              </a:ext>
            </a:extLst>
          </p:cNvPr>
          <p:cNvSpPr/>
          <p:nvPr/>
        </p:nvSpPr>
        <p:spPr>
          <a:xfrm>
            <a:off x="8701051" y="2096337"/>
            <a:ext cx="2315029" cy="97394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RL Proximal Policy Optimization (PPO) Algorithm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41401F6F-044C-BF4D-A3EB-B04D169877EF}"/>
              </a:ext>
            </a:extLst>
          </p:cNvPr>
          <p:cNvSpPr/>
          <p:nvPr/>
        </p:nvSpPr>
        <p:spPr>
          <a:xfrm>
            <a:off x="6547176" y="4537093"/>
            <a:ext cx="1877245" cy="1338294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 w="508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Reward model</a:t>
            </a:r>
          </a:p>
        </p:txBody>
      </p:sp>
      <p:cxnSp>
        <p:nvCxnSpPr>
          <p:cNvPr id="18" name="Connecteur droit avec flèche 17">
            <a:extLst>
              <a:ext uri="{FF2B5EF4-FFF2-40B4-BE49-F238E27FC236}">
                <a16:creationId xmlns:a16="http://schemas.microsoft.com/office/drawing/2014/main" id="{36C02590-A0ED-F11C-E386-7F360E2485FC}"/>
              </a:ext>
            </a:extLst>
          </p:cNvPr>
          <p:cNvCxnSpPr/>
          <p:nvPr/>
        </p:nvCxnSpPr>
        <p:spPr>
          <a:xfrm>
            <a:off x="2009480" y="2583310"/>
            <a:ext cx="236455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Connecteur en angle 20">
            <a:extLst>
              <a:ext uri="{FF2B5EF4-FFF2-40B4-BE49-F238E27FC236}">
                <a16:creationId xmlns:a16="http://schemas.microsoft.com/office/drawing/2014/main" id="{D4D419BD-DC51-1C62-D5F9-1139920ACE7C}"/>
              </a:ext>
            </a:extLst>
          </p:cNvPr>
          <p:cNvCxnSpPr>
            <a:stCxn id="13" idx="2"/>
            <a:endCxn id="15" idx="1"/>
          </p:cNvCxnSpPr>
          <p:nvPr/>
        </p:nvCxnSpPr>
        <p:spPr>
          <a:xfrm rot="16200000" flipH="1">
            <a:off x="5001377" y="3660440"/>
            <a:ext cx="1953783" cy="113781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Connecteur en angle 21">
            <a:extLst>
              <a:ext uri="{FF2B5EF4-FFF2-40B4-BE49-F238E27FC236}">
                <a16:creationId xmlns:a16="http://schemas.microsoft.com/office/drawing/2014/main" id="{DFE79176-E611-1661-B534-5548CA3F2882}"/>
              </a:ext>
            </a:extLst>
          </p:cNvPr>
          <p:cNvCxnSpPr>
            <a:cxnSpLocks/>
            <a:stCxn id="15" idx="3"/>
            <a:endCxn id="14" idx="2"/>
          </p:cNvCxnSpPr>
          <p:nvPr/>
        </p:nvCxnSpPr>
        <p:spPr>
          <a:xfrm flipV="1">
            <a:off x="8424421" y="3070284"/>
            <a:ext cx="1434145" cy="213595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Connecteur droit avec flèche 25">
            <a:extLst>
              <a:ext uri="{FF2B5EF4-FFF2-40B4-BE49-F238E27FC236}">
                <a16:creationId xmlns:a16="http://schemas.microsoft.com/office/drawing/2014/main" id="{0E99200F-ACAA-80E0-2D07-CBE27201DA7C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 flipV="1">
            <a:off x="6347982" y="2583310"/>
            <a:ext cx="235306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ZoneTexte 26">
            <a:extLst>
              <a:ext uri="{FF2B5EF4-FFF2-40B4-BE49-F238E27FC236}">
                <a16:creationId xmlns:a16="http://schemas.microsoft.com/office/drawing/2014/main" id="{E8BD38FB-71A3-C95C-183F-931DC54B8731}"/>
              </a:ext>
            </a:extLst>
          </p:cNvPr>
          <p:cNvSpPr txBox="1"/>
          <p:nvPr/>
        </p:nvSpPr>
        <p:spPr>
          <a:xfrm>
            <a:off x="936566" y="3342429"/>
            <a:ext cx="13704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“ A dog is…“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92C5B151-44F2-5873-AE55-56F2CFBC6672}"/>
              </a:ext>
            </a:extLst>
          </p:cNvPr>
          <p:cNvSpPr txBox="1"/>
          <p:nvPr/>
        </p:nvSpPr>
        <p:spPr>
          <a:xfrm>
            <a:off x="4280513" y="3278382"/>
            <a:ext cx="26918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“ …human’s best friends“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269615FD-FA18-8266-6761-9075176FAC24}"/>
              </a:ext>
            </a:extLst>
          </p:cNvPr>
          <p:cNvSpPr txBox="1"/>
          <p:nvPr/>
        </p:nvSpPr>
        <p:spPr>
          <a:xfrm>
            <a:off x="8701051" y="4836908"/>
            <a:ext cx="744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+2,86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364159BB-C983-5E31-9689-DB6FFFDC9075}"/>
              </a:ext>
            </a:extLst>
          </p:cNvPr>
          <p:cNvSpPr txBox="1"/>
          <p:nvPr/>
        </p:nvSpPr>
        <p:spPr>
          <a:xfrm>
            <a:off x="6775235" y="2175646"/>
            <a:ext cx="17316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Update weights</a:t>
            </a: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40F774A1-2828-2B21-3E99-0DCF2EBCEBEF}"/>
              </a:ext>
            </a:extLst>
          </p:cNvPr>
          <p:cNvSpPr txBox="1"/>
          <p:nvPr/>
        </p:nvSpPr>
        <p:spPr>
          <a:xfrm>
            <a:off x="9935852" y="6181682"/>
            <a:ext cx="18101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5"/>
              </a:rPr>
              <a:t>Read about PPO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B0E7453-E239-6494-6E58-15455CBC2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429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27" grpId="0"/>
      <p:bldP spid="28" grpId="0"/>
      <p:bldP spid="29" grpId="0"/>
      <p:bldP spid="30" grpId="0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0020E-DEC6-8D5F-4545-D3254A56D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0C46DF-768E-A02C-9929-A14EAF9D09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872701" cy="1325563"/>
          </a:xfrm>
        </p:spPr>
        <p:txBody>
          <a:bodyPr/>
          <a:lstStyle/>
          <a:p>
            <a:r>
              <a:rPr lang="en-US" dirty="0"/>
              <a:t>RLHF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3D5C0E8B-939B-9A6B-9A7F-A8F9E969C5EC}"/>
              </a:ext>
            </a:extLst>
          </p:cNvPr>
          <p:cNvSpPr txBox="1"/>
          <p:nvPr/>
        </p:nvSpPr>
        <p:spPr>
          <a:xfrm>
            <a:off x="7296814" y="888244"/>
            <a:ext cx="48951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 </a:t>
            </a:r>
            <a:r>
              <a:rPr lang="en-US" dirty="0"/>
              <a:t>: Maximize </a:t>
            </a:r>
            <a:r>
              <a:rPr lang="en-US" dirty="0" err="1"/>
              <a:t>Helpfuless</a:t>
            </a:r>
            <a:r>
              <a:rPr lang="en-US" dirty="0"/>
              <a:t>, Honesty, Harmless</a:t>
            </a:r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86D03165-351B-9B0C-C1F2-B56256B9A678}"/>
              </a:ext>
            </a:extLst>
          </p:cNvPr>
          <p:cNvGrpSpPr/>
          <p:nvPr/>
        </p:nvGrpSpPr>
        <p:grpSpPr>
          <a:xfrm>
            <a:off x="754145" y="2047174"/>
            <a:ext cx="1751826" cy="1283732"/>
            <a:chOff x="754145" y="2010594"/>
            <a:chExt cx="1751826" cy="1283732"/>
          </a:xfrm>
        </p:grpSpPr>
        <p:pic>
          <p:nvPicPr>
            <p:cNvPr id="8" name="Graphique 7" descr="Liste de contrôle avec un remplissage uni">
              <a:extLst>
                <a:ext uri="{FF2B5EF4-FFF2-40B4-BE49-F238E27FC236}">
                  <a16:creationId xmlns:a16="http://schemas.microsoft.com/office/drawing/2014/main" id="{C321A0CB-D13E-C21C-0CAD-8F21F229C83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95080" y="2010594"/>
              <a:ext cx="914400" cy="914400"/>
            </a:xfrm>
            <a:prstGeom prst="rect">
              <a:avLst/>
            </a:prstGeom>
          </p:spPr>
        </p:pic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19FA2308-F09E-D780-2A25-39B2B689ED4C}"/>
                </a:ext>
              </a:extLst>
            </p:cNvPr>
            <p:cNvSpPr txBox="1"/>
            <p:nvPr/>
          </p:nvSpPr>
          <p:spPr>
            <a:xfrm>
              <a:off x="754145" y="2924994"/>
              <a:ext cx="175182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Prompt Dataset</a:t>
              </a:r>
            </a:p>
          </p:txBody>
        </p:sp>
      </p:grp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F274D081-7068-46F1-A5D9-A8D38D7BBB98}"/>
              </a:ext>
            </a:extLst>
          </p:cNvPr>
          <p:cNvSpPr/>
          <p:nvPr/>
        </p:nvSpPr>
        <p:spPr>
          <a:xfrm>
            <a:off x="4470737" y="1914163"/>
            <a:ext cx="1877245" cy="1338294"/>
          </a:xfrm>
          <a:prstGeom prst="roundRect">
            <a:avLst/>
          </a:prstGeom>
          <a:gradFill flip="none" rotWithShape="1">
            <a:gsLst>
              <a:gs pos="0">
                <a:schemeClr val="accent5">
                  <a:tint val="66000"/>
                  <a:satMod val="160000"/>
                </a:schemeClr>
              </a:gs>
              <a:gs pos="50000">
                <a:schemeClr val="accent5">
                  <a:tint val="44500"/>
                  <a:satMod val="160000"/>
                </a:schemeClr>
              </a:gs>
              <a:gs pos="100000">
                <a:schemeClr val="accent5"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508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Fine-tuned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LLM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(updated by fb)</a:t>
            </a:r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7264ABB3-DBA0-20E4-E895-F836F579CEEE}"/>
              </a:ext>
            </a:extLst>
          </p:cNvPr>
          <p:cNvSpPr/>
          <p:nvPr/>
        </p:nvSpPr>
        <p:spPr>
          <a:xfrm>
            <a:off x="8701051" y="2096337"/>
            <a:ext cx="2315029" cy="97394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RL Proximal Policy Optimization (PPO) Algorithm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0B06092F-EDA4-61A5-AB22-6383768C0D29}"/>
              </a:ext>
            </a:extLst>
          </p:cNvPr>
          <p:cNvSpPr/>
          <p:nvPr/>
        </p:nvSpPr>
        <p:spPr>
          <a:xfrm>
            <a:off x="6547176" y="4537093"/>
            <a:ext cx="1877245" cy="1338294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 w="508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Reward model</a:t>
            </a:r>
          </a:p>
        </p:txBody>
      </p:sp>
      <p:cxnSp>
        <p:nvCxnSpPr>
          <p:cNvPr id="18" name="Connecteur droit avec flèche 17">
            <a:extLst>
              <a:ext uri="{FF2B5EF4-FFF2-40B4-BE49-F238E27FC236}">
                <a16:creationId xmlns:a16="http://schemas.microsoft.com/office/drawing/2014/main" id="{57A830D2-1960-4152-77C7-B3EF39DFC8A4}"/>
              </a:ext>
            </a:extLst>
          </p:cNvPr>
          <p:cNvCxnSpPr/>
          <p:nvPr/>
        </p:nvCxnSpPr>
        <p:spPr>
          <a:xfrm>
            <a:off x="2009480" y="2583310"/>
            <a:ext cx="236455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Connecteur en angle 20">
            <a:extLst>
              <a:ext uri="{FF2B5EF4-FFF2-40B4-BE49-F238E27FC236}">
                <a16:creationId xmlns:a16="http://schemas.microsoft.com/office/drawing/2014/main" id="{78D54926-B489-5735-54F9-11CEB0A1D15D}"/>
              </a:ext>
            </a:extLst>
          </p:cNvPr>
          <p:cNvCxnSpPr>
            <a:stCxn id="13" idx="2"/>
            <a:endCxn id="15" idx="1"/>
          </p:cNvCxnSpPr>
          <p:nvPr/>
        </p:nvCxnSpPr>
        <p:spPr>
          <a:xfrm rot="16200000" flipH="1">
            <a:off x="5001377" y="3660440"/>
            <a:ext cx="1953783" cy="113781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Connecteur en angle 21">
            <a:extLst>
              <a:ext uri="{FF2B5EF4-FFF2-40B4-BE49-F238E27FC236}">
                <a16:creationId xmlns:a16="http://schemas.microsoft.com/office/drawing/2014/main" id="{5FAE8460-5C84-3291-AF8C-FCF49DEE322D}"/>
              </a:ext>
            </a:extLst>
          </p:cNvPr>
          <p:cNvCxnSpPr>
            <a:cxnSpLocks/>
            <a:stCxn id="15" idx="3"/>
            <a:endCxn id="14" idx="2"/>
          </p:cNvCxnSpPr>
          <p:nvPr/>
        </p:nvCxnSpPr>
        <p:spPr>
          <a:xfrm flipV="1">
            <a:off x="8424421" y="3070284"/>
            <a:ext cx="1434145" cy="213595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Connecteur droit avec flèche 25">
            <a:extLst>
              <a:ext uri="{FF2B5EF4-FFF2-40B4-BE49-F238E27FC236}">
                <a16:creationId xmlns:a16="http://schemas.microsoft.com/office/drawing/2014/main" id="{1BB85724-3506-BF68-ABE2-514E90015A20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 flipV="1">
            <a:off x="6347982" y="2583310"/>
            <a:ext cx="235306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ZoneTexte 26">
            <a:extLst>
              <a:ext uri="{FF2B5EF4-FFF2-40B4-BE49-F238E27FC236}">
                <a16:creationId xmlns:a16="http://schemas.microsoft.com/office/drawing/2014/main" id="{34AE48D1-38E9-6245-1917-2F57E54E9C0A}"/>
              </a:ext>
            </a:extLst>
          </p:cNvPr>
          <p:cNvSpPr txBox="1"/>
          <p:nvPr/>
        </p:nvSpPr>
        <p:spPr>
          <a:xfrm>
            <a:off x="936566" y="3342429"/>
            <a:ext cx="13704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“ A dog is…“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3689F614-8C23-CD2D-0824-84DAA2DB4417}"/>
              </a:ext>
            </a:extLst>
          </p:cNvPr>
          <p:cNvSpPr txBox="1"/>
          <p:nvPr/>
        </p:nvSpPr>
        <p:spPr>
          <a:xfrm>
            <a:off x="4280513" y="3278382"/>
            <a:ext cx="2300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rgbClr val="FF0000"/>
                </a:solidFill>
              </a:rPr>
              <a:t>“ …a useless animal“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2F53B1ED-369A-0085-8830-99D9FA9F973B}"/>
              </a:ext>
            </a:extLst>
          </p:cNvPr>
          <p:cNvSpPr txBox="1"/>
          <p:nvPr/>
        </p:nvSpPr>
        <p:spPr>
          <a:xfrm>
            <a:off x="8701051" y="4836908"/>
            <a:ext cx="7457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- 9,86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CC552107-7D9E-0257-7D58-17BBD1668946}"/>
              </a:ext>
            </a:extLst>
          </p:cNvPr>
          <p:cNvSpPr txBox="1"/>
          <p:nvPr/>
        </p:nvSpPr>
        <p:spPr>
          <a:xfrm>
            <a:off x="6775235" y="2175646"/>
            <a:ext cx="17316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Update weights</a:t>
            </a: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90487B0B-F888-BCEE-F769-A797F3AC89AA}"/>
              </a:ext>
            </a:extLst>
          </p:cNvPr>
          <p:cNvSpPr txBox="1"/>
          <p:nvPr/>
        </p:nvSpPr>
        <p:spPr>
          <a:xfrm>
            <a:off x="9935852" y="6181682"/>
            <a:ext cx="18101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5"/>
              </a:rPr>
              <a:t>Read about PPO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D44BD5D-2AEF-2E59-236B-B171B2DA2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54291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1D186-997D-4849-6E4E-2C31C9EBC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 : coins arrondis 39">
            <a:extLst>
              <a:ext uri="{FF2B5EF4-FFF2-40B4-BE49-F238E27FC236}">
                <a16:creationId xmlns:a16="http://schemas.microsoft.com/office/drawing/2014/main" id="{CC05D769-D2C6-9144-6B9E-4AA46ECA23FA}"/>
              </a:ext>
            </a:extLst>
          </p:cNvPr>
          <p:cNvSpPr/>
          <p:nvPr/>
        </p:nvSpPr>
        <p:spPr>
          <a:xfrm>
            <a:off x="7861953" y="3913481"/>
            <a:ext cx="4204356" cy="713052"/>
          </a:xfrm>
          <a:prstGeom prst="roundRect">
            <a:avLst/>
          </a:prstGeom>
          <a:solidFill>
            <a:schemeClr val="accent2">
              <a:lumMod val="20000"/>
              <a:lumOff val="80000"/>
              <a:alpha val="58000"/>
            </a:schemeClr>
          </a:solidFill>
          <a:ln w="254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 : coins arrondis 37">
            <a:extLst>
              <a:ext uri="{FF2B5EF4-FFF2-40B4-BE49-F238E27FC236}">
                <a16:creationId xmlns:a16="http://schemas.microsoft.com/office/drawing/2014/main" id="{80EBD36D-0541-3FE0-8ED9-9A06BF08F296}"/>
              </a:ext>
            </a:extLst>
          </p:cNvPr>
          <p:cNvSpPr/>
          <p:nvPr/>
        </p:nvSpPr>
        <p:spPr>
          <a:xfrm>
            <a:off x="7861954" y="2392782"/>
            <a:ext cx="3318235" cy="713052"/>
          </a:xfrm>
          <a:prstGeom prst="roundRect">
            <a:avLst/>
          </a:prstGeom>
          <a:solidFill>
            <a:schemeClr val="accent1">
              <a:lumMod val="20000"/>
              <a:lumOff val="80000"/>
              <a:alpha val="5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 : coins arrondis 38">
            <a:extLst>
              <a:ext uri="{FF2B5EF4-FFF2-40B4-BE49-F238E27FC236}">
                <a16:creationId xmlns:a16="http://schemas.microsoft.com/office/drawing/2014/main" id="{EC3F19AF-81B7-9327-2795-BF3E673FEAD3}"/>
              </a:ext>
            </a:extLst>
          </p:cNvPr>
          <p:cNvSpPr/>
          <p:nvPr/>
        </p:nvSpPr>
        <p:spPr>
          <a:xfrm>
            <a:off x="7861954" y="3139532"/>
            <a:ext cx="3318235" cy="713052"/>
          </a:xfrm>
          <a:prstGeom prst="roundRect">
            <a:avLst/>
          </a:prstGeom>
          <a:solidFill>
            <a:schemeClr val="accent3">
              <a:lumMod val="20000"/>
              <a:lumOff val="80000"/>
              <a:alpha val="5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F8B94E-FAE7-CF5B-2A5E-1F1F75DBC8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606699" cy="1325563"/>
          </a:xfrm>
        </p:spPr>
        <p:txBody>
          <a:bodyPr/>
          <a:lstStyle/>
          <a:p>
            <a:r>
              <a:rPr lang="en-US" dirty="0"/>
              <a:t>RLHF – obtaining feedback from human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1FFAC3F2-D79E-DF39-92A7-558464568390}"/>
              </a:ext>
            </a:extLst>
          </p:cNvPr>
          <p:cNvSpPr txBox="1"/>
          <p:nvPr/>
        </p:nvSpPr>
        <p:spPr>
          <a:xfrm>
            <a:off x="496206" y="1743739"/>
            <a:ext cx="42446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1. Define your criteria (ex: Helpfulness)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654F26CF-1954-1F46-4069-BABD574862C7}"/>
              </a:ext>
            </a:extLst>
          </p:cNvPr>
          <p:cNvSpPr txBox="1"/>
          <p:nvPr/>
        </p:nvSpPr>
        <p:spPr>
          <a:xfrm>
            <a:off x="502054" y="3324461"/>
            <a:ext cx="25414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“ I want to learn faster .“</a:t>
            </a:r>
          </a:p>
        </p:txBody>
      </p: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E944CBE8-EE3A-1D0B-D85E-CEA8D89481DA}"/>
              </a:ext>
            </a:extLst>
          </p:cNvPr>
          <p:cNvSpPr/>
          <p:nvPr/>
        </p:nvSpPr>
        <p:spPr>
          <a:xfrm>
            <a:off x="4357615" y="2835269"/>
            <a:ext cx="1877245" cy="1338294"/>
          </a:xfrm>
          <a:prstGeom prst="roundRect">
            <a:avLst/>
          </a:prstGeom>
          <a:gradFill flip="none" rotWithShape="1">
            <a:gsLst>
              <a:gs pos="0">
                <a:schemeClr val="accent5">
                  <a:tint val="66000"/>
                  <a:satMod val="160000"/>
                </a:schemeClr>
              </a:gs>
              <a:gs pos="50000">
                <a:schemeClr val="accent5">
                  <a:tint val="44500"/>
                  <a:satMod val="160000"/>
                </a:schemeClr>
              </a:gs>
              <a:gs pos="100000">
                <a:schemeClr val="accent5"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508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LLM</a:t>
            </a:r>
          </a:p>
        </p:txBody>
      </p: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65429339-836B-2A5D-C61A-81AC9C9C8576}"/>
              </a:ext>
            </a:extLst>
          </p:cNvPr>
          <p:cNvCxnSpPr>
            <a:cxnSpLocks/>
            <a:endCxn id="34" idx="1"/>
          </p:cNvCxnSpPr>
          <p:nvPr/>
        </p:nvCxnSpPr>
        <p:spPr>
          <a:xfrm flipV="1">
            <a:off x="6234860" y="2716587"/>
            <a:ext cx="1627095" cy="4606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B4B88220-8528-C480-7F4C-C7D62E8AF98F}"/>
              </a:ext>
            </a:extLst>
          </p:cNvPr>
          <p:cNvCxnSpPr>
            <a:cxnSpLocks/>
            <a:stCxn id="19" idx="3"/>
            <a:endCxn id="35" idx="1"/>
          </p:cNvCxnSpPr>
          <p:nvPr/>
        </p:nvCxnSpPr>
        <p:spPr>
          <a:xfrm flipV="1">
            <a:off x="6234860" y="3466708"/>
            <a:ext cx="1627095" cy="377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eur droit avec flèche 30">
            <a:extLst>
              <a:ext uri="{FF2B5EF4-FFF2-40B4-BE49-F238E27FC236}">
                <a16:creationId xmlns:a16="http://schemas.microsoft.com/office/drawing/2014/main" id="{69C242A5-3C98-CD4C-C52F-1C166DBA1424}"/>
              </a:ext>
            </a:extLst>
          </p:cNvPr>
          <p:cNvCxnSpPr>
            <a:cxnSpLocks/>
            <a:endCxn id="40" idx="1"/>
          </p:cNvCxnSpPr>
          <p:nvPr/>
        </p:nvCxnSpPr>
        <p:spPr>
          <a:xfrm>
            <a:off x="6234860" y="3827581"/>
            <a:ext cx="1627093" cy="4424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ZoneTexte 33">
            <a:extLst>
              <a:ext uri="{FF2B5EF4-FFF2-40B4-BE49-F238E27FC236}">
                <a16:creationId xmlns:a16="http://schemas.microsoft.com/office/drawing/2014/main" id="{6D91D6DB-553A-8F69-07AA-08830E8BB9F3}"/>
              </a:ext>
            </a:extLst>
          </p:cNvPr>
          <p:cNvSpPr txBox="1"/>
          <p:nvPr/>
        </p:nvSpPr>
        <p:spPr>
          <a:xfrm>
            <a:off x="7861955" y="2393421"/>
            <a:ext cx="32052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“</a:t>
            </a:r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 </a:t>
            </a:r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I want to learn faster</a:t>
            </a:r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. </a:t>
            </a:r>
            <a:br>
              <a:rPr lang="en-US" dirty="0"/>
            </a:br>
            <a:r>
              <a:rPr lang="en-US" dirty="0"/>
              <a:t>You can’t do anything about it”</a:t>
            </a: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C46F60BE-7790-1037-4CBB-32BE3C0691CD}"/>
              </a:ext>
            </a:extLst>
          </p:cNvPr>
          <p:cNvSpPr txBox="1"/>
          <p:nvPr/>
        </p:nvSpPr>
        <p:spPr>
          <a:xfrm>
            <a:off x="7861955" y="3143542"/>
            <a:ext cx="24464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“ I want to learn faster</a:t>
            </a:r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. </a:t>
            </a:r>
            <a:br>
              <a:rPr lang="en-US" dirty="0"/>
            </a:br>
            <a:r>
              <a:rPr lang="en-US" dirty="0"/>
              <a:t>Read faster”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A17DA512-8C49-625A-76D5-22E4F09C351F}"/>
              </a:ext>
            </a:extLst>
          </p:cNvPr>
          <p:cNvSpPr txBox="1"/>
          <p:nvPr/>
        </p:nvSpPr>
        <p:spPr>
          <a:xfrm>
            <a:off x="7861955" y="3913481"/>
            <a:ext cx="42913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“ </a:t>
            </a:r>
            <a:r>
              <a:rPr lang="en-US" dirty="0">
                <a:solidFill>
                  <a:schemeClr val="bg2">
                    <a:lumMod val="75000"/>
                  </a:schemeClr>
                </a:solidFill>
              </a:rPr>
              <a:t>I want to learn faster</a:t>
            </a:r>
            <a:r>
              <a:rPr lang="en-US" dirty="0">
                <a:solidFill>
                  <a:schemeClr val="bg2">
                    <a:lumMod val="90000"/>
                  </a:schemeClr>
                </a:solidFill>
              </a:rPr>
              <a:t>. </a:t>
            </a:r>
            <a:br>
              <a:rPr lang="en-US" dirty="0"/>
            </a:br>
            <a:r>
              <a:rPr lang="en-US" dirty="0"/>
              <a:t>Try to teach someone the topic you learn”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5C3FDB50-63B0-66C4-26B7-E98C4F86DCBC}"/>
              </a:ext>
            </a:extLst>
          </p:cNvPr>
          <p:cNvSpPr txBox="1"/>
          <p:nvPr/>
        </p:nvSpPr>
        <p:spPr>
          <a:xfrm>
            <a:off x="7861955" y="1885015"/>
            <a:ext cx="18229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u="sng" dirty="0"/>
              <a:t>LLM Completion</a:t>
            </a:r>
          </a:p>
        </p:txBody>
      </p:sp>
      <p:cxnSp>
        <p:nvCxnSpPr>
          <p:cNvPr id="42" name="Connecteur droit avec flèche 41">
            <a:extLst>
              <a:ext uri="{FF2B5EF4-FFF2-40B4-BE49-F238E27FC236}">
                <a16:creationId xmlns:a16="http://schemas.microsoft.com/office/drawing/2014/main" id="{6A9F3A8E-495D-5D5A-A4D6-92FEB5D8CDB3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 flipV="1">
            <a:off x="3043455" y="3504416"/>
            <a:ext cx="1314160" cy="4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5499B7-34EC-9C58-9597-558C65E96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3097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 animBg="1"/>
      <p:bldP spid="38" grpId="0" animBg="1"/>
      <p:bldP spid="39" grpId="0" animBg="1"/>
      <p:bldP spid="17" grpId="0"/>
      <p:bldP spid="19" grpId="0" animBg="1"/>
      <p:bldP spid="34" grpId="0"/>
      <p:bldP spid="35" grpId="0"/>
      <p:bldP spid="36" grpId="0"/>
      <p:bldP spid="37" grpId="0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AB1CF-2A83-11DA-770C-52C8B77B9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 : coins arrondis 37">
            <a:extLst>
              <a:ext uri="{FF2B5EF4-FFF2-40B4-BE49-F238E27FC236}">
                <a16:creationId xmlns:a16="http://schemas.microsoft.com/office/drawing/2014/main" id="{D31AD618-7D88-4EBA-E171-5C8A08BDD77A}"/>
              </a:ext>
            </a:extLst>
          </p:cNvPr>
          <p:cNvSpPr/>
          <p:nvPr/>
        </p:nvSpPr>
        <p:spPr>
          <a:xfrm>
            <a:off x="5978710" y="2503307"/>
            <a:ext cx="1178351" cy="438048"/>
          </a:xfrm>
          <a:prstGeom prst="roundRect">
            <a:avLst/>
          </a:prstGeom>
          <a:solidFill>
            <a:schemeClr val="accent1">
              <a:lumMod val="20000"/>
              <a:lumOff val="80000"/>
              <a:alpha val="5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Rectangle : coins arrondis 38">
            <a:extLst>
              <a:ext uri="{FF2B5EF4-FFF2-40B4-BE49-F238E27FC236}">
                <a16:creationId xmlns:a16="http://schemas.microsoft.com/office/drawing/2014/main" id="{9A22CE6E-5F12-272A-D0B9-B4740666999C}"/>
              </a:ext>
            </a:extLst>
          </p:cNvPr>
          <p:cNvSpPr/>
          <p:nvPr/>
        </p:nvSpPr>
        <p:spPr>
          <a:xfrm>
            <a:off x="7212470" y="2485250"/>
            <a:ext cx="1178351" cy="457044"/>
          </a:xfrm>
          <a:prstGeom prst="roundRect">
            <a:avLst/>
          </a:prstGeom>
          <a:solidFill>
            <a:schemeClr val="accent2">
              <a:lumMod val="20000"/>
              <a:lumOff val="80000"/>
              <a:alpha val="5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1D35DA4-C98E-30A5-0350-821DF6176E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606699" cy="1325563"/>
          </a:xfrm>
        </p:spPr>
        <p:txBody>
          <a:bodyPr/>
          <a:lstStyle/>
          <a:p>
            <a:r>
              <a:rPr lang="en-US" dirty="0"/>
              <a:t>RLHF – obtaining feedback from human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AD232ABB-C4A4-0DD2-6F4B-FC27ADCC2112}"/>
              </a:ext>
            </a:extLst>
          </p:cNvPr>
          <p:cNvSpPr txBox="1"/>
          <p:nvPr/>
        </p:nvSpPr>
        <p:spPr>
          <a:xfrm>
            <a:off x="496206" y="1743739"/>
            <a:ext cx="39156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2. Rank Completion base on criteria</a:t>
            </a:r>
          </a:p>
        </p:txBody>
      </p: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1EDF022C-02AD-EB13-6BEF-325775D5737E}"/>
              </a:ext>
            </a:extLst>
          </p:cNvPr>
          <p:cNvSpPr/>
          <p:nvPr/>
        </p:nvSpPr>
        <p:spPr>
          <a:xfrm>
            <a:off x="2916626" y="2854863"/>
            <a:ext cx="1877245" cy="1338294"/>
          </a:xfrm>
          <a:prstGeom prst="roundRect">
            <a:avLst/>
          </a:prstGeom>
          <a:gradFill flip="none" rotWithShape="1">
            <a:gsLst>
              <a:gs pos="0">
                <a:schemeClr val="accent5">
                  <a:tint val="66000"/>
                  <a:satMod val="160000"/>
                </a:schemeClr>
              </a:gs>
              <a:gs pos="50000">
                <a:schemeClr val="accent5">
                  <a:tint val="44500"/>
                  <a:satMod val="160000"/>
                </a:schemeClr>
              </a:gs>
              <a:gs pos="100000">
                <a:schemeClr val="accent5"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508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LLM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3AEE9AD0-137F-1CBF-60D7-334301DEDF4A}"/>
              </a:ext>
            </a:extLst>
          </p:cNvPr>
          <p:cNvSpPr txBox="1"/>
          <p:nvPr/>
        </p:nvSpPr>
        <p:spPr>
          <a:xfrm>
            <a:off x="5957237" y="1946746"/>
            <a:ext cx="18229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u="sng" dirty="0"/>
              <a:t>LLM Completion</a:t>
            </a:r>
          </a:p>
        </p:txBody>
      </p:sp>
      <p:cxnSp>
        <p:nvCxnSpPr>
          <p:cNvPr id="42" name="Connecteur droit avec flèche 41">
            <a:extLst>
              <a:ext uri="{FF2B5EF4-FFF2-40B4-BE49-F238E27FC236}">
                <a16:creationId xmlns:a16="http://schemas.microsoft.com/office/drawing/2014/main" id="{D763713C-4874-7C9D-6273-F6CAD8CB8FBC}"/>
              </a:ext>
            </a:extLst>
          </p:cNvPr>
          <p:cNvCxnSpPr>
            <a:cxnSpLocks/>
          </p:cNvCxnSpPr>
          <p:nvPr/>
        </p:nvCxnSpPr>
        <p:spPr>
          <a:xfrm flipV="1">
            <a:off x="2189903" y="3524010"/>
            <a:ext cx="715984" cy="4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Groupe 3">
            <a:extLst>
              <a:ext uri="{FF2B5EF4-FFF2-40B4-BE49-F238E27FC236}">
                <a16:creationId xmlns:a16="http://schemas.microsoft.com/office/drawing/2014/main" id="{9A70ECAF-2407-C099-2FC1-7025ACA84239}"/>
              </a:ext>
            </a:extLst>
          </p:cNvPr>
          <p:cNvGrpSpPr/>
          <p:nvPr/>
        </p:nvGrpSpPr>
        <p:grpSpPr>
          <a:xfrm>
            <a:off x="702192" y="3031993"/>
            <a:ext cx="1751826" cy="1283732"/>
            <a:chOff x="754145" y="2010594"/>
            <a:chExt cx="1751826" cy="1283732"/>
          </a:xfrm>
        </p:grpSpPr>
        <p:pic>
          <p:nvPicPr>
            <p:cNvPr id="5" name="Graphique 4" descr="Liste de contrôle avec un remplissage uni">
              <a:extLst>
                <a:ext uri="{FF2B5EF4-FFF2-40B4-BE49-F238E27FC236}">
                  <a16:creationId xmlns:a16="http://schemas.microsoft.com/office/drawing/2014/main" id="{32AB57BD-2E4D-C048-4A2E-4020824EB02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95080" y="2010594"/>
              <a:ext cx="914400" cy="914400"/>
            </a:xfrm>
            <a:prstGeom prst="rect">
              <a:avLst/>
            </a:prstGeom>
          </p:spPr>
        </p:pic>
        <p:sp>
          <p:nvSpPr>
            <p:cNvPr id="6" name="ZoneTexte 5">
              <a:extLst>
                <a:ext uri="{FF2B5EF4-FFF2-40B4-BE49-F238E27FC236}">
                  <a16:creationId xmlns:a16="http://schemas.microsoft.com/office/drawing/2014/main" id="{2DC3C56D-9CA1-F94F-C488-090C68DD030E}"/>
                </a:ext>
              </a:extLst>
            </p:cNvPr>
            <p:cNvSpPr txBox="1"/>
            <p:nvPr/>
          </p:nvSpPr>
          <p:spPr>
            <a:xfrm>
              <a:off x="754145" y="2924994"/>
              <a:ext cx="175182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Prompt Dataset</a:t>
              </a:r>
            </a:p>
          </p:txBody>
        </p:sp>
      </p:grp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4DF9D688-BCD8-8DBE-707F-D358361941C4}"/>
              </a:ext>
            </a:extLst>
          </p:cNvPr>
          <p:cNvSpPr/>
          <p:nvPr/>
        </p:nvSpPr>
        <p:spPr>
          <a:xfrm>
            <a:off x="8446230" y="2485250"/>
            <a:ext cx="1178351" cy="457044"/>
          </a:xfrm>
          <a:prstGeom prst="roundRect">
            <a:avLst/>
          </a:prstGeom>
          <a:solidFill>
            <a:schemeClr val="accent3">
              <a:lumMod val="20000"/>
              <a:lumOff val="80000"/>
              <a:alpha val="5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92E03F0C-C51C-3DFB-31BA-0E23789CC1A6}"/>
              </a:ext>
            </a:extLst>
          </p:cNvPr>
          <p:cNvSpPr/>
          <p:nvPr/>
        </p:nvSpPr>
        <p:spPr>
          <a:xfrm>
            <a:off x="5978710" y="3085023"/>
            <a:ext cx="1178351" cy="438048"/>
          </a:xfrm>
          <a:prstGeom prst="roundRect">
            <a:avLst/>
          </a:prstGeom>
          <a:solidFill>
            <a:schemeClr val="accent1">
              <a:lumMod val="20000"/>
              <a:lumOff val="80000"/>
              <a:alpha val="5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982973F7-B2E9-0268-765F-1241D6325479}"/>
              </a:ext>
            </a:extLst>
          </p:cNvPr>
          <p:cNvSpPr/>
          <p:nvPr/>
        </p:nvSpPr>
        <p:spPr>
          <a:xfrm>
            <a:off x="7212470" y="3066966"/>
            <a:ext cx="1178351" cy="457044"/>
          </a:xfrm>
          <a:prstGeom prst="roundRect">
            <a:avLst/>
          </a:prstGeom>
          <a:solidFill>
            <a:schemeClr val="accent2">
              <a:lumMod val="20000"/>
              <a:lumOff val="80000"/>
              <a:alpha val="5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4CD975B7-1CCA-501A-1E10-2F7E2DD5D1C7}"/>
              </a:ext>
            </a:extLst>
          </p:cNvPr>
          <p:cNvSpPr/>
          <p:nvPr/>
        </p:nvSpPr>
        <p:spPr>
          <a:xfrm>
            <a:off x="8446230" y="3066966"/>
            <a:ext cx="1178351" cy="457044"/>
          </a:xfrm>
          <a:prstGeom prst="roundRect">
            <a:avLst/>
          </a:prstGeom>
          <a:solidFill>
            <a:schemeClr val="accent3">
              <a:lumMod val="20000"/>
              <a:lumOff val="80000"/>
              <a:alpha val="5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4F93126D-962A-159F-961F-8877B6A71871}"/>
              </a:ext>
            </a:extLst>
          </p:cNvPr>
          <p:cNvSpPr/>
          <p:nvPr/>
        </p:nvSpPr>
        <p:spPr>
          <a:xfrm>
            <a:off x="5978710" y="3686255"/>
            <a:ext cx="1178351" cy="438048"/>
          </a:xfrm>
          <a:prstGeom prst="roundRect">
            <a:avLst/>
          </a:prstGeom>
          <a:solidFill>
            <a:schemeClr val="accent1">
              <a:lumMod val="20000"/>
              <a:lumOff val="80000"/>
              <a:alpha val="5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21A4235C-EB1E-38BA-F97F-C7B3975CFA56}"/>
              </a:ext>
            </a:extLst>
          </p:cNvPr>
          <p:cNvSpPr/>
          <p:nvPr/>
        </p:nvSpPr>
        <p:spPr>
          <a:xfrm>
            <a:off x="7212470" y="3668198"/>
            <a:ext cx="1178351" cy="457044"/>
          </a:xfrm>
          <a:prstGeom prst="roundRect">
            <a:avLst/>
          </a:prstGeom>
          <a:solidFill>
            <a:schemeClr val="accent2">
              <a:lumMod val="20000"/>
              <a:lumOff val="80000"/>
              <a:alpha val="5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54192F4D-B815-18B1-2D29-C5FC47455533}"/>
              </a:ext>
            </a:extLst>
          </p:cNvPr>
          <p:cNvSpPr/>
          <p:nvPr/>
        </p:nvSpPr>
        <p:spPr>
          <a:xfrm>
            <a:off x="8446230" y="3668198"/>
            <a:ext cx="1178351" cy="457044"/>
          </a:xfrm>
          <a:prstGeom prst="roundRect">
            <a:avLst/>
          </a:prstGeom>
          <a:solidFill>
            <a:schemeClr val="accent3">
              <a:lumMod val="20000"/>
              <a:lumOff val="80000"/>
              <a:alpha val="5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E7638761-E066-326E-D1CC-733A02B5884F}"/>
              </a:ext>
            </a:extLst>
          </p:cNvPr>
          <p:cNvSpPr/>
          <p:nvPr/>
        </p:nvSpPr>
        <p:spPr>
          <a:xfrm>
            <a:off x="5978710" y="4269430"/>
            <a:ext cx="1178351" cy="438048"/>
          </a:xfrm>
          <a:prstGeom prst="roundRect">
            <a:avLst/>
          </a:prstGeom>
          <a:solidFill>
            <a:schemeClr val="accent1">
              <a:lumMod val="20000"/>
              <a:lumOff val="80000"/>
              <a:alpha val="5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3D87B329-BBDB-457F-E97C-3FC794E69697}"/>
              </a:ext>
            </a:extLst>
          </p:cNvPr>
          <p:cNvSpPr/>
          <p:nvPr/>
        </p:nvSpPr>
        <p:spPr>
          <a:xfrm>
            <a:off x="7212470" y="4251373"/>
            <a:ext cx="1178351" cy="457044"/>
          </a:xfrm>
          <a:prstGeom prst="roundRect">
            <a:avLst/>
          </a:prstGeom>
          <a:solidFill>
            <a:schemeClr val="accent2">
              <a:lumMod val="20000"/>
              <a:lumOff val="80000"/>
              <a:alpha val="5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 : coins arrondis 19">
            <a:extLst>
              <a:ext uri="{FF2B5EF4-FFF2-40B4-BE49-F238E27FC236}">
                <a16:creationId xmlns:a16="http://schemas.microsoft.com/office/drawing/2014/main" id="{A585A966-DF08-B053-0731-AFDF4B42A531}"/>
              </a:ext>
            </a:extLst>
          </p:cNvPr>
          <p:cNvSpPr/>
          <p:nvPr/>
        </p:nvSpPr>
        <p:spPr>
          <a:xfrm>
            <a:off x="8446230" y="4251373"/>
            <a:ext cx="1178351" cy="457044"/>
          </a:xfrm>
          <a:prstGeom prst="roundRect">
            <a:avLst/>
          </a:prstGeom>
          <a:solidFill>
            <a:schemeClr val="accent3">
              <a:lumMod val="20000"/>
              <a:lumOff val="80000"/>
              <a:alpha val="5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" name="Connecteur droit avec flèche 24">
            <a:extLst>
              <a:ext uri="{FF2B5EF4-FFF2-40B4-BE49-F238E27FC236}">
                <a16:creationId xmlns:a16="http://schemas.microsoft.com/office/drawing/2014/main" id="{4FE6590A-D864-F52A-7716-833A0003F175}"/>
              </a:ext>
            </a:extLst>
          </p:cNvPr>
          <p:cNvCxnSpPr>
            <a:cxnSpLocks/>
          </p:cNvCxnSpPr>
          <p:nvPr/>
        </p:nvCxnSpPr>
        <p:spPr>
          <a:xfrm flipV="1">
            <a:off x="4804610" y="3523071"/>
            <a:ext cx="715984" cy="4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C0E177-486B-386D-37EF-1099E3227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1986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19" grpId="0" animBg="1"/>
      <p:bldP spid="37" grpId="0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20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072679-6375-8DF7-17B7-D121C413BB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 : coins arrondis 37">
            <a:extLst>
              <a:ext uri="{FF2B5EF4-FFF2-40B4-BE49-F238E27FC236}">
                <a16:creationId xmlns:a16="http://schemas.microsoft.com/office/drawing/2014/main" id="{68C2C8DC-5C80-49F9-8973-233D7BC3CF0D}"/>
              </a:ext>
            </a:extLst>
          </p:cNvPr>
          <p:cNvSpPr/>
          <p:nvPr/>
        </p:nvSpPr>
        <p:spPr>
          <a:xfrm>
            <a:off x="76684" y="2669632"/>
            <a:ext cx="1178351" cy="438048"/>
          </a:xfrm>
          <a:prstGeom prst="roundRect">
            <a:avLst/>
          </a:prstGeom>
          <a:solidFill>
            <a:schemeClr val="accent1">
              <a:lumMod val="20000"/>
              <a:lumOff val="80000"/>
              <a:alpha val="5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Rectangle : coins arrondis 38">
            <a:extLst>
              <a:ext uri="{FF2B5EF4-FFF2-40B4-BE49-F238E27FC236}">
                <a16:creationId xmlns:a16="http://schemas.microsoft.com/office/drawing/2014/main" id="{ADE8F2D6-A94D-7F11-4DBC-3131D7F6858C}"/>
              </a:ext>
            </a:extLst>
          </p:cNvPr>
          <p:cNvSpPr/>
          <p:nvPr/>
        </p:nvSpPr>
        <p:spPr>
          <a:xfrm>
            <a:off x="1310444" y="2651575"/>
            <a:ext cx="1178351" cy="457044"/>
          </a:xfrm>
          <a:prstGeom prst="roundRect">
            <a:avLst/>
          </a:prstGeom>
          <a:solidFill>
            <a:schemeClr val="accent2">
              <a:lumMod val="20000"/>
              <a:lumOff val="80000"/>
              <a:alpha val="5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199B928-2F8F-1345-FBC5-C15D5E5C22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606699" cy="1325563"/>
          </a:xfrm>
        </p:spPr>
        <p:txBody>
          <a:bodyPr/>
          <a:lstStyle/>
          <a:p>
            <a:r>
              <a:rPr lang="en-US" dirty="0"/>
              <a:t>RLHF – obtaining feedback from human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09E768EC-B42C-7885-0C83-96CF898D3FBA}"/>
              </a:ext>
            </a:extLst>
          </p:cNvPr>
          <p:cNvSpPr txBox="1"/>
          <p:nvPr/>
        </p:nvSpPr>
        <p:spPr>
          <a:xfrm>
            <a:off x="496206" y="1743739"/>
            <a:ext cx="39156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2. Rank Completion base on criteria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E2CF5003-0C53-0023-5794-4F7633AE0349}"/>
              </a:ext>
            </a:extLst>
          </p:cNvPr>
          <p:cNvSpPr txBox="1"/>
          <p:nvPr/>
        </p:nvSpPr>
        <p:spPr>
          <a:xfrm>
            <a:off x="55211" y="2113071"/>
            <a:ext cx="18229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u="sng" dirty="0"/>
              <a:t>LLM Completion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84926828-2DE7-4F96-3C10-FBB075A5A7AA}"/>
              </a:ext>
            </a:extLst>
          </p:cNvPr>
          <p:cNvSpPr/>
          <p:nvPr/>
        </p:nvSpPr>
        <p:spPr>
          <a:xfrm>
            <a:off x="2544204" y="2651575"/>
            <a:ext cx="1178351" cy="457044"/>
          </a:xfrm>
          <a:prstGeom prst="roundRect">
            <a:avLst/>
          </a:prstGeom>
          <a:solidFill>
            <a:schemeClr val="accent3">
              <a:lumMod val="20000"/>
              <a:lumOff val="80000"/>
              <a:alpha val="5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23BA8549-575D-CBA5-4D38-AD549A2D057A}"/>
              </a:ext>
            </a:extLst>
          </p:cNvPr>
          <p:cNvSpPr/>
          <p:nvPr/>
        </p:nvSpPr>
        <p:spPr>
          <a:xfrm>
            <a:off x="76684" y="3251348"/>
            <a:ext cx="1178351" cy="438048"/>
          </a:xfrm>
          <a:prstGeom prst="roundRect">
            <a:avLst/>
          </a:prstGeom>
          <a:solidFill>
            <a:schemeClr val="accent1">
              <a:lumMod val="20000"/>
              <a:lumOff val="80000"/>
              <a:alpha val="5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65EC62D1-B34D-8FC0-C7CD-958144B6BB24}"/>
              </a:ext>
            </a:extLst>
          </p:cNvPr>
          <p:cNvSpPr/>
          <p:nvPr/>
        </p:nvSpPr>
        <p:spPr>
          <a:xfrm>
            <a:off x="1310444" y="3233291"/>
            <a:ext cx="1178351" cy="457044"/>
          </a:xfrm>
          <a:prstGeom prst="roundRect">
            <a:avLst/>
          </a:prstGeom>
          <a:solidFill>
            <a:schemeClr val="accent2">
              <a:lumMod val="20000"/>
              <a:lumOff val="80000"/>
              <a:alpha val="5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B604BA04-B5A5-D1EB-FAB0-B2E606498C6E}"/>
              </a:ext>
            </a:extLst>
          </p:cNvPr>
          <p:cNvSpPr/>
          <p:nvPr/>
        </p:nvSpPr>
        <p:spPr>
          <a:xfrm>
            <a:off x="2544204" y="3233291"/>
            <a:ext cx="1178351" cy="457044"/>
          </a:xfrm>
          <a:prstGeom prst="roundRect">
            <a:avLst/>
          </a:prstGeom>
          <a:solidFill>
            <a:schemeClr val="accent3">
              <a:lumMod val="20000"/>
              <a:lumOff val="80000"/>
              <a:alpha val="5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8380CA52-BE8E-0C99-ACB0-18D0A138D92C}"/>
              </a:ext>
            </a:extLst>
          </p:cNvPr>
          <p:cNvSpPr/>
          <p:nvPr/>
        </p:nvSpPr>
        <p:spPr>
          <a:xfrm>
            <a:off x="76684" y="3852580"/>
            <a:ext cx="1178351" cy="438048"/>
          </a:xfrm>
          <a:prstGeom prst="roundRect">
            <a:avLst/>
          </a:prstGeom>
          <a:solidFill>
            <a:schemeClr val="accent1">
              <a:lumMod val="20000"/>
              <a:lumOff val="80000"/>
              <a:alpha val="5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9CD35233-D4FD-0A42-5EA3-0539F3F370CB}"/>
              </a:ext>
            </a:extLst>
          </p:cNvPr>
          <p:cNvSpPr/>
          <p:nvPr/>
        </p:nvSpPr>
        <p:spPr>
          <a:xfrm>
            <a:off x="1310444" y="3834523"/>
            <a:ext cx="1178351" cy="457044"/>
          </a:xfrm>
          <a:prstGeom prst="roundRect">
            <a:avLst/>
          </a:prstGeom>
          <a:solidFill>
            <a:schemeClr val="accent2">
              <a:lumMod val="20000"/>
              <a:lumOff val="80000"/>
              <a:alpha val="5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AE0AAF2B-15B8-F063-B651-5038EB0D5E35}"/>
              </a:ext>
            </a:extLst>
          </p:cNvPr>
          <p:cNvSpPr/>
          <p:nvPr/>
        </p:nvSpPr>
        <p:spPr>
          <a:xfrm>
            <a:off x="2544204" y="3834523"/>
            <a:ext cx="1178351" cy="457044"/>
          </a:xfrm>
          <a:prstGeom prst="roundRect">
            <a:avLst/>
          </a:prstGeom>
          <a:solidFill>
            <a:schemeClr val="accent3">
              <a:lumMod val="20000"/>
              <a:lumOff val="80000"/>
              <a:alpha val="5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4DA09601-516C-01C2-7EB2-5CF853253824}"/>
              </a:ext>
            </a:extLst>
          </p:cNvPr>
          <p:cNvSpPr/>
          <p:nvPr/>
        </p:nvSpPr>
        <p:spPr>
          <a:xfrm>
            <a:off x="76684" y="4435755"/>
            <a:ext cx="1178351" cy="438048"/>
          </a:xfrm>
          <a:prstGeom prst="roundRect">
            <a:avLst/>
          </a:prstGeom>
          <a:solidFill>
            <a:schemeClr val="accent1">
              <a:lumMod val="20000"/>
              <a:lumOff val="80000"/>
              <a:alpha val="5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410B0C3E-C2F3-FB98-9141-8A80B31ED2F1}"/>
              </a:ext>
            </a:extLst>
          </p:cNvPr>
          <p:cNvSpPr/>
          <p:nvPr/>
        </p:nvSpPr>
        <p:spPr>
          <a:xfrm>
            <a:off x="1310444" y="4417698"/>
            <a:ext cx="1178351" cy="457044"/>
          </a:xfrm>
          <a:prstGeom prst="roundRect">
            <a:avLst/>
          </a:prstGeom>
          <a:solidFill>
            <a:schemeClr val="accent2">
              <a:lumMod val="20000"/>
              <a:lumOff val="80000"/>
              <a:alpha val="5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 : coins arrondis 19">
            <a:extLst>
              <a:ext uri="{FF2B5EF4-FFF2-40B4-BE49-F238E27FC236}">
                <a16:creationId xmlns:a16="http://schemas.microsoft.com/office/drawing/2014/main" id="{DEB1D647-A728-F210-3CE1-584A8FDD0A38}"/>
              </a:ext>
            </a:extLst>
          </p:cNvPr>
          <p:cNvSpPr/>
          <p:nvPr/>
        </p:nvSpPr>
        <p:spPr>
          <a:xfrm>
            <a:off x="2544204" y="4417698"/>
            <a:ext cx="1178351" cy="457044"/>
          </a:xfrm>
          <a:prstGeom prst="roundRect">
            <a:avLst/>
          </a:prstGeom>
          <a:solidFill>
            <a:schemeClr val="accent3">
              <a:lumMod val="20000"/>
              <a:lumOff val="80000"/>
              <a:alpha val="5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raphique 6" descr="Groupe avec un remplissage uni">
            <a:extLst>
              <a:ext uri="{FF2B5EF4-FFF2-40B4-BE49-F238E27FC236}">
                <a16:creationId xmlns:a16="http://schemas.microsoft.com/office/drawing/2014/main" id="{BAC4F6AF-C09D-874E-6D62-CC8CDFC5F3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45683" y="3250177"/>
            <a:ext cx="914400" cy="914400"/>
          </a:xfrm>
          <a:prstGeom prst="rect">
            <a:avLst/>
          </a:prstGeom>
        </p:spPr>
      </p:pic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41C09094-5AC5-2F13-BBAD-4A1FD817EF5C}"/>
              </a:ext>
            </a:extLst>
          </p:cNvPr>
          <p:cNvSpPr/>
          <p:nvPr/>
        </p:nvSpPr>
        <p:spPr>
          <a:xfrm>
            <a:off x="6190593" y="2528774"/>
            <a:ext cx="756170" cy="281716"/>
          </a:xfrm>
          <a:prstGeom prst="roundRect">
            <a:avLst/>
          </a:prstGeom>
          <a:solidFill>
            <a:schemeClr val="accent1">
              <a:lumMod val="20000"/>
              <a:lumOff val="80000"/>
              <a:alpha val="5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ABF5CBB7-068C-C5C3-C505-AE02FBB44ABB}"/>
              </a:ext>
            </a:extLst>
          </p:cNvPr>
          <p:cNvSpPr/>
          <p:nvPr/>
        </p:nvSpPr>
        <p:spPr>
          <a:xfrm>
            <a:off x="7020416" y="2528774"/>
            <a:ext cx="756170" cy="281716"/>
          </a:xfrm>
          <a:prstGeom prst="roundRect">
            <a:avLst/>
          </a:prstGeom>
          <a:solidFill>
            <a:schemeClr val="accent2">
              <a:lumMod val="20000"/>
              <a:lumOff val="80000"/>
              <a:alpha val="5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 : coins arrondis 21">
            <a:extLst>
              <a:ext uri="{FF2B5EF4-FFF2-40B4-BE49-F238E27FC236}">
                <a16:creationId xmlns:a16="http://schemas.microsoft.com/office/drawing/2014/main" id="{C36B84E4-BCF6-9987-96A0-C2FA49518472}"/>
              </a:ext>
            </a:extLst>
          </p:cNvPr>
          <p:cNvSpPr/>
          <p:nvPr/>
        </p:nvSpPr>
        <p:spPr>
          <a:xfrm>
            <a:off x="8979985" y="2525826"/>
            <a:ext cx="834586" cy="281717"/>
          </a:xfrm>
          <a:prstGeom prst="roundRect">
            <a:avLst/>
          </a:prstGeom>
          <a:solidFill>
            <a:schemeClr val="accent3">
              <a:lumMod val="20000"/>
              <a:lumOff val="80000"/>
              <a:alpha val="5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 : coins arrondis 25">
            <a:extLst>
              <a:ext uri="{FF2B5EF4-FFF2-40B4-BE49-F238E27FC236}">
                <a16:creationId xmlns:a16="http://schemas.microsoft.com/office/drawing/2014/main" id="{0848AFCA-FBF4-975B-BAE9-6F5450689DD0}"/>
              </a:ext>
            </a:extLst>
          </p:cNvPr>
          <p:cNvSpPr/>
          <p:nvPr/>
        </p:nvSpPr>
        <p:spPr>
          <a:xfrm>
            <a:off x="8150162" y="2525827"/>
            <a:ext cx="756170" cy="281716"/>
          </a:xfrm>
          <a:prstGeom prst="roundRect">
            <a:avLst/>
          </a:prstGeom>
          <a:solidFill>
            <a:schemeClr val="accent1">
              <a:lumMod val="20000"/>
              <a:lumOff val="80000"/>
              <a:alpha val="5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 : coins arrondis 26">
            <a:extLst>
              <a:ext uri="{FF2B5EF4-FFF2-40B4-BE49-F238E27FC236}">
                <a16:creationId xmlns:a16="http://schemas.microsoft.com/office/drawing/2014/main" id="{D9FB2761-2C5D-E0BB-98F3-FC662B1B441E}"/>
              </a:ext>
            </a:extLst>
          </p:cNvPr>
          <p:cNvSpPr/>
          <p:nvPr/>
        </p:nvSpPr>
        <p:spPr>
          <a:xfrm>
            <a:off x="10227101" y="2528774"/>
            <a:ext cx="756170" cy="281716"/>
          </a:xfrm>
          <a:prstGeom prst="roundRect">
            <a:avLst/>
          </a:prstGeom>
          <a:solidFill>
            <a:schemeClr val="accent2">
              <a:lumMod val="20000"/>
              <a:lumOff val="80000"/>
              <a:alpha val="5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 : coins arrondis 28">
            <a:extLst>
              <a:ext uri="{FF2B5EF4-FFF2-40B4-BE49-F238E27FC236}">
                <a16:creationId xmlns:a16="http://schemas.microsoft.com/office/drawing/2014/main" id="{A28C3113-735A-6FEF-3147-ECE1A1B4751B}"/>
              </a:ext>
            </a:extLst>
          </p:cNvPr>
          <p:cNvSpPr/>
          <p:nvPr/>
        </p:nvSpPr>
        <p:spPr>
          <a:xfrm>
            <a:off x="11109905" y="2528773"/>
            <a:ext cx="834586" cy="281717"/>
          </a:xfrm>
          <a:prstGeom prst="roundRect">
            <a:avLst/>
          </a:prstGeom>
          <a:solidFill>
            <a:schemeClr val="accent3">
              <a:lumMod val="20000"/>
              <a:lumOff val="80000"/>
              <a:alpha val="5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0783EA45-98BA-7122-7ADB-382D2268DF39}"/>
              </a:ext>
            </a:extLst>
          </p:cNvPr>
          <p:cNvSpPr txBox="1"/>
          <p:nvPr/>
        </p:nvSpPr>
        <p:spPr>
          <a:xfrm>
            <a:off x="8700147" y="3866292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196A6F40-619B-3324-CB52-44765ACF6F5A}"/>
              </a:ext>
            </a:extLst>
          </p:cNvPr>
          <p:cNvSpPr txBox="1"/>
          <p:nvPr/>
        </p:nvSpPr>
        <p:spPr>
          <a:xfrm>
            <a:off x="10983271" y="3835029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AF9A5650-7303-F027-F9C7-CADD494A4676}"/>
              </a:ext>
            </a:extLst>
          </p:cNvPr>
          <p:cNvSpPr txBox="1"/>
          <p:nvPr/>
        </p:nvSpPr>
        <p:spPr>
          <a:xfrm>
            <a:off x="6680783" y="3914313"/>
            <a:ext cx="3818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</a:p>
        </p:txBody>
      </p:sp>
      <p:sp>
        <p:nvSpPr>
          <p:cNvPr id="34" name="Accolade ouvrante 33">
            <a:extLst>
              <a:ext uri="{FF2B5EF4-FFF2-40B4-BE49-F238E27FC236}">
                <a16:creationId xmlns:a16="http://schemas.microsoft.com/office/drawing/2014/main" id="{28CF0624-FFA3-CBD2-B011-68AAD641B41C}"/>
              </a:ext>
            </a:extLst>
          </p:cNvPr>
          <p:cNvSpPr/>
          <p:nvPr/>
        </p:nvSpPr>
        <p:spPr>
          <a:xfrm>
            <a:off x="5659609" y="2440202"/>
            <a:ext cx="214422" cy="259251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6" name="Connecteur droit avec flèche 35">
            <a:extLst>
              <a:ext uri="{FF2B5EF4-FFF2-40B4-BE49-F238E27FC236}">
                <a16:creationId xmlns:a16="http://schemas.microsoft.com/office/drawing/2014/main" id="{335241B4-8ED6-E8ED-D848-E04AD6CBE736}"/>
              </a:ext>
            </a:extLst>
          </p:cNvPr>
          <p:cNvCxnSpPr/>
          <p:nvPr/>
        </p:nvCxnSpPr>
        <p:spPr>
          <a:xfrm>
            <a:off x="3838547" y="3755398"/>
            <a:ext cx="39515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ZoneTexte 42">
            <a:extLst>
              <a:ext uri="{FF2B5EF4-FFF2-40B4-BE49-F238E27FC236}">
                <a16:creationId xmlns:a16="http://schemas.microsoft.com/office/drawing/2014/main" id="{99F83DE4-E174-CA66-6ED3-7AF2964B2CFE}"/>
              </a:ext>
            </a:extLst>
          </p:cNvPr>
          <p:cNvSpPr txBox="1"/>
          <p:nvPr/>
        </p:nvSpPr>
        <p:spPr>
          <a:xfrm>
            <a:off x="6440546" y="2170400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830CFDDC-01DB-1ADF-1061-3428625F81E7}"/>
              </a:ext>
            </a:extLst>
          </p:cNvPr>
          <p:cNvSpPr txBox="1"/>
          <p:nvPr/>
        </p:nvSpPr>
        <p:spPr>
          <a:xfrm>
            <a:off x="7205244" y="2156494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C4339AED-D3DC-F080-56FC-4BC9651A7EF9}"/>
              </a:ext>
            </a:extLst>
          </p:cNvPr>
          <p:cNvSpPr txBox="1"/>
          <p:nvPr/>
        </p:nvSpPr>
        <p:spPr>
          <a:xfrm>
            <a:off x="8361161" y="2184306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5608F785-224A-FDF1-D2A6-4EFDCE12C216}"/>
              </a:ext>
            </a:extLst>
          </p:cNvPr>
          <p:cNvSpPr txBox="1"/>
          <p:nvPr/>
        </p:nvSpPr>
        <p:spPr>
          <a:xfrm>
            <a:off x="9125859" y="2170400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74761308-0F1B-8D5A-C8C4-7C6F72634612}"/>
              </a:ext>
            </a:extLst>
          </p:cNvPr>
          <p:cNvSpPr txBox="1"/>
          <p:nvPr/>
        </p:nvSpPr>
        <p:spPr>
          <a:xfrm>
            <a:off x="10446360" y="2174007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A33F0B53-4DFD-41D0-5E40-8F481D1F26E3}"/>
              </a:ext>
            </a:extLst>
          </p:cNvPr>
          <p:cNvSpPr txBox="1"/>
          <p:nvPr/>
        </p:nvSpPr>
        <p:spPr>
          <a:xfrm>
            <a:off x="11211058" y="2160101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CF12FE-7181-A02F-8937-ECA184370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98553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 animBg="1"/>
      <p:bldP spid="39" grpId="0" animBg="1"/>
      <p:bldP spid="37" grpId="0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20" grpId="0" animBg="1"/>
      <p:bldP spid="8" grpId="0" animBg="1"/>
      <p:bldP spid="17" grpId="0" animBg="1"/>
      <p:bldP spid="22" grpId="0" animBg="1"/>
      <p:bldP spid="26" grpId="0" animBg="1"/>
      <p:bldP spid="27" grpId="0" animBg="1"/>
      <p:bldP spid="29" grpId="0" animBg="1"/>
      <p:bldP spid="30" grpId="0"/>
      <p:bldP spid="31" grpId="0"/>
      <p:bldP spid="32" grpId="0"/>
      <p:bldP spid="34" grpId="0" animBg="1"/>
      <p:bldP spid="43" grpId="0"/>
      <p:bldP spid="44" grpId="0"/>
      <p:bldP spid="46" grpId="0"/>
      <p:bldP spid="47" grpId="0"/>
      <p:bldP spid="48" grpId="0"/>
      <p:bldP spid="49" grpId="0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D8B300-1B41-8BF9-A830-0AD2276A8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8B3AB-E11E-1D6B-89BF-64BC67B7F7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606699" cy="1325563"/>
          </a:xfrm>
        </p:spPr>
        <p:txBody>
          <a:bodyPr/>
          <a:lstStyle/>
          <a:p>
            <a:r>
              <a:rPr lang="en-US" dirty="0"/>
              <a:t>RLHF – obtaining feedback from human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CF3C2CC6-01C4-D5D5-9B7C-81E9A5CC3D33}"/>
              </a:ext>
            </a:extLst>
          </p:cNvPr>
          <p:cNvSpPr txBox="1"/>
          <p:nvPr/>
        </p:nvSpPr>
        <p:spPr>
          <a:xfrm>
            <a:off x="496206" y="1743739"/>
            <a:ext cx="2468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2. Train Reward Model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3DFDF88E-3AFD-5A38-AB30-9F692B6FC0C9}"/>
              </a:ext>
            </a:extLst>
          </p:cNvPr>
          <p:cNvSpPr txBox="1"/>
          <p:nvPr/>
        </p:nvSpPr>
        <p:spPr>
          <a:xfrm>
            <a:off x="55211" y="2113071"/>
            <a:ext cx="31781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u="sng" dirty="0"/>
              <a:t>Pairwise </a:t>
            </a:r>
            <a:r>
              <a:rPr lang="en-US" i="1" u="sng" dirty="0" err="1"/>
              <a:t>comparaison</a:t>
            </a:r>
            <a:r>
              <a:rPr lang="en-US" i="1" u="sng" dirty="0"/>
              <a:t> dataset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CE11CB67-0D93-CC7E-04D7-2382D04F6968}"/>
              </a:ext>
            </a:extLst>
          </p:cNvPr>
          <p:cNvSpPr/>
          <p:nvPr/>
        </p:nvSpPr>
        <p:spPr>
          <a:xfrm>
            <a:off x="1166107" y="3000231"/>
            <a:ext cx="756170" cy="281716"/>
          </a:xfrm>
          <a:prstGeom prst="roundRect">
            <a:avLst/>
          </a:prstGeom>
          <a:solidFill>
            <a:schemeClr val="accent1">
              <a:lumMod val="20000"/>
              <a:lumOff val="80000"/>
              <a:alpha val="5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7012DA50-A15D-44D9-D48E-68FA1031142D}"/>
              </a:ext>
            </a:extLst>
          </p:cNvPr>
          <p:cNvSpPr/>
          <p:nvPr/>
        </p:nvSpPr>
        <p:spPr>
          <a:xfrm>
            <a:off x="1995930" y="3000231"/>
            <a:ext cx="756170" cy="281716"/>
          </a:xfrm>
          <a:prstGeom prst="roundRect">
            <a:avLst/>
          </a:prstGeom>
          <a:solidFill>
            <a:schemeClr val="accent2">
              <a:lumMod val="20000"/>
              <a:lumOff val="80000"/>
              <a:alpha val="5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 : coins arrondis 21">
            <a:extLst>
              <a:ext uri="{FF2B5EF4-FFF2-40B4-BE49-F238E27FC236}">
                <a16:creationId xmlns:a16="http://schemas.microsoft.com/office/drawing/2014/main" id="{43ECB919-8179-3A66-35DD-7483760D12D8}"/>
              </a:ext>
            </a:extLst>
          </p:cNvPr>
          <p:cNvSpPr/>
          <p:nvPr/>
        </p:nvSpPr>
        <p:spPr>
          <a:xfrm>
            <a:off x="1995930" y="3711083"/>
            <a:ext cx="756170" cy="281717"/>
          </a:xfrm>
          <a:prstGeom prst="roundRect">
            <a:avLst/>
          </a:prstGeom>
          <a:solidFill>
            <a:schemeClr val="accent3">
              <a:lumMod val="20000"/>
              <a:lumOff val="80000"/>
              <a:alpha val="5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 : coins arrondis 25">
            <a:extLst>
              <a:ext uri="{FF2B5EF4-FFF2-40B4-BE49-F238E27FC236}">
                <a16:creationId xmlns:a16="http://schemas.microsoft.com/office/drawing/2014/main" id="{CE2977EE-D95C-2655-166D-5988C774E815}"/>
              </a:ext>
            </a:extLst>
          </p:cNvPr>
          <p:cNvSpPr/>
          <p:nvPr/>
        </p:nvSpPr>
        <p:spPr>
          <a:xfrm>
            <a:off x="1166107" y="3711084"/>
            <a:ext cx="756170" cy="281716"/>
          </a:xfrm>
          <a:prstGeom prst="roundRect">
            <a:avLst/>
          </a:prstGeom>
          <a:solidFill>
            <a:schemeClr val="accent1">
              <a:lumMod val="20000"/>
              <a:lumOff val="80000"/>
              <a:alpha val="5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 : coins arrondis 26">
            <a:extLst>
              <a:ext uri="{FF2B5EF4-FFF2-40B4-BE49-F238E27FC236}">
                <a16:creationId xmlns:a16="http://schemas.microsoft.com/office/drawing/2014/main" id="{E7B37273-B62A-65C0-5317-3CF9440D1C57}"/>
              </a:ext>
            </a:extLst>
          </p:cNvPr>
          <p:cNvSpPr/>
          <p:nvPr/>
        </p:nvSpPr>
        <p:spPr>
          <a:xfrm>
            <a:off x="1166107" y="4462994"/>
            <a:ext cx="756170" cy="281716"/>
          </a:xfrm>
          <a:prstGeom prst="roundRect">
            <a:avLst/>
          </a:prstGeom>
          <a:solidFill>
            <a:schemeClr val="accent2">
              <a:lumMod val="20000"/>
              <a:lumOff val="80000"/>
              <a:alpha val="5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 : coins arrondis 28">
            <a:extLst>
              <a:ext uri="{FF2B5EF4-FFF2-40B4-BE49-F238E27FC236}">
                <a16:creationId xmlns:a16="http://schemas.microsoft.com/office/drawing/2014/main" id="{8F745FF0-00A7-608B-3EC4-C4A0D730FF45}"/>
              </a:ext>
            </a:extLst>
          </p:cNvPr>
          <p:cNvSpPr/>
          <p:nvPr/>
        </p:nvSpPr>
        <p:spPr>
          <a:xfrm>
            <a:off x="2048911" y="4462993"/>
            <a:ext cx="703189" cy="281717"/>
          </a:xfrm>
          <a:prstGeom prst="roundRect">
            <a:avLst/>
          </a:prstGeom>
          <a:solidFill>
            <a:schemeClr val="accent3">
              <a:lumMod val="20000"/>
              <a:lumOff val="80000"/>
              <a:alpha val="5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3658F73C-BA09-2696-6A46-A894FB55BB56}"/>
              </a:ext>
            </a:extLst>
          </p:cNvPr>
          <p:cNvSpPr txBox="1"/>
          <p:nvPr/>
        </p:nvSpPr>
        <p:spPr>
          <a:xfrm>
            <a:off x="1416060" y="2641857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DE204118-A8E7-D2AB-4E24-8AAD0567A46D}"/>
              </a:ext>
            </a:extLst>
          </p:cNvPr>
          <p:cNvSpPr txBox="1"/>
          <p:nvPr/>
        </p:nvSpPr>
        <p:spPr>
          <a:xfrm>
            <a:off x="2180758" y="2627951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F0985C5D-829E-E30C-DF19-BA9631734A1C}"/>
              </a:ext>
            </a:extLst>
          </p:cNvPr>
          <p:cNvSpPr txBox="1"/>
          <p:nvPr/>
        </p:nvSpPr>
        <p:spPr>
          <a:xfrm>
            <a:off x="1377106" y="3369563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51917563-C324-682C-7893-20F3992A83D6}"/>
              </a:ext>
            </a:extLst>
          </p:cNvPr>
          <p:cNvSpPr txBox="1"/>
          <p:nvPr/>
        </p:nvSpPr>
        <p:spPr>
          <a:xfrm>
            <a:off x="2141804" y="3355657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48" name="ZoneTexte 47">
            <a:extLst>
              <a:ext uri="{FF2B5EF4-FFF2-40B4-BE49-F238E27FC236}">
                <a16:creationId xmlns:a16="http://schemas.microsoft.com/office/drawing/2014/main" id="{C3CAF5A6-1272-C8B9-28AC-276265B2D5BA}"/>
              </a:ext>
            </a:extLst>
          </p:cNvPr>
          <p:cNvSpPr txBox="1"/>
          <p:nvPr/>
        </p:nvSpPr>
        <p:spPr>
          <a:xfrm>
            <a:off x="1385366" y="4108227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</a:t>
            </a:r>
          </a:p>
        </p:txBody>
      </p:sp>
      <p:sp>
        <p:nvSpPr>
          <p:cNvPr id="49" name="ZoneTexte 48">
            <a:extLst>
              <a:ext uri="{FF2B5EF4-FFF2-40B4-BE49-F238E27FC236}">
                <a16:creationId xmlns:a16="http://schemas.microsoft.com/office/drawing/2014/main" id="{2BB04363-79D9-F33F-C74D-1628DCCC6D66}"/>
              </a:ext>
            </a:extLst>
          </p:cNvPr>
          <p:cNvSpPr txBox="1"/>
          <p:nvPr/>
        </p:nvSpPr>
        <p:spPr>
          <a:xfrm>
            <a:off x="2150064" y="4094321"/>
            <a:ext cx="3080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2</a:t>
            </a:r>
          </a:p>
        </p:txBody>
      </p: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D24877F2-B1B8-A0C3-BE1D-20FDD674BF2F}"/>
              </a:ext>
            </a:extLst>
          </p:cNvPr>
          <p:cNvSpPr/>
          <p:nvPr/>
        </p:nvSpPr>
        <p:spPr>
          <a:xfrm>
            <a:off x="4421111" y="3369563"/>
            <a:ext cx="1877245" cy="1338294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 w="508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Reward model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CBA42A9A-52FB-A88B-F4FF-BA916B08956C}"/>
              </a:ext>
            </a:extLst>
          </p:cNvPr>
          <p:cNvSpPr txBox="1"/>
          <p:nvPr/>
        </p:nvSpPr>
        <p:spPr>
          <a:xfrm>
            <a:off x="1746292" y="4911366"/>
            <a:ext cx="25039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.</a:t>
            </a:r>
          </a:p>
          <a:p>
            <a:r>
              <a:rPr lang="en-US" dirty="0"/>
              <a:t>.</a:t>
            </a:r>
          </a:p>
          <a:p>
            <a:r>
              <a:rPr lang="en-US" dirty="0"/>
              <a:t>.</a:t>
            </a:r>
          </a:p>
        </p:txBody>
      </p: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A2147510-1463-F071-302A-91F1CEFBE210}"/>
              </a:ext>
            </a:extLst>
          </p:cNvPr>
          <p:cNvCxnSpPr/>
          <p:nvPr/>
        </p:nvCxnSpPr>
        <p:spPr>
          <a:xfrm>
            <a:off x="3062826" y="4094321"/>
            <a:ext cx="128293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057DAA61-06CA-0EE8-8345-25C292015BFE}"/>
              </a:ext>
            </a:extLst>
          </p:cNvPr>
          <p:cNvCxnSpPr/>
          <p:nvPr/>
        </p:nvCxnSpPr>
        <p:spPr>
          <a:xfrm>
            <a:off x="6642755" y="4043369"/>
            <a:ext cx="128293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 : coins arrondis 22">
            <a:extLst>
              <a:ext uri="{FF2B5EF4-FFF2-40B4-BE49-F238E27FC236}">
                <a16:creationId xmlns:a16="http://schemas.microsoft.com/office/drawing/2014/main" id="{AFCA50AD-CFD7-04F8-A515-22CB038F49D5}"/>
              </a:ext>
            </a:extLst>
          </p:cNvPr>
          <p:cNvSpPr/>
          <p:nvPr/>
        </p:nvSpPr>
        <p:spPr>
          <a:xfrm>
            <a:off x="8061635" y="3355657"/>
            <a:ext cx="1877245" cy="1338294"/>
          </a:xfrm>
          <a:prstGeom prst="roundRect">
            <a:avLst/>
          </a:prstGeom>
          <a:solidFill>
            <a:schemeClr val="accent1">
              <a:lumMod val="60000"/>
              <a:lumOff val="40000"/>
              <a:alpha val="51000"/>
            </a:schemeClr>
          </a:solidFill>
          <a:ln w="508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Trained Reward model on Criteria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1A9E51-05B3-4A83-3486-B3927B60C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637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  <p:bldP spid="8" grpId="0" animBg="1"/>
      <p:bldP spid="17" grpId="0" animBg="1"/>
      <p:bldP spid="22" grpId="0" animBg="1"/>
      <p:bldP spid="26" grpId="0" animBg="1"/>
      <p:bldP spid="27" grpId="0" animBg="1"/>
      <p:bldP spid="29" grpId="0" animBg="1"/>
      <p:bldP spid="43" grpId="0"/>
      <p:bldP spid="44" grpId="0"/>
      <p:bldP spid="46" grpId="0"/>
      <p:bldP spid="47" grpId="0"/>
      <p:bldP spid="48" grpId="0"/>
      <p:bldP spid="49" grpId="0"/>
      <p:bldP spid="4" grpId="0" animBg="1"/>
      <p:bldP spid="5" grpId="0"/>
      <p:bldP spid="23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89F2E-9B85-81D0-2E9E-1D4A088E2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050D9E-9032-8953-544B-D33F3C9713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872701" cy="1325563"/>
          </a:xfrm>
        </p:spPr>
        <p:txBody>
          <a:bodyPr/>
          <a:lstStyle/>
          <a:p>
            <a:r>
              <a:rPr lang="en-US" dirty="0"/>
              <a:t>RLHF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0CA8C01D-E5AB-CBFF-F261-35E6376DCCC2}"/>
              </a:ext>
            </a:extLst>
          </p:cNvPr>
          <p:cNvSpPr txBox="1"/>
          <p:nvPr/>
        </p:nvSpPr>
        <p:spPr>
          <a:xfrm>
            <a:off x="7296814" y="808935"/>
            <a:ext cx="48951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 </a:t>
            </a:r>
            <a:r>
              <a:rPr lang="en-US" dirty="0"/>
              <a:t>: Maximize </a:t>
            </a:r>
            <a:r>
              <a:rPr lang="en-US" dirty="0" err="1"/>
              <a:t>Helpfuless</a:t>
            </a:r>
            <a:r>
              <a:rPr lang="en-US" dirty="0"/>
              <a:t>, Honesty, Harmless</a:t>
            </a:r>
          </a:p>
        </p:txBody>
      </p: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8D311B2E-8F30-3442-07E9-C739DB4CE5B2}"/>
              </a:ext>
            </a:extLst>
          </p:cNvPr>
          <p:cNvGrpSpPr/>
          <p:nvPr/>
        </p:nvGrpSpPr>
        <p:grpSpPr>
          <a:xfrm>
            <a:off x="754145" y="2047174"/>
            <a:ext cx="1751826" cy="1283732"/>
            <a:chOff x="754145" y="2010594"/>
            <a:chExt cx="1751826" cy="1283732"/>
          </a:xfrm>
        </p:grpSpPr>
        <p:pic>
          <p:nvPicPr>
            <p:cNvPr id="8" name="Graphique 7" descr="Liste de contrôle avec un remplissage uni">
              <a:extLst>
                <a:ext uri="{FF2B5EF4-FFF2-40B4-BE49-F238E27FC236}">
                  <a16:creationId xmlns:a16="http://schemas.microsoft.com/office/drawing/2014/main" id="{D96F7409-793C-D57A-B7F5-1A89E14A1A2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95080" y="2010594"/>
              <a:ext cx="914400" cy="914400"/>
            </a:xfrm>
            <a:prstGeom prst="rect">
              <a:avLst/>
            </a:prstGeom>
          </p:spPr>
        </p:pic>
        <p:sp>
          <p:nvSpPr>
            <p:cNvPr id="9" name="ZoneTexte 8">
              <a:extLst>
                <a:ext uri="{FF2B5EF4-FFF2-40B4-BE49-F238E27FC236}">
                  <a16:creationId xmlns:a16="http://schemas.microsoft.com/office/drawing/2014/main" id="{CD6B7BD1-C3C7-E585-E86C-1EF0390907AA}"/>
                </a:ext>
              </a:extLst>
            </p:cNvPr>
            <p:cNvSpPr txBox="1"/>
            <p:nvPr/>
          </p:nvSpPr>
          <p:spPr>
            <a:xfrm>
              <a:off x="754145" y="2924994"/>
              <a:ext cx="175182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Prompt Dataset</a:t>
              </a:r>
            </a:p>
          </p:txBody>
        </p:sp>
      </p:grp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4DE73929-A2EF-B528-3267-EFB21190FEC8}"/>
              </a:ext>
            </a:extLst>
          </p:cNvPr>
          <p:cNvSpPr/>
          <p:nvPr/>
        </p:nvSpPr>
        <p:spPr>
          <a:xfrm>
            <a:off x="4470737" y="1914163"/>
            <a:ext cx="1877245" cy="1338294"/>
          </a:xfrm>
          <a:prstGeom prst="roundRect">
            <a:avLst/>
          </a:prstGeom>
          <a:gradFill flip="none" rotWithShape="1">
            <a:gsLst>
              <a:gs pos="0">
                <a:schemeClr val="accent5">
                  <a:tint val="66000"/>
                  <a:satMod val="160000"/>
                </a:schemeClr>
              </a:gs>
              <a:gs pos="50000">
                <a:schemeClr val="accent5">
                  <a:tint val="44500"/>
                  <a:satMod val="160000"/>
                </a:schemeClr>
              </a:gs>
              <a:gs pos="100000">
                <a:schemeClr val="accent5"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508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Fine-tuned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LLM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(updated by fb)</a:t>
            </a:r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FC643CAE-A988-D0E6-B194-69587DB9381B}"/>
              </a:ext>
            </a:extLst>
          </p:cNvPr>
          <p:cNvSpPr/>
          <p:nvPr/>
        </p:nvSpPr>
        <p:spPr>
          <a:xfrm>
            <a:off x="8701051" y="2096337"/>
            <a:ext cx="2315029" cy="97394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RL Proximal Policy Optimization (PPO) Algorithm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587CE6D2-48B5-7B4A-28DF-09ECF92AC6B4}"/>
              </a:ext>
            </a:extLst>
          </p:cNvPr>
          <p:cNvSpPr/>
          <p:nvPr/>
        </p:nvSpPr>
        <p:spPr>
          <a:xfrm>
            <a:off x="6547176" y="4537093"/>
            <a:ext cx="1877245" cy="1338294"/>
          </a:xfrm>
          <a:prstGeom prst="roundRect">
            <a:avLst/>
          </a:prstGeom>
          <a:solidFill>
            <a:schemeClr val="accent1">
              <a:lumMod val="60000"/>
              <a:lumOff val="40000"/>
            </a:schemeClr>
          </a:solidFill>
          <a:ln w="508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Reward model</a:t>
            </a:r>
          </a:p>
        </p:txBody>
      </p:sp>
      <p:cxnSp>
        <p:nvCxnSpPr>
          <p:cNvPr id="18" name="Connecteur droit avec flèche 17">
            <a:extLst>
              <a:ext uri="{FF2B5EF4-FFF2-40B4-BE49-F238E27FC236}">
                <a16:creationId xmlns:a16="http://schemas.microsoft.com/office/drawing/2014/main" id="{FDF2EBDE-6742-3C82-7E21-A2D05F0B0F4A}"/>
              </a:ext>
            </a:extLst>
          </p:cNvPr>
          <p:cNvCxnSpPr/>
          <p:nvPr/>
        </p:nvCxnSpPr>
        <p:spPr>
          <a:xfrm>
            <a:off x="2009480" y="2583310"/>
            <a:ext cx="236455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Connecteur en angle 20">
            <a:extLst>
              <a:ext uri="{FF2B5EF4-FFF2-40B4-BE49-F238E27FC236}">
                <a16:creationId xmlns:a16="http://schemas.microsoft.com/office/drawing/2014/main" id="{2AE042C4-88D8-CB37-841E-52A51654D620}"/>
              </a:ext>
            </a:extLst>
          </p:cNvPr>
          <p:cNvCxnSpPr>
            <a:stCxn id="13" idx="2"/>
            <a:endCxn id="15" idx="1"/>
          </p:cNvCxnSpPr>
          <p:nvPr/>
        </p:nvCxnSpPr>
        <p:spPr>
          <a:xfrm rot="16200000" flipH="1">
            <a:off x="5001377" y="3660440"/>
            <a:ext cx="1953783" cy="113781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Connecteur en angle 21">
            <a:extLst>
              <a:ext uri="{FF2B5EF4-FFF2-40B4-BE49-F238E27FC236}">
                <a16:creationId xmlns:a16="http://schemas.microsoft.com/office/drawing/2014/main" id="{6B06C088-F7CC-667C-F0F3-7A14FDDB2EED}"/>
              </a:ext>
            </a:extLst>
          </p:cNvPr>
          <p:cNvCxnSpPr>
            <a:cxnSpLocks/>
            <a:stCxn id="15" idx="3"/>
            <a:endCxn id="14" idx="2"/>
          </p:cNvCxnSpPr>
          <p:nvPr/>
        </p:nvCxnSpPr>
        <p:spPr>
          <a:xfrm flipV="1">
            <a:off x="8424421" y="3070284"/>
            <a:ext cx="1434145" cy="213595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" name="Connecteur droit avec flèche 25">
            <a:extLst>
              <a:ext uri="{FF2B5EF4-FFF2-40B4-BE49-F238E27FC236}">
                <a16:creationId xmlns:a16="http://schemas.microsoft.com/office/drawing/2014/main" id="{124F5174-25F5-4635-36F6-4E07129DC705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 flipV="1">
            <a:off x="6347982" y="2583310"/>
            <a:ext cx="235306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" name="ZoneTexte 26">
            <a:extLst>
              <a:ext uri="{FF2B5EF4-FFF2-40B4-BE49-F238E27FC236}">
                <a16:creationId xmlns:a16="http://schemas.microsoft.com/office/drawing/2014/main" id="{60C523A1-BFA6-17B3-2AFA-5E31A81874C7}"/>
              </a:ext>
            </a:extLst>
          </p:cNvPr>
          <p:cNvSpPr txBox="1"/>
          <p:nvPr/>
        </p:nvSpPr>
        <p:spPr>
          <a:xfrm>
            <a:off x="936566" y="3342429"/>
            <a:ext cx="13704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“ A dog is…“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9983BC02-12A8-EED1-E304-869C6AD253DA}"/>
              </a:ext>
            </a:extLst>
          </p:cNvPr>
          <p:cNvSpPr txBox="1"/>
          <p:nvPr/>
        </p:nvSpPr>
        <p:spPr>
          <a:xfrm>
            <a:off x="4280513" y="3278382"/>
            <a:ext cx="26918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“ …human’s best friends“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B981FC28-DFEF-EDE2-A7DA-676F0D8588D5}"/>
              </a:ext>
            </a:extLst>
          </p:cNvPr>
          <p:cNvSpPr txBox="1"/>
          <p:nvPr/>
        </p:nvSpPr>
        <p:spPr>
          <a:xfrm>
            <a:off x="8701051" y="4836908"/>
            <a:ext cx="744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+2,86</a:t>
            </a:r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50B9F68C-BE68-F271-A38F-6D484E98625A}"/>
              </a:ext>
            </a:extLst>
          </p:cNvPr>
          <p:cNvSpPr txBox="1"/>
          <p:nvPr/>
        </p:nvSpPr>
        <p:spPr>
          <a:xfrm>
            <a:off x="6775235" y="2175646"/>
            <a:ext cx="17316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Update weights</a:t>
            </a: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0AF798C4-2932-D5FA-F699-BD4D01C24201}"/>
              </a:ext>
            </a:extLst>
          </p:cNvPr>
          <p:cNvSpPr txBox="1"/>
          <p:nvPr/>
        </p:nvSpPr>
        <p:spPr>
          <a:xfrm>
            <a:off x="9935852" y="6181682"/>
            <a:ext cx="18101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5"/>
              </a:rPr>
              <a:t>Read about PPO</a:t>
            </a:r>
            <a:endParaRPr lang="en-US" dirty="0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013F2223-A52F-09B2-8222-070ADAFA310E}"/>
              </a:ext>
            </a:extLst>
          </p:cNvPr>
          <p:cNvSpPr txBox="1"/>
          <p:nvPr/>
        </p:nvSpPr>
        <p:spPr>
          <a:xfrm>
            <a:off x="849892" y="5206240"/>
            <a:ext cx="207184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/>
              <a:t>Stopping Criteria:</a:t>
            </a:r>
          </a:p>
          <a:p>
            <a:pPr marL="285750" indent="-285750">
              <a:buFontTx/>
              <a:buChar char="-"/>
            </a:pPr>
            <a:r>
              <a:rPr lang="en-US" dirty="0"/>
              <a:t># iterations</a:t>
            </a:r>
          </a:p>
          <a:p>
            <a:pPr marL="285750" indent="-285750">
              <a:buFontTx/>
              <a:buChar char="-"/>
            </a:pPr>
            <a:r>
              <a:rPr lang="en-US" dirty="0"/>
              <a:t>Success criteria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C24C1E-57EB-AFFF-AF5D-FC1677EF2D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01635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75360"/>
          </a:xfrm>
          <a:prstGeom prst="rect">
            <a:avLst/>
          </a:prstGeom>
          <a:solidFill>
            <a:srgbClr val="277884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4" name="Text 2"/>
          <p:cNvSpPr/>
          <p:nvPr/>
        </p:nvSpPr>
        <p:spPr>
          <a:xfrm>
            <a:off x="365760" y="42672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667" b="1" dirty="0">
                <a:solidFill>
                  <a:srgbClr val="FFFFFF"/>
                </a:solidFill>
              </a:rPr>
              <a:t>Human Feedback &amp; Alignment</a:t>
            </a:r>
            <a:endParaRPr lang="en-US" sz="2667" dirty="0"/>
          </a:p>
        </p:txBody>
      </p:sp>
      <p:sp>
        <p:nvSpPr>
          <p:cNvPr id="5" name="Shape 3"/>
          <p:cNvSpPr/>
          <p:nvPr/>
        </p:nvSpPr>
        <p:spPr>
          <a:xfrm>
            <a:off x="365760" y="1219200"/>
            <a:ext cx="11460480" cy="1463040"/>
          </a:xfrm>
          <a:prstGeom prst="rect">
            <a:avLst/>
          </a:prstGeom>
          <a:solidFill>
            <a:srgbClr val="F4F6F6"/>
          </a:solidFill>
          <a:ln w="254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609600" y="1341120"/>
            <a:ext cx="10972800" cy="121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dirty="0">
                <a:solidFill>
                  <a:srgbClr val="1C2833"/>
                </a:solidFill>
              </a:rPr>
              <a:t>Your customer service AI is technically accurate, but users complain it's 'robotic and unhelpful.' You need to improve empathy and solution-focus.</a:t>
            </a:r>
            <a:endParaRPr lang="en-US" sz="1867" dirty="0"/>
          </a:p>
        </p:txBody>
      </p:sp>
      <p:sp>
        <p:nvSpPr>
          <p:cNvPr id="7" name="Text 5"/>
          <p:cNvSpPr/>
          <p:nvPr/>
        </p:nvSpPr>
        <p:spPr>
          <a:xfrm>
            <a:off x="365760" y="2926080"/>
            <a:ext cx="114604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133" b="1" dirty="0">
                <a:solidFill>
                  <a:srgbClr val="1C2833"/>
                </a:solidFill>
              </a:rPr>
              <a:t>What's the most practical approach for a mid-sized company?</a:t>
            </a:r>
            <a:endParaRPr lang="en-US" sz="2133" dirty="0"/>
          </a:p>
        </p:txBody>
      </p:sp>
      <p:sp>
        <p:nvSpPr>
          <p:cNvPr id="8" name="Text 6"/>
          <p:cNvSpPr/>
          <p:nvPr/>
        </p:nvSpPr>
        <p:spPr>
          <a:xfrm>
            <a:off x="609600" y="365760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C2833"/>
                </a:solidFill>
              </a:rPr>
              <a:t>A) Implement full RLHF with PPO algorithm training</a:t>
            </a:r>
            <a:endParaRPr lang="en-US" sz="1733" dirty="0"/>
          </a:p>
        </p:txBody>
      </p:sp>
      <p:sp>
        <p:nvSpPr>
          <p:cNvPr id="9" name="Shape 7"/>
          <p:cNvSpPr/>
          <p:nvPr/>
        </p:nvSpPr>
        <p:spPr>
          <a:xfrm>
            <a:off x="365760" y="4084320"/>
            <a:ext cx="11460480" cy="609600"/>
          </a:xfrm>
          <a:prstGeom prst="rect">
            <a:avLst/>
          </a:prstGeom>
          <a:solidFill>
            <a:srgbClr val="E8F5E9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0" name="Text 8"/>
          <p:cNvSpPr/>
          <p:nvPr/>
        </p:nvSpPr>
        <p:spPr>
          <a:xfrm>
            <a:off x="609600" y="4405449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/>
              <a:t>B) Collect feedback on responses and use for prompt refinement and few-shot examples</a:t>
            </a:r>
          </a:p>
        </p:txBody>
      </p:sp>
      <p:sp>
        <p:nvSpPr>
          <p:cNvPr id="11" name="Text 9"/>
          <p:cNvSpPr/>
          <p:nvPr/>
        </p:nvSpPr>
        <p:spPr>
          <a:xfrm>
            <a:off x="609600" y="512064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C2833"/>
                </a:solidFill>
              </a:rPr>
              <a:t>C) Switch to a model marketed as 'more human-like'</a:t>
            </a:r>
            <a:endParaRPr lang="en-US" sz="1733" dirty="0"/>
          </a:p>
        </p:txBody>
      </p:sp>
      <p:sp>
        <p:nvSpPr>
          <p:cNvPr id="12" name="Text 10"/>
          <p:cNvSpPr/>
          <p:nvPr/>
        </p:nvSpPr>
        <p:spPr>
          <a:xfrm>
            <a:off x="609600" y="585216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C2833"/>
                </a:solidFill>
              </a:rPr>
              <a:t>D) Add random variations to make responses less predictable</a:t>
            </a:r>
            <a:endParaRPr lang="en-US" sz="173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E70E3-0093-FD30-663A-B36A171AC2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D7C2F-5F1D-769D-7916-26A0BC18A9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872701" cy="1325563"/>
          </a:xfrm>
        </p:spPr>
        <p:txBody>
          <a:bodyPr/>
          <a:lstStyle/>
          <a:p>
            <a:r>
              <a:rPr lang="en-US" dirty="0"/>
              <a:t>LLM Evaluation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C8D6E26-3806-641C-8AE8-FCF4DB5431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6066" y="1379459"/>
            <a:ext cx="6598763" cy="48521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ZoneTexte 3">
            <a:extLst>
              <a:ext uri="{FF2B5EF4-FFF2-40B4-BE49-F238E27FC236}">
                <a16:creationId xmlns:a16="http://schemas.microsoft.com/office/drawing/2014/main" id="{FA6658E9-611A-9713-7CB5-8070E6DAE08A}"/>
              </a:ext>
            </a:extLst>
          </p:cNvPr>
          <p:cNvSpPr txBox="1"/>
          <p:nvPr/>
        </p:nvSpPr>
        <p:spPr>
          <a:xfrm>
            <a:off x="9568206" y="6231654"/>
            <a:ext cx="2252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Source: </a:t>
            </a:r>
            <a:r>
              <a:rPr lang="en-US" dirty="0">
                <a:hlinkClick r:id="rId4"/>
              </a:rPr>
              <a:t>confident-ai</a:t>
            </a:r>
            <a:r>
              <a:rPr lang="en-US" dirty="0"/>
              <a:t>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4FC3B4B-62A5-EE0D-786C-3AD479F46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59541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D4464-8B8D-3D01-7CEE-162D5D4C9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7DA154-680B-7659-084C-695A868B38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872701" cy="1325563"/>
          </a:xfrm>
        </p:spPr>
        <p:txBody>
          <a:bodyPr/>
          <a:lstStyle/>
          <a:p>
            <a:r>
              <a:rPr lang="en-US" dirty="0"/>
              <a:t>Statistical Scores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DE4E7C2-5C26-4B56-3B1B-DCFA9A441BB3}"/>
              </a:ext>
            </a:extLst>
          </p:cNvPr>
          <p:cNvSpPr txBox="1"/>
          <p:nvPr/>
        </p:nvSpPr>
        <p:spPr>
          <a:xfrm>
            <a:off x="838200" y="1516029"/>
            <a:ext cx="25767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1. ROUGE &amp; BLEU Score</a:t>
            </a:r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5EEA3677-66DB-7421-407B-DFB70C91B856}"/>
              </a:ext>
            </a:extLst>
          </p:cNvPr>
          <p:cNvSpPr/>
          <p:nvPr/>
        </p:nvSpPr>
        <p:spPr>
          <a:xfrm>
            <a:off x="2997724" y="2841592"/>
            <a:ext cx="1442301" cy="987458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Rouge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612B6D13-185D-FBD5-C76A-D422ACA565AF}"/>
              </a:ext>
            </a:extLst>
          </p:cNvPr>
          <p:cNvSpPr/>
          <p:nvPr/>
        </p:nvSpPr>
        <p:spPr>
          <a:xfrm>
            <a:off x="6348068" y="2841592"/>
            <a:ext cx="1442301" cy="987458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BLEU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74351F69-0248-F8CF-A0C1-769CF47C792A}"/>
              </a:ext>
            </a:extLst>
          </p:cNvPr>
          <p:cNvSpPr txBox="1"/>
          <p:nvPr/>
        </p:nvSpPr>
        <p:spPr>
          <a:xfrm>
            <a:off x="2765707" y="4231203"/>
            <a:ext cx="21600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Text summarization 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2F383EDC-301A-6829-3BE8-6F0A77C2041C}"/>
              </a:ext>
            </a:extLst>
          </p:cNvPr>
          <p:cNvSpPr txBox="1"/>
          <p:nvPr/>
        </p:nvSpPr>
        <p:spPr>
          <a:xfrm>
            <a:off x="6198635" y="4210572"/>
            <a:ext cx="17624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Text Translation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0BA365-191C-6F24-13ED-3D167A462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1928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/>
      <p:bldP spid="10" grpId="0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B87D6-4D20-D9A2-9D2A-CB51115F93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A9F2AB-5B16-0307-9D0F-D9989C6864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872701" cy="1325563"/>
          </a:xfrm>
        </p:spPr>
        <p:txBody>
          <a:bodyPr/>
          <a:lstStyle/>
          <a:p>
            <a:r>
              <a:rPr lang="en-US" dirty="0"/>
              <a:t>Statistical Scores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3AF64EC4-ED90-E88B-7679-4ADF31EAB7ED}"/>
              </a:ext>
            </a:extLst>
          </p:cNvPr>
          <p:cNvSpPr txBox="1"/>
          <p:nvPr/>
        </p:nvSpPr>
        <p:spPr>
          <a:xfrm>
            <a:off x="838200" y="1516029"/>
            <a:ext cx="25767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1. ROUGE &amp; BLEU Score</a:t>
            </a:r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57F93776-790E-4A8C-BDB5-60262E0622BC}"/>
              </a:ext>
            </a:extLst>
          </p:cNvPr>
          <p:cNvSpPr/>
          <p:nvPr/>
        </p:nvSpPr>
        <p:spPr>
          <a:xfrm>
            <a:off x="1405447" y="3114380"/>
            <a:ext cx="1442301" cy="987458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Rouge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ZoneTexte 2">
                <a:extLst>
                  <a:ext uri="{FF2B5EF4-FFF2-40B4-BE49-F238E27FC236}">
                    <a16:creationId xmlns:a16="http://schemas.microsoft.com/office/drawing/2014/main" id="{590690D9-7818-BE51-BA98-2F901C947272}"/>
                  </a:ext>
                </a:extLst>
              </p:cNvPr>
              <p:cNvSpPr txBox="1"/>
              <p:nvPr/>
            </p:nvSpPr>
            <p:spPr>
              <a:xfrm>
                <a:off x="5361815" y="2288808"/>
                <a:ext cx="4548296" cy="6668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𝑅𝑂𝑈𝐺𝐸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i="1" dirty="0" smtClean="0">
                              <a:latin typeface="Cambria Math" panose="02040503050406030204" pitchFamily="18" charset="0"/>
                              <a:sym typeface="Wingdings" pitchFamily="2" charset="2"/>
                            </a:rPr>
                          </m:ctrlPr>
                        </m:dPr>
                        <m:e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𝑅𝑒𝑐𝑎𝑙𝑙</m:t>
                          </m:r>
                        </m:e>
                      </m:d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𝑔𝑟𝑎𝑚</m:t>
                          </m:r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𝑚𝑎𝑡𝑐h𝑒𝑠</m:t>
                          </m:r>
                        </m:num>
                        <m:den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𝑔𝑟𝑎𝑚𝑠</m:t>
                          </m:r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𝑟𝑒𝑓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ZoneTexte 2">
                <a:extLst>
                  <a:ext uri="{FF2B5EF4-FFF2-40B4-BE49-F238E27FC236}">
                    <a16:creationId xmlns:a16="http://schemas.microsoft.com/office/drawing/2014/main" id="{590690D9-7818-BE51-BA98-2F901C9472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1815" y="2288808"/>
                <a:ext cx="4548296" cy="666849"/>
              </a:xfrm>
              <a:prstGeom prst="rect">
                <a:avLst/>
              </a:prstGeom>
              <a:blipFill>
                <a:blip r:embed="rId3"/>
                <a:stretch>
                  <a:fillRect b="-113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ZoneTexte 10">
                <a:extLst>
                  <a:ext uri="{FF2B5EF4-FFF2-40B4-BE49-F238E27FC236}">
                    <a16:creationId xmlns:a16="http://schemas.microsoft.com/office/drawing/2014/main" id="{7985B104-A568-71D5-8A5B-BDA8A31FCDC1}"/>
                  </a:ext>
                </a:extLst>
              </p:cNvPr>
              <p:cNvSpPr txBox="1"/>
              <p:nvPr/>
            </p:nvSpPr>
            <p:spPr>
              <a:xfrm>
                <a:off x="5361815" y="3423108"/>
                <a:ext cx="5090817" cy="6668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𝑅𝑂𝑈𝐺𝐸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i="1" dirty="0" smtClean="0">
                              <a:latin typeface="Cambria Math" panose="02040503050406030204" pitchFamily="18" charset="0"/>
                              <a:sym typeface="Wingdings" pitchFamily="2" charset="2"/>
                            </a:rPr>
                          </m:ctrlPr>
                        </m:dPr>
                        <m:e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𝑃𝑟𝑒𝑐𝑖𝑠𝑖𝑜𝑛</m:t>
                          </m:r>
                        </m:e>
                      </m:d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𝑔𝑟𝑎𝑚</m:t>
                          </m:r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𝑚𝑎𝑡𝑐h𝑒𝑠</m:t>
                          </m:r>
                        </m:num>
                        <m:den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𝑔𝑟𝑎𝑚𝑠</m:t>
                          </m:r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𝑜𝑢𝑡𝑝𝑢𝑡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ZoneTexte 10">
                <a:extLst>
                  <a:ext uri="{FF2B5EF4-FFF2-40B4-BE49-F238E27FC236}">
                    <a16:creationId xmlns:a16="http://schemas.microsoft.com/office/drawing/2014/main" id="{7985B104-A568-71D5-8A5B-BDA8A31FCD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1815" y="3423108"/>
                <a:ext cx="5090817" cy="666849"/>
              </a:xfrm>
              <a:prstGeom prst="rect">
                <a:avLst/>
              </a:prstGeom>
              <a:blipFill>
                <a:blip r:embed="rId4"/>
                <a:stretch>
                  <a:fillRect b="-92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ZoneTexte 11">
                <a:extLst>
                  <a:ext uri="{FF2B5EF4-FFF2-40B4-BE49-F238E27FC236}">
                    <a16:creationId xmlns:a16="http://schemas.microsoft.com/office/drawing/2014/main" id="{53894C15-E103-9465-B74E-E2EF7231AFEC}"/>
                  </a:ext>
                </a:extLst>
              </p:cNvPr>
              <p:cNvSpPr txBox="1"/>
              <p:nvPr/>
            </p:nvSpPr>
            <p:spPr>
              <a:xfrm>
                <a:off x="5437229" y="4557408"/>
                <a:ext cx="4164473" cy="66492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𝑅𝑂𝑈𝐺𝐸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i="1" dirty="0" smtClean="0">
                              <a:latin typeface="Cambria Math" panose="02040503050406030204" pitchFamily="18" charset="0"/>
                              <a:sym typeface="Wingdings" pitchFamily="2" charset="2"/>
                            </a:rPr>
                          </m:ctrlPr>
                        </m:dPr>
                        <m:e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𝐹</m:t>
                          </m:r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𝑝𝑟𝑒𝑐𝑠𝑖𝑜𝑛</m:t>
                          </m:r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 × </m:t>
                          </m:r>
                          <m:r>
                            <a:rPr lang="fr-FR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𝑟𝑒𝑐𝑎𝑙𝑙</m:t>
                          </m:r>
                        </m:num>
                        <m:den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𝑝𝑟𝑒𝑐𝑖𝑠𝑖𝑜𝑛</m:t>
                          </m:r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 +</m:t>
                          </m:r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𝑟𝑒𝑐𝑎𝑙𝑙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ZoneTexte 11">
                <a:extLst>
                  <a:ext uri="{FF2B5EF4-FFF2-40B4-BE49-F238E27FC236}">
                    <a16:creationId xmlns:a16="http://schemas.microsoft.com/office/drawing/2014/main" id="{53894C15-E103-9465-B74E-E2EF7231AF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7229" y="4557408"/>
                <a:ext cx="4164473" cy="664926"/>
              </a:xfrm>
              <a:prstGeom prst="rect">
                <a:avLst/>
              </a:prstGeom>
              <a:blipFill>
                <a:blip r:embed="rId5"/>
                <a:stretch>
                  <a:fillRect b="-94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Accolade fermante 12">
            <a:extLst>
              <a:ext uri="{FF2B5EF4-FFF2-40B4-BE49-F238E27FC236}">
                <a16:creationId xmlns:a16="http://schemas.microsoft.com/office/drawing/2014/main" id="{89A8B0CA-D034-7187-2F1B-1D8E8FFC76FA}"/>
              </a:ext>
            </a:extLst>
          </p:cNvPr>
          <p:cNvSpPr/>
          <p:nvPr/>
        </p:nvSpPr>
        <p:spPr>
          <a:xfrm rot="10800000">
            <a:off x="3284650" y="2524816"/>
            <a:ext cx="589766" cy="2697517"/>
          </a:xfrm>
          <a:prstGeom prst="rightBrace">
            <a:avLst>
              <a:gd name="adj1" fmla="val 0"/>
              <a:gd name="adj2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152F2E-5455-2802-6B6C-F42C2460A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642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" grpId="0"/>
      <p:bldP spid="11" grpId="0"/>
      <p:bldP spid="12" grpId="0"/>
      <p:bldP spid="13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F5E1E4-B3E1-FC8C-2D92-D544D5B9F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BF663BBE-9D60-FD86-DCC6-49FBF9C338CC}"/>
              </a:ext>
            </a:extLst>
          </p:cNvPr>
          <p:cNvSpPr/>
          <p:nvPr/>
        </p:nvSpPr>
        <p:spPr>
          <a:xfrm>
            <a:off x="575035" y="5420412"/>
            <a:ext cx="7022969" cy="1112363"/>
          </a:xfrm>
          <a:prstGeom prst="roundRect">
            <a:avLst/>
          </a:prstGeom>
          <a:solidFill>
            <a:srgbClr val="FF0000">
              <a:alpha val="1792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C47DE4D-3548-56FF-6479-BB3D1BB517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872701" cy="1325563"/>
          </a:xfrm>
        </p:spPr>
        <p:txBody>
          <a:bodyPr/>
          <a:lstStyle/>
          <a:p>
            <a:r>
              <a:rPr lang="en-US" dirty="0"/>
              <a:t>Statistical Scores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3836AC1-3427-93E4-8B24-8A8DB0B2CC08}"/>
              </a:ext>
            </a:extLst>
          </p:cNvPr>
          <p:cNvSpPr txBox="1"/>
          <p:nvPr/>
        </p:nvSpPr>
        <p:spPr>
          <a:xfrm>
            <a:off x="838200" y="1516029"/>
            <a:ext cx="25767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1. ROUGE &amp; BLEU Score</a:t>
            </a:r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8227E807-6F8E-F988-925E-FBD241699653}"/>
              </a:ext>
            </a:extLst>
          </p:cNvPr>
          <p:cNvSpPr/>
          <p:nvPr/>
        </p:nvSpPr>
        <p:spPr>
          <a:xfrm>
            <a:off x="1405447" y="3114380"/>
            <a:ext cx="1442301" cy="987458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Rouge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ZoneTexte 2">
                <a:extLst>
                  <a:ext uri="{FF2B5EF4-FFF2-40B4-BE49-F238E27FC236}">
                    <a16:creationId xmlns:a16="http://schemas.microsoft.com/office/drawing/2014/main" id="{B113D19C-56B0-D464-FE21-2F2776D2CAB3}"/>
                  </a:ext>
                </a:extLst>
              </p:cNvPr>
              <p:cNvSpPr txBox="1"/>
              <p:nvPr/>
            </p:nvSpPr>
            <p:spPr>
              <a:xfrm>
                <a:off x="6681637" y="849180"/>
                <a:ext cx="5090817" cy="6668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𝑅𝑂𝑈𝐺𝐸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i="1" dirty="0" smtClean="0">
                              <a:latin typeface="Cambria Math" panose="02040503050406030204" pitchFamily="18" charset="0"/>
                              <a:sym typeface="Wingdings" pitchFamily="2" charset="2"/>
                            </a:rPr>
                          </m:ctrlPr>
                        </m:dPr>
                        <m:e>
                          <m:r>
                            <a:rPr lang="fr-FR" i="1" dirty="0">
                              <a:latin typeface="Cambria Math" panose="02040503050406030204" pitchFamily="18" charset="0"/>
                            </a:rPr>
                            <m:t>𝑃𝑟𝑒𝑐𝑖𝑠𝑖𝑜𝑛</m:t>
                          </m:r>
                        </m:e>
                      </m:d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𝑔𝑟𝑎𝑚</m:t>
                          </m:r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𝑚𝑎𝑡𝑐h𝑒𝑠</m:t>
                          </m:r>
                        </m:num>
                        <m:den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𝑔𝑟𝑎𝑚𝑠</m:t>
                          </m:r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𝑖𝑛</m:t>
                          </m:r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𝑜𝑢𝑡𝑝𝑢𝑡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ZoneTexte 2">
                <a:extLst>
                  <a:ext uri="{FF2B5EF4-FFF2-40B4-BE49-F238E27FC236}">
                    <a16:creationId xmlns:a16="http://schemas.microsoft.com/office/drawing/2014/main" id="{B113D19C-56B0-D464-FE21-2F2776D2CA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1637" y="849180"/>
                <a:ext cx="5090817" cy="666849"/>
              </a:xfrm>
              <a:prstGeom prst="rect">
                <a:avLst/>
              </a:prstGeom>
              <a:blipFill>
                <a:blip r:embed="rId3"/>
                <a:stretch>
                  <a:fillRect b="-92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ZoneTexte 3">
            <a:extLst>
              <a:ext uri="{FF2B5EF4-FFF2-40B4-BE49-F238E27FC236}">
                <a16:creationId xmlns:a16="http://schemas.microsoft.com/office/drawing/2014/main" id="{D138F6B9-084C-AD13-3868-06DA0504E93C}"/>
              </a:ext>
            </a:extLst>
          </p:cNvPr>
          <p:cNvSpPr txBox="1"/>
          <p:nvPr/>
        </p:nvSpPr>
        <p:spPr>
          <a:xfrm>
            <a:off x="3414996" y="2730946"/>
            <a:ext cx="217989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Reference (human):</a:t>
            </a:r>
            <a:br>
              <a:rPr lang="en-US" dirty="0"/>
            </a:br>
            <a:r>
              <a:rPr lang="en-US" dirty="0">
                <a:solidFill>
                  <a:srgbClr val="FFC000"/>
                </a:solidFill>
              </a:rPr>
              <a:t>My name is Toto.</a:t>
            </a:r>
          </a:p>
          <a:p>
            <a:endParaRPr lang="en-US" dirty="0">
              <a:solidFill>
                <a:srgbClr val="FFC000"/>
              </a:solidFill>
            </a:endParaRPr>
          </a:p>
          <a:p>
            <a:endParaRPr lang="en-US" dirty="0">
              <a:solidFill>
                <a:srgbClr val="FFC000"/>
              </a:solidFill>
            </a:endParaRPr>
          </a:p>
          <a:p>
            <a:r>
              <a:rPr lang="en-US" dirty="0"/>
              <a:t>Generated Output:</a:t>
            </a:r>
          </a:p>
          <a:p>
            <a:r>
              <a:rPr lang="en-US" dirty="0">
                <a:solidFill>
                  <a:srgbClr val="FFC000"/>
                </a:solidFill>
              </a:rPr>
              <a:t>My </a:t>
            </a:r>
            <a:r>
              <a:rPr lang="en-US" u="sng" dirty="0">
                <a:solidFill>
                  <a:srgbClr val="FFC000"/>
                </a:solidFill>
              </a:rPr>
              <a:t>first</a:t>
            </a:r>
            <a:r>
              <a:rPr lang="en-US" dirty="0">
                <a:solidFill>
                  <a:srgbClr val="FFC000"/>
                </a:solidFill>
              </a:rPr>
              <a:t> name is Toto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78959E32-7284-69DC-0C8A-249A08DD8A07}"/>
                  </a:ext>
                </a:extLst>
              </p:cNvPr>
              <p:cNvSpPr txBox="1"/>
              <p:nvPr/>
            </p:nvSpPr>
            <p:spPr>
              <a:xfrm>
                <a:off x="6409831" y="3274684"/>
                <a:ext cx="3662606" cy="61177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𝑅𝑂𝑈𝐺𝐸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−1 </m:t>
                      </m:r>
                      <m:d>
                        <m:dPr>
                          <m:ctrlPr>
                            <a:rPr lang="en-US" i="1" dirty="0" smtClean="0">
                              <a:latin typeface="Cambria Math" panose="02040503050406030204" pitchFamily="18" charset="0"/>
                              <a:sym typeface="Wingdings" pitchFamily="2" charset="2"/>
                            </a:rPr>
                          </m:ctrlPr>
                        </m:dPr>
                        <m:e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𝑃𝑟𝑒𝑐𝑖𝑠𝑖𝑜𝑛</m:t>
                          </m:r>
                        </m:e>
                      </m:d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=0.8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78959E32-7284-69DC-0C8A-249A08DD8A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9831" y="3274684"/>
                <a:ext cx="3662606" cy="611771"/>
              </a:xfrm>
              <a:prstGeom prst="rect">
                <a:avLst/>
              </a:prstGeom>
              <a:blipFill>
                <a:blip r:embed="rId4"/>
                <a:stretch>
                  <a:fillRect b="-4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ZoneTexte 8">
            <a:extLst>
              <a:ext uri="{FF2B5EF4-FFF2-40B4-BE49-F238E27FC236}">
                <a16:creationId xmlns:a16="http://schemas.microsoft.com/office/drawing/2014/main" id="{1EB95C9E-4336-7AC4-29EB-DD22500F3A78}"/>
              </a:ext>
            </a:extLst>
          </p:cNvPr>
          <p:cNvSpPr txBox="1"/>
          <p:nvPr/>
        </p:nvSpPr>
        <p:spPr>
          <a:xfrm>
            <a:off x="838200" y="5645110"/>
            <a:ext cx="218780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!</a:t>
            </a:r>
            <a:r>
              <a:rPr lang="en-US" dirty="0"/>
              <a:t> Generated Output:</a:t>
            </a:r>
          </a:p>
          <a:p>
            <a:r>
              <a:rPr lang="en-US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Toto Toto Toto Toto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ZoneTexte 9">
                <a:extLst>
                  <a:ext uri="{FF2B5EF4-FFF2-40B4-BE49-F238E27FC236}">
                    <a16:creationId xmlns:a16="http://schemas.microsoft.com/office/drawing/2014/main" id="{E0DBE03A-BC29-8EEB-399B-E91F0BC31E52}"/>
                  </a:ext>
                </a:extLst>
              </p:cNvPr>
              <p:cNvSpPr txBox="1"/>
              <p:nvPr/>
            </p:nvSpPr>
            <p:spPr>
              <a:xfrm>
                <a:off x="3763585" y="5662389"/>
                <a:ext cx="3486275" cy="60991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𝑅𝑂𝑈𝐺𝐸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−1 </m:t>
                      </m:r>
                      <m:d>
                        <m:dPr>
                          <m:ctrlPr>
                            <a:rPr lang="en-US" i="1" dirty="0" smtClean="0">
                              <a:latin typeface="Cambria Math" panose="02040503050406030204" pitchFamily="18" charset="0"/>
                              <a:sym typeface="Wingdings" pitchFamily="2" charset="2"/>
                            </a:rPr>
                          </m:ctrlPr>
                        </m:dPr>
                        <m:e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𝑃𝑟𝑒𝑐𝑖𝑠𝑖𝑜𝑛</m:t>
                          </m:r>
                        </m:e>
                      </m:d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num>
                        <m:den>
                          <m:r>
                            <a:rPr lang="fr-FR" b="0" i="1" dirty="0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ZoneTexte 9">
                <a:extLst>
                  <a:ext uri="{FF2B5EF4-FFF2-40B4-BE49-F238E27FC236}">
                    <a16:creationId xmlns:a16="http://schemas.microsoft.com/office/drawing/2014/main" id="{E0DBE03A-BC29-8EEB-399B-E91F0BC31E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63585" y="5662389"/>
                <a:ext cx="3486275" cy="609911"/>
              </a:xfrm>
              <a:prstGeom prst="rect">
                <a:avLst/>
              </a:prstGeom>
              <a:blipFill>
                <a:blip r:embed="rId5"/>
                <a:stretch>
                  <a:fillRect b="-408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D35E9202-FFC2-7734-C9DC-C88F622E5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17917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6" grpId="0" animBg="1"/>
      <p:bldP spid="4" grpId="0"/>
      <p:bldP spid="7" grpId="0"/>
      <p:bldP spid="9" grpId="0"/>
      <p:bldP spid="10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6045F-9F78-67D3-568D-E8094B490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E8BA4-D98C-348D-BD96-BBD3E312CC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872701" cy="1325563"/>
          </a:xfrm>
        </p:spPr>
        <p:txBody>
          <a:bodyPr/>
          <a:lstStyle/>
          <a:p>
            <a:r>
              <a:rPr lang="en-US" dirty="0"/>
              <a:t>Statistical Scores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4CB94F4B-35AB-1F13-5F15-00BDBED21AB3}"/>
              </a:ext>
            </a:extLst>
          </p:cNvPr>
          <p:cNvSpPr txBox="1"/>
          <p:nvPr/>
        </p:nvSpPr>
        <p:spPr>
          <a:xfrm>
            <a:off x="838200" y="1516029"/>
            <a:ext cx="25767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1. ROUGE &amp; BLEU Score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7CD05D38-AF24-9A10-69E7-60E15951B53B}"/>
              </a:ext>
            </a:extLst>
          </p:cNvPr>
          <p:cNvSpPr/>
          <p:nvPr/>
        </p:nvSpPr>
        <p:spPr>
          <a:xfrm>
            <a:off x="1365142" y="3036265"/>
            <a:ext cx="1442301" cy="987458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BLEU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ZoneTexte 10">
                <a:extLst>
                  <a:ext uri="{FF2B5EF4-FFF2-40B4-BE49-F238E27FC236}">
                    <a16:creationId xmlns:a16="http://schemas.microsoft.com/office/drawing/2014/main" id="{B9DE4A35-8CE5-4B66-8F1B-DA6B4CD37463}"/>
                  </a:ext>
                </a:extLst>
              </p:cNvPr>
              <p:cNvSpPr txBox="1"/>
              <p:nvPr/>
            </p:nvSpPr>
            <p:spPr>
              <a:xfrm>
                <a:off x="4293909" y="3381602"/>
                <a:ext cx="601799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𝐵𝐿𝐸𝑈</m:t>
                      </m:r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𝑎𝑣𝑔</m:t>
                      </m:r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𝑝𝑟𝑒𝑐𝑖𝑠𝑖𝑜𝑛</m:t>
                      </m:r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𝑎𝑐𝑟𝑜𝑠𝑠</m:t>
                      </m:r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𝑟𝑎𝑛𝑔𝑒</m:t>
                      </m:r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𝑜𝑓</m:t>
                      </m:r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𝑔𝑟𝑎𝑚</m:t>
                      </m:r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𝑠𝑖𝑧𝑒𝑠</m:t>
                      </m:r>
                      <m:r>
                        <a:rPr lang="fr-FR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ZoneTexte 10">
                <a:extLst>
                  <a:ext uri="{FF2B5EF4-FFF2-40B4-BE49-F238E27FC236}">
                    <a16:creationId xmlns:a16="http://schemas.microsoft.com/office/drawing/2014/main" id="{B9DE4A35-8CE5-4B66-8F1B-DA6B4CD374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3909" y="3381602"/>
                <a:ext cx="6017994" cy="369332"/>
              </a:xfrm>
              <a:prstGeom prst="rect">
                <a:avLst/>
              </a:prstGeom>
              <a:blipFill>
                <a:blip r:embed="rId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8469E91-AB73-0762-D09C-F2ED4DD64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591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884FD-2B0A-D21C-E72E-4DD23825C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78FB66-4969-001B-B978-71B694C50F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532043" cy="1325563"/>
          </a:xfrm>
        </p:spPr>
        <p:txBody>
          <a:bodyPr/>
          <a:lstStyle/>
          <a:p>
            <a:r>
              <a:rPr lang="en-US" dirty="0"/>
              <a:t>Model Based and Statistical Scores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3383F99-D6B2-3EDB-4FBA-597DA2C2B654}"/>
              </a:ext>
            </a:extLst>
          </p:cNvPr>
          <p:cNvSpPr txBox="1"/>
          <p:nvPr/>
        </p:nvSpPr>
        <p:spPr>
          <a:xfrm>
            <a:off x="838200" y="1516029"/>
            <a:ext cx="15037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1. </a:t>
            </a:r>
            <a:r>
              <a:rPr lang="en-US" dirty="0" err="1"/>
              <a:t>BERTScore</a:t>
            </a:r>
            <a:endParaRPr lang="en-US" dirty="0"/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65EFE1F5-6C75-7DD4-057E-08D342D08FAA}"/>
              </a:ext>
            </a:extLst>
          </p:cNvPr>
          <p:cNvSpPr/>
          <p:nvPr/>
        </p:nvSpPr>
        <p:spPr>
          <a:xfrm>
            <a:off x="3071615" y="3440430"/>
            <a:ext cx="3118701" cy="66930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Pre-trained Contextual </a:t>
            </a:r>
            <a:br>
              <a:rPr lang="en-US" dirty="0"/>
            </a:br>
            <a:r>
              <a:rPr lang="en-US" dirty="0"/>
              <a:t>embedding from BERT model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014668E-523F-3CEC-9CA1-A1CCBE0E4B1F}"/>
              </a:ext>
            </a:extLst>
          </p:cNvPr>
          <p:cNvSpPr txBox="1"/>
          <p:nvPr/>
        </p:nvSpPr>
        <p:spPr>
          <a:xfrm>
            <a:off x="961533" y="2928822"/>
            <a:ext cx="1866665" cy="369332"/>
          </a:xfrm>
          <a:prstGeom prst="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Expected Output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2F6A78B-8DDA-FC6E-4119-18D140FAFD09}"/>
              </a:ext>
            </a:extLst>
          </p:cNvPr>
          <p:cNvSpPr txBox="1"/>
          <p:nvPr/>
        </p:nvSpPr>
        <p:spPr>
          <a:xfrm>
            <a:off x="1394459" y="4197198"/>
            <a:ext cx="1350050" cy="369332"/>
          </a:xfrm>
          <a:prstGeom prst="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LLM Output</a:t>
            </a:r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C64618DE-536C-93F3-2983-AB33AC36D210}"/>
              </a:ext>
            </a:extLst>
          </p:cNvPr>
          <p:cNvCxnSpPr>
            <a:cxnSpLocks/>
            <a:stCxn id="4" idx="3"/>
          </p:cNvCxnSpPr>
          <p:nvPr/>
        </p:nvCxnSpPr>
        <p:spPr>
          <a:xfrm>
            <a:off x="2828198" y="3113488"/>
            <a:ext cx="243417" cy="3457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eur droit avec flèche 11">
            <a:extLst>
              <a:ext uri="{FF2B5EF4-FFF2-40B4-BE49-F238E27FC236}">
                <a16:creationId xmlns:a16="http://schemas.microsoft.com/office/drawing/2014/main" id="{BE38862F-39F0-AC1C-CE61-78C5F6480128}"/>
              </a:ext>
            </a:extLst>
          </p:cNvPr>
          <p:cNvCxnSpPr>
            <a:cxnSpLocks/>
            <a:stCxn id="6" idx="3"/>
          </p:cNvCxnSpPr>
          <p:nvPr/>
        </p:nvCxnSpPr>
        <p:spPr>
          <a:xfrm flipV="1">
            <a:off x="2744509" y="4090851"/>
            <a:ext cx="372718" cy="29101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ZoneTexte 14">
            <a:extLst>
              <a:ext uri="{FF2B5EF4-FFF2-40B4-BE49-F238E27FC236}">
                <a16:creationId xmlns:a16="http://schemas.microsoft.com/office/drawing/2014/main" id="{AF8C4128-9649-3579-3F0B-E9F7893A3C41}"/>
              </a:ext>
            </a:extLst>
          </p:cNvPr>
          <p:cNvSpPr txBox="1"/>
          <p:nvPr/>
        </p:nvSpPr>
        <p:spPr>
          <a:xfrm>
            <a:off x="6854293" y="2820382"/>
            <a:ext cx="2472600" cy="369332"/>
          </a:xfrm>
          <a:prstGeom prst="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[ Expected Embedding]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AD2B37DA-07EE-9305-A6FF-81CC2318DDE6}"/>
              </a:ext>
            </a:extLst>
          </p:cNvPr>
          <p:cNvSpPr txBox="1"/>
          <p:nvPr/>
        </p:nvSpPr>
        <p:spPr>
          <a:xfrm>
            <a:off x="6703139" y="4109733"/>
            <a:ext cx="2707793" cy="369332"/>
          </a:xfrm>
          <a:prstGeom prst="rect">
            <a:avLst/>
          </a:prstGeom>
          <a:noFill/>
          <a:ln>
            <a:solidFill>
              <a:schemeClr val="accent1">
                <a:shade val="1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[ LLM Output Embedding]</a:t>
            </a:r>
          </a:p>
        </p:txBody>
      </p:sp>
      <p:cxnSp>
        <p:nvCxnSpPr>
          <p:cNvPr id="18" name="Connecteur droit avec flèche 17">
            <a:extLst>
              <a:ext uri="{FF2B5EF4-FFF2-40B4-BE49-F238E27FC236}">
                <a16:creationId xmlns:a16="http://schemas.microsoft.com/office/drawing/2014/main" id="{E5BAF7F6-46BF-2072-3144-8B2D61D20389}"/>
              </a:ext>
            </a:extLst>
          </p:cNvPr>
          <p:cNvCxnSpPr>
            <a:cxnSpLocks/>
            <a:endCxn id="15" idx="1"/>
          </p:cNvCxnSpPr>
          <p:nvPr/>
        </p:nvCxnSpPr>
        <p:spPr>
          <a:xfrm flipV="1">
            <a:off x="6190316" y="3005048"/>
            <a:ext cx="663977" cy="4221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949AA163-3B2D-35CF-AB41-08DE8DE82C65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6190316" y="4076708"/>
            <a:ext cx="512823" cy="2176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Ellipse 27">
            <a:extLst>
              <a:ext uri="{FF2B5EF4-FFF2-40B4-BE49-F238E27FC236}">
                <a16:creationId xmlns:a16="http://schemas.microsoft.com/office/drawing/2014/main" id="{A44229C6-156D-C4E6-8083-32D7478AC91C}"/>
              </a:ext>
            </a:extLst>
          </p:cNvPr>
          <p:cNvSpPr/>
          <p:nvPr/>
        </p:nvSpPr>
        <p:spPr>
          <a:xfrm>
            <a:off x="9742370" y="3083022"/>
            <a:ext cx="1502004" cy="118091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Cosine</a:t>
            </a:r>
            <a:br>
              <a:rPr lang="en-US" dirty="0"/>
            </a:br>
            <a:r>
              <a:rPr lang="en-US" dirty="0"/>
              <a:t>Score</a:t>
            </a:r>
          </a:p>
        </p:txBody>
      </p:sp>
      <p:cxnSp>
        <p:nvCxnSpPr>
          <p:cNvPr id="30" name="Connecteur droit avec flèche 29">
            <a:extLst>
              <a:ext uri="{FF2B5EF4-FFF2-40B4-BE49-F238E27FC236}">
                <a16:creationId xmlns:a16="http://schemas.microsoft.com/office/drawing/2014/main" id="{08394FEA-4ACB-D6B4-E174-ACDA4CF2BB37}"/>
              </a:ext>
            </a:extLst>
          </p:cNvPr>
          <p:cNvCxnSpPr>
            <a:stCxn id="15" idx="3"/>
            <a:endCxn id="28" idx="1"/>
          </p:cNvCxnSpPr>
          <p:nvPr/>
        </p:nvCxnSpPr>
        <p:spPr>
          <a:xfrm>
            <a:off x="9326893" y="3005048"/>
            <a:ext cx="635440" cy="2509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eur droit avec flèche 31">
            <a:extLst>
              <a:ext uri="{FF2B5EF4-FFF2-40B4-BE49-F238E27FC236}">
                <a16:creationId xmlns:a16="http://schemas.microsoft.com/office/drawing/2014/main" id="{1312BA30-841D-E48D-9F8D-07B382A9291D}"/>
              </a:ext>
            </a:extLst>
          </p:cNvPr>
          <p:cNvCxnSpPr>
            <a:stCxn id="16" idx="3"/>
            <a:endCxn id="28" idx="3"/>
          </p:cNvCxnSpPr>
          <p:nvPr/>
        </p:nvCxnSpPr>
        <p:spPr>
          <a:xfrm flipV="1">
            <a:off x="9410932" y="4090993"/>
            <a:ext cx="551401" cy="2034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CFFAEE-A5E5-69E1-9374-D74093468A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380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6" grpId="0" animBg="1"/>
      <p:bldP spid="15" grpId="0" animBg="1"/>
      <p:bldP spid="16" grpId="0" animBg="1"/>
      <p:bldP spid="28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723838-5D42-AAE0-760F-1DF6B5EE0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E1E2D-C576-BDE0-557D-57138F240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532043" cy="1325563"/>
          </a:xfrm>
        </p:spPr>
        <p:txBody>
          <a:bodyPr/>
          <a:lstStyle/>
          <a:p>
            <a:r>
              <a:rPr lang="en-US" dirty="0"/>
              <a:t>Model Based and Statistical Scores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991EC5B2-5127-5652-7650-ACF5920CEA18}"/>
              </a:ext>
            </a:extLst>
          </p:cNvPr>
          <p:cNvSpPr txBox="1"/>
          <p:nvPr/>
        </p:nvSpPr>
        <p:spPr>
          <a:xfrm>
            <a:off x="838200" y="1516029"/>
            <a:ext cx="18463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2. </a:t>
            </a:r>
            <a:r>
              <a:rPr lang="en-US" dirty="0" err="1"/>
              <a:t>SelfCheckGPT</a:t>
            </a:r>
            <a:endParaRPr lang="en-US" dirty="0"/>
          </a:p>
        </p:txBody>
      </p:sp>
      <p:sp>
        <p:nvSpPr>
          <p:cNvPr id="8" name="AutoShape 4">
            <a:extLst>
              <a:ext uri="{FF2B5EF4-FFF2-40B4-BE49-F238E27FC236}">
                <a16:creationId xmlns:a16="http://schemas.microsoft.com/office/drawing/2014/main" id="{055EC642-4292-B337-63B5-CFE31067292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1" name="Image 10">
            <a:extLst>
              <a:ext uri="{FF2B5EF4-FFF2-40B4-BE49-F238E27FC236}">
                <a16:creationId xmlns:a16="http://schemas.microsoft.com/office/drawing/2014/main" id="{D6123FD8-C810-5161-6507-F65F72468B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9515" y="1516029"/>
            <a:ext cx="5795752" cy="4698875"/>
          </a:xfrm>
          <a:prstGeom prst="rect">
            <a:avLst/>
          </a:prstGeom>
        </p:spPr>
      </p:pic>
      <p:sp>
        <p:nvSpPr>
          <p:cNvPr id="13" name="ZoneTexte 12">
            <a:extLst>
              <a:ext uri="{FF2B5EF4-FFF2-40B4-BE49-F238E27FC236}">
                <a16:creationId xmlns:a16="http://schemas.microsoft.com/office/drawing/2014/main" id="{6EA53FBA-8D46-1C93-AE12-150CB0690EC3}"/>
              </a:ext>
            </a:extLst>
          </p:cNvPr>
          <p:cNvSpPr txBox="1"/>
          <p:nvPr/>
        </p:nvSpPr>
        <p:spPr>
          <a:xfrm>
            <a:off x="9577633" y="5938887"/>
            <a:ext cx="23023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4"/>
              </a:rPr>
              <a:t>Source: </a:t>
            </a:r>
            <a:r>
              <a:rPr lang="en-US" dirty="0" err="1">
                <a:hlinkClick r:id="rId4"/>
              </a:rPr>
              <a:t>researchgate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B4D0C2E-3E37-F625-44DA-9BDFF2876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381978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2BDFF-78D7-11D7-56DE-E8705BF18F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65785A9A-F218-556E-5EF7-D590DD5491E6}"/>
              </a:ext>
            </a:extLst>
          </p:cNvPr>
          <p:cNvSpPr/>
          <p:nvPr/>
        </p:nvSpPr>
        <p:spPr>
          <a:xfrm>
            <a:off x="551351" y="1972056"/>
            <a:ext cx="4421171" cy="649338"/>
          </a:xfrm>
          <a:prstGeom prst="roundRect">
            <a:avLst/>
          </a:prstGeom>
          <a:solidFill>
            <a:schemeClr val="accent1">
              <a:lumMod val="20000"/>
              <a:lumOff val="80000"/>
              <a:alpha val="2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26B3055E-3CAD-3492-A59A-1867F2DC984F}"/>
              </a:ext>
            </a:extLst>
          </p:cNvPr>
          <p:cNvSpPr/>
          <p:nvPr/>
        </p:nvSpPr>
        <p:spPr>
          <a:xfrm>
            <a:off x="546521" y="2721458"/>
            <a:ext cx="9892517" cy="1754326"/>
          </a:xfrm>
          <a:prstGeom prst="round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3C26B296-7F7F-D0AD-27F7-1CE80CB5F050}"/>
              </a:ext>
            </a:extLst>
          </p:cNvPr>
          <p:cNvSpPr/>
          <p:nvPr/>
        </p:nvSpPr>
        <p:spPr>
          <a:xfrm>
            <a:off x="535524" y="4579195"/>
            <a:ext cx="9903516" cy="1754326"/>
          </a:xfrm>
          <a:prstGeom prst="roundRect">
            <a:avLst/>
          </a:prstGeom>
          <a:solidFill>
            <a:schemeClr val="accent3">
              <a:lumMod val="20000"/>
              <a:lumOff val="80000"/>
              <a:alpha val="2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F530BC-0071-6588-F5BF-22AE3D8C6F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532043" cy="1325563"/>
          </a:xfrm>
        </p:spPr>
        <p:txBody>
          <a:bodyPr/>
          <a:lstStyle/>
          <a:p>
            <a:r>
              <a:rPr lang="en-US" dirty="0"/>
              <a:t>Model Based and Statistical Scores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C5A7836-5800-F3FD-6741-7FACB1733564}"/>
              </a:ext>
            </a:extLst>
          </p:cNvPr>
          <p:cNvSpPr txBox="1"/>
          <p:nvPr/>
        </p:nvSpPr>
        <p:spPr>
          <a:xfrm>
            <a:off x="838200" y="1516029"/>
            <a:ext cx="47158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2. Question Answer Generation  - Faithfulness</a:t>
            </a:r>
          </a:p>
        </p:txBody>
      </p:sp>
      <p:sp>
        <p:nvSpPr>
          <p:cNvPr id="8" name="AutoShape 4">
            <a:extLst>
              <a:ext uri="{FF2B5EF4-FFF2-40B4-BE49-F238E27FC236}">
                <a16:creationId xmlns:a16="http://schemas.microsoft.com/office/drawing/2014/main" id="{F8535E26-EDE8-7100-BB65-CF411E2C92B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323735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CAA44793-55C1-9DB8-F2A7-09F76B11616D}"/>
              </a:ext>
            </a:extLst>
          </p:cNvPr>
          <p:cNvSpPr txBox="1"/>
          <p:nvPr/>
        </p:nvSpPr>
        <p:spPr>
          <a:xfrm>
            <a:off x="744718" y="2114312"/>
            <a:ext cx="40344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Prompt</a:t>
            </a:r>
            <a:r>
              <a:rPr lang="en-US" dirty="0"/>
              <a:t>: “Who is Christophe Colomb?”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8E2E84A-F541-B5CE-7F8C-665F74C01A06}"/>
              </a:ext>
            </a:extLst>
          </p:cNvPr>
          <p:cNvSpPr txBox="1"/>
          <p:nvPr/>
        </p:nvSpPr>
        <p:spPr>
          <a:xfrm>
            <a:off x="744718" y="2695447"/>
            <a:ext cx="969432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Retrieved Context</a:t>
            </a:r>
            <a:r>
              <a:rPr lang="en-US" dirty="0"/>
              <a:t>: </a:t>
            </a:r>
            <a:br>
              <a:rPr lang="en-US" dirty="0"/>
            </a:br>
            <a:r>
              <a:rPr lang="en-US" dirty="0"/>
              <a:t>ex: (Wikipedia)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Chunk 1: </a:t>
            </a:r>
            <a:r>
              <a:rPr lang="fr-FR" dirty="0" err="1"/>
              <a:t>His</a:t>
            </a:r>
            <a:r>
              <a:rPr lang="fr-FR" dirty="0"/>
              <a:t> </a:t>
            </a:r>
            <a:r>
              <a:rPr lang="fr-FR" dirty="0" err="1"/>
              <a:t>expeditions</a:t>
            </a:r>
            <a:r>
              <a:rPr lang="fr-FR" dirty="0"/>
              <a:t> </a:t>
            </a:r>
            <a:r>
              <a:rPr lang="fr-FR" dirty="0" err="1"/>
              <a:t>were</a:t>
            </a:r>
            <a:r>
              <a:rPr lang="fr-FR" dirty="0"/>
              <a:t> the first </a:t>
            </a:r>
            <a:r>
              <a:rPr lang="fr-FR" dirty="0" err="1"/>
              <a:t>known</a:t>
            </a:r>
            <a:r>
              <a:rPr lang="fr-FR" dirty="0"/>
              <a:t> </a:t>
            </a:r>
            <a:r>
              <a:rPr lang="fr-FR" dirty="0" err="1"/>
              <a:t>European</a:t>
            </a:r>
            <a:r>
              <a:rPr lang="fr-FR" dirty="0"/>
              <a:t> contact </a:t>
            </a:r>
            <a:r>
              <a:rPr lang="fr-FR" dirty="0" err="1"/>
              <a:t>with</a:t>
            </a:r>
            <a:r>
              <a:rPr lang="fr-FR" dirty="0"/>
              <a:t> the Caribbean and Central </a:t>
            </a:r>
            <a:br>
              <a:rPr lang="fr-FR" dirty="0"/>
            </a:br>
            <a:r>
              <a:rPr lang="fr-FR" dirty="0"/>
              <a:t>and South America</a:t>
            </a:r>
          </a:p>
          <a:p>
            <a:r>
              <a:rPr lang="en-US" dirty="0"/>
              <a:t>Chunk 2: </a:t>
            </a:r>
            <a:r>
              <a:rPr lang="fr-FR" dirty="0" err="1"/>
              <a:t>completed</a:t>
            </a:r>
            <a:r>
              <a:rPr lang="fr-FR" dirty="0"/>
              <a:t> </a:t>
            </a:r>
            <a:r>
              <a:rPr lang="fr-FR" dirty="0">
                <a:hlinkClick r:id="rId3" tooltip="Voyages of Christopher Columbus"/>
              </a:rPr>
              <a:t>four Spanish-based voyages across the Atlantic Ocean</a:t>
            </a:r>
            <a:r>
              <a:rPr lang="fr-FR" dirty="0"/>
              <a:t> </a:t>
            </a:r>
            <a:endParaRPr lang="en-US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D08CCF3-4C2B-4F0F-F0B8-E63B2D4439A0}"/>
              </a:ext>
            </a:extLst>
          </p:cNvPr>
          <p:cNvSpPr txBox="1"/>
          <p:nvPr/>
        </p:nvSpPr>
        <p:spPr>
          <a:xfrm>
            <a:off x="744718" y="4612171"/>
            <a:ext cx="9832179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LLM Answer</a:t>
            </a:r>
            <a:r>
              <a:rPr lang="en-US" dirty="0"/>
              <a:t>: </a:t>
            </a:r>
            <a:br>
              <a:rPr lang="en-US" dirty="0"/>
            </a:br>
            <a:r>
              <a:rPr lang="fr-FR" dirty="0"/>
              <a:t>Columbus </a:t>
            </a:r>
            <a:r>
              <a:rPr lang="fr-FR" dirty="0" err="1"/>
              <a:t>is</a:t>
            </a:r>
            <a:r>
              <a:rPr lang="fr-FR" dirty="0"/>
              <a:t> a </a:t>
            </a:r>
            <a:r>
              <a:rPr lang="fr-FR" dirty="0" err="1"/>
              <a:t>significant</a:t>
            </a:r>
            <a:r>
              <a:rPr lang="fr-FR" dirty="0"/>
              <a:t> </a:t>
            </a:r>
            <a:r>
              <a:rPr lang="fr-FR" dirty="0" err="1"/>
              <a:t>historical</a:t>
            </a:r>
            <a:r>
              <a:rPr lang="fr-FR" dirty="0"/>
              <a:t> figure </a:t>
            </a:r>
            <a:r>
              <a:rPr lang="fr-FR" dirty="0" err="1"/>
              <a:t>whose</a:t>
            </a:r>
            <a:r>
              <a:rPr lang="fr-FR" dirty="0"/>
              <a:t> voyages </a:t>
            </a:r>
            <a:r>
              <a:rPr lang="fr-FR" dirty="0" err="1"/>
              <a:t>had</a:t>
            </a:r>
            <a:r>
              <a:rPr lang="fr-FR" dirty="0"/>
              <a:t> a </a:t>
            </a:r>
            <a:r>
              <a:rPr lang="fr-FR" dirty="0" err="1"/>
              <a:t>profound</a:t>
            </a:r>
            <a:r>
              <a:rPr lang="fr-FR" dirty="0"/>
              <a:t> impact on world </a:t>
            </a:r>
            <a:r>
              <a:rPr lang="fr-FR" dirty="0" err="1"/>
              <a:t>history</a:t>
            </a:r>
            <a:r>
              <a:rPr lang="fr-FR" dirty="0"/>
              <a:t>, </a:t>
            </a:r>
          </a:p>
          <a:p>
            <a:r>
              <a:rPr lang="fr-FR" dirty="0" err="1"/>
              <a:t>initiating</a:t>
            </a:r>
            <a:r>
              <a:rPr lang="fr-FR" dirty="0"/>
              <a:t> the </a:t>
            </a:r>
            <a:r>
              <a:rPr lang="fr-FR" dirty="0" err="1"/>
              <a:t>Columbian</a:t>
            </a:r>
            <a:r>
              <a:rPr lang="fr-FR" dirty="0"/>
              <a:t> Exchange and </a:t>
            </a:r>
            <a:r>
              <a:rPr lang="fr-FR" dirty="0" err="1"/>
              <a:t>European</a:t>
            </a:r>
            <a:r>
              <a:rPr lang="fr-FR" dirty="0"/>
              <a:t> </a:t>
            </a:r>
            <a:r>
              <a:rPr lang="fr-FR" dirty="0" err="1"/>
              <a:t>colonization</a:t>
            </a:r>
            <a:r>
              <a:rPr lang="fr-FR" dirty="0"/>
              <a:t> of the </a:t>
            </a:r>
            <a:r>
              <a:rPr lang="fr-FR" dirty="0" err="1"/>
              <a:t>Americas</a:t>
            </a:r>
            <a:r>
              <a:rPr lang="fr-FR" dirty="0"/>
              <a:t>. </a:t>
            </a:r>
          </a:p>
          <a:p>
            <a:r>
              <a:rPr lang="fr-FR" dirty="0" err="1"/>
              <a:t>However</a:t>
            </a:r>
            <a:r>
              <a:rPr lang="fr-FR" dirty="0"/>
              <a:t>, </a:t>
            </a:r>
            <a:r>
              <a:rPr lang="fr-FR" dirty="0" err="1"/>
              <a:t>it's</a:t>
            </a:r>
            <a:r>
              <a:rPr lang="fr-FR" dirty="0"/>
              <a:t> important to note </a:t>
            </a:r>
            <a:r>
              <a:rPr lang="fr-FR" dirty="0" err="1"/>
              <a:t>that</a:t>
            </a:r>
            <a:r>
              <a:rPr lang="fr-FR" dirty="0"/>
              <a:t> </a:t>
            </a:r>
            <a:r>
              <a:rPr lang="fr-FR" dirty="0" err="1"/>
              <a:t>his</a:t>
            </a:r>
            <a:r>
              <a:rPr lang="fr-FR" dirty="0"/>
              <a:t> </a:t>
            </a:r>
            <a:r>
              <a:rPr lang="fr-FR" dirty="0" err="1"/>
              <a:t>legacy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complex</a:t>
            </a:r>
            <a:r>
              <a:rPr lang="fr-FR" dirty="0"/>
              <a:t> and </a:t>
            </a:r>
            <a:r>
              <a:rPr lang="fr-FR" dirty="0" err="1"/>
              <a:t>controversial</a:t>
            </a:r>
            <a:r>
              <a:rPr lang="fr-FR" dirty="0"/>
              <a:t> </a:t>
            </a:r>
          </a:p>
          <a:p>
            <a:r>
              <a:rPr lang="fr-FR" dirty="0"/>
              <a:t>due to the </a:t>
            </a:r>
            <a:r>
              <a:rPr lang="fr-FR" dirty="0" err="1"/>
              <a:t>devastating</a:t>
            </a:r>
            <a:r>
              <a:rPr lang="fr-FR" dirty="0"/>
              <a:t> </a:t>
            </a:r>
            <a:r>
              <a:rPr lang="fr-FR" dirty="0" err="1"/>
              <a:t>effects</a:t>
            </a:r>
            <a:r>
              <a:rPr lang="fr-FR" dirty="0"/>
              <a:t> </a:t>
            </a:r>
            <a:r>
              <a:rPr lang="fr-FR" dirty="0" err="1"/>
              <a:t>his</a:t>
            </a:r>
            <a:r>
              <a:rPr lang="fr-FR" dirty="0"/>
              <a:t> </a:t>
            </a:r>
            <a:r>
              <a:rPr lang="fr-FR" dirty="0" err="1"/>
              <a:t>expeditions</a:t>
            </a:r>
            <a:r>
              <a:rPr lang="fr-FR" dirty="0"/>
              <a:t> </a:t>
            </a:r>
            <a:r>
              <a:rPr lang="fr-FR" dirty="0" err="1"/>
              <a:t>had</a:t>
            </a:r>
            <a:r>
              <a:rPr lang="fr-FR" dirty="0"/>
              <a:t> on </a:t>
            </a:r>
            <a:r>
              <a:rPr lang="fr-FR" dirty="0" err="1"/>
              <a:t>indigenous</a:t>
            </a:r>
            <a:r>
              <a:rPr lang="fr-FR" dirty="0"/>
              <a:t> populations in the </a:t>
            </a:r>
            <a:r>
              <a:rPr lang="fr-FR" dirty="0" err="1"/>
              <a:t>Americas</a:t>
            </a:r>
            <a:r>
              <a:rPr lang="fr-FR" dirty="0"/>
              <a:t>.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8EDCA6F-439F-1FB3-B8FD-3E84EEBAD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50846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  <p:bldP spid="3" grpId="0"/>
      <p:bldP spid="4" grpId="0"/>
      <p:bldP spid="6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7B023-8780-8B55-4798-C03686E1D3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4475CCB7-32E9-2D4E-21B6-57C809B5E0CF}"/>
              </a:ext>
            </a:extLst>
          </p:cNvPr>
          <p:cNvSpPr/>
          <p:nvPr/>
        </p:nvSpPr>
        <p:spPr>
          <a:xfrm>
            <a:off x="535524" y="1990440"/>
            <a:ext cx="9892517" cy="1754326"/>
          </a:xfrm>
          <a:prstGeom prst="roundRect">
            <a:avLst/>
          </a:prstGeom>
          <a:solidFill>
            <a:schemeClr val="accent5">
              <a:lumMod val="20000"/>
              <a:lumOff val="80000"/>
              <a:alpha val="2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89868AB4-377D-91A8-4F71-58D585517A6D}"/>
              </a:ext>
            </a:extLst>
          </p:cNvPr>
          <p:cNvSpPr/>
          <p:nvPr/>
        </p:nvSpPr>
        <p:spPr>
          <a:xfrm>
            <a:off x="535524" y="4579195"/>
            <a:ext cx="9903516" cy="1754326"/>
          </a:xfrm>
          <a:prstGeom prst="roundRect">
            <a:avLst/>
          </a:prstGeom>
          <a:solidFill>
            <a:schemeClr val="accent3">
              <a:lumMod val="20000"/>
              <a:lumOff val="80000"/>
              <a:alpha val="2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FA535B-EB64-C6BC-63C0-784D07CAB1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532043" cy="1325563"/>
          </a:xfrm>
        </p:spPr>
        <p:txBody>
          <a:bodyPr/>
          <a:lstStyle/>
          <a:p>
            <a:r>
              <a:rPr lang="en-US" dirty="0"/>
              <a:t>Model Based and Statistical Scores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9D17AAD-8A3B-F535-252B-157C2B63FBE4}"/>
              </a:ext>
            </a:extLst>
          </p:cNvPr>
          <p:cNvSpPr txBox="1"/>
          <p:nvPr/>
        </p:nvSpPr>
        <p:spPr>
          <a:xfrm>
            <a:off x="838200" y="1516029"/>
            <a:ext cx="47158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2. Question Answer Generation  - Faithfulness</a:t>
            </a:r>
          </a:p>
        </p:txBody>
      </p:sp>
      <p:sp>
        <p:nvSpPr>
          <p:cNvPr id="8" name="AutoShape 4">
            <a:extLst>
              <a:ext uri="{FF2B5EF4-FFF2-40B4-BE49-F238E27FC236}">
                <a16:creationId xmlns:a16="http://schemas.microsoft.com/office/drawing/2014/main" id="{BBC3596D-9F14-A2A5-59E4-0EA3D6D26AE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32603" y="2592717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49206370-31E6-C579-98B6-1EAB3D774BEF}"/>
              </a:ext>
            </a:extLst>
          </p:cNvPr>
          <p:cNvSpPr txBox="1"/>
          <p:nvPr/>
        </p:nvSpPr>
        <p:spPr>
          <a:xfrm>
            <a:off x="733721" y="1964429"/>
            <a:ext cx="9694321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Retrieved Context</a:t>
            </a:r>
            <a:r>
              <a:rPr lang="en-US" dirty="0"/>
              <a:t>: </a:t>
            </a:r>
            <a:br>
              <a:rPr lang="en-US" dirty="0"/>
            </a:br>
            <a:r>
              <a:rPr lang="en-US" dirty="0"/>
              <a:t>ex: (Wikipedia)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Chunk 1: </a:t>
            </a:r>
            <a:r>
              <a:rPr lang="fr-FR" dirty="0" err="1"/>
              <a:t>His</a:t>
            </a:r>
            <a:r>
              <a:rPr lang="fr-FR" dirty="0"/>
              <a:t> </a:t>
            </a:r>
            <a:r>
              <a:rPr lang="fr-FR" dirty="0" err="1"/>
              <a:t>expeditions</a:t>
            </a:r>
            <a:r>
              <a:rPr lang="fr-FR" dirty="0"/>
              <a:t> </a:t>
            </a:r>
            <a:r>
              <a:rPr lang="fr-FR" dirty="0" err="1"/>
              <a:t>were</a:t>
            </a:r>
            <a:r>
              <a:rPr lang="fr-FR" dirty="0"/>
              <a:t> the first </a:t>
            </a:r>
            <a:r>
              <a:rPr lang="fr-FR" dirty="0" err="1"/>
              <a:t>known</a:t>
            </a:r>
            <a:r>
              <a:rPr lang="fr-FR" dirty="0"/>
              <a:t> </a:t>
            </a:r>
            <a:r>
              <a:rPr lang="fr-FR" dirty="0" err="1"/>
              <a:t>European</a:t>
            </a:r>
            <a:r>
              <a:rPr lang="fr-FR" dirty="0"/>
              <a:t> contact </a:t>
            </a:r>
            <a:r>
              <a:rPr lang="fr-FR" dirty="0" err="1"/>
              <a:t>with</a:t>
            </a:r>
            <a:r>
              <a:rPr lang="fr-FR" dirty="0"/>
              <a:t> the Caribbean and Central </a:t>
            </a:r>
            <a:br>
              <a:rPr lang="fr-FR" dirty="0"/>
            </a:br>
            <a:r>
              <a:rPr lang="fr-FR" dirty="0"/>
              <a:t>and South America</a:t>
            </a:r>
          </a:p>
          <a:p>
            <a:r>
              <a:rPr lang="en-US" dirty="0"/>
              <a:t>Chunk 2: </a:t>
            </a:r>
            <a:r>
              <a:rPr lang="fr-FR" dirty="0" err="1"/>
              <a:t>completed</a:t>
            </a:r>
            <a:r>
              <a:rPr lang="fr-FR" dirty="0"/>
              <a:t> </a:t>
            </a:r>
            <a:r>
              <a:rPr lang="fr-FR" dirty="0">
                <a:hlinkClick r:id="rId3" tooltip="Voyages of Christopher Columbus"/>
              </a:rPr>
              <a:t>four Spanish-based voyages across the Atlantic Ocean</a:t>
            </a:r>
            <a:r>
              <a:rPr lang="fr-FR" dirty="0"/>
              <a:t> </a:t>
            </a:r>
            <a:endParaRPr lang="en-US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2D1FCBB-2C11-B7EB-35DD-48A2923E2982}"/>
              </a:ext>
            </a:extLst>
          </p:cNvPr>
          <p:cNvSpPr txBox="1"/>
          <p:nvPr/>
        </p:nvSpPr>
        <p:spPr>
          <a:xfrm>
            <a:off x="744718" y="4612171"/>
            <a:ext cx="9832179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LLM Answer</a:t>
            </a:r>
            <a:r>
              <a:rPr lang="en-US" dirty="0"/>
              <a:t>: </a:t>
            </a:r>
            <a:br>
              <a:rPr lang="en-US" dirty="0"/>
            </a:br>
            <a:r>
              <a:rPr lang="fr-FR" dirty="0"/>
              <a:t>Columbus </a:t>
            </a:r>
            <a:r>
              <a:rPr lang="fr-FR" dirty="0" err="1"/>
              <a:t>is</a:t>
            </a:r>
            <a:r>
              <a:rPr lang="fr-FR" dirty="0"/>
              <a:t> a </a:t>
            </a:r>
            <a:r>
              <a:rPr lang="fr-FR" dirty="0" err="1"/>
              <a:t>significant</a:t>
            </a:r>
            <a:r>
              <a:rPr lang="fr-FR" dirty="0"/>
              <a:t> </a:t>
            </a:r>
            <a:r>
              <a:rPr lang="fr-FR" dirty="0" err="1"/>
              <a:t>historical</a:t>
            </a:r>
            <a:r>
              <a:rPr lang="fr-FR" dirty="0"/>
              <a:t> figure </a:t>
            </a:r>
            <a:r>
              <a:rPr lang="fr-FR" dirty="0" err="1"/>
              <a:t>whose</a:t>
            </a:r>
            <a:r>
              <a:rPr lang="fr-FR" dirty="0"/>
              <a:t> voyages </a:t>
            </a:r>
            <a:r>
              <a:rPr lang="fr-FR" dirty="0" err="1"/>
              <a:t>had</a:t>
            </a:r>
            <a:r>
              <a:rPr lang="fr-FR" dirty="0"/>
              <a:t> a </a:t>
            </a:r>
            <a:r>
              <a:rPr lang="fr-FR" dirty="0" err="1"/>
              <a:t>profound</a:t>
            </a:r>
            <a:r>
              <a:rPr lang="fr-FR" dirty="0"/>
              <a:t> impact on world </a:t>
            </a:r>
            <a:r>
              <a:rPr lang="fr-FR" dirty="0" err="1"/>
              <a:t>history</a:t>
            </a:r>
            <a:r>
              <a:rPr lang="fr-FR" dirty="0"/>
              <a:t>, </a:t>
            </a:r>
          </a:p>
          <a:p>
            <a:r>
              <a:rPr lang="fr-FR" dirty="0" err="1"/>
              <a:t>initiating</a:t>
            </a:r>
            <a:r>
              <a:rPr lang="fr-FR" dirty="0"/>
              <a:t> the </a:t>
            </a:r>
            <a:r>
              <a:rPr lang="fr-FR" dirty="0" err="1">
                <a:highlight>
                  <a:srgbClr val="FFFF00"/>
                </a:highlight>
              </a:rPr>
              <a:t>Columbian</a:t>
            </a:r>
            <a:r>
              <a:rPr lang="fr-FR" dirty="0">
                <a:highlight>
                  <a:srgbClr val="FFFF00"/>
                </a:highlight>
              </a:rPr>
              <a:t> Exchange and </a:t>
            </a:r>
            <a:r>
              <a:rPr lang="fr-FR" dirty="0" err="1">
                <a:highlight>
                  <a:srgbClr val="FFFF00"/>
                </a:highlight>
              </a:rPr>
              <a:t>European</a:t>
            </a:r>
            <a:r>
              <a:rPr lang="fr-FR" dirty="0">
                <a:highlight>
                  <a:srgbClr val="FFFF00"/>
                </a:highlight>
              </a:rPr>
              <a:t> </a:t>
            </a:r>
            <a:r>
              <a:rPr lang="fr-FR" dirty="0" err="1">
                <a:highlight>
                  <a:srgbClr val="FFFF00"/>
                </a:highlight>
              </a:rPr>
              <a:t>colonization</a:t>
            </a:r>
            <a:r>
              <a:rPr lang="fr-FR" dirty="0">
                <a:highlight>
                  <a:srgbClr val="FFFF00"/>
                </a:highlight>
              </a:rPr>
              <a:t> of the </a:t>
            </a:r>
            <a:r>
              <a:rPr lang="fr-FR" dirty="0" err="1">
                <a:highlight>
                  <a:srgbClr val="FFFF00"/>
                </a:highlight>
              </a:rPr>
              <a:t>Americas</a:t>
            </a:r>
            <a:r>
              <a:rPr lang="fr-FR" dirty="0"/>
              <a:t>. </a:t>
            </a:r>
          </a:p>
          <a:p>
            <a:r>
              <a:rPr lang="fr-FR" dirty="0" err="1"/>
              <a:t>However</a:t>
            </a:r>
            <a:r>
              <a:rPr lang="fr-FR" dirty="0"/>
              <a:t>, </a:t>
            </a:r>
            <a:r>
              <a:rPr lang="fr-FR" dirty="0" err="1"/>
              <a:t>it's</a:t>
            </a:r>
            <a:r>
              <a:rPr lang="fr-FR" dirty="0"/>
              <a:t> important to note </a:t>
            </a:r>
            <a:r>
              <a:rPr lang="fr-FR" dirty="0" err="1"/>
              <a:t>that</a:t>
            </a:r>
            <a:r>
              <a:rPr lang="fr-FR" dirty="0"/>
              <a:t> </a:t>
            </a:r>
            <a:r>
              <a:rPr lang="fr-FR" dirty="0" err="1"/>
              <a:t>his</a:t>
            </a:r>
            <a:r>
              <a:rPr lang="fr-FR" dirty="0"/>
              <a:t> </a:t>
            </a:r>
            <a:r>
              <a:rPr lang="fr-FR" dirty="0" err="1"/>
              <a:t>legacy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complex</a:t>
            </a:r>
            <a:r>
              <a:rPr lang="fr-FR" dirty="0"/>
              <a:t> and </a:t>
            </a:r>
            <a:r>
              <a:rPr lang="fr-FR" dirty="0" err="1"/>
              <a:t>controversial</a:t>
            </a:r>
            <a:r>
              <a:rPr lang="fr-FR" dirty="0"/>
              <a:t> </a:t>
            </a:r>
          </a:p>
          <a:p>
            <a:r>
              <a:rPr lang="fr-FR" dirty="0"/>
              <a:t>due to the </a:t>
            </a:r>
            <a:r>
              <a:rPr lang="fr-FR" dirty="0" err="1">
                <a:highlight>
                  <a:srgbClr val="FFFF00"/>
                </a:highlight>
              </a:rPr>
              <a:t>devastating</a:t>
            </a:r>
            <a:r>
              <a:rPr lang="fr-FR" dirty="0">
                <a:highlight>
                  <a:srgbClr val="FFFF00"/>
                </a:highlight>
              </a:rPr>
              <a:t> </a:t>
            </a:r>
            <a:r>
              <a:rPr lang="fr-FR" dirty="0" err="1">
                <a:highlight>
                  <a:srgbClr val="FFFF00"/>
                </a:highlight>
              </a:rPr>
              <a:t>effects</a:t>
            </a:r>
            <a:r>
              <a:rPr lang="fr-FR" dirty="0">
                <a:highlight>
                  <a:srgbClr val="FFFF00"/>
                </a:highlight>
              </a:rPr>
              <a:t> </a:t>
            </a:r>
            <a:r>
              <a:rPr lang="fr-FR" dirty="0" err="1">
                <a:highlight>
                  <a:srgbClr val="FFFF00"/>
                </a:highlight>
              </a:rPr>
              <a:t>his</a:t>
            </a:r>
            <a:r>
              <a:rPr lang="fr-FR" dirty="0">
                <a:highlight>
                  <a:srgbClr val="FFFF00"/>
                </a:highlight>
              </a:rPr>
              <a:t> </a:t>
            </a:r>
            <a:r>
              <a:rPr lang="fr-FR" dirty="0" err="1">
                <a:highlight>
                  <a:srgbClr val="FFFF00"/>
                </a:highlight>
              </a:rPr>
              <a:t>expeditions</a:t>
            </a:r>
            <a:r>
              <a:rPr lang="fr-FR" dirty="0">
                <a:highlight>
                  <a:srgbClr val="FFFF00"/>
                </a:highlight>
              </a:rPr>
              <a:t> </a:t>
            </a:r>
            <a:r>
              <a:rPr lang="fr-FR" dirty="0" err="1">
                <a:highlight>
                  <a:srgbClr val="FFFF00"/>
                </a:highlight>
              </a:rPr>
              <a:t>had</a:t>
            </a:r>
            <a:r>
              <a:rPr lang="fr-FR" dirty="0">
                <a:highlight>
                  <a:srgbClr val="FFFF00"/>
                </a:highlight>
              </a:rPr>
              <a:t> on </a:t>
            </a:r>
            <a:r>
              <a:rPr lang="fr-FR" dirty="0" err="1">
                <a:highlight>
                  <a:srgbClr val="FFFF00"/>
                </a:highlight>
              </a:rPr>
              <a:t>indigenous</a:t>
            </a:r>
            <a:r>
              <a:rPr lang="fr-FR" dirty="0">
                <a:highlight>
                  <a:srgbClr val="FFFF00"/>
                </a:highlight>
              </a:rPr>
              <a:t> populations in the </a:t>
            </a:r>
            <a:r>
              <a:rPr lang="fr-FR" dirty="0" err="1">
                <a:highlight>
                  <a:srgbClr val="FFFF00"/>
                </a:highlight>
              </a:rPr>
              <a:t>Americas</a:t>
            </a:r>
            <a:r>
              <a:rPr lang="fr-FR" dirty="0"/>
              <a:t>.</a:t>
            </a:r>
            <a:endParaRPr lang="en-US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A4438941-48FE-04F3-561F-24C668C91A3C}"/>
              </a:ext>
            </a:extLst>
          </p:cNvPr>
          <p:cNvSpPr txBox="1"/>
          <p:nvPr/>
        </p:nvSpPr>
        <p:spPr>
          <a:xfrm>
            <a:off x="10439040" y="5166169"/>
            <a:ext cx="981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highlight>
                  <a:srgbClr val="FFFF00"/>
                </a:highlight>
              </a:rPr>
              <a:t>Claim 1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CA9870FD-332E-CD56-3D3F-31FFF9831C16}"/>
              </a:ext>
            </a:extLst>
          </p:cNvPr>
          <p:cNvSpPr txBox="1"/>
          <p:nvPr/>
        </p:nvSpPr>
        <p:spPr>
          <a:xfrm>
            <a:off x="10448722" y="5691919"/>
            <a:ext cx="981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highlight>
                  <a:srgbClr val="FFFF00"/>
                </a:highlight>
              </a:rPr>
              <a:t>Claim 2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C45DA08-E56C-D1FA-5336-EF871F3BE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9062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5" grpId="0"/>
      <p:bldP spid="8" grpId="0"/>
      <p:bldP spid="4" grpId="0"/>
      <p:bldP spid="6" grpId="0"/>
      <p:bldP spid="11" grpId="0"/>
      <p:bldP spid="12" grpId="0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73022-97D4-2D6D-14C7-FE220DA87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ACC7A760-0350-BBE2-73A1-CE34914BF776}"/>
              </a:ext>
            </a:extLst>
          </p:cNvPr>
          <p:cNvSpPr/>
          <p:nvPr/>
        </p:nvSpPr>
        <p:spPr>
          <a:xfrm>
            <a:off x="535524" y="4579195"/>
            <a:ext cx="9903516" cy="1754326"/>
          </a:xfrm>
          <a:prstGeom prst="roundRect">
            <a:avLst/>
          </a:prstGeom>
          <a:solidFill>
            <a:schemeClr val="accent3">
              <a:lumMod val="20000"/>
              <a:lumOff val="80000"/>
              <a:alpha val="2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02C61-C7E9-EDB6-4108-4CC2097280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532043" cy="1325563"/>
          </a:xfrm>
        </p:spPr>
        <p:txBody>
          <a:bodyPr/>
          <a:lstStyle/>
          <a:p>
            <a:r>
              <a:rPr lang="en-US" dirty="0"/>
              <a:t>Model Based and Statistical Scores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A956727-C150-D70E-AF13-D4139219D54D}"/>
              </a:ext>
            </a:extLst>
          </p:cNvPr>
          <p:cNvSpPr txBox="1"/>
          <p:nvPr/>
        </p:nvSpPr>
        <p:spPr>
          <a:xfrm>
            <a:off x="838200" y="1516029"/>
            <a:ext cx="47158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2. Question Answer Generation  - Faithfulness</a:t>
            </a:r>
          </a:p>
        </p:txBody>
      </p:sp>
      <p:sp>
        <p:nvSpPr>
          <p:cNvPr id="8" name="AutoShape 4">
            <a:extLst>
              <a:ext uri="{FF2B5EF4-FFF2-40B4-BE49-F238E27FC236}">
                <a16:creationId xmlns:a16="http://schemas.microsoft.com/office/drawing/2014/main" id="{81226058-0D06-BAAA-FD68-2F8E056E58C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32603" y="2592717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4F6953D5-6B44-9007-9AC0-C424E1A1CF30}"/>
              </a:ext>
            </a:extLst>
          </p:cNvPr>
          <p:cNvSpPr txBox="1"/>
          <p:nvPr/>
        </p:nvSpPr>
        <p:spPr>
          <a:xfrm>
            <a:off x="744718" y="4612171"/>
            <a:ext cx="9832179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LLM Answer</a:t>
            </a:r>
            <a:r>
              <a:rPr lang="en-US" dirty="0"/>
              <a:t>: </a:t>
            </a:r>
            <a:br>
              <a:rPr lang="en-US" dirty="0"/>
            </a:br>
            <a:r>
              <a:rPr lang="fr-FR" dirty="0"/>
              <a:t>Columbus </a:t>
            </a:r>
            <a:r>
              <a:rPr lang="fr-FR" dirty="0" err="1"/>
              <a:t>is</a:t>
            </a:r>
            <a:r>
              <a:rPr lang="fr-FR" dirty="0"/>
              <a:t> a </a:t>
            </a:r>
            <a:r>
              <a:rPr lang="fr-FR" dirty="0" err="1"/>
              <a:t>significant</a:t>
            </a:r>
            <a:r>
              <a:rPr lang="fr-FR" dirty="0"/>
              <a:t> </a:t>
            </a:r>
            <a:r>
              <a:rPr lang="fr-FR" dirty="0" err="1"/>
              <a:t>historical</a:t>
            </a:r>
            <a:r>
              <a:rPr lang="fr-FR" dirty="0"/>
              <a:t> figure </a:t>
            </a:r>
            <a:r>
              <a:rPr lang="fr-FR" dirty="0" err="1"/>
              <a:t>whose</a:t>
            </a:r>
            <a:r>
              <a:rPr lang="fr-FR" dirty="0"/>
              <a:t> voyages </a:t>
            </a:r>
            <a:r>
              <a:rPr lang="fr-FR" dirty="0" err="1"/>
              <a:t>had</a:t>
            </a:r>
            <a:r>
              <a:rPr lang="fr-FR" dirty="0"/>
              <a:t> a </a:t>
            </a:r>
            <a:r>
              <a:rPr lang="fr-FR" dirty="0" err="1"/>
              <a:t>profound</a:t>
            </a:r>
            <a:r>
              <a:rPr lang="fr-FR" dirty="0"/>
              <a:t> impact on world </a:t>
            </a:r>
            <a:r>
              <a:rPr lang="fr-FR" dirty="0" err="1"/>
              <a:t>history</a:t>
            </a:r>
            <a:r>
              <a:rPr lang="fr-FR" dirty="0"/>
              <a:t>, </a:t>
            </a:r>
          </a:p>
          <a:p>
            <a:r>
              <a:rPr lang="fr-FR" dirty="0" err="1"/>
              <a:t>initiating</a:t>
            </a:r>
            <a:r>
              <a:rPr lang="fr-FR" dirty="0"/>
              <a:t> the </a:t>
            </a:r>
            <a:r>
              <a:rPr lang="fr-FR" dirty="0" err="1">
                <a:highlight>
                  <a:srgbClr val="FFFF00"/>
                </a:highlight>
              </a:rPr>
              <a:t>Columbian</a:t>
            </a:r>
            <a:r>
              <a:rPr lang="fr-FR" dirty="0">
                <a:highlight>
                  <a:srgbClr val="FFFF00"/>
                </a:highlight>
              </a:rPr>
              <a:t> Exchange and </a:t>
            </a:r>
            <a:r>
              <a:rPr lang="fr-FR" dirty="0" err="1">
                <a:highlight>
                  <a:srgbClr val="FFFF00"/>
                </a:highlight>
              </a:rPr>
              <a:t>European</a:t>
            </a:r>
            <a:r>
              <a:rPr lang="fr-FR" dirty="0">
                <a:highlight>
                  <a:srgbClr val="FFFF00"/>
                </a:highlight>
              </a:rPr>
              <a:t> </a:t>
            </a:r>
            <a:r>
              <a:rPr lang="fr-FR" dirty="0" err="1">
                <a:highlight>
                  <a:srgbClr val="FFFF00"/>
                </a:highlight>
              </a:rPr>
              <a:t>colonization</a:t>
            </a:r>
            <a:r>
              <a:rPr lang="fr-FR" dirty="0">
                <a:highlight>
                  <a:srgbClr val="FFFF00"/>
                </a:highlight>
              </a:rPr>
              <a:t> of the </a:t>
            </a:r>
            <a:r>
              <a:rPr lang="fr-FR" dirty="0" err="1">
                <a:highlight>
                  <a:srgbClr val="FFFF00"/>
                </a:highlight>
              </a:rPr>
              <a:t>Americas</a:t>
            </a:r>
            <a:r>
              <a:rPr lang="fr-FR" dirty="0"/>
              <a:t>. </a:t>
            </a:r>
          </a:p>
          <a:p>
            <a:r>
              <a:rPr lang="fr-FR" dirty="0" err="1"/>
              <a:t>However</a:t>
            </a:r>
            <a:r>
              <a:rPr lang="fr-FR" dirty="0"/>
              <a:t>, </a:t>
            </a:r>
            <a:r>
              <a:rPr lang="fr-FR" dirty="0" err="1"/>
              <a:t>it's</a:t>
            </a:r>
            <a:r>
              <a:rPr lang="fr-FR" dirty="0"/>
              <a:t> important to note </a:t>
            </a:r>
            <a:r>
              <a:rPr lang="fr-FR" dirty="0" err="1"/>
              <a:t>that</a:t>
            </a:r>
            <a:r>
              <a:rPr lang="fr-FR" dirty="0"/>
              <a:t> </a:t>
            </a:r>
            <a:r>
              <a:rPr lang="fr-FR" dirty="0" err="1"/>
              <a:t>his</a:t>
            </a:r>
            <a:r>
              <a:rPr lang="fr-FR" dirty="0"/>
              <a:t> </a:t>
            </a:r>
            <a:r>
              <a:rPr lang="fr-FR" dirty="0" err="1"/>
              <a:t>legacy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complex</a:t>
            </a:r>
            <a:r>
              <a:rPr lang="fr-FR" dirty="0"/>
              <a:t> and </a:t>
            </a:r>
            <a:r>
              <a:rPr lang="fr-FR" dirty="0" err="1"/>
              <a:t>controversial</a:t>
            </a:r>
            <a:r>
              <a:rPr lang="fr-FR" dirty="0"/>
              <a:t> </a:t>
            </a:r>
          </a:p>
          <a:p>
            <a:r>
              <a:rPr lang="fr-FR" dirty="0"/>
              <a:t>due to the </a:t>
            </a:r>
            <a:r>
              <a:rPr lang="fr-FR" dirty="0" err="1">
                <a:highlight>
                  <a:srgbClr val="FFFF00"/>
                </a:highlight>
              </a:rPr>
              <a:t>devastating</a:t>
            </a:r>
            <a:r>
              <a:rPr lang="fr-FR" dirty="0">
                <a:highlight>
                  <a:srgbClr val="FFFF00"/>
                </a:highlight>
              </a:rPr>
              <a:t> </a:t>
            </a:r>
            <a:r>
              <a:rPr lang="fr-FR" dirty="0" err="1">
                <a:highlight>
                  <a:srgbClr val="FFFF00"/>
                </a:highlight>
              </a:rPr>
              <a:t>effects</a:t>
            </a:r>
            <a:r>
              <a:rPr lang="fr-FR" dirty="0">
                <a:highlight>
                  <a:srgbClr val="FFFF00"/>
                </a:highlight>
              </a:rPr>
              <a:t> </a:t>
            </a:r>
            <a:r>
              <a:rPr lang="fr-FR" dirty="0" err="1">
                <a:highlight>
                  <a:srgbClr val="FFFF00"/>
                </a:highlight>
              </a:rPr>
              <a:t>his</a:t>
            </a:r>
            <a:r>
              <a:rPr lang="fr-FR" dirty="0">
                <a:highlight>
                  <a:srgbClr val="FFFF00"/>
                </a:highlight>
              </a:rPr>
              <a:t> </a:t>
            </a:r>
            <a:r>
              <a:rPr lang="fr-FR" dirty="0" err="1">
                <a:highlight>
                  <a:srgbClr val="FFFF00"/>
                </a:highlight>
              </a:rPr>
              <a:t>expeditions</a:t>
            </a:r>
            <a:r>
              <a:rPr lang="fr-FR" dirty="0">
                <a:highlight>
                  <a:srgbClr val="FFFF00"/>
                </a:highlight>
              </a:rPr>
              <a:t> </a:t>
            </a:r>
            <a:r>
              <a:rPr lang="fr-FR" dirty="0" err="1">
                <a:highlight>
                  <a:srgbClr val="FFFF00"/>
                </a:highlight>
              </a:rPr>
              <a:t>had</a:t>
            </a:r>
            <a:r>
              <a:rPr lang="fr-FR" dirty="0">
                <a:highlight>
                  <a:srgbClr val="FFFF00"/>
                </a:highlight>
              </a:rPr>
              <a:t> on </a:t>
            </a:r>
            <a:r>
              <a:rPr lang="fr-FR" dirty="0" err="1">
                <a:highlight>
                  <a:srgbClr val="FFFF00"/>
                </a:highlight>
              </a:rPr>
              <a:t>indigenous</a:t>
            </a:r>
            <a:r>
              <a:rPr lang="fr-FR" dirty="0">
                <a:highlight>
                  <a:srgbClr val="FFFF00"/>
                </a:highlight>
              </a:rPr>
              <a:t> populations in the </a:t>
            </a:r>
            <a:r>
              <a:rPr lang="fr-FR" dirty="0" err="1">
                <a:highlight>
                  <a:srgbClr val="FFFF00"/>
                </a:highlight>
              </a:rPr>
              <a:t>Americas</a:t>
            </a:r>
            <a:r>
              <a:rPr lang="fr-FR" dirty="0"/>
              <a:t>.</a:t>
            </a:r>
            <a:endParaRPr lang="en-US" dirty="0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E2ECD8F1-62E1-9A01-D0F2-B7FCE9930E54}"/>
              </a:ext>
            </a:extLst>
          </p:cNvPr>
          <p:cNvSpPr txBox="1"/>
          <p:nvPr/>
        </p:nvSpPr>
        <p:spPr>
          <a:xfrm>
            <a:off x="1031089" y="2656926"/>
            <a:ext cx="981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highlight>
                  <a:srgbClr val="FFFF00"/>
                </a:highlight>
              </a:rPr>
              <a:t>Claim 1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EE503EF2-C289-B1E3-C319-2881DDA2B0D7}"/>
              </a:ext>
            </a:extLst>
          </p:cNvPr>
          <p:cNvSpPr txBox="1"/>
          <p:nvPr/>
        </p:nvSpPr>
        <p:spPr>
          <a:xfrm>
            <a:off x="1031088" y="3462411"/>
            <a:ext cx="981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highlight>
                  <a:srgbClr val="FFFF00"/>
                </a:highlight>
              </a:rPr>
              <a:t>Claim 2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7F80CDEC-A9AF-7EED-501E-39E781D55160}"/>
              </a:ext>
            </a:extLst>
          </p:cNvPr>
          <p:cNvSpPr txBox="1"/>
          <p:nvPr/>
        </p:nvSpPr>
        <p:spPr>
          <a:xfrm>
            <a:off x="2637760" y="2592717"/>
            <a:ext cx="2841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Exists in the context. </a:t>
            </a:r>
            <a:r>
              <a:rPr lang="en-US" dirty="0">
                <a:sym typeface="Wingdings" pitchFamily="2" charset="2"/>
              </a:rPr>
              <a:t> OK</a:t>
            </a:r>
            <a:endParaRPr lang="en-US" dirty="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304B6546-42E1-E996-C1F8-D3246D4EB96F}"/>
              </a:ext>
            </a:extLst>
          </p:cNvPr>
          <p:cNvSpPr txBox="1"/>
          <p:nvPr/>
        </p:nvSpPr>
        <p:spPr>
          <a:xfrm>
            <a:off x="2588566" y="3438298"/>
            <a:ext cx="40737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Doesn’t exist  in the context. </a:t>
            </a:r>
            <a:r>
              <a:rPr lang="en-US" dirty="0">
                <a:sym typeface="Wingdings" pitchFamily="2" charset="2"/>
              </a:rPr>
              <a:t> NOT OK</a:t>
            </a:r>
            <a:endParaRPr lang="en-US" dirty="0"/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06AF7677-93E1-2A25-D9EB-093E7387F1F3}"/>
              </a:ext>
            </a:extLst>
          </p:cNvPr>
          <p:cNvSpPr/>
          <p:nvPr/>
        </p:nvSpPr>
        <p:spPr>
          <a:xfrm>
            <a:off x="2460084" y="2495122"/>
            <a:ext cx="4330708" cy="1497005"/>
          </a:xfrm>
          <a:prstGeom prst="round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B78687E0-1086-A908-9842-517DEA7C64F0}"/>
              </a:ext>
            </a:extLst>
          </p:cNvPr>
          <p:cNvSpPr txBox="1"/>
          <p:nvPr/>
        </p:nvSpPr>
        <p:spPr>
          <a:xfrm>
            <a:off x="3869493" y="2086477"/>
            <a:ext cx="1534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LLM as a </a:t>
            </a:r>
            <a:r>
              <a:rPr lang="en-US" dirty="0" err="1"/>
              <a:t>Juge</a:t>
            </a:r>
            <a:endParaRPr lang="en-US" dirty="0"/>
          </a:p>
        </p:txBody>
      </p: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D8197C2F-CF40-41B6-45DB-987116AB4E07}"/>
              </a:ext>
            </a:extLst>
          </p:cNvPr>
          <p:cNvCxnSpPr>
            <a:stCxn id="14" idx="3"/>
          </p:cNvCxnSpPr>
          <p:nvPr/>
        </p:nvCxnSpPr>
        <p:spPr>
          <a:xfrm flipV="1">
            <a:off x="6790792" y="3243624"/>
            <a:ext cx="102402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ZoneTexte 17">
            <a:extLst>
              <a:ext uri="{FF2B5EF4-FFF2-40B4-BE49-F238E27FC236}">
                <a16:creationId xmlns:a16="http://schemas.microsoft.com/office/drawing/2014/main" id="{6C8E126E-915B-FD04-E59B-391D953FDEEC}"/>
              </a:ext>
            </a:extLst>
          </p:cNvPr>
          <p:cNvSpPr txBox="1"/>
          <p:nvPr/>
        </p:nvSpPr>
        <p:spPr>
          <a:xfrm>
            <a:off x="7946796" y="3026258"/>
            <a:ext cx="30317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Score (ex: 50% Faithfulness) </a:t>
            </a:r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8DB8AE69-DA06-BF87-00F2-341ADF918334}"/>
              </a:ext>
            </a:extLst>
          </p:cNvPr>
          <p:cNvSpPr/>
          <p:nvPr/>
        </p:nvSpPr>
        <p:spPr>
          <a:xfrm>
            <a:off x="6919274" y="3434644"/>
            <a:ext cx="1577418" cy="476765"/>
          </a:xfrm>
          <a:prstGeom prst="roundRect">
            <a:avLst/>
          </a:prstGeom>
          <a:solidFill>
            <a:srgbClr val="FF0000">
              <a:alpha val="17921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1E73ED0-47F0-1F12-0A20-41C63EDBFD28}"/>
              </a:ext>
            </a:extLst>
          </p:cNvPr>
          <p:cNvSpPr txBox="1"/>
          <p:nvPr/>
        </p:nvSpPr>
        <p:spPr>
          <a:xfrm>
            <a:off x="7003560" y="3488360"/>
            <a:ext cx="140884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!</a:t>
            </a:r>
            <a:r>
              <a:rPr lang="en-US" dirty="0"/>
              <a:t> Even if true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7E1981E-9B7D-84B1-6386-2FE574A3B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93</a:t>
            </a:fld>
            <a:endParaRPr lang="en-US"/>
          </a:p>
        </p:txBody>
      </p:sp>
      <p:sp>
        <p:nvSpPr>
          <p:cNvPr id="16" name="ZoneTexte 10">
            <a:extLst>
              <a:ext uri="{FF2B5EF4-FFF2-40B4-BE49-F238E27FC236}">
                <a16:creationId xmlns:a16="http://schemas.microsoft.com/office/drawing/2014/main" id="{6E7D8923-139C-EDED-6DC8-391B39A51245}"/>
              </a:ext>
            </a:extLst>
          </p:cNvPr>
          <p:cNvSpPr txBox="1"/>
          <p:nvPr/>
        </p:nvSpPr>
        <p:spPr>
          <a:xfrm>
            <a:off x="10439040" y="5166169"/>
            <a:ext cx="981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highlight>
                  <a:srgbClr val="FFFF00"/>
                </a:highlight>
              </a:rPr>
              <a:t>Claim 1</a:t>
            </a:r>
          </a:p>
        </p:txBody>
      </p:sp>
      <p:sp>
        <p:nvSpPr>
          <p:cNvPr id="19" name="ZoneTexte 11">
            <a:extLst>
              <a:ext uri="{FF2B5EF4-FFF2-40B4-BE49-F238E27FC236}">
                <a16:creationId xmlns:a16="http://schemas.microsoft.com/office/drawing/2014/main" id="{6E259764-E8A7-8B07-DA60-FBFDC09286A5}"/>
              </a:ext>
            </a:extLst>
          </p:cNvPr>
          <p:cNvSpPr txBox="1"/>
          <p:nvPr/>
        </p:nvSpPr>
        <p:spPr>
          <a:xfrm>
            <a:off x="10448722" y="5691919"/>
            <a:ext cx="9813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highlight>
                  <a:srgbClr val="FFFF00"/>
                </a:highlight>
              </a:rPr>
              <a:t>Claim 2</a:t>
            </a:r>
          </a:p>
        </p:txBody>
      </p:sp>
    </p:spTree>
    <p:extLst>
      <p:ext uri="{BB962C8B-B14F-4D97-AF65-F5344CB8AC3E}">
        <p14:creationId xmlns:p14="http://schemas.microsoft.com/office/powerpoint/2010/main" val="35208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6" grpId="0"/>
      <p:bldP spid="11" grpId="0"/>
      <p:bldP spid="12" grpId="0"/>
      <p:bldP spid="7" grpId="0"/>
      <p:bldP spid="13" grpId="0"/>
      <p:bldP spid="14" grpId="0" animBg="1"/>
      <p:bldP spid="18" grpId="0"/>
      <p:bldP spid="3" grpId="0" animBg="1"/>
      <p:bldP spid="4" grpId="0"/>
      <p:bldP spid="16" grpId="0"/>
      <p:bldP spid="19" grpId="0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DAD27-E697-1AF6-4134-776B5735CE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B2C23E-6E3F-4D67-018A-F9278D2F8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532043" cy="1325563"/>
          </a:xfrm>
        </p:spPr>
        <p:txBody>
          <a:bodyPr/>
          <a:lstStyle/>
          <a:p>
            <a:r>
              <a:rPr lang="en-US" dirty="0"/>
              <a:t>Model Based and Statistical Scores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8E328779-82B4-6001-DD00-6C49EC1BE711}"/>
              </a:ext>
            </a:extLst>
          </p:cNvPr>
          <p:cNvSpPr txBox="1"/>
          <p:nvPr/>
        </p:nvSpPr>
        <p:spPr>
          <a:xfrm>
            <a:off x="838200" y="1516029"/>
            <a:ext cx="22234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3. Answer Relevancy</a:t>
            </a:r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A16085F7-17C3-47E5-63CC-2359E3FD721E}"/>
              </a:ext>
            </a:extLst>
          </p:cNvPr>
          <p:cNvSpPr/>
          <p:nvPr/>
        </p:nvSpPr>
        <p:spPr>
          <a:xfrm>
            <a:off x="851043" y="2056897"/>
            <a:ext cx="4421171" cy="649338"/>
          </a:xfrm>
          <a:prstGeom prst="roundRect">
            <a:avLst/>
          </a:prstGeom>
          <a:solidFill>
            <a:schemeClr val="accent1">
              <a:lumMod val="20000"/>
              <a:lumOff val="80000"/>
              <a:alpha val="2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B6539897-1358-6DA7-5FA4-76172841EEDD}"/>
              </a:ext>
            </a:extLst>
          </p:cNvPr>
          <p:cNvSpPr txBox="1"/>
          <p:nvPr/>
        </p:nvSpPr>
        <p:spPr>
          <a:xfrm>
            <a:off x="1044410" y="2199153"/>
            <a:ext cx="40344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Prompt</a:t>
            </a:r>
            <a:r>
              <a:rPr lang="en-US" dirty="0"/>
              <a:t>: “Who is Christophe Colomb?”</a:t>
            </a:r>
          </a:p>
        </p:txBody>
      </p:sp>
      <p:sp>
        <p:nvSpPr>
          <p:cNvPr id="20" name="Rectangle : coins arrondis 19">
            <a:extLst>
              <a:ext uri="{FF2B5EF4-FFF2-40B4-BE49-F238E27FC236}">
                <a16:creationId xmlns:a16="http://schemas.microsoft.com/office/drawing/2014/main" id="{677B5EF5-75E8-2023-4A57-536BA19EC852}"/>
              </a:ext>
            </a:extLst>
          </p:cNvPr>
          <p:cNvSpPr/>
          <p:nvPr/>
        </p:nvSpPr>
        <p:spPr>
          <a:xfrm>
            <a:off x="835216" y="2877771"/>
            <a:ext cx="9903516" cy="1754326"/>
          </a:xfrm>
          <a:prstGeom prst="roundRect">
            <a:avLst/>
          </a:prstGeom>
          <a:solidFill>
            <a:schemeClr val="accent3">
              <a:lumMod val="20000"/>
              <a:lumOff val="80000"/>
              <a:alpha val="2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322D4E36-7AD7-4819-F6EA-23547D5213B8}"/>
              </a:ext>
            </a:extLst>
          </p:cNvPr>
          <p:cNvSpPr txBox="1"/>
          <p:nvPr/>
        </p:nvSpPr>
        <p:spPr>
          <a:xfrm>
            <a:off x="1044410" y="3016270"/>
            <a:ext cx="9832179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LLM Answer</a:t>
            </a:r>
            <a:r>
              <a:rPr lang="en-US" dirty="0"/>
              <a:t>: </a:t>
            </a:r>
            <a:br>
              <a:rPr lang="en-US" dirty="0"/>
            </a:br>
            <a:r>
              <a:rPr lang="fr-FR" dirty="0"/>
              <a:t>Columbus </a:t>
            </a:r>
            <a:r>
              <a:rPr lang="fr-FR" dirty="0" err="1"/>
              <a:t>is</a:t>
            </a:r>
            <a:r>
              <a:rPr lang="fr-FR" dirty="0"/>
              <a:t> a </a:t>
            </a:r>
            <a:r>
              <a:rPr lang="fr-FR" dirty="0" err="1"/>
              <a:t>significant</a:t>
            </a:r>
            <a:r>
              <a:rPr lang="fr-FR" dirty="0"/>
              <a:t> </a:t>
            </a:r>
            <a:r>
              <a:rPr lang="fr-FR" dirty="0" err="1"/>
              <a:t>historical</a:t>
            </a:r>
            <a:r>
              <a:rPr lang="fr-FR" dirty="0"/>
              <a:t> figure </a:t>
            </a:r>
            <a:r>
              <a:rPr lang="fr-FR" dirty="0" err="1"/>
              <a:t>whose</a:t>
            </a:r>
            <a:r>
              <a:rPr lang="fr-FR" dirty="0"/>
              <a:t> voyages </a:t>
            </a:r>
            <a:r>
              <a:rPr lang="fr-FR" dirty="0" err="1"/>
              <a:t>had</a:t>
            </a:r>
            <a:r>
              <a:rPr lang="fr-FR" dirty="0"/>
              <a:t> a </a:t>
            </a:r>
            <a:r>
              <a:rPr lang="fr-FR" dirty="0" err="1"/>
              <a:t>profound</a:t>
            </a:r>
            <a:r>
              <a:rPr lang="fr-FR" dirty="0"/>
              <a:t> impact on world </a:t>
            </a:r>
            <a:r>
              <a:rPr lang="fr-FR" dirty="0" err="1"/>
              <a:t>history</a:t>
            </a:r>
            <a:r>
              <a:rPr lang="fr-FR" dirty="0"/>
              <a:t>, </a:t>
            </a:r>
          </a:p>
          <a:p>
            <a:r>
              <a:rPr lang="fr-FR" dirty="0" err="1"/>
              <a:t>initiating</a:t>
            </a:r>
            <a:r>
              <a:rPr lang="fr-FR" dirty="0"/>
              <a:t> the </a:t>
            </a:r>
            <a:r>
              <a:rPr lang="fr-FR" dirty="0" err="1"/>
              <a:t>Columbian</a:t>
            </a:r>
            <a:r>
              <a:rPr lang="fr-FR" dirty="0"/>
              <a:t> Exchange and </a:t>
            </a:r>
            <a:r>
              <a:rPr lang="fr-FR" dirty="0" err="1"/>
              <a:t>European</a:t>
            </a:r>
            <a:r>
              <a:rPr lang="fr-FR" dirty="0"/>
              <a:t> </a:t>
            </a:r>
            <a:r>
              <a:rPr lang="fr-FR" dirty="0" err="1"/>
              <a:t>colonization</a:t>
            </a:r>
            <a:r>
              <a:rPr lang="fr-FR" dirty="0"/>
              <a:t> of the </a:t>
            </a:r>
            <a:r>
              <a:rPr lang="fr-FR" dirty="0" err="1"/>
              <a:t>Americas</a:t>
            </a:r>
            <a:r>
              <a:rPr lang="fr-FR" dirty="0"/>
              <a:t>. </a:t>
            </a:r>
          </a:p>
          <a:p>
            <a:r>
              <a:rPr lang="fr-FR" dirty="0" err="1"/>
              <a:t>However</a:t>
            </a:r>
            <a:r>
              <a:rPr lang="fr-FR" dirty="0"/>
              <a:t>, </a:t>
            </a:r>
            <a:r>
              <a:rPr lang="fr-FR" dirty="0" err="1"/>
              <a:t>it's</a:t>
            </a:r>
            <a:r>
              <a:rPr lang="fr-FR" dirty="0"/>
              <a:t> important to note </a:t>
            </a:r>
            <a:r>
              <a:rPr lang="fr-FR" dirty="0" err="1"/>
              <a:t>that</a:t>
            </a:r>
            <a:r>
              <a:rPr lang="fr-FR" dirty="0"/>
              <a:t> </a:t>
            </a:r>
            <a:r>
              <a:rPr lang="fr-FR" dirty="0" err="1"/>
              <a:t>his</a:t>
            </a:r>
            <a:r>
              <a:rPr lang="fr-FR" dirty="0"/>
              <a:t> </a:t>
            </a:r>
            <a:r>
              <a:rPr lang="fr-FR" dirty="0" err="1"/>
              <a:t>legacy</a:t>
            </a:r>
            <a:r>
              <a:rPr lang="fr-FR" dirty="0"/>
              <a:t> </a:t>
            </a:r>
            <a:r>
              <a:rPr lang="fr-FR" dirty="0" err="1"/>
              <a:t>is</a:t>
            </a:r>
            <a:r>
              <a:rPr lang="fr-FR" dirty="0"/>
              <a:t> </a:t>
            </a:r>
            <a:r>
              <a:rPr lang="fr-FR" dirty="0" err="1"/>
              <a:t>complex</a:t>
            </a:r>
            <a:r>
              <a:rPr lang="fr-FR" dirty="0"/>
              <a:t> and </a:t>
            </a:r>
            <a:r>
              <a:rPr lang="fr-FR" dirty="0" err="1"/>
              <a:t>controversial</a:t>
            </a:r>
            <a:r>
              <a:rPr lang="fr-FR" dirty="0"/>
              <a:t> </a:t>
            </a:r>
          </a:p>
          <a:p>
            <a:r>
              <a:rPr lang="fr-FR" dirty="0"/>
              <a:t>due to the </a:t>
            </a:r>
            <a:r>
              <a:rPr lang="fr-FR" dirty="0" err="1"/>
              <a:t>devastating</a:t>
            </a:r>
            <a:r>
              <a:rPr lang="fr-FR" dirty="0"/>
              <a:t> </a:t>
            </a:r>
            <a:r>
              <a:rPr lang="fr-FR" dirty="0" err="1"/>
              <a:t>effects</a:t>
            </a:r>
            <a:r>
              <a:rPr lang="fr-FR" dirty="0"/>
              <a:t> </a:t>
            </a:r>
            <a:r>
              <a:rPr lang="fr-FR" dirty="0" err="1"/>
              <a:t>his</a:t>
            </a:r>
            <a:r>
              <a:rPr lang="fr-FR" dirty="0"/>
              <a:t> </a:t>
            </a:r>
            <a:r>
              <a:rPr lang="fr-FR" dirty="0" err="1"/>
              <a:t>expeditions</a:t>
            </a:r>
            <a:r>
              <a:rPr lang="fr-FR" dirty="0"/>
              <a:t> </a:t>
            </a:r>
            <a:r>
              <a:rPr lang="fr-FR" dirty="0" err="1"/>
              <a:t>had</a:t>
            </a:r>
            <a:r>
              <a:rPr lang="fr-FR" dirty="0"/>
              <a:t> on </a:t>
            </a:r>
            <a:r>
              <a:rPr lang="fr-FR" dirty="0" err="1"/>
              <a:t>indigenous</a:t>
            </a:r>
            <a:r>
              <a:rPr lang="fr-FR" dirty="0"/>
              <a:t> populations in the </a:t>
            </a:r>
            <a:r>
              <a:rPr lang="fr-FR" dirty="0" err="1"/>
              <a:t>Americas</a:t>
            </a:r>
            <a:r>
              <a:rPr lang="fr-FR" dirty="0"/>
              <a:t>.</a:t>
            </a:r>
            <a:endParaRPr lang="en-US" dirty="0"/>
          </a:p>
        </p:txBody>
      </p:sp>
      <p:sp>
        <p:nvSpPr>
          <p:cNvPr id="23" name="Rectangle : coins arrondis 22">
            <a:extLst>
              <a:ext uri="{FF2B5EF4-FFF2-40B4-BE49-F238E27FC236}">
                <a16:creationId xmlns:a16="http://schemas.microsoft.com/office/drawing/2014/main" id="{CD633535-A4B4-E15F-2212-43A4F8C15E1F}"/>
              </a:ext>
            </a:extLst>
          </p:cNvPr>
          <p:cNvSpPr/>
          <p:nvPr/>
        </p:nvSpPr>
        <p:spPr>
          <a:xfrm>
            <a:off x="1281926" y="5762619"/>
            <a:ext cx="1335976" cy="66930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LLM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2AE33592-BE5F-0429-2C73-BFEA2AF08BF4}"/>
              </a:ext>
            </a:extLst>
          </p:cNvPr>
          <p:cNvSpPr txBox="1"/>
          <p:nvPr/>
        </p:nvSpPr>
        <p:spPr>
          <a:xfrm>
            <a:off x="835216" y="5012692"/>
            <a:ext cx="89599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“Base on this </a:t>
            </a:r>
            <a:r>
              <a:rPr lang="en-US" dirty="0">
                <a:solidFill>
                  <a:srgbClr val="00B050"/>
                </a:solidFill>
              </a:rPr>
              <a:t>answer</a:t>
            </a:r>
            <a:r>
              <a:rPr lang="en-US" dirty="0"/>
              <a:t> generate possible question that could have resulted to this answer”</a:t>
            </a:r>
          </a:p>
        </p:txBody>
      </p:sp>
      <p:cxnSp>
        <p:nvCxnSpPr>
          <p:cNvPr id="26" name="Connecteur droit avec flèche 25">
            <a:extLst>
              <a:ext uri="{FF2B5EF4-FFF2-40B4-BE49-F238E27FC236}">
                <a16:creationId xmlns:a16="http://schemas.microsoft.com/office/drawing/2014/main" id="{ABB63DFE-2337-D50C-E4E2-679FFF7AD7E6}"/>
              </a:ext>
            </a:extLst>
          </p:cNvPr>
          <p:cNvCxnSpPr>
            <a:cxnSpLocks/>
            <a:endCxn id="23" idx="0"/>
          </p:cNvCxnSpPr>
          <p:nvPr/>
        </p:nvCxnSpPr>
        <p:spPr>
          <a:xfrm>
            <a:off x="1949914" y="5382024"/>
            <a:ext cx="0" cy="3805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FD33158F-1515-775E-6D87-6D28BEC4C852}"/>
              </a:ext>
            </a:extLst>
          </p:cNvPr>
          <p:cNvCxnSpPr>
            <a:cxnSpLocks/>
            <a:stCxn id="23" idx="3"/>
          </p:cNvCxnSpPr>
          <p:nvPr/>
        </p:nvCxnSpPr>
        <p:spPr>
          <a:xfrm>
            <a:off x="2617902" y="6097271"/>
            <a:ext cx="132250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ZoneTexte 30">
            <a:extLst>
              <a:ext uri="{FF2B5EF4-FFF2-40B4-BE49-F238E27FC236}">
                <a16:creationId xmlns:a16="http://schemas.microsoft.com/office/drawing/2014/main" id="{9A0317FE-9575-701D-F8AA-03055E983887}"/>
              </a:ext>
            </a:extLst>
          </p:cNvPr>
          <p:cNvSpPr txBox="1"/>
          <p:nvPr/>
        </p:nvSpPr>
        <p:spPr>
          <a:xfrm>
            <a:off x="4383464" y="5722070"/>
            <a:ext cx="56394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“What legacy did Christophe Colomb gave to Europe ?”</a:t>
            </a: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9716FC16-01F4-344A-46DF-6121B36DB991}"/>
              </a:ext>
            </a:extLst>
          </p:cNvPr>
          <p:cNvSpPr txBox="1"/>
          <p:nvPr/>
        </p:nvSpPr>
        <p:spPr>
          <a:xfrm>
            <a:off x="4383464" y="6062116"/>
            <a:ext cx="47275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“What did Christopher </a:t>
            </a:r>
            <a:r>
              <a:rPr lang="en-US" dirty="0" err="1"/>
              <a:t>Colombus</a:t>
            </a:r>
            <a:r>
              <a:rPr lang="en-US" dirty="0"/>
              <a:t> colonized?”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B855AEB6-98F0-3E83-E51E-B47FFE996130}"/>
              </a:ext>
            </a:extLst>
          </p:cNvPr>
          <p:cNvSpPr txBox="1"/>
          <p:nvPr/>
        </p:nvSpPr>
        <p:spPr>
          <a:xfrm>
            <a:off x="4383464" y="6431448"/>
            <a:ext cx="3660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“Who is Christopher </a:t>
            </a:r>
            <a:r>
              <a:rPr lang="en-US" dirty="0" err="1"/>
              <a:t>Colombus</a:t>
            </a:r>
            <a:r>
              <a:rPr lang="en-US" dirty="0"/>
              <a:t> ?”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D95B35-7934-6794-4966-7DAFF04F0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8270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20" grpId="0" animBg="1"/>
      <p:bldP spid="21" grpId="0"/>
      <p:bldP spid="23" grpId="0" animBg="1"/>
      <p:bldP spid="24" grpId="0"/>
      <p:bldP spid="31" grpId="0"/>
      <p:bldP spid="32" grpId="0"/>
      <p:bldP spid="33" grpId="0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8BEEF-5473-D4AE-6C57-8F4FDC05F7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40283A-6461-84DB-893E-0F69AE4710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532043" cy="1325563"/>
          </a:xfrm>
        </p:spPr>
        <p:txBody>
          <a:bodyPr/>
          <a:lstStyle/>
          <a:p>
            <a:r>
              <a:rPr lang="en-US" dirty="0"/>
              <a:t>Model Based and Statistical Scores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A19B24B2-1074-573D-37BF-0A18761BA7A6}"/>
              </a:ext>
            </a:extLst>
          </p:cNvPr>
          <p:cNvSpPr txBox="1"/>
          <p:nvPr/>
        </p:nvSpPr>
        <p:spPr>
          <a:xfrm>
            <a:off x="838200" y="1516029"/>
            <a:ext cx="22234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3. Answer Relevancy</a:t>
            </a:r>
          </a:p>
        </p:txBody>
      </p:sp>
      <p:sp>
        <p:nvSpPr>
          <p:cNvPr id="3" name="Rectangle : coins arrondis 2">
            <a:extLst>
              <a:ext uri="{FF2B5EF4-FFF2-40B4-BE49-F238E27FC236}">
                <a16:creationId xmlns:a16="http://schemas.microsoft.com/office/drawing/2014/main" id="{FCC76693-4EB7-BD3D-3491-C18EA6B109CA}"/>
              </a:ext>
            </a:extLst>
          </p:cNvPr>
          <p:cNvSpPr/>
          <p:nvPr/>
        </p:nvSpPr>
        <p:spPr>
          <a:xfrm>
            <a:off x="6714514" y="3301509"/>
            <a:ext cx="4421171" cy="649338"/>
          </a:xfrm>
          <a:prstGeom prst="roundRect">
            <a:avLst/>
          </a:prstGeom>
          <a:solidFill>
            <a:schemeClr val="accent1">
              <a:lumMod val="20000"/>
              <a:lumOff val="80000"/>
              <a:alpha val="2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45571AF1-958B-988F-6E72-280FF882D536}"/>
              </a:ext>
            </a:extLst>
          </p:cNvPr>
          <p:cNvSpPr txBox="1"/>
          <p:nvPr/>
        </p:nvSpPr>
        <p:spPr>
          <a:xfrm>
            <a:off x="6992466" y="3441512"/>
            <a:ext cx="40344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Prompt</a:t>
            </a:r>
            <a:r>
              <a:rPr lang="en-US" dirty="0"/>
              <a:t>: “Who is Christophe Colomb?”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5FA64906-7376-4B3A-CA30-BE6A8C377BB5}"/>
              </a:ext>
            </a:extLst>
          </p:cNvPr>
          <p:cNvSpPr txBox="1"/>
          <p:nvPr/>
        </p:nvSpPr>
        <p:spPr>
          <a:xfrm>
            <a:off x="358219" y="3077943"/>
            <a:ext cx="56394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“What legacy did Christophe Colomb gave to Europe ?”</a:t>
            </a: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93AF847F-B046-C4D1-E374-7559E5AF9507}"/>
              </a:ext>
            </a:extLst>
          </p:cNvPr>
          <p:cNvSpPr txBox="1"/>
          <p:nvPr/>
        </p:nvSpPr>
        <p:spPr>
          <a:xfrm>
            <a:off x="358219" y="3417989"/>
            <a:ext cx="47275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“What did Christopher </a:t>
            </a:r>
            <a:r>
              <a:rPr lang="en-US" dirty="0" err="1"/>
              <a:t>Colombus</a:t>
            </a:r>
            <a:r>
              <a:rPr lang="en-US" dirty="0"/>
              <a:t> colonized?”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F753F8CB-4065-278B-3C90-AF70FD15BAED}"/>
              </a:ext>
            </a:extLst>
          </p:cNvPr>
          <p:cNvSpPr txBox="1"/>
          <p:nvPr/>
        </p:nvSpPr>
        <p:spPr>
          <a:xfrm>
            <a:off x="358219" y="3787321"/>
            <a:ext cx="3660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“Who is Christopher </a:t>
            </a:r>
            <a:r>
              <a:rPr lang="en-US" dirty="0" err="1"/>
              <a:t>Colombus</a:t>
            </a:r>
            <a:r>
              <a:rPr lang="en-US" dirty="0"/>
              <a:t> ?”</a:t>
            </a:r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13106B89-D93E-1E44-2C34-531C3C012B5C}"/>
              </a:ext>
            </a:extLst>
          </p:cNvPr>
          <p:cNvSpPr/>
          <p:nvPr/>
        </p:nvSpPr>
        <p:spPr>
          <a:xfrm>
            <a:off x="407983" y="2863289"/>
            <a:ext cx="5502624" cy="1497005"/>
          </a:xfrm>
          <a:prstGeom prst="round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C13A9BA4-C549-9920-5BD1-A4345D681F8A}"/>
                  </a:ext>
                </a:extLst>
              </p:cNvPr>
              <p:cNvSpPr txBox="1"/>
              <p:nvPr/>
            </p:nvSpPr>
            <p:spPr>
              <a:xfrm>
                <a:off x="3159295" y="5378177"/>
                <a:ext cx="615873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𝐴𝑣𝑒𝑟𝑎𝑔𝑒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𝐶𝑜𝑠𝑖𝑛𝑒𝑆𝑖𝑚𝑖𝑙𝑎𝑟𝑖𝑡𝑦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𝑃𝑜𝑠𝑠𝑖𝑏𝑙𝑒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𝑄𝑢𝑒𝑠𝑡𝑖𝑜𝑛𝑠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𝑃𝑟𝑜𝑚𝑝𝑡</m:t>
                          </m:r>
                        </m:e>
                      </m:d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C13A9BA4-C549-9920-5BD1-A4345D681F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59295" y="5378177"/>
                <a:ext cx="6158737" cy="369332"/>
              </a:xfrm>
              <a:prstGeom prst="rect">
                <a:avLst/>
              </a:prstGeom>
              <a:blipFill>
                <a:blip r:embed="rId3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F04E37D0-7654-8071-42A0-7A6EAA2714C5}"/>
                  </a:ext>
                </a:extLst>
              </p:cNvPr>
              <p:cNvSpPr txBox="1"/>
              <p:nvPr/>
            </p:nvSpPr>
            <p:spPr>
              <a:xfrm>
                <a:off x="5997648" y="3971987"/>
                <a:ext cx="561371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 xmlns="">
          <p:sp>
            <p:nvSpPr>
              <p:cNvPr id="9" name="ZoneTexte 8">
                <a:extLst>
                  <a:ext uri="{FF2B5EF4-FFF2-40B4-BE49-F238E27FC236}">
                    <a16:creationId xmlns:a16="http://schemas.microsoft.com/office/drawing/2014/main" id="{F04E37D0-7654-8071-42A0-7A6EAA2714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7648" y="3971987"/>
                <a:ext cx="561371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2E661835-A832-B324-D41A-44577F7E833C}"/>
              </a:ext>
            </a:extLst>
          </p:cNvPr>
          <p:cNvCxnSpPr/>
          <p:nvPr/>
        </p:nvCxnSpPr>
        <p:spPr>
          <a:xfrm>
            <a:off x="6278333" y="4732256"/>
            <a:ext cx="0" cy="569556"/>
          </a:xfrm>
          <a:prstGeom prst="straightConnector1">
            <a:avLst/>
          </a:prstGeom>
          <a:ln w="28575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ZoneTexte 12">
            <a:extLst>
              <a:ext uri="{FF2B5EF4-FFF2-40B4-BE49-F238E27FC236}">
                <a16:creationId xmlns:a16="http://schemas.microsoft.com/office/drawing/2014/main" id="{804CAFEE-D90F-6FE2-E9B6-35872E5A217E}"/>
              </a:ext>
            </a:extLst>
          </p:cNvPr>
          <p:cNvSpPr txBox="1"/>
          <p:nvPr/>
        </p:nvSpPr>
        <p:spPr>
          <a:xfrm>
            <a:off x="385495" y="2560495"/>
            <a:ext cx="175945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dirty="0"/>
              <a:t>Possible Questions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E78E36-5635-A9B7-8210-8CC3336C1D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8693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31" grpId="0"/>
      <p:bldP spid="32" grpId="0"/>
      <p:bldP spid="33" grpId="0"/>
      <p:bldP spid="6" grpId="0" animBg="1"/>
      <p:bldP spid="8" grpId="0"/>
      <p:bldP spid="9" grpId="0"/>
      <p:bldP spid="13" grpId="0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71B1E-19BF-28F1-EECE-310FFF7D81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67326-8DB5-C8E2-B092-4292D74035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532043" cy="1325563"/>
          </a:xfrm>
        </p:spPr>
        <p:txBody>
          <a:bodyPr/>
          <a:lstStyle/>
          <a:p>
            <a:r>
              <a:rPr lang="en-US" dirty="0"/>
              <a:t>Evaluation Benchmarks</a:t>
            </a:r>
          </a:p>
        </p:txBody>
      </p:sp>
      <p:pic>
        <p:nvPicPr>
          <p:cNvPr id="14338" name="Picture 2" descr="GLUE Benchmark">
            <a:extLst>
              <a:ext uri="{FF2B5EF4-FFF2-40B4-BE49-F238E27FC236}">
                <a16:creationId xmlns:a16="http://schemas.microsoft.com/office/drawing/2014/main" id="{0568498E-3240-3E72-4BA2-96C8B7A8D1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2467" y="1612823"/>
            <a:ext cx="3413289" cy="14222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507A21BB-ADBF-DFB3-BAC8-76F6DF64EA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9172" y="3822973"/>
            <a:ext cx="4692978" cy="2737570"/>
          </a:xfrm>
          <a:prstGeom prst="rect">
            <a:avLst/>
          </a:prstGeom>
        </p:spPr>
      </p:pic>
      <p:sp>
        <p:nvSpPr>
          <p:cNvPr id="15" name="ZoneTexte 14">
            <a:extLst>
              <a:ext uri="{FF2B5EF4-FFF2-40B4-BE49-F238E27FC236}">
                <a16:creationId xmlns:a16="http://schemas.microsoft.com/office/drawing/2014/main" id="{925035A1-03C2-1C6C-2700-5ABC5FD41859}"/>
              </a:ext>
            </a:extLst>
          </p:cNvPr>
          <p:cNvSpPr txBox="1"/>
          <p:nvPr/>
        </p:nvSpPr>
        <p:spPr>
          <a:xfrm>
            <a:off x="4719116" y="2000760"/>
            <a:ext cx="275376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MMLU (Massive Multitask </a:t>
            </a:r>
            <a:br>
              <a:rPr lang="en-US" dirty="0"/>
            </a:br>
            <a:r>
              <a:rPr lang="en-US" dirty="0"/>
              <a:t>Language Understanding</a:t>
            </a:r>
          </a:p>
        </p:txBody>
      </p:sp>
      <p:pic>
        <p:nvPicPr>
          <p:cNvPr id="14340" name="Picture 4" descr="Holistic Evaluation of Language Models ...">
            <a:extLst>
              <a:ext uri="{FF2B5EF4-FFF2-40B4-BE49-F238E27FC236}">
                <a16:creationId xmlns:a16="http://schemas.microsoft.com/office/drawing/2014/main" id="{B32A7E68-9ED5-8102-7251-150739291B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6243" y="1612823"/>
            <a:ext cx="3413289" cy="13443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EA55CF4-69A4-C4BD-CFFE-AC16EAD14B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993961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75360"/>
          </a:xfrm>
          <a:prstGeom prst="rect">
            <a:avLst/>
          </a:prstGeom>
          <a:solidFill>
            <a:srgbClr val="277884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4" name="Text 2"/>
          <p:cNvSpPr/>
          <p:nvPr/>
        </p:nvSpPr>
        <p:spPr>
          <a:xfrm>
            <a:off x="365760" y="42672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667" b="1" dirty="0">
                <a:solidFill>
                  <a:srgbClr val="FFFFFF"/>
                </a:solidFill>
              </a:rPr>
              <a:t>Evaluation &amp; Metrics</a:t>
            </a:r>
            <a:endParaRPr lang="en-US" sz="2667" dirty="0"/>
          </a:p>
        </p:txBody>
      </p:sp>
      <p:sp>
        <p:nvSpPr>
          <p:cNvPr id="5" name="Shape 3"/>
          <p:cNvSpPr/>
          <p:nvPr/>
        </p:nvSpPr>
        <p:spPr>
          <a:xfrm>
            <a:off x="365760" y="1219200"/>
            <a:ext cx="11460480" cy="1463040"/>
          </a:xfrm>
          <a:prstGeom prst="rect">
            <a:avLst/>
          </a:prstGeom>
          <a:solidFill>
            <a:srgbClr val="F4F6F6"/>
          </a:solidFill>
          <a:ln w="254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609600" y="1341120"/>
            <a:ext cx="10972800" cy="121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dirty="0">
                <a:solidFill>
                  <a:srgbClr val="1C2833"/>
                </a:solidFill>
              </a:rPr>
              <a:t>Your AI summarization tool shows 85% ROUGE score but users complain summaries miss key business insights. Stakeholders question the AI's value.</a:t>
            </a:r>
            <a:endParaRPr lang="en-US" sz="1867" dirty="0"/>
          </a:p>
        </p:txBody>
      </p:sp>
      <p:sp>
        <p:nvSpPr>
          <p:cNvPr id="7" name="Text 5"/>
          <p:cNvSpPr/>
          <p:nvPr/>
        </p:nvSpPr>
        <p:spPr>
          <a:xfrm>
            <a:off x="365760" y="2926080"/>
            <a:ext cx="114604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133" b="1" dirty="0">
                <a:solidFill>
                  <a:srgbClr val="1C2833"/>
                </a:solidFill>
              </a:rPr>
              <a:t>What's the root issue with your evaluation approach?</a:t>
            </a:r>
            <a:endParaRPr lang="en-US" sz="2133" dirty="0"/>
          </a:p>
        </p:txBody>
      </p:sp>
      <p:sp>
        <p:nvSpPr>
          <p:cNvPr id="8" name="Text 6"/>
          <p:cNvSpPr/>
          <p:nvPr/>
        </p:nvSpPr>
        <p:spPr>
          <a:xfrm>
            <a:off x="609600" y="365760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C2833"/>
                </a:solidFill>
              </a:rPr>
              <a:t>A) ROUGE score threshold is too low; aim for 95%+</a:t>
            </a:r>
            <a:endParaRPr lang="en-US" sz="1733" dirty="0"/>
          </a:p>
        </p:txBody>
      </p:sp>
      <p:sp>
        <p:nvSpPr>
          <p:cNvPr id="9" name="Text 7"/>
          <p:cNvSpPr/>
          <p:nvPr/>
        </p:nvSpPr>
        <p:spPr>
          <a:xfrm>
            <a:off x="609600" y="43891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C2833"/>
                </a:solidFill>
              </a:rPr>
              <a:t>B) Need more training data to improve the model</a:t>
            </a:r>
            <a:endParaRPr lang="en-US" sz="1733" dirty="0"/>
          </a:p>
        </p:txBody>
      </p:sp>
      <p:sp>
        <p:nvSpPr>
          <p:cNvPr id="10" name="Shape 8"/>
          <p:cNvSpPr/>
          <p:nvPr/>
        </p:nvSpPr>
        <p:spPr>
          <a:xfrm>
            <a:off x="365760" y="4815840"/>
            <a:ext cx="11460480" cy="609600"/>
          </a:xfrm>
          <a:prstGeom prst="rect">
            <a:avLst/>
          </a:prstGeom>
          <a:solidFill>
            <a:srgbClr val="E8F5E9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Text 9"/>
          <p:cNvSpPr/>
          <p:nvPr/>
        </p:nvSpPr>
        <p:spPr>
          <a:xfrm>
            <a:off x="609600" y="512064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/>
              <a:t>C) Statistical metrics don't capture business-relevant quality; need human evaluation</a:t>
            </a:r>
          </a:p>
        </p:txBody>
      </p:sp>
      <p:sp>
        <p:nvSpPr>
          <p:cNvPr id="12" name="Text 10"/>
          <p:cNvSpPr/>
          <p:nvPr/>
        </p:nvSpPr>
        <p:spPr>
          <a:xfrm>
            <a:off x="609600" y="585216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C2833"/>
                </a:solidFill>
              </a:rPr>
              <a:t>D) Should switch to BLEU score instead of ROUGE</a:t>
            </a:r>
            <a:endParaRPr lang="en-US" sz="173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75360"/>
          </a:xfrm>
          <a:prstGeom prst="rect">
            <a:avLst/>
          </a:prstGeom>
          <a:solidFill>
            <a:srgbClr val="277884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4" name="Text 2"/>
          <p:cNvSpPr/>
          <p:nvPr/>
        </p:nvSpPr>
        <p:spPr>
          <a:xfrm>
            <a:off x="365760" y="42672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667" b="1" dirty="0">
                <a:solidFill>
                  <a:srgbClr val="FFFFFF"/>
                </a:solidFill>
              </a:rPr>
              <a:t>Evaluation Dataset Quality</a:t>
            </a:r>
            <a:endParaRPr lang="en-US" sz="2667" dirty="0"/>
          </a:p>
        </p:txBody>
      </p:sp>
      <p:sp>
        <p:nvSpPr>
          <p:cNvPr id="5" name="Shape 3"/>
          <p:cNvSpPr/>
          <p:nvPr/>
        </p:nvSpPr>
        <p:spPr>
          <a:xfrm>
            <a:off x="365760" y="1219200"/>
            <a:ext cx="11460480" cy="1463040"/>
          </a:xfrm>
          <a:prstGeom prst="rect">
            <a:avLst/>
          </a:prstGeom>
          <a:solidFill>
            <a:srgbClr val="F4F6F6"/>
          </a:solidFill>
          <a:ln w="254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609600" y="1341120"/>
            <a:ext cx="10972800" cy="121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dirty="0">
                <a:solidFill>
                  <a:srgbClr val="1C2833"/>
                </a:solidFill>
              </a:rPr>
              <a:t>Your team created an evaluation dataset with one intern writing 100 'typical questions.' The AI scores 95% accuracy but performs poorly with real customers.</a:t>
            </a:r>
            <a:endParaRPr lang="en-US" sz="1867" dirty="0"/>
          </a:p>
        </p:txBody>
      </p:sp>
      <p:sp>
        <p:nvSpPr>
          <p:cNvPr id="7" name="Text 5"/>
          <p:cNvSpPr/>
          <p:nvPr/>
        </p:nvSpPr>
        <p:spPr>
          <a:xfrm>
            <a:off x="365760" y="2926080"/>
            <a:ext cx="114604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133" b="1" dirty="0">
                <a:solidFill>
                  <a:srgbClr val="1C2833"/>
                </a:solidFill>
              </a:rPr>
              <a:t>What's wrong with your evaluation approach?</a:t>
            </a:r>
            <a:endParaRPr lang="en-US" sz="2133" dirty="0"/>
          </a:p>
        </p:txBody>
      </p:sp>
      <p:sp>
        <p:nvSpPr>
          <p:cNvPr id="8" name="Text 6"/>
          <p:cNvSpPr/>
          <p:nvPr/>
        </p:nvSpPr>
        <p:spPr>
          <a:xfrm>
            <a:off x="609600" y="365760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C2833"/>
                </a:solidFill>
              </a:rPr>
              <a:t>A) 100 questions is too small; need at least 1,000</a:t>
            </a:r>
            <a:endParaRPr lang="en-US" sz="1733" dirty="0"/>
          </a:p>
        </p:txBody>
      </p:sp>
      <p:sp>
        <p:nvSpPr>
          <p:cNvPr id="9" name="Text 7"/>
          <p:cNvSpPr/>
          <p:nvPr/>
        </p:nvSpPr>
        <p:spPr>
          <a:xfrm>
            <a:off x="609600" y="43891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C2833"/>
                </a:solidFill>
              </a:rPr>
              <a:t>B) Accuracy is the wrong metric; use F1 score instead</a:t>
            </a:r>
            <a:endParaRPr lang="en-US" sz="1733" dirty="0"/>
          </a:p>
        </p:txBody>
      </p:sp>
      <p:sp>
        <p:nvSpPr>
          <p:cNvPr id="10" name="Shape 8"/>
          <p:cNvSpPr/>
          <p:nvPr/>
        </p:nvSpPr>
        <p:spPr>
          <a:xfrm>
            <a:off x="365760" y="4815840"/>
            <a:ext cx="11460480" cy="609600"/>
          </a:xfrm>
          <a:prstGeom prst="rect">
            <a:avLst/>
          </a:prstGeom>
          <a:solidFill>
            <a:srgbClr val="E8F5E9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Text 9"/>
          <p:cNvSpPr/>
          <p:nvPr/>
        </p:nvSpPr>
        <p:spPr>
          <a:xfrm>
            <a:off x="609600" y="512064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/>
              <a:t>C) Dataset lacks diversity and doesn't represent real-world complexity</a:t>
            </a:r>
          </a:p>
        </p:txBody>
      </p:sp>
      <p:sp>
        <p:nvSpPr>
          <p:cNvPr id="12" name="Text 10"/>
          <p:cNvSpPr/>
          <p:nvPr/>
        </p:nvSpPr>
        <p:spPr>
          <a:xfrm>
            <a:off x="609600" y="585216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C2833"/>
                </a:solidFill>
              </a:rPr>
              <a:t>D) The model is overfitting; need more regularization</a:t>
            </a:r>
            <a:endParaRPr lang="en-US" sz="173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849D5-D4CB-172F-A30E-B28163E97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08321A-8362-A2AB-292F-BBB832AC25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Agentic AI &amp; </a:t>
            </a:r>
            <a:br>
              <a:rPr lang="en-US" dirty="0"/>
            </a:br>
            <a:r>
              <a:rPr lang="en-US" dirty="0"/>
              <a:t>System Design  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0133E9-4F3D-9655-CB25-9981F25A4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049513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AF3121-035A-65E5-BF84-2B5630AD4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3F48503-030F-373E-D33E-02668204D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100</a:t>
            </a:fld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1009BBB9-5147-28CE-FDCE-E7BEF1A70377}"/>
              </a:ext>
            </a:extLst>
          </p:cNvPr>
          <p:cNvSpPr/>
          <p:nvPr/>
        </p:nvSpPr>
        <p:spPr>
          <a:xfrm>
            <a:off x="5455591" y="1911288"/>
            <a:ext cx="2809870" cy="2865701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Evaluate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ACADB24-501C-97CD-16BD-B239DDF0674E}"/>
              </a:ext>
            </a:extLst>
          </p:cNvPr>
          <p:cNvSpPr/>
          <p:nvPr/>
        </p:nvSpPr>
        <p:spPr>
          <a:xfrm>
            <a:off x="1125069" y="1905301"/>
            <a:ext cx="1401857" cy="2865701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Define a use case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8FF2F58A-3BAD-9B43-041C-6583F773DF74}"/>
              </a:ext>
            </a:extLst>
          </p:cNvPr>
          <p:cNvSpPr/>
          <p:nvPr/>
        </p:nvSpPr>
        <p:spPr>
          <a:xfrm>
            <a:off x="3165669" y="1905301"/>
            <a:ext cx="1651179" cy="1432851"/>
          </a:xfrm>
          <a:prstGeom prst="round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Choose a model provider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02DB3BD-1EE8-50E9-8615-F582D9544A37}"/>
              </a:ext>
            </a:extLst>
          </p:cNvPr>
          <p:cNvSpPr/>
          <p:nvPr/>
        </p:nvSpPr>
        <p:spPr>
          <a:xfrm>
            <a:off x="5703794" y="2459379"/>
            <a:ext cx="2297206" cy="546083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Prompt Engineering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25D569D-FABF-7614-83E7-A33D82184566}"/>
              </a:ext>
            </a:extLst>
          </p:cNvPr>
          <p:cNvSpPr/>
          <p:nvPr/>
        </p:nvSpPr>
        <p:spPr>
          <a:xfrm>
            <a:off x="5703794" y="3191830"/>
            <a:ext cx="2297206" cy="546083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Fine-tune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677101BD-5C2D-25D2-91F5-6D4EAF2CEBF4}"/>
              </a:ext>
            </a:extLst>
          </p:cNvPr>
          <p:cNvSpPr/>
          <p:nvPr/>
        </p:nvSpPr>
        <p:spPr>
          <a:xfrm>
            <a:off x="5703794" y="3888920"/>
            <a:ext cx="2297206" cy="546083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Align with Human feedback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81DAD39-671F-0A22-D530-CA15DB5DA3CB}"/>
              </a:ext>
            </a:extLst>
          </p:cNvPr>
          <p:cNvSpPr/>
          <p:nvPr/>
        </p:nvSpPr>
        <p:spPr>
          <a:xfrm>
            <a:off x="8904204" y="1905301"/>
            <a:ext cx="1828800" cy="2895003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Deploy &amp; Optimize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078522AC-0884-72CD-EE9F-5ED4FF7D12D3}"/>
              </a:ext>
            </a:extLst>
          </p:cNvPr>
          <p:cNvSpPr/>
          <p:nvPr/>
        </p:nvSpPr>
        <p:spPr>
          <a:xfrm>
            <a:off x="3165669" y="3422631"/>
            <a:ext cx="1651179" cy="1354357"/>
          </a:xfrm>
          <a:prstGeom prst="round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Integrate with systems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5A780B01-BCF4-D515-4BE5-940006A4B753}"/>
              </a:ext>
            </a:extLst>
          </p:cNvPr>
          <p:cNvSpPr/>
          <p:nvPr/>
        </p:nvSpPr>
        <p:spPr>
          <a:xfrm>
            <a:off x="5455590" y="5052038"/>
            <a:ext cx="5277414" cy="546083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Observability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C6B4ABB-D587-7D47-2D04-002B484383F1}"/>
              </a:ext>
            </a:extLst>
          </p:cNvPr>
          <p:cNvSpPr/>
          <p:nvPr/>
        </p:nvSpPr>
        <p:spPr>
          <a:xfrm>
            <a:off x="8904204" y="5742051"/>
            <a:ext cx="1828800" cy="546083"/>
          </a:xfrm>
          <a:prstGeom prst="round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Monitoring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7B06961-14A3-9776-2C70-D10805322C74}"/>
              </a:ext>
            </a:extLst>
          </p:cNvPr>
          <p:cNvSpPr/>
          <p:nvPr/>
        </p:nvSpPr>
        <p:spPr>
          <a:xfrm>
            <a:off x="1600990" y="1320131"/>
            <a:ext cx="450014" cy="460482"/>
          </a:xfrm>
          <a:prstGeom prst="ellipse">
            <a:avLst/>
          </a:prstGeom>
          <a:solidFill>
            <a:srgbClr val="147BBF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A3A9DE95-5247-3C6C-A23D-54152CDA459A}"/>
              </a:ext>
            </a:extLst>
          </p:cNvPr>
          <p:cNvSpPr/>
          <p:nvPr/>
        </p:nvSpPr>
        <p:spPr>
          <a:xfrm>
            <a:off x="3766251" y="1320131"/>
            <a:ext cx="450014" cy="460482"/>
          </a:xfrm>
          <a:prstGeom prst="ellipse">
            <a:avLst/>
          </a:prstGeom>
          <a:solidFill>
            <a:srgbClr val="147BBF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731F7AD4-AF78-AE2A-169C-19A0D113C664}"/>
              </a:ext>
            </a:extLst>
          </p:cNvPr>
          <p:cNvSpPr/>
          <p:nvPr/>
        </p:nvSpPr>
        <p:spPr>
          <a:xfrm>
            <a:off x="6627390" y="1322289"/>
            <a:ext cx="450014" cy="460482"/>
          </a:xfrm>
          <a:prstGeom prst="ellipse">
            <a:avLst/>
          </a:prstGeom>
          <a:solidFill>
            <a:srgbClr val="147BBF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A9B80693-B97A-E741-F554-0DC8C738A22F}"/>
              </a:ext>
            </a:extLst>
          </p:cNvPr>
          <p:cNvSpPr/>
          <p:nvPr/>
        </p:nvSpPr>
        <p:spPr>
          <a:xfrm>
            <a:off x="9593597" y="1320131"/>
            <a:ext cx="450014" cy="460482"/>
          </a:xfrm>
          <a:prstGeom prst="ellipse">
            <a:avLst/>
          </a:prstGeom>
          <a:solidFill>
            <a:srgbClr val="147BBF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0EA790F5-F161-767B-8F93-FCB545DE48E7}"/>
              </a:ext>
            </a:extLst>
          </p:cNvPr>
          <p:cNvSpPr/>
          <p:nvPr/>
        </p:nvSpPr>
        <p:spPr>
          <a:xfrm>
            <a:off x="3062008" y="1848530"/>
            <a:ext cx="1879786" cy="2979242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0779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F4865-6721-FAD2-DC9C-0EE9BE7A86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5762BB-692D-B598-CDFF-C8840572E7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532043" cy="1325563"/>
          </a:xfrm>
        </p:spPr>
        <p:txBody>
          <a:bodyPr/>
          <a:lstStyle/>
          <a:p>
            <a:r>
              <a:rPr lang="en-US" dirty="0"/>
              <a:t>Agentic AI - Definition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40A00F5D-0BC9-6963-77D6-BAF88A05EF3C}"/>
              </a:ext>
            </a:extLst>
          </p:cNvPr>
          <p:cNvSpPr txBox="1"/>
          <p:nvPr/>
        </p:nvSpPr>
        <p:spPr>
          <a:xfrm>
            <a:off x="935090" y="2556643"/>
            <a:ext cx="82229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Agentic AI</a:t>
            </a:r>
            <a:r>
              <a:rPr lang="en-US" dirty="0"/>
              <a:t>: AI </a:t>
            </a:r>
            <a:r>
              <a:rPr lang="fr-FR" dirty="0" err="1"/>
              <a:t>systems</a:t>
            </a:r>
            <a:r>
              <a:rPr lang="fr-FR" dirty="0"/>
              <a:t> </a:t>
            </a:r>
            <a:r>
              <a:rPr lang="fr-FR" dirty="0" err="1"/>
              <a:t>that</a:t>
            </a:r>
            <a:r>
              <a:rPr lang="fr-FR" dirty="0"/>
              <a:t> are </a:t>
            </a:r>
            <a:r>
              <a:rPr lang="fr-FR" dirty="0" err="1"/>
              <a:t>designed</a:t>
            </a:r>
            <a:r>
              <a:rPr lang="fr-FR" dirty="0"/>
              <a:t> to </a:t>
            </a:r>
            <a:r>
              <a:rPr lang="fr-FR" dirty="0" err="1"/>
              <a:t>act</a:t>
            </a:r>
            <a:r>
              <a:rPr lang="fr-FR" dirty="0"/>
              <a:t> </a:t>
            </a:r>
            <a:r>
              <a:rPr lang="fr-FR" dirty="0" err="1"/>
              <a:t>autonomously</a:t>
            </a:r>
            <a:r>
              <a:rPr lang="fr-FR" dirty="0"/>
              <a:t> to </a:t>
            </a:r>
            <a:r>
              <a:rPr lang="fr-FR" dirty="0" err="1"/>
              <a:t>achieve</a:t>
            </a:r>
            <a:r>
              <a:rPr lang="fr-FR" dirty="0"/>
              <a:t> </a:t>
            </a:r>
            <a:r>
              <a:rPr lang="fr-FR" dirty="0" err="1"/>
              <a:t>specific</a:t>
            </a:r>
            <a:r>
              <a:rPr lang="fr-FR" dirty="0"/>
              <a:t> </a:t>
            </a:r>
            <a:br>
              <a:rPr lang="fr-FR" dirty="0"/>
            </a:br>
            <a:r>
              <a:rPr lang="fr-FR" dirty="0"/>
              <a:t>goals or </a:t>
            </a:r>
            <a:r>
              <a:rPr lang="fr-FR" dirty="0" err="1"/>
              <a:t>complete</a:t>
            </a:r>
            <a:r>
              <a:rPr lang="fr-FR" dirty="0"/>
              <a:t> </a:t>
            </a:r>
            <a:r>
              <a:rPr lang="fr-FR" dirty="0" err="1"/>
              <a:t>tasks</a:t>
            </a:r>
            <a:r>
              <a:rPr lang="fr-FR" dirty="0"/>
              <a:t> </a:t>
            </a:r>
            <a:r>
              <a:rPr lang="fr-FR" dirty="0" err="1"/>
              <a:t>with</a:t>
            </a:r>
            <a:r>
              <a:rPr lang="fr-FR" dirty="0"/>
              <a:t> minimal </a:t>
            </a:r>
            <a:r>
              <a:rPr lang="fr-FR" dirty="0" err="1"/>
              <a:t>human</a:t>
            </a:r>
            <a:r>
              <a:rPr lang="fr-FR" dirty="0"/>
              <a:t> intervention.</a:t>
            </a:r>
            <a:endParaRPr lang="en-US" dirty="0"/>
          </a:p>
        </p:txBody>
      </p:sp>
      <p:sp>
        <p:nvSpPr>
          <p:cNvPr id="10" name="TextBox 18">
            <a:extLst>
              <a:ext uri="{FF2B5EF4-FFF2-40B4-BE49-F238E27FC236}">
                <a16:creationId xmlns:a16="http://schemas.microsoft.com/office/drawing/2014/main" id="{DFABC209-BB54-6CD3-94DC-42F518B9E2C6}"/>
              </a:ext>
            </a:extLst>
          </p:cNvPr>
          <p:cNvSpPr txBox="1"/>
          <p:nvPr/>
        </p:nvSpPr>
        <p:spPr>
          <a:xfrm>
            <a:off x="4586720" y="5249839"/>
            <a:ext cx="2362324" cy="830997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lIns="0" r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pPr lvl="0" algn="ctr">
              <a:defRPr/>
            </a:pPr>
            <a:r>
              <a:rPr lang="en-US" sz="1600" dirty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rPr>
              <a:t>LLM’s are powerful, </a:t>
            </a:r>
            <a:br>
              <a:rPr lang="en-US" sz="1600" dirty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rPr>
            </a:br>
            <a:r>
              <a:rPr lang="en-US" sz="1600" dirty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rPr>
              <a:t>but they can’t </a:t>
            </a:r>
            <a:br>
              <a:rPr lang="en-US" sz="1600" dirty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rPr>
            </a:br>
            <a:r>
              <a:rPr lang="en-US" sz="1600" dirty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rPr>
              <a:t>take actions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mazon Ember Display" panose="020F0603020204020204" pitchFamily="34" charset="0"/>
              <a:ea typeface="Amazon Ember Display" panose="020F0603020204020204" pitchFamily="34" charset="0"/>
              <a:cs typeface="Amazon Ember Display" panose="020F0603020204020204" pitchFamily="34" charset="0"/>
            </a:endParaRPr>
          </a:p>
        </p:txBody>
      </p:sp>
      <p:sp>
        <p:nvSpPr>
          <p:cNvPr id="12" name="TextBox 64">
            <a:extLst>
              <a:ext uri="{FF2B5EF4-FFF2-40B4-BE49-F238E27FC236}">
                <a16:creationId xmlns:a16="http://schemas.microsoft.com/office/drawing/2014/main" id="{A814AFAB-A47E-DD16-9DDC-768B73ABA7CC}"/>
              </a:ext>
            </a:extLst>
          </p:cNvPr>
          <p:cNvSpPr txBox="1"/>
          <p:nvPr/>
        </p:nvSpPr>
        <p:spPr>
          <a:xfrm>
            <a:off x="7007919" y="5249839"/>
            <a:ext cx="2362324" cy="830997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lIns="0" r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pPr lvl="0" algn="ctr">
              <a:defRPr/>
            </a:pPr>
            <a:r>
              <a:rPr lang="en-US" sz="1600" dirty="0"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rPr>
              <a:t>Integration of databases and systems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rPr>
              <a:t>is </a:t>
            </a:r>
            <a:br>
              <a:rPr kumimoji="0" lang="en-US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rPr>
            </a:b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rPr>
              <a:t>expensive and slow</a:t>
            </a:r>
          </a:p>
        </p:txBody>
      </p:sp>
      <p:sp>
        <p:nvSpPr>
          <p:cNvPr id="14" name="TextBox 4">
            <a:extLst>
              <a:ext uri="{FF2B5EF4-FFF2-40B4-BE49-F238E27FC236}">
                <a16:creationId xmlns:a16="http://schemas.microsoft.com/office/drawing/2014/main" id="{7B7791B6-54A4-72E4-4B81-713A690E8A52}"/>
              </a:ext>
            </a:extLst>
          </p:cNvPr>
          <p:cNvSpPr txBox="1"/>
          <p:nvPr/>
        </p:nvSpPr>
        <p:spPr>
          <a:xfrm>
            <a:off x="2370022" y="5249840"/>
            <a:ext cx="2048256" cy="830997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ajor"/>
        </p:style>
        <p:txBody>
          <a:bodyPr wrap="square" lIns="0" rIns="0" rtlCol="0"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  <a:lvl2pPr>
              <a:defRPr>
                <a:latin typeface="+mj-lt"/>
                <a:ea typeface="+mj-ea"/>
                <a:cs typeface="+mj-cs"/>
              </a:defRPr>
            </a:lvl2pPr>
            <a:lvl3pPr>
              <a:defRPr>
                <a:latin typeface="+mj-lt"/>
                <a:ea typeface="+mj-ea"/>
                <a:cs typeface="+mj-cs"/>
              </a:defRPr>
            </a:lvl3pPr>
            <a:lvl4pPr>
              <a:defRPr>
                <a:latin typeface="+mj-lt"/>
                <a:ea typeface="+mj-ea"/>
                <a:cs typeface="+mj-cs"/>
              </a:defRPr>
            </a:lvl4pPr>
            <a:lvl5pPr>
              <a:defRPr>
                <a:latin typeface="+mj-lt"/>
                <a:ea typeface="+mj-ea"/>
                <a:cs typeface="+mj-cs"/>
              </a:defRPr>
            </a:lvl5pPr>
            <a:lvl6pPr>
              <a:defRPr>
                <a:latin typeface="+mj-lt"/>
                <a:ea typeface="+mj-ea"/>
                <a:cs typeface="+mj-cs"/>
              </a:defRPr>
            </a:lvl6pPr>
            <a:lvl7pPr>
              <a:defRPr>
                <a:latin typeface="+mj-lt"/>
                <a:ea typeface="+mj-ea"/>
                <a:cs typeface="+mj-cs"/>
              </a:defRPr>
            </a:lvl7pPr>
            <a:lvl8pPr>
              <a:defRPr>
                <a:latin typeface="+mj-lt"/>
                <a:ea typeface="+mj-ea"/>
                <a:cs typeface="+mj-cs"/>
              </a:defRPr>
            </a:lvl8pPr>
            <a:lvl9pPr>
              <a:defRPr>
                <a:latin typeface="+mj-lt"/>
                <a:ea typeface="+mj-ea"/>
                <a:cs typeface="+mj-cs"/>
              </a:defRPr>
            </a:lvl9pPr>
          </a:lstStyle>
          <a:p>
            <a:pPr lvl="0" algn="ctr"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rPr>
              <a:t>Knowledge workers stretched, need productivity tools</a:t>
            </a:r>
          </a:p>
        </p:txBody>
      </p:sp>
      <p:cxnSp>
        <p:nvCxnSpPr>
          <p:cNvPr id="15" name="Straight Connector 8">
            <a:extLst>
              <a:ext uri="{FF2B5EF4-FFF2-40B4-BE49-F238E27FC236}">
                <a16:creationId xmlns:a16="http://schemas.microsoft.com/office/drawing/2014/main" id="{384E5FE9-6011-CB26-ABF3-B37F5C32ABD8}"/>
              </a:ext>
            </a:extLst>
          </p:cNvPr>
          <p:cNvCxnSpPr>
            <a:cxnSpLocks/>
          </p:cNvCxnSpPr>
          <p:nvPr/>
        </p:nvCxnSpPr>
        <p:spPr>
          <a:xfrm>
            <a:off x="2521173" y="5037819"/>
            <a:ext cx="1745955" cy="0"/>
          </a:xfrm>
          <a:prstGeom prst="line">
            <a:avLst/>
          </a:prstGeom>
          <a:ln w="19050" cap="rnd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4">
            <a:extLst>
              <a:ext uri="{FF2B5EF4-FFF2-40B4-BE49-F238E27FC236}">
                <a16:creationId xmlns:a16="http://schemas.microsoft.com/office/drawing/2014/main" id="{B2107328-5046-5CCB-DC1F-94EEE4F2CFF0}"/>
              </a:ext>
            </a:extLst>
          </p:cNvPr>
          <p:cNvCxnSpPr>
            <a:cxnSpLocks/>
          </p:cNvCxnSpPr>
          <p:nvPr/>
        </p:nvCxnSpPr>
        <p:spPr>
          <a:xfrm flipV="1">
            <a:off x="4812435" y="5032431"/>
            <a:ext cx="1932331" cy="539"/>
          </a:xfrm>
          <a:prstGeom prst="line">
            <a:avLst/>
          </a:prstGeom>
          <a:ln w="19050" cap="rnd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5">
            <a:extLst>
              <a:ext uri="{FF2B5EF4-FFF2-40B4-BE49-F238E27FC236}">
                <a16:creationId xmlns:a16="http://schemas.microsoft.com/office/drawing/2014/main" id="{1A329B68-9DD6-6826-3A08-6481248E8677}"/>
              </a:ext>
            </a:extLst>
          </p:cNvPr>
          <p:cNvCxnSpPr>
            <a:cxnSpLocks/>
          </p:cNvCxnSpPr>
          <p:nvPr/>
        </p:nvCxnSpPr>
        <p:spPr>
          <a:xfrm flipV="1">
            <a:off x="7222916" y="5025967"/>
            <a:ext cx="1932331" cy="539"/>
          </a:xfrm>
          <a:prstGeom prst="line">
            <a:avLst/>
          </a:prstGeom>
          <a:ln w="19050" cap="rnd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Graphique 21" descr="Livres avec un remplissage uni">
            <a:extLst>
              <a:ext uri="{FF2B5EF4-FFF2-40B4-BE49-F238E27FC236}">
                <a16:creationId xmlns:a16="http://schemas.microsoft.com/office/drawing/2014/main" id="{621E762A-F4F3-ABAD-0357-C95B2C325B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47155" y="4068929"/>
            <a:ext cx="914400" cy="914400"/>
          </a:xfrm>
          <a:prstGeom prst="rect">
            <a:avLst/>
          </a:prstGeom>
        </p:spPr>
      </p:pic>
      <p:pic>
        <p:nvPicPr>
          <p:cNvPr id="24" name="Graphique 23" descr="Coche avec un remplissage uni">
            <a:extLst>
              <a:ext uri="{FF2B5EF4-FFF2-40B4-BE49-F238E27FC236}">
                <a16:creationId xmlns:a16="http://schemas.microsoft.com/office/drawing/2014/main" id="{4DD06525-CF0E-D457-A3A7-1438FB8F301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321400" y="4068929"/>
            <a:ext cx="914400" cy="914400"/>
          </a:xfrm>
          <a:prstGeom prst="rect">
            <a:avLst/>
          </a:prstGeom>
        </p:spPr>
      </p:pic>
      <p:pic>
        <p:nvPicPr>
          <p:cNvPr id="26" name="Graphique 25" descr="Informatique hébergé avec un remplissage uni">
            <a:extLst>
              <a:ext uri="{FF2B5EF4-FFF2-40B4-BE49-F238E27FC236}">
                <a16:creationId xmlns:a16="http://schemas.microsoft.com/office/drawing/2014/main" id="{A45DD46C-C589-81D9-5532-BE6DD69D436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795645" y="4067342"/>
            <a:ext cx="914400" cy="91440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1270C0A-FC13-BDDD-E999-DFECF6AC6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8831878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29A7E-6946-C7EF-B9E3-B81127972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Simplest agent has only a set of </a:t>
            </a:r>
            <a:r>
              <a:rPr lang="en-US" dirty="0">
                <a:solidFill>
                  <a:schemeClr val="accent4"/>
                </a:solidFill>
              </a:rPr>
              <a:t>instructions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AB842B4-0CA3-5757-A124-630272FD8813}"/>
              </a:ext>
            </a:extLst>
          </p:cNvPr>
          <p:cNvSpPr/>
          <p:nvPr/>
        </p:nvSpPr>
        <p:spPr>
          <a:xfrm>
            <a:off x="6926002" y="2521768"/>
            <a:ext cx="4450209" cy="17853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rPr>
              <a:t>Instructions:</a:t>
            </a:r>
            <a:r>
              <a:rPr kumimoji="0" lang="en-US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rPr>
              <a:t> “</a:t>
            </a:r>
            <a:r>
              <a:rPr lang="en-US" dirty="0">
                <a:solidFill>
                  <a:schemeClr val="tx1"/>
                </a:solidFill>
              </a:rPr>
              <a:t>you are a funny agent that can only tell jokes. you refuse to do anything else. you always keep the jokes clean and not offensive. you can tell jokes about any topic.</a:t>
            </a:r>
            <a:r>
              <a:rPr kumimoji="0" lang="en-US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rPr>
              <a:t>”</a:t>
            </a:r>
            <a:endParaRPr kumimoji="0" lang="en-US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mazon Ember Display" panose="020F0603020204020204" pitchFamily="34" charset="0"/>
              <a:ea typeface="Amazon Ember Display" panose="020F0603020204020204" pitchFamily="34" charset="0"/>
              <a:cs typeface="Amazon Ember Display" panose="020F0603020204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67FF16-A727-F6B0-F916-E038CD5001C3}"/>
              </a:ext>
            </a:extLst>
          </p:cNvPr>
          <p:cNvSpPr txBox="1"/>
          <p:nvPr/>
        </p:nvSpPr>
        <p:spPr>
          <a:xfrm>
            <a:off x="8246327" y="1787091"/>
            <a:ext cx="180949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rPr>
              <a:t>Joke bot</a:t>
            </a:r>
          </a:p>
        </p:txBody>
      </p:sp>
      <p:sp>
        <p:nvSpPr>
          <p:cNvPr id="25" name="Oval Callout 24">
            <a:extLst>
              <a:ext uri="{FF2B5EF4-FFF2-40B4-BE49-F238E27FC236}">
                <a16:creationId xmlns:a16="http://schemas.microsoft.com/office/drawing/2014/main" id="{E7F04A45-9098-B65E-1D06-F5CA54F35106}"/>
              </a:ext>
            </a:extLst>
          </p:cNvPr>
          <p:cNvSpPr/>
          <p:nvPr/>
        </p:nvSpPr>
        <p:spPr>
          <a:xfrm>
            <a:off x="1622067" y="1826737"/>
            <a:ext cx="3291840" cy="669752"/>
          </a:xfrm>
          <a:prstGeom prst="wedgeEllipseCallout">
            <a:avLst>
              <a:gd name="adj1" fmla="val -42487"/>
              <a:gd name="adj2" fmla="val 83089"/>
            </a:avLst>
          </a:prstGeom>
          <a:solidFill>
            <a:schemeClr val="accent4">
              <a:alpha val="3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why did the AI 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go to school?</a:t>
            </a:r>
          </a:p>
        </p:txBody>
      </p:sp>
      <p:sp>
        <p:nvSpPr>
          <p:cNvPr id="26" name="Oval Callout 25">
            <a:extLst>
              <a:ext uri="{FF2B5EF4-FFF2-40B4-BE49-F238E27FC236}">
                <a16:creationId xmlns:a16="http://schemas.microsoft.com/office/drawing/2014/main" id="{BEB906D9-536D-419E-4F9B-0DFF6E959A9C}"/>
              </a:ext>
            </a:extLst>
          </p:cNvPr>
          <p:cNvSpPr/>
          <p:nvPr/>
        </p:nvSpPr>
        <p:spPr>
          <a:xfrm>
            <a:off x="2658140" y="2600275"/>
            <a:ext cx="3655434" cy="624033"/>
          </a:xfrm>
          <a:prstGeom prst="wedgeEllipseCallout">
            <a:avLst>
              <a:gd name="adj1" fmla="val 53140"/>
              <a:gd name="adj2" fmla="val 53715"/>
            </a:avLst>
          </a:prstGeom>
          <a:solidFill>
            <a:schemeClr val="accent4">
              <a:lumMod val="20000"/>
              <a:lumOff val="80000"/>
              <a:alpha val="3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to improve its 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learning Rate</a:t>
            </a:r>
          </a:p>
        </p:txBody>
      </p:sp>
      <p:sp>
        <p:nvSpPr>
          <p:cNvPr id="27" name="Oval Callout 26">
            <a:extLst>
              <a:ext uri="{FF2B5EF4-FFF2-40B4-BE49-F238E27FC236}">
                <a16:creationId xmlns:a16="http://schemas.microsoft.com/office/drawing/2014/main" id="{86C1F24A-DB98-01CB-1710-FD14C270DEB6}"/>
              </a:ext>
            </a:extLst>
          </p:cNvPr>
          <p:cNvSpPr/>
          <p:nvPr/>
        </p:nvSpPr>
        <p:spPr>
          <a:xfrm>
            <a:off x="1693628" y="3709706"/>
            <a:ext cx="3220279" cy="624033"/>
          </a:xfrm>
          <a:prstGeom prst="wedgeEllipseCallout">
            <a:avLst>
              <a:gd name="adj1" fmla="val -46224"/>
              <a:gd name="adj2" fmla="val -41775"/>
            </a:avLst>
          </a:prstGeom>
          <a:solidFill>
            <a:schemeClr val="accent4">
              <a:alpha val="3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write an email message</a:t>
            </a:r>
          </a:p>
        </p:txBody>
      </p:sp>
      <p:sp>
        <p:nvSpPr>
          <p:cNvPr id="28" name="Oval Callout 27">
            <a:extLst>
              <a:ext uri="{FF2B5EF4-FFF2-40B4-BE49-F238E27FC236}">
                <a16:creationId xmlns:a16="http://schemas.microsoft.com/office/drawing/2014/main" id="{BED25BDB-DBCD-3504-02ED-7910AB048993}"/>
              </a:ext>
            </a:extLst>
          </p:cNvPr>
          <p:cNvSpPr/>
          <p:nvPr/>
        </p:nvSpPr>
        <p:spPr>
          <a:xfrm>
            <a:off x="2635476" y="4456219"/>
            <a:ext cx="3836187" cy="837771"/>
          </a:xfrm>
          <a:prstGeom prst="wedgeEllipseCallout">
            <a:avLst>
              <a:gd name="adj1" fmla="val 46423"/>
              <a:gd name="adj2" fmla="val -72173"/>
            </a:avLst>
          </a:prstGeom>
          <a:solidFill>
            <a:schemeClr val="accent4">
              <a:lumMod val="20000"/>
              <a:lumOff val="80000"/>
              <a:alpha val="3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I’m sorry, I’m just a funny bot who tells jokes</a:t>
            </a:r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F579F618-C79E-4BE6-B857-12EF2AFD7B46}"/>
              </a:ext>
            </a:extLst>
          </p:cNvPr>
          <p:cNvSpPr txBox="1">
            <a:spLocks/>
          </p:cNvSpPr>
          <p:nvPr/>
        </p:nvSpPr>
        <p:spPr>
          <a:xfrm>
            <a:off x="8929200" y="62895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9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834CDD4-D76F-4459-B025-0310E913C243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mazon Ember Display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102</a:t>
            </a:fld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mazon Ember Display"/>
              <a:ea typeface="+mn-ea"/>
              <a:cs typeface="+mn-cs"/>
            </a:endParaRPr>
          </a:p>
        </p:txBody>
      </p:sp>
      <p:pic>
        <p:nvPicPr>
          <p:cNvPr id="3" name="Graphique 2" descr="Profil femelle avec un remplissage uni">
            <a:extLst>
              <a:ext uri="{FF2B5EF4-FFF2-40B4-BE49-F238E27FC236}">
                <a16:creationId xmlns:a16="http://schemas.microsoft.com/office/drawing/2014/main" id="{C848C251-D061-03CD-562C-4F96D3141A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4355" y="2691094"/>
            <a:ext cx="914400" cy="9144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B3B7B2-17B2-595D-E12F-5A087220E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85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27" grpId="0" animBg="1"/>
      <p:bldP spid="28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29A7E-6946-C7EF-B9E3-B81127972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Agents use </a:t>
            </a:r>
            <a:r>
              <a:rPr lang="en-US" dirty="0">
                <a:solidFill>
                  <a:schemeClr val="accent4"/>
                </a:solidFill>
              </a:rPr>
              <a:t>actions</a:t>
            </a:r>
            <a:r>
              <a:rPr lang="en-US" dirty="0"/>
              <a:t> to get work done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AB842B4-0CA3-5757-A124-630272FD8813}"/>
              </a:ext>
            </a:extLst>
          </p:cNvPr>
          <p:cNvSpPr/>
          <p:nvPr/>
        </p:nvSpPr>
        <p:spPr>
          <a:xfrm>
            <a:off x="5105696" y="1856956"/>
            <a:ext cx="6234712" cy="5321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rPr>
              <a:t>Instructions:</a:t>
            </a:r>
            <a:r>
              <a:rPr kumimoji="0" lang="en-US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rPr>
              <a:t> “</a:t>
            </a:r>
            <a:r>
              <a:rPr lang="en-US" dirty="0">
                <a:solidFill>
                  <a:schemeClr val="tx1"/>
                </a:solidFill>
              </a:rPr>
              <a:t>you summarize meetings and send results</a:t>
            </a:r>
            <a:r>
              <a:rPr kumimoji="0" lang="en-US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rPr>
              <a:t>”</a:t>
            </a:r>
            <a:endParaRPr kumimoji="0" lang="en-US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mazon Ember Display" panose="020F0603020204020204" pitchFamily="34" charset="0"/>
              <a:ea typeface="Amazon Ember Display" panose="020F0603020204020204" pitchFamily="34" charset="0"/>
              <a:cs typeface="Amazon Ember Display" panose="020F0603020204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67FF16-A727-F6B0-F916-E038CD5001C3}"/>
              </a:ext>
            </a:extLst>
          </p:cNvPr>
          <p:cNvSpPr txBox="1"/>
          <p:nvPr/>
        </p:nvSpPr>
        <p:spPr>
          <a:xfrm>
            <a:off x="6981560" y="1298716"/>
            <a:ext cx="282897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rPr>
              <a:t>Meeting assistant</a:t>
            </a:r>
          </a:p>
        </p:txBody>
      </p:sp>
      <p:sp>
        <p:nvSpPr>
          <p:cNvPr id="25" name="Oval Callout 24">
            <a:extLst>
              <a:ext uri="{FF2B5EF4-FFF2-40B4-BE49-F238E27FC236}">
                <a16:creationId xmlns:a16="http://schemas.microsoft.com/office/drawing/2014/main" id="{E7F04A45-9098-B65E-1D06-F5CA54F35106}"/>
              </a:ext>
            </a:extLst>
          </p:cNvPr>
          <p:cNvSpPr/>
          <p:nvPr/>
        </p:nvSpPr>
        <p:spPr>
          <a:xfrm>
            <a:off x="1464422" y="1835774"/>
            <a:ext cx="2709510" cy="882324"/>
          </a:xfrm>
          <a:prstGeom prst="wedgeEllipseCallout">
            <a:avLst>
              <a:gd name="adj1" fmla="val -51463"/>
              <a:gd name="adj2" fmla="val 68158"/>
            </a:avLst>
          </a:prstGeom>
          <a:solidFill>
            <a:schemeClr val="accent4">
              <a:alpha val="3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list the action items from my meeting</a:t>
            </a:r>
          </a:p>
        </p:txBody>
      </p:sp>
      <p:sp>
        <p:nvSpPr>
          <p:cNvPr id="26" name="Oval Callout 25">
            <a:extLst>
              <a:ext uri="{FF2B5EF4-FFF2-40B4-BE49-F238E27FC236}">
                <a16:creationId xmlns:a16="http://schemas.microsoft.com/office/drawing/2014/main" id="{BEB906D9-536D-419E-4F9B-0DFF6E959A9C}"/>
              </a:ext>
            </a:extLst>
          </p:cNvPr>
          <p:cNvSpPr/>
          <p:nvPr/>
        </p:nvSpPr>
        <p:spPr>
          <a:xfrm>
            <a:off x="1806605" y="2827932"/>
            <a:ext cx="2629289" cy="813766"/>
          </a:xfrm>
          <a:prstGeom prst="wedgeEllipseCallout">
            <a:avLst>
              <a:gd name="adj1" fmla="val 51927"/>
              <a:gd name="adj2" fmla="val 32471"/>
            </a:avLst>
          </a:prstGeom>
          <a:solidFill>
            <a:schemeClr val="accent4">
              <a:lumMod val="20000"/>
              <a:lumOff val="80000"/>
              <a:alpha val="3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Here are the action items: 1/ …, 2/ …</a:t>
            </a:r>
          </a:p>
        </p:txBody>
      </p:sp>
      <p:sp>
        <p:nvSpPr>
          <p:cNvPr id="27" name="Oval Callout 26">
            <a:extLst>
              <a:ext uri="{FF2B5EF4-FFF2-40B4-BE49-F238E27FC236}">
                <a16:creationId xmlns:a16="http://schemas.microsoft.com/office/drawing/2014/main" id="{86C1F24A-DB98-01CB-1710-FD14C270DEB6}"/>
              </a:ext>
            </a:extLst>
          </p:cNvPr>
          <p:cNvSpPr/>
          <p:nvPr/>
        </p:nvSpPr>
        <p:spPr>
          <a:xfrm>
            <a:off x="1464422" y="4038232"/>
            <a:ext cx="1954640" cy="689635"/>
          </a:xfrm>
          <a:prstGeom prst="wedgeEllipseCallout">
            <a:avLst>
              <a:gd name="adj1" fmla="val -50220"/>
              <a:gd name="adj2" fmla="val -53835"/>
            </a:avLst>
          </a:prstGeom>
          <a:solidFill>
            <a:schemeClr val="accent4">
              <a:alpha val="3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send them </a:t>
            </a:r>
            <a:br>
              <a:rPr lang="en-US" sz="1600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to my team</a:t>
            </a:r>
          </a:p>
        </p:txBody>
      </p:sp>
      <p:sp>
        <p:nvSpPr>
          <p:cNvPr id="28" name="Oval Callout 27">
            <a:extLst>
              <a:ext uri="{FF2B5EF4-FFF2-40B4-BE49-F238E27FC236}">
                <a16:creationId xmlns:a16="http://schemas.microsoft.com/office/drawing/2014/main" id="{BED25BDB-DBCD-3504-02ED-7910AB048993}"/>
              </a:ext>
            </a:extLst>
          </p:cNvPr>
          <p:cNvSpPr/>
          <p:nvPr/>
        </p:nvSpPr>
        <p:spPr>
          <a:xfrm>
            <a:off x="2168161" y="4875373"/>
            <a:ext cx="2267733" cy="402579"/>
          </a:xfrm>
          <a:prstGeom prst="wedgeEllipseCallout">
            <a:avLst>
              <a:gd name="adj1" fmla="val 46620"/>
              <a:gd name="adj2" fmla="val -81425"/>
            </a:avLst>
          </a:prstGeom>
          <a:solidFill>
            <a:schemeClr val="accent4">
              <a:lumMod val="20000"/>
              <a:lumOff val="80000"/>
              <a:alpha val="3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Email sent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B7F83C-B8C9-EF4D-E08D-10D6CDB01FD9}"/>
              </a:ext>
            </a:extLst>
          </p:cNvPr>
          <p:cNvSpPr txBox="1"/>
          <p:nvPr/>
        </p:nvSpPr>
        <p:spPr>
          <a:xfrm>
            <a:off x="5289827" y="2663019"/>
            <a:ext cx="250644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rPr>
              <a:t>Meeting Actions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4F11720-D420-4B5D-D0D0-BBC67D1B0255}"/>
              </a:ext>
            </a:extLst>
          </p:cNvPr>
          <p:cNvSpPr/>
          <p:nvPr/>
        </p:nvSpPr>
        <p:spPr>
          <a:xfrm>
            <a:off x="5305049" y="3113535"/>
            <a:ext cx="2506446" cy="27628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5EDD5D-F532-4F18-FB5D-94584B7FB912}"/>
              </a:ext>
            </a:extLst>
          </p:cNvPr>
          <p:cNvSpPr/>
          <p:nvPr/>
        </p:nvSpPr>
        <p:spPr>
          <a:xfrm>
            <a:off x="5382040" y="3202515"/>
            <a:ext cx="2352467" cy="129962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2000" u="sng" dirty="0">
                <a:solidFill>
                  <a:schemeClr val="bg1"/>
                </a:solidFill>
              </a:rPr>
              <a:t>List Meetings</a:t>
            </a:r>
            <a:endParaRPr lang="en-US" u="sng" dirty="0">
              <a:solidFill>
                <a:schemeClr val="bg1"/>
              </a:solidFill>
            </a:endParaRPr>
          </a:p>
          <a:p>
            <a:pPr algn="ctr"/>
            <a:r>
              <a:rPr lang="en-US" b="1" dirty="0">
                <a:solidFill>
                  <a:schemeClr val="bg1"/>
                </a:solidFill>
              </a:rPr>
              <a:t>In: </a:t>
            </a:r>
            <a:r>
              <a:rPr lang="en-US" dirty="0">
                <a:solidFill>
                  <a:schemeClr val="bg1"/>
                </a:solidFill>
              </a:rPr>
              <a:t>date range</a:t>
            </a:r>
          </a:p>
          <a:p>
            <a:pPr algn="ctr"/>
            <a:r>
              <a:rPr lang="en-US" b="1" dirty="0">
                <a:solidFill>
                  <a:schemeClr val="bg1"/>
                </a:solidFill>
              </a:rPr>
              <a:t>Out: </a:t>
            </a:r>
            <a:r>
              <a:rPr lang="en-US" dirty="0">
                <a:solidFill>
                  <a:schemeClr val="bg1"/>
                </a:solidFill>
              </a:rPr>
              <a:t>[date, subject, meeting ID]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8072B5-D65A-4F62-6B4A-2C186050DFAA}"/>
              </a:ext>
            </a:extLst>
          </p:cNvPr>
          <p:cNvSpPr/>
          <p:nvPr/>
        </p:nvSpPr>
        <p:spPr>
          <a:xfrm>
            <a:off x="5382039" y="4641522"/>
            <a:ext cx="2352467" cy="1138509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2000" u="sng" dirty="0">
                <a:solidFill>
                  <a:schemeClr val="bg1"/>
                </a:solidFill>
              </a:rPr>
              <a:t>Get Action Items</a:t>
            </a:r>
            <a:endParaRPr lang="en-US" u="sng" dirty="0">
              <a:solidFill>
                <a:schemeClr val="bg1"/>
              </a:solidFill>
            </a:endParaRPr>
          </a:p>
          <a:p>
            <a:pPr algn="ctr"/>
            <a:r>
              <a:rPr lang="en-US" b="1" dirty="0">
                <a:solidFill>
                  <a:schemeClr val="bg1"/>
                </a:solidFill>
              </a:rPr>
              <a:t>In: </a:t>
            </a:r>
            <a:r>
              <a:rPr lang="en-US" dirty="0">
                <a:solidFill>
                  <a:schemeClr val="bg1"/>
                </a:solidFill>
              </a:rPr>
              <a:t>meeting ID</a:t>
            </a:r>
          </a:p>
          <a:p>
            <a:pPr algn="ctr"/>
            <a:r>
              <a:rPr lang="en-US" b="1" dirty="0">
                <a:solidFill>
                  <a:schemeClr val="bg1"/>
                </a:solidFill>
              </a:rPr>
              <a:t>Out: </a:t>
            </a:r>
            <a:r>
              <a:rPr lang="en-US" dirty="0">
                <a:solidFill>
                  <a:schemeClr val="bg1"/>
                </a:solidFill>
              </a:rPr>
              <a:t>[action items]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0A9D44F-6515-FFBC-8B7B-7FCA884B5950}"/>
              </a:ext>
            </a:extLst>
          </p:cNvPr>
          <p:cNvSpPr txBox="1"/>
          <p:nvPr/>
        </p:nvSpPr>
        <p:spPr>
          <a:xfrm>
            <a:off x="8396048" y="2663019"/>
            <a:ext cx="250644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rPr>
              <a:t>Utility Actions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DB2225A-07BD-3365-C7F8-D83B49D95F06}"/>
              </a:ext>
            </a:extLst>
          </p:cNvPr>
          <p:cNvSpPr/>
          <p:nvPr/>
        </p:nvSpPr>
        <p:spPr>
          <a:xfrm>
            <a:off x="8125262" y="3113535"/>
            <a:ext cx="3048019" cy="27628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F13AE08-559B-CC46-0DBC-7A2120FACE92}"/>
              </a:ext>
            </a:extLst>
          </p:cNvPr>
          <p:cNvSpPr/>
          <p:nvPr/>
        </p:nvSpPr>
        <p:spPr>
          <a:xfrm>
            <a:off x="8202254" y="3202515"/>
            <a:ext cx="2863451" cy="129962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2000" u="sng" dirty="0">
                <a:solidFill>
                  <a:schemeClr val="bg1"/>
                </a:solidFill>
              </a:rPr>
              <a:t>Send Email</a:t>
            </a:r>
            <a:endParaRPr lang="en-US" u="sng" dirty="0">
              <a:solidFill>
                <a:schemeClr val="bg1"/>
              </a:solidFill>
            </a:endParaRPr>
          </a:p>
          <a:p>
            <a:pPr algn="ctr"/>
            <a:r>
              <a:rPr lang="en-US" b="1" dirty="0">
                <a:solidFill>
                  <a:schemeClr val="bg1"/>
                </a:solidFill>
              </a:rPr>
              <a:t>In: </a:t>
            </a:r>
            <a:r>
              <a:rPr lang="en-US" dirty="0">
                <a:solidFill>
                  <a:schemeClr val="bg1"/>
                </a:solidFill>
              </a:rPr>
              <a:t>subject, 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recipients, body</a:t>
            </a:r>
          </a:p>
          <a:p>
            <a:pPr algn="ctr"/>
            <a:r>
              <a:rPr lang="en-US" b="1" dirty="0">
                <a:solidFill>
                  <a:schemeClr val="bg1"/>
                </a:solidFill>
              </a:rPr>
              <a:t>Out: </a:t>
            </a:r>
            <a:r>
              <a:rPr lang="en-US" dirty="0">
                <a:solidFill>
                  <a:schemeClr val="bg1"/>
                </a:solidFill>
              </a:rPr>
              <a:t>status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3480FB0-2CE1-17F9-D652-B87D0A91FD6C}"/>
              </a:ext>
            </a:extLst>
          </p:cNvPr>
          <p:cNvSpPr/>
          <p:nvPr/>
        </p:nvSpPr>
        <p:spPr>
          <a:xfrm>
            <a:off x="8202254" y="4576744"/>
            <a:ext cx="2863451" cy="120328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2000" u="sng" dirty="0">
                <a:solidFill>
                  <a:schemeClr val="bg1"/>
                </a:solidFill>
              </a:rPr>
              <a:t>Get Team</a:t>
            </a:r>
            <a:endParaRPr lang="en-US" u="sng" dirty="0">
              <a:solidFill>
                <a:schemeClr val="bg1"/>
              </a:solidFill>
            </a:endParaRPr>
          </a:p>
          <a:p>
            <a:pPr algn="ctr"/>
            <a:r>
              <a:rPr lang="en-US" b="1" dirty="0">
                <a:solidFill>
                  <a:schemeClr val="bg1"/>
                </a:solidFill>
              </a:rPr>
              <a:t>Out: </a:t>
            </a:r>
            <a:r>
              <a:rPr lang="en-US" dirty="0">
                <a:solidFill>
                  <a:schemeClr val="bg1"/>
                </a:solidFill>
              </a:rPr>
              <a:t>list of team member email addresses</a:t>
            </a:r>
          </a:p>
        </p:txBody>
      </p:sp>
      <p:sp>
        <p:nvSpPr>
          <p:cNvPr id="20" name="Slide Number Placeholder 4">
            <a:extLst>
              <a:ext uri="{FF2B5EF4-FFF2-40B4-BE49-F238E27FC236}">
                <a16:creationId xmlns:a16="http://schemas.microsoft.com/office/drawing/2014/main" id="{554F34F5-B91D-475B-8A93-C8E47B089BD4}"/>
              </a:ext>
            </a:extLst>
          </p:cNvPr>
          <p:cNvSpPr txBox="1">
            <a:spLocks/>
          </p:cNvSpPr>
          <p:nvPr/>
        </p:nvSpPr>
        <p:spPr>
          <a:xfrm>
            <a:off x="8929200" y="62895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9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834CDD4-D76F-4459-B025-0310E913C243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mazon Ember Display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103</a:t>
            </a:fld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mazon Ember Display"/>
              <a:ea typeface="+mn-ea"/>
              <a:cs typeface="+mn-cs"/>
            </a:endParaRPr>
          </a:p>
        </p:txBody>
      </p:sp>
      <p:pic>
        <p:nvPicPr>
          <p:cNvPr id="3" name="Graphique 2" descr="Profil femelle avec un remplissage uni">
            <a:extLst>
              <a:ext uri="{FF2B5EF4-FFF2-40B4-BE49-F238E27FC236}">
                <a16:creationId xmlns:a16="http://schemas.microsoft.com/office/drawing/2014/main" id="{7B451D4B-39A5-F5F9-5831-18CF859B1F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69095" y="2994756"/>
            <a:ext cx="914400" cy="91440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0B88CC-F63A-F7E0-7BBA-FA9990432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886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27" grpId="0" animBg="1"/>
      <p:bldP spid="28" grpId="0" animBg="1"/>
      <p:bldP spid="5" grpId="0"/>
      <p:bldP spid="10" grpId="0" animBg="1"/>
      <p:bldP spid="4" grpId="0" animBg="1"/>
      <p:bldP spid="8" grpId="0" animBg="1"/>
      <p:bldP spid="11" grpId="0"/>
      <p:bldP spid="14" grpId="0" animBg="1"/>
      <p:bldP spid="15" grpId="0" animBg="1"/>
      <p:bldP spid="17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29A7E-6946-C7EF-B9E3-B81127972D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599" y="372402"/>
            <a:ext cx="11194473" cy="1121441"/>
          </a:xfrm>
        </p:spPr>
        <p:txBody>
          <a:bodyPr/>
          <a:lstStyle/>
          <a:p>
            <a:r>
              <a:rPr lang="en-US" dirty="0"/>
              <a:t>Agents use </a:t>
            </a:r>
            <a:r>
              <a:rPr lang="en-US" dirty="0">
                <a:solidFill>
                  <a:schemeClr val="accent4"/>
                </a:solidFill>
              </a:rPr>
              <a:t>Knowledge Bases </a:t>
            </a:r>
            <a:r>
              <a:rPr lang="en-US" dirty="0"/>
              <a:t>to find information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AB842B4-0CA3-5757-A124-630272FD8813}"/>
              </a:ext>
            </a:extLst>
          </p:cNvPr>
          <p:cNvSpPr/>
          <p:nvPr/>
        </p:nvSpPr>
        <p:spPr>
          <a:xfrm>
            <a:off x="5634845" y="2018746"/>
            <a:ext cx="5176415" cy="6999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rPr>
              <a:t>Instructions: “</a:t>
            </a:r>
            <a:r>
              <a:rPr lang="en-US" dirty="0">
                <a:solidFill>
                  <a:schemeClr val="tx1"/>
                </a:solidFill>
              </a:rPr>
              <a:t>you are an HR agent, helping employees understand HR policies</a:t>
            </a:r>
            <a:r>
              <a:rPr kumimoji="0" lang="en-US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rPr>
              <a:t>”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67FF16-A727-F6B0-F916-E038CD5001C3}"/>
              </a:ext>
            </a:extLst>
          </p:cNvPr>
          <p:cNvSpPr txBox="1"/>
          <p:nvPr/>
        </p:nvSpPr>
        <p:spPr>
          <a:xfrm>
            <a:off x="6749710" y="1267689"/>
            <a:ext cx="294668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rPr>
              <a:t>HR Policy Assistant</a:t>
            </a:r>
          </a:p>
        </p:txBody>
      </p:sp>
      <p:sp>
        <p:nvSpPr>
          <p:cNvPr id="25" name="Oval Callout 24">
            <a:extLst>
              <a:ext uri="{FF2B5EF4-FFF2-40B4-BE49-F238E27FC236}">
                <a16:creationId xmlns:a16="http://schemas.microsoft.com/office/drawing/2014/main" id="{E7F04A45-9098-B65E-1D06-F5CA54F35106}"/>
              </a:ext>
            </a:extLst>
          </p:cNvPr>
          <p:cNvSpPr/>
          <p:nvPr/>
        </p:nvSpPr>
        <p:spPr>
          <a:xfrm>
            <a:off x="1448521" y="2592535"/>
            <a:ext cx="2612732" cy="1041209"/>
          </a:xfrm>
          <a:prstGeom prst="wedgeEllipseCallout">
            <a:avLst>
              <a:gd name="adj1" fmla="val -54715"/>
              <a:gd name="adj2" fmla="val 39734"/>
            </a:avLst>
          </a:prstGeom>
          <a:solidFill>
            <a:schemeClr val="accent4">
              <a:alpha val="3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If I switch to part-time, will I still get vacation days?</a:t>
            </a:r>
          </a:p>
        </p:txBody>
      </p:sp>
      <p:sp>
        <p:nvSpPr>
          <p:cNvPr id="26" name="Oval Callout 25">
            <a:extLst>
              <a:ext uri="{FF2B5EF4-FFF2-40B4-BE49-F238E27FC236}">
                <a16:creationId xmlns:a16="http://schemas.microsoft.com/office/drawing/2014/main" id="{BEB906D9-536D-419E-4F9B-0DFF6E959A9C}"/>
              </a:ext>
            </a:extLst>
          </p:cNvPr>
          <p:cNvSpPr/>
          <p:nvPr/>
        </p:nvSpPr>
        <p:spPr>
          <a:xfrm>
            <a:off x="1895302" y="3764509"/>
            <a:ext cx="2612732" cy="978729"/>
          </a:xfrm>
          <a:prstGeom prst="wedgeEllipseCallout">
            <a:avLst>
              <a:gd name="adj1" fmla="val 53043"/>
              <a:gd name="adj2" fmla="val -36895"/>
            </a:avLst>
          </a:prstGeom>
          <a:solidFill>
            <a:schemeClr val="accent4">
              <a:lumMod val="20000"/>
              <a:lumOff val="80000"/>
              <a:alpha val="3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Sorry, part-time staff aren’t eligible for vacation days.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B7F83C-B8C9-EF4D-E08D-10D6CDB01FD9}"/>
              </a:ext>
            </a:extLst>
          </p:cNvPr>
          <p:cNvSpPr txBox="1"/>
          <p:nvPr/>
        </p:nvSpPr>
        <p:spPr>
          <a:xfrm>
            <a:off x="6827124" y="2841435"/>
            <a:ext cx="279185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rPr>
              <a:t>HR Knowledge Base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4F11720-D420-4B5D-D0D0-BBC67D1B0255}"/>
              </a:ext>
            </a:extLst>
          </p:cNvPr>
          <p:cNvSpPr/>
          <p:nvPr/>
        </p:nvSpPr>
        <p:spPr>
          <a:xfrm>
            <a:off x="6969829" y="3291951"/>
            <a:ext cx="2506446" cy="174085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8072B5-D65A-4F62-6B4A-2C186050DFAA}"/>
              </a:ext>
            </a:extLst>
          </p:cNvPr>
          <p:cNvSpPr/>
          <p:nvPr/>
        </p:nvSpPr>
        <p:spPr>
          <a:xfrm>
            <a:off x="7046819" y="3414075"/>
            <a:ext cx="2352467" cy="147081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2000" u="sng" dirty="0">
                <a:solidFill>
                  <a:schemeClr val="bg1"/>
                </a:solidFill>
              </a:rPr>
              <a:t>Vacation Policy</a:t>
            </a:r>
            <a:endParaRPr lang="en-US" u="sng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Contains the entire vacation policy for the company</a:t>
            </a:r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141C8756-C1B8-4F53-B870-078B00C23862}"/>
              </a:ext>
            </a:extLst>
          </p:cNvPr>
          <p:cNvSpPr txBox="1">
            <a:spLocks/>
          </p:cNvSpPr>
          <p:nvPr/>
        </p:nvSpPr>
        <p:spPr>
          <a:xfrm>
            <a:off x="8929200" y="62895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9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834CDD4-D76F-4459-B025-0310E913C243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mazon Ember Display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104</a:t>
            </a:fld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mazon Ember Display"/>
              <a:ea typeface="+mn-ea"/>
              <a:cs typeface="+mn-cs"/>
            </a:endParaRPr>
          </a:p>
        </p:txBody>
      </p:sp>
      <p:pic>
        <p:nvPicPr>
          <p:cNvPr id="3" name="Graphique 2" descr="Profil femelle avec un remplissage uni">
            <a:extLst>
              <a:ext uri="{FF2B5EF4-FFF2-40B4-BE49-F238E27FC236}">
                <a16:creationId xmlns:a16="http://schemas.microsoft.com/office/drawing/2014/main" id="{02D42DA5-E58D-43A7-D834-B5F6315DF7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5095" y="3420852"/>
            <a:ext cx="914400" cy="9144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63B76E-0AFB-334B-E317-6523F16EFE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765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5" grpId="0"/>
      <p:bldP spid="10" grpId="0" animBg="1"/>
      <p:bldP spid="8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29A7E-6946-C7EF-B9E3-B81127972D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1104" y="372402"/>
            <a:ext cx="11558016" cy="1141536"/>
          </a:xfrm>
        </p:spPr>
        <p:txBody>
          <a:bodyPr>
            <a:normAutofit fontScale="90000"/>
          </a:bodyPr>
          <a:lstStyle/>
          <a:p>
            <a:r>
              <a:rPr lang="en-US" dirty="0"/>
              <a:t>Agents can combine </a:t>
            </a:r>
            <a:r>
              <a:rPr lang="en-US" dirty="0">
                <a:solidFill>
                  <a:schemeClr val="accent4"/>
                </a:solidFill>
              </a:rPr>
              <a:t>Actions</a:t>
            </a:r>
            <a:r>
              <a:rPr lang="en-US" dirty="0"/>
              <a:t> and </a:t>
            </a:r>
            <a:r>
              <a:rPr lang="en-US" dirty="0">
                <a:solidFill>
                  <a:schemeClr val="accent4"/>
                </a:solidFill>
              </a:rPr>
              <a:t>Knowledge Bases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AB842B4-0CA3-5757-A124-630272FD8813}"/>
              </a:ext>
            </a:extLst>
          </p:cNvPr>
          <p:cNvSpPr/>
          <p:nvPr/>
        </p:nvSpPr>
        <p:spPr>
          <a:xfrm>
            <a:off x="5302586" y="2270332"/>
            <a:ext cx="6019348" cy="6999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rPr>
              <a:t>Instructions:</a:t>
            </a:r>
            <a:r>
              <a:rPr kumimoji="0" lang="en-US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rPr>
              <a:t> “</a:t>
            </a:r>
            <a:r>
              <a:rPr lang="en-US" dirty="0">
                <a:solidFill>
                  <a:schemeClr val="tx1"/>
                </a:solidFill>
              </a:rPr>
              <a:t>you are an HR agent, helping employees understand HR policies and manage vacation time</a:t>
            </a:r>
            <a:r>
              <a:rPr kumimoji="0" lang="en-US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rPr>
              <a:t>”</a:t>
            </a:r>
            <a:endParaRPr kumimoji="0" lang="en-US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mazon Ember Display" panose="020F0603020204020204" pitchFamily="34" charset="0"/>
              <a:ea typeface="Amazon Ember Display" panose="020F0603020204020204" pitchFamily="34" charset="0"/>
              <a:cs typeface="Amazon Ember Display" panose="020F0603020204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767FF16-A727-F6B0-F916-E038CD5001C3}"/>
              </a:ext>
            </a:extLst>
          </p:cNvPr>
          <p:cNvSpPr txBox="1"/>
          <p:nvPr/>
        </p:nvSpPr>
        <p:spPr>
          <a:xfrm>
            <a:off x="6597564" y="1470740"/>
            <a:ext cx="342939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rPr>
              <a:t>HR Policy Assistant v2</a:t>
            </a:r>
          </a:p>
        </p:txBody>
      </p:sp>
      <p:sp>
        <p:nvSpPr>
          <p:cNvPr id="25" name="Oval Callout 24">
            <a:extLst>
              <a:ext uri="{FF2B5EF4-FFF2-40B4-BE49-F238E27FC236}">
                <a16:creationId xmlns:a16="http://schemas.microsoft.com/office/drawing/2014/main" id="{E7F04A45-9098-B65E-1D06-F5CA54F35106}"/>
              </a:ext>
            </a:extLst>
          </p:cNvPr>
          <p:cNvSpPr/>
          <p:nvPr/>
        </p:nvSpPr>
        <p:spPr>
          <a:xfrm>
            <a:off x="1169552" y="2075752"/>
            <a:ext cx="3186272" cy="799924"/>
          </a:xfrm>
          <a:prstGeom prst="wedgeEllipseCallout">
            <a:avLst>
              <a:gd name="adj1" fmla="val -43450"/>
              <a:gd name="adj2" fmla="val 58266"/>
            </a:avLst>
          </a:prstGeom>
          <a:solidFill>
            <a:schemeClr val="accent4">
              <a:alpha val="3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how much vacation do I get per year?</a:t>
            </a:r>
          </a:p>
        </p:txBody>
      </p:sp>
      <p:sp>
        <p:nvSpPr>
          <p:cNvPr id="26" name="Oval Callout 25">
            <a:extLst>
              <a:ext uri="{FF2B5EF4-FFF2-40B4-BE49-F238E27FC236}">
                <a16:creationId xmlns:a16="http://schemas.microsoft.com/office/drawing/2014/main" id="{BEB906D9-536D-419E-4F9B-0DFF6E959A9C}"/>
              </a:ext>
            </a:extLst>
          </p:cNvPr>
          <p:cNvSpPr/>
          <p:nvPr/>
        </p:nvSpPr>
        <p:spPr>
          <a:xfrm>
            <a:off x="1965295" y="2920945"/>
            <a:ext cx="2614800" cy="1052719"/>
          </a:xfrm>
          <a:prstGeom prst="wedgeEllipseCallout">
            <a:avLst>
              <a:gd name="adj1" fmla="val 51356"/>
              <a:gd name="adj2" fmla="val 36482"/>
            </a:avLst>
          </a:prstGeom>
          <a:solidFill>
            <a:schemeClr val="accent4">
              <a:lumMod val="20000"/>
              <a:lumOff val="80000"/>
              <a:alpha val="3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as a full-timer with 3 years tenure, you get 15 days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B7F83C-B8C9-EF4D-E08D-10D6CDB01FD9}"/>
              </a:ext>
            </a:extLst>
          </p:cNvPr>
          <p:cNvSpPr txBox="1"/>
          <p:nvPr/>
        </p:nvSpPr>
        <p:spPr>
          <a:xfrm>
            <a:off x="5265956" y="3076395"/>
            <a:ext cx="273806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accent4"/>
                </a:solidFill>
                <a:effectLst/>
                <a:uLnTx/>
                <a:uFillTx/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rPr>
              <a:t>HR Knowledge Base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4F11720-D420-4B5D-D0D0-BBC67D1B0255}"/>
              </a:ext>
            </a:extLst>
          </p:cNvPr>
          <p:cNvSpPr/>
          <p:nvPr/>
        </p:nvSpPr>
        <p:spPr>
          <a:xfrm>
            <a:off x="5394257" y="3526911"/>
            <a:ext cx="2506446" cy="174085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68072B5-D65A-4F62-6B4A-2C186050DFAA}"/>
              </a:ext>
            </a:extLst>
          </p:cNvPr>
          <p:cNvSpPr/>
          <p:nvPr/>
        </p:nvSpPr>
        <p:spPr>
          <a:xfrm>
            <a:off x="5456024" y="3649035"/>
            <a:ext cx="2352467" cy="147081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2000" u="sng" dirty="0">
                <a:solidFill>
                  <a:schemeClr val="bg1"/>
                </a:solidFill>
              </a:rPr>
              <a:t>Vacation Policy</a:t>
            </a:r>
            <a:endParaRPr lang="en-US" u="sng" dirty="0">
              <a:solidFill>
                <a:schemeClr val="bg1"/>
              </a:solidFill>
            </a:endParaRPr>
          </a:p>
          <a:p>
            <a:pPr algn="ctr"/>
            <a:r>
              <a:rPr lang="en-US" dirty="0">
                <a:solidFill>
                  <a:schemeClr val="bg1"/>
                </a:solidFill>
              </a:rPr>
              <a:t>Contains the entire vacation policy for the company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C75DB7-11B9-AC6D-7695-30CE50FEB9FE}"/>
              </a:ext>
            </a:extLst>
          </p:cNvPr>
          <p:cNvSpPr txBox="1"/>
          <p:nvPr/>
        </p:nvSpPr>
        <p:spPr>
          <a:xfrm>
            <a:off x="8744278" y="3076395"/>
            <a:ext cx="221763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chemeClr val="accent1"/>
                </a:solidFill>
                <a:effectLst/>
                <a:uLnTx/>
                <a:uFillTx/>
                <a:latin typeface="Amazon Ember Display" panose="020F0603020204020204" pitchFamily="34" charset="0"/>
                <a:ea typeface="Amazon Ember Display" panose="020F0603020204020204" pitchFamily="34" charset="0"/>
                <a:cs typeface="Amazon Ember Display" panose="020F0603020204020204" pitchFamily="34" charset="0"/>
              </a:rPr>
              <a:t>HR Actions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0C7E89-0329-DA2B-6EF1-A70536F3679B}"/>
              </a:ext>
            </a:extLst>
          </p:cNvPr>
          <p:cNvSpPr/>
          <p:nvPr/>
        </p:nvSpPr>
        <p:spPr>
          <a:xfrm>
            <a:off x="8452838" y="3526911"/>
            <a:ext cx="2846322" cy="174085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3B2DA1F-A0E7-9E72-934C-B172CEF75622}"/>
              </a:ext>
            </a:extLst>
          </p:cNvPr>
          <p:cNvSpPr/>
          <p:nvPr/>
        </p:nvSpPr>
        <p:spPr>
          <a:xfrm>
            <a:off x="8546504" y="3649035"/>
            <a:ext cx="2676978" cy="147081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2000" u="sng" dirty="0">
                <a:solidFill>
                  <a:schemeClr val="bg1"/>
                </a:solidFill>
              </a:rPr>
              <a:t>Request Vacation</a:t>
            </a:r>
            <a:endParaRPr lang="en-US" u="sng" dirty="0">
              <a:solidFill>
                <a:schemeClr val="bg1"/>
              </a:solidFill>
            </a:endParaRPr>
          </a:p>
          <a:p>
            <a:pPr algn="ctr"/>
            <a:r>
              <a:rPr lang="en-US" b="1" dirty="0">
                <a:solidFill>
                  <a:schemeClr val="bg1"/>
                </a:solidFill>
              </a:rPr>
              <a:t>In: </a:t>
            </a:r>
            <a:r>
              <a:rPr lang="en-US" dirty="0">
                <a:solidFill>
                  <a:schemeClr val="bg1"/>
                </a:solidFill>
              </a:rPr>
              <a:t>start date, end date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b="1" dirty="0">
                <a:solidFill>
                  <a:schemeClr val="bg1"/>
                </a:solidFill>
              </a:rPr>
              <a:t>Out: </a:t>
            </a:r>
            <a:r>
              <a:rPr lang="en-US" dirty="0">
                <a:solidFill>
                  <a:schemeClr val="bg1"/>
                </a:solidFill>
              </a:rPr>
              <a:t>approval status,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remaining balance</a:t>
            </a:r>
          </a:p>
        </p:txBody>
      </p:sp>
      <p:sp>
        <p:nvSpPr>
          <p:cNvPr id="14" name="Oval Callout 13">
            <a:extLst>
              <a:ext uri="{FF2B5EF4-FFF2-40B4-BE49-F238E27FC236}">
                <a16:creationId xmlns:a16="http://schemas.microsoft.com/office/drawing/2014/main" id="{5FEC2F6D-6A7A-9DA0-AA92-2DF24BD9EAED}"/>
              </a:ext>
            </a:extLst>
          </p:cNvPr>
          <p:cNvSpPr/>
          <p:nvPr/>
        </p:nvSpPr>
        <p:spPr>
          <a:xfrm>
            <a:off x="1169552" y="4199594"/>
            <a:ext cx="2974967" cy="680661"/>
          </a:xfrm>
          <a:prstGeom prst="wedgeEllipseCallout">
            <a:avLst>
              <a:gd name="adj1" fmla="val -44848"/>
              <a:gd name="adj2" fmla="val -71799"/>
            </a:avLst>
          </a:prstGeom>
          <a:solidFill>
            <a:schemeClr val="accent4">
              <a:alpha val="3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cool. I’d like to take off December 8 to 15</a:t>
            </a:r>
          </a:p>
        </p:txBody>
      </p:sp>
      <p:sp>
        <p:nvSpPr>
          <p:cNvPr id="15" name="Oval Callout 14">
            <a:extLst>
              <a:ext uri="{FF2B5EF4-FFF2-40B4-BE49-F238E27FC236}">
                <a16:creationId xmlns:a16="http://schemas.microsoft.com/office/drawing/2014/main" id="{7F1D5754-A968-C64E-67A4-38E90F7ABA88}"/>
              </a:ext>
            </a:extLst>
          </p:cNvPr>
          <p:cNvSpPr/>
          <p:nvPr/>
        </p:nvSpPr>
        <p:spPr>
          <a:xfrm>
            <a:off x="2154803" y="4901553"/>
            <a:ext cx="2479990" cy="894947"/>
          </a:xfrm>
          <a:prstGeom prst="wedgeEllipseCallout">
            <a:avLst>
              <a:gd name="adj1" fmla="val 47736"/>
              <a:gd name="adj2" fmla="val -47826"/>
            </a:avLst>
          </a:prstGeom>
          <a:solidFill>
            <a:schemeClr val="accent4">
              <a:lumMod val="20000"/>
              <a:lumOff val="80000"/>
              <a:alpha val="3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45720" tIns="45720" rIns="45720"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approved, enjoy. you have 8 more days available</a:t>
            </a:r>
          </a:p>
        </p:txBody>
      </p:sp>
      <p:sp>
        <p:nvSpPr>
          <p:cNvPr id="18" name="Slide Number Placeholder 4">
            <a:extLst>
              <a:ext uri="{FF2B5EF4-FFF2-40B4-BE49-F238E27FC236}">
                <a16:creationId xmlns:a16="http://schemas.microsoft.com/office/drawing/2014/main" id="{5333EC10-273D-4678-8E42-ABA82FC905A8}"/>
              </a:ext>
            </a:extLst>
          </p:cNvPr>
          <p:cNvSpPr txBox="1">
            <a:spLocks/>
          </p:cNvSpPr>
          <p:nvPr/>
        </p:nvSpPr>
        <p:spPr>
          <a:xfrm>
            <a:off x="8929200" y="62895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9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834CDD4-D76F-4459-B025-0310E913C243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mazon Ember Display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105</a:t>
            </a:fld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mazon Ember Display"/>
              <a:ea typeface="+mn-ea"/>
              <a:cs typeface="+mn-cs"/>
            </a:endParaRPr>
          </a:p>
        </p:txBody>
      </p:sp>
      <p:pic>
        <p:nvPicPr>
          <p:cNvPr id="16" name="Graphique 15" descr="Profil femelle avec un remplissage uni">
            <a:extLst>
              <a:ext uri="{FF2B5EF4-FFF2-40B4-BE49-F238E27FC236}">
                <a16:creationId xmlns:a16="http://schemas.microsoft.com/office/drawing/2014/main" id="{6365CFAF-E3D9-5A35-7B5D-F139EF6C5E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92174" y="3019305"/>
            <a:ext cx="914400" cy="914400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2AE873F-4EDD-FF6A-B8DF-3DBAF689F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5452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26" grpId="0" animBg="1"/>
      <p:bldP spid="4" grpId="0"/>
      <p:bldP spid="11" grpId="0" animBg="1"/>
      <p:bldP spid="13" grpId="0" animBg="1"/>
      <p:bldP spid="14" grpId="0" animBg="1"/>
      <p:bldP spid="15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E88F0-2D5A-5735-2069-4314D1F3B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lide Number Placeholder 4">
            <a:extLst>
              <a:ext uri="{FF2B5EF4-FFF2-40B4-BE49-F238E27FC236}">
                <a16:creationId xmlns:a16="http://schemas.microsoft.com/office/drawing/2014/main" id="{69AB07C2-20AA-1314-1573-89D4293B3E51}"/>
              </a:ext>
            </a:extLst>
          </p:cNvPr>
          <p:cNvSpPr txBox="1">
            <a:spLocks/>
          </p:cNvSpPr>
          <p:nvPr/>
        </p:nvSpPr>
        <p:spPr>
          <a:xfrm>
            <a:off x="8929200" y="62895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9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834CDD4-D76F-4459-B025-0310E913C243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mazon Ember Display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106</a:t>
            </a:fld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mazon Ember Display"/>
              <a:ea typeface="+mn-ea"/>
              <a:cs typeface="+mn-cs"/>
            </a:endParaRPr>
          </a:p>
        </p:txBody>
      </p:sp>
      <p:grpSp>
        <p:nvGrpSpPr>
          <p:cNvPr id="20" name="Group 2">
            <a:extLst>
              <a:ext uri="{FF2B5EF4-FFF2-40B4-BE49-F238E27FC236}">
                <a16:creationId xmlns:a16="http://schemas.microsoft.com/office/drawing/2014/main" id="{023E4F3B-11A1-3278-AC7F-9024C828CCB5}"/>
              </a:ext>
            </a:extLst>
          </p:cNvPr>
          <p:cNvGrpSpPr/>
          <p:nvPr/>
        </p:nvGrpSpPr>
        <p:grpSpPr>
          <a:xfrm>
            <a:off x="1627758" y="2732336"/>
            <a:ext cx="1109517" cy="955888"/>
            <a:chOff x="5610344" y="1866942"/>
            <a:chExt cx="735662" cy="570615"/>
          </a:xfrm>
        </p:grpSpPr>
        <p:grpSp>
          <p:nvGrpSpPr>
            <p:cNvPr id="21" name="Graphic 18">
              <a:extLst>
                <a:ext uri="{FF2B5EF4-FFF2-40B4-BE49-F238E27FC236}">
                  <a16:creationId xmlns:a16="http://schemas.microsoft.com/office/drawing/2014/main" id="{C174BA36-B794-BF08-B00D-35D4931AD960}"/>
                </a:ext>
              </a:extLst>
            </p:cNvPr>
            <p:cNvGrpSpPr/>
            <p:nvPr/>
          </p:nvGrpSpPr>
          <p:grpSpPr>
            <a:xfrm>
              <a:off x="5672963" y="1866942"/>
              <a:ext cx="496385" cy="570615"/>
              <a:chOff x="6215194" y="1890080"/>
              <a:chExt cx="496385" cy="570615"/>
            </a:xfrm>
            <a:noFill/>
          </p:grpSpPr>
          <p:sp>
            <p:nvSpPr>
              <p:cNvPr id="39" name="Freeform: Shape 260">
                <a:extLst>
                  <a:ext uri="{FF2B5EF4-FFF2-40B4-BE49-F238E27FC236}">
                    <a16:creationId xmlns:a16="http://schemas.microsoft.com/office/drawing/2014/main" id="{F807782B-7B7F-6537-9928-393EC41611E7}"/>
                  </a:ext>
                </a:extLst>
              </p:cNvPr>
              <p:cNvSpPr/>
              <p:nvPr/>
            </p:nvSpPr>
            <p:spPr>
              <a:xfrm>
                <a:off x="6640252" y="1933207"/>
                <a:ext cx="4146" cy="87499"/>
              </a:xfrm>
              <a:custGeom>
                <a:avLst/>
                <a:gdLst>
                  <a:gd name="connsiteX0" fmla="*/ 0 w 4146"/>
                  <a:gd name="connsiteY0" fmla="*/ 87500 h 87499"/>
                  <a:gd name="connsiteX1" fmla="*/ 0 w 4146"/>
                  <a:gd name="connsiteY1" fmla="*/ 0 h 87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4146" h="87499">
                    <a:moveTo>
                      <a:pt x="0" y="87500"/>
                    </a:moveTo>
                    <a:lnTo>
                      <a:pt x="0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40" name="Freeform: Shape 261">
                <a:extLst>
                  <a:ext uri="{FF2B5EF4-FFF2-40B4-BE49-F238E27FC236}">
                    <a16:creationId xmlns:a16="http://schemas.microsoft.com/office/drawing/2014/main" id="{5EA69400-1054-43EB-662D-3840B94B8D66}"/>
                  </a:ext>
                </a:extLst>
              </p:cNvPr>
              <p:cNvSpPr/>
              <p:nvPr/>
            </p:nvSpPr>
            <p:spPr>
              <a:xfrm>
                <a:off x="6577634" y="2381489"/>
                <a:ext cx="63033" cy="37322"/>
              </a:xfrm>
              <a:custGeom>
                <a:avLst/>
                <a:gdLst>
                  <a:gd name="connsiteX0" fmla="*/ 63033 w 63033"/>
                  <a:gd name="connsiteY0" fmla="*/ 37322 h 37322"/>
                  <a:gd name="connsiteX1" fmla="*/ 0 w 63033"/>
                  <a:gd name="connsiteY1" fmla="*/ 0 h 373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3033" h="37322">
                    <a:moveTo>
                      <a:pt x="63033" y="37322"/>
                    </a:moveTo>
                    <a:lnTo>
                      <a:pt x="0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41" name="Freeform: Shape 262">
                <a:extLst>
                  <a:ext uri="{FF2B5EF4-FFF2-40B4-BE49-F238E27FC236}">
                    <a16:creationId xmlns:a16="http://schemas.microsoft.com/office/drawing/2014/main" id="{5E8C04BE-0DED-15AE-4807-303EC9B4584D}"/>
                  </a:ext>
                </a:extLst>
              </p:cNvPr>
              <p:cNvSpPr/>
              <p:nvPr/>
            </p:nvSpPr>
            <p:spPr>
              <a:xfrm>
                <a:off x="6497599" y="2360340"/>
                <a:ext cx="213980" cy="100355"/>
              </a:xfrm>
              <a:custGeom>
                <a:avLst/>
                <a:gdLst>
                  <a:gd name="connsiteX0" fmla="*/ 213981 w 213980"/>
                  <a:gd name="connsiteY0" fmla="*/ 0 h 100355"/>
                  <a:gd name="connsiteX1" fmla="*/ 213981 w 213980"/>
                  <a:gd name="connsiteY1" fmla="*/ 17002 h 100355"/>
                  <a:gd name="connsiteX2" fmla="*/ 71327 w 213980"/>
                  <a:gd name="connsiteY2" fmla="*/ 100355 h 100355"/>
                  <a:gd name="connsiteX3" fmla="*/ 0 w 213980"/>
                  <a:gd name="connsiteY3" fmla="*/ 62204 h 1003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3980" h="100355">
                    <a:moveTo>
                      <a:pt x="213981" y="0"/>
                    </a:moveTo>
                    <a:lnTo>
                      <a:pt x="213981" y="17002"/>
                    </a:lnTo>
                    <a:lnTo>
                      <a:pt x="71327" y="100355"/>
                    </a:lnTo>
                    <a:lnTo>
                      <a:pt x="0" y="62204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42" name="Freeform: Shape 263">
                <a:extLst>
                  <a:ext uri="{FF2B5EF4-FFF2-40B4-BE49-F238E27FC236}">
                    <a16:creationId xmlns:a16="http://schemas.microsoft.com/office/drawing/2014/main" id="{C5CCD7C3-A1D5-479C-5B27-E1B21DDA8C3F}"/>
                  </a:ext>
                </a:extLst>
              </p:cNvPr>
              <p:cNvSpPr/>
              <p:nvPr/>
            </p:nvSpPr>
            <p:spPr>
              <a:xfrm>
                <a:off x="6497599" y="1890080"/>
                <a:ext cx="213980" cy="129383"/>
              </a:xfrm>
              <a:custGeom>
                <a:avLst/>
                <a:gdLst>
                  <a:gd name="connsiteX0" fmla="*/ 0 w 213980"/>
                  <a:gd name="connsiteY0" fmla="*/ 47275 h 129383"/>
                  <a:gd name="connsiteX1" fmla="*/ 71327 w 213980"/>
                  <a:gd name="connsiteY1" fmla="*/ 0 h 129383"/>
                  <a:gd name="connsiteX2" fmla="*/ 213981 w 213980"/>
                  <a:gd name="connsiteY2" fmla="*/ 82938 h 129383"/>
                  <a:gd name="connsiteX3" fmla="*/ 213981 w 213980"/>
                  <a:gd name="connsiteY3" fmla="*/ 129384 h 1293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3980" h="129383">
                    <a:moveTo>
                      <a:pt x="0" y="47275"/>
                    </a:moveTo>
                    <a:lnTo>
                      <a:pt x="71327" y="0"/>
                    </a:lnTo>
                    <a:lnTo>
                      <a:pt x="213981" y="82938"/>
                    </a:lnTo>
                    <a:lnTo>
                      <a:pt x="213981" y="129384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43" name="Freeform: Shape 264">
                <a:extLst>
                  <a:ext uri="{FF2B5EF4-FFF2-40B4-BE49-F238E27FC236}">
                    <a16:creationId xmlns:a16="http://schemas.microsoft.com/office/drawing/2014/main" id="{7BB0B5EC-0863-9534-B79F-160DE256C7AF}"/>
                  </a:ext>
                </a:extLst>
              </p:cNvPr>
              <p:cNvSpPr/>
              <p:nvPr/>
            </p:nvSpPr>
            <p:spPr>
              <a:xfrm>
                <a:off x="6286521" y="2068397"/>
                <a:ext cx="71326" cy="35663"/>
              </a:xfrm>
              <a:custGeom>
                <a:avLst/>
                <a:gdLst>
                  <a:gd name="connsiteX0" fmla="*/ 71327 w 71326"/>
                  <a:gd name="connsiteY0" fmla="*/ 35663 h 35663"/>
                  <a:gd name="connsiteX1" fmla="*/ 0 w 71326"/>
                  <a:gd name="connsiteY1" fmla="*/ 0 h 356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71326" h="35663">
                    <a:moveTo>
                      <a:pt x="71327" y="35663"/>
                    </a:moveTo>
                    <a:lnTo>
                      <a:pt x="0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44" name="Freeform: Shape 265">
                <a:extLst>
                  <a:ext uri="{FF2B5EF4-FFF2-40B4-BE49-F238E27FC236}">
                    <a16:creationId xmlns:a16="http://schemas.microsoft.com/office/drawing/2014/main" id="{4EDF41A5-3BAF-0276-784F-5F882B0B03B1}"/>
                  </a:ext>
                </a:extLst>
              </p:cNvPr>
              <p:cNvSpPr/>
              <p:nvPr/>
            </p:nvSpPr>
            <p:spPr>
              <a:xfrm>
                <a:off x="6357847" y="1933207"/>
                <a:ext cx="4146" cy="87499"/>
              </a:xfrm>
              <a:custGeom>
                <a:avLst/>
                <a:gdLst>
                  <a:gd name="connsiteX0" fmla="*/ 0 w 4146"/>
                  <a:gd name="connsiteY0" fmla="*/ 87500 h 87499"/>
                  <a:gd name="connsiteX1" fmla="*/ 0 w 4146"/>
                  <a:gd name="connsiteY1" fmla="*/ 0 h 87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4146" h="87499">
                    <a:moveTo>
                      <a:pt x="0" y="87500"/>
                    </a:moveTo>
                    <a:lnTo>
                      <a:pt x="0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45" name="Freeform: Shape 266">
                <a:extLst>
                  <a:ext uri="{FF2B5EF4-FFF2-40B4-BE49-F238E27FC236}">
                    <a16:creationId xmlns:a16="http://schemas.microsoft.com/office/drawing/2014/main" id="{E596C449-FBB7-8146-E18B-6EB97FB19C4C}"/>
                  </a:ext>
                </a:extLst>
              </p:cNvPr>
              <p:cNvSpPr/>
              <p:nvPr/>
            </p:nvSpPr>
            <p:spPr>
              <a:xfrm>
                <a:off x="6215194" y="2138894"/>
                <a:ext cx="68838" cy="40225"/>
              </a:xfrm>
              <a:custGeom>
                <a:avLst/>
                <a:gdLst>
                  <a:gd name="connsiteX0" fmla="*/ 0 w 68838"/>
                  <a:gd name="connsiteY0" fmla="*/ 40225 h 40225"/>
                  <a:gd name="connsiteX1" fmla="*/ 68839 w 68838"/>
                  <a:gd name="connsiteY1" fmla="*/ 0 h 402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8838" h="40225">
                    <a:moveTo>
                      <a:pt x="0" y="40225"/>
                    </a:moveTo>
                    <a:lnTo>
                      <a:pt x="68839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46" name="Freeform: Shape 267">
                <a:extLst>
                  <a:ext uri="{FF2B5EF4-FFF2-40B4-BE49-F238E27FC236}">
                    <a16:creationId xmlns:a16="http://schemas.microsoft.com/office/drawing/2014/main" id="{614208D7-71AC-2DEE-90C7-3643AFC912DB}"/>
                  </a:ext>
                </a:extLst>
              </p:cNvPr>
              <p:cNvSpPr/>
              <p:nvPr/>
            </p:nvSpPr>
            <p:spPr>
              <a:xfrm>
                <a:off x="6356189" y="2381489"/>
                <a:ext cx="64277" cy="38151"/>
              </a:xfrm>
              <a:custGeom>
                <a:avLst/>
                <a:gdLst>
                  <a:gd name="connsiteX0" fmla="*/ 0 w 64277"/>
                  <a:gd name="connsiteY0" fmla="*/ 38152 h 38151"/>
                  <a:gd name="connsiteX1" fmla="*/ 64277 w 64277"/>
                  <a:gd name="connsiteY1" fmla="*/ 0 h 381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4277" h="38151">
                    <a:moveTo>
                      <a:pt x="0" y="38152"/>
                    </a:moveTo>
                    <a:lnTo>
                      <a:pt x="64277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47" name="Freeform: Shape 268">
                <a:extLst>
                  <a:ext uri="{FF2B5EF4-FFF2-40B4-BE49-F238E27FC236}">
                    <a16:creationId xmlns:a16="http://schemas.microsoft.com/office/drawing/2014/main" id="{EA9910F3-8EA8-134C-C9EC-26CE0F0B2E3F}"/>
                  </a:ext>
                </a:extLst>
              </p:cNvPr>
              <p:cNvSpPr/>
              <p:nvPr/>
            </p:nvSpPr>
            <p:spPr>
              <a:xfrm>
                <a:off x="6318866" y="2396418"/>
                <a:ext cx="181634" cy="64277"/>
              </a:xfrm>
              <a:custGeom>
                <a:avLst/>
                <a:gdLst>
                  <a:gd name="connsiteX0" fmla="*/ 0 w 181634"/>
                  <a:gd name="connsiteY0" fmla="*/ 0 h 64277"/>
                  <a:gd name="connsiteX1" fmla="*/ 110308 w 181634"/>
                  <a:gd name="connsiteY1" fmla="*/ 64277 h 64277"/>
                  <a:gd name="connsiteX2" fmla="*/ 181635 w 181634"/>
                  <a:gd name="connsiteY2" fmla="*/ 26126 h 642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81634" h="64277">
                    <a:moveTo>
                      <a:pt x="0" y="0"/>
                    </a:moveTo>
                    <a:lnTo>
                      <a:pt x="110308" y="64277"/>
                    </a:lnTo>
                    <a:lnTo>
                      <a:pt x="181635" y="26126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48" name="Freeform: Shape 269">
                <a:extLst>
                  <a:ext uri="{FF2B5EF4-FFF2-40B4-BE49-F238E27FC236}">
                    <a16:creationId xmlns:a16="http://schemas.microsoft.com/office/drawing/2014/main" id="{5910CEF4-B6C6-C36C-949C-1AA717F17593}"/>
                  </a:ext>
                </a:extLst>
              </p:cNvPr>
              <p:cNvSpPr/>
              <p:nvPr/>
            </p:nvSpPr>
            <p:spPr>
              <a:xfrm>
                <a:off x="6215194" y="1890080"/>
                <a:ext cx="285307" cy="320971"/>
              </a:xfrm>
              <a:custGeom>
                <a:avLst/>
                <a:gdLst>
                  <a:gd name="connsiteX0" fmla="*/ 285308 w 285307"/>
                  <a:gd name="connsiteY0" fmla="*/ 47275 h 320971"/>
                  <a:gd name="connsiteX1" fmla="*/ 213981 w 285307"/>
                  <a:gd name="connsiteY1" fmla="*/ 0 h 320971"/>
                  <a:gd name="connsiteX2" fmla="*/ 71327 w 285307"/>
                  <a:gd name="connsiteY2" fmla="*/ 82938 h 320971"/>
                  <a:gd name="connsiteX3" fmla="*/ 71327 w 285307"/>
                  <a:gd name="connsiteY3" fmla="*/ 177488 h 320971"/>
                  <a:gd name="connsiteX4" fmla="*/ 0 w 285307"/>
                  <a:gd name="connsiteY4" fmla="*/ 213981 h 320971"/>
                  <a:gd name="connsiteX5" fmla="*/ 0 w 285307"/>
                  <a:gd name="connsiteY5" fmla="*/ 288211 h 320971"/>
                  <a:gd name="connsiteX6" fmla="*/ 0 w 285307"/>
                  <a:gd name="connsiteY6" fmla="*/ 320971 h 3209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85307" h="320971">
                    <a:moveTo>
                      <a:pt x="285308" y="47275"/>
                    </a:moveTo>
                    <a:lnTo>
                      <a:pt x="213981" y="0"/>
                    </a:lnTo>
                    <a:lnTo>
                      <a:pt x="71327" y="82938"/>
                    </a:lnTo>
                    <a:lnTo>
                      <a:pt x="71327" y="177488"/>
                    </a:lnTo>
                    <a:lnTo>
                      <a:pt x="0" y="213981"/>
                    </a:lnTo>
                    <a:lnTo>
                      <a:pt x="0" y="288211"/>
                    </a:lnTo>
                    <a:lnTo>
                      <a:pt x="0" y="320971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</p:grpSp>
        <p:grpSp>
          <p:nvGrpSpPr>
            <p:cNvPr id="22" name="Graphic 18">
              <a:extLst>
                <a:ext uri="{FF2B5EF4-FFF2-40B4-BE49-F238E27FC236}">
                  <a16:creationId xmlns:a16="http://schemas.microsoft.com/office/drawing/2014/main" id="{06F1703D-633B-9EE5-691B-AD7F58AFB4BF}"/>
                </a:ext>
              </a:extLst>
            </p:cNvPr>
            <p:cNvGrpSpPr/>
            <p:nvPr/>
          </p:nvGrpSpPr>
          <p:grpSpPr>
            <a:xfrm>
              <a:off x="5872840" y="2023728"/>
              <a:ext cx="252965" cy="298130"/>
              <a:chOff x="6415071" y="2046866"/>
              <a:chExt cx="252965" cy="298130"/>
            </a:xfrm>
            <a:noFill/>
          </p:grpSpPr>
          <p:sp>
            <p:nvSpPr>
              <p:cNvPr id="34" name="Freeform: Shape 255">
                <a:extLst>
                  <a:ext uri="{FF2B5EF4-FFF2-40B4-BE49-F238E27FC236}">
                    <a16:creationId xmlns:a16="http://schemas.microsoft.com/office/drawing/2014/main" id="{A030191C-F73A-7F64-4054-64ECFDF67F15}"/>
                  </a:ext>
                </a:extLst>
              </p:cNvPr>
              <p:cNvSpPr/>
              <p:nvPr/>
            </p:nvSpPr>
            <p:spPr>
              <a:xfrm>
                <a:off x="6480181" y="2195707"/>
                <a:ext cx="187855" cy="4146"/>
              </a:xfrm>
              <a:custGeom>
                <a:avLst/>
                <a:gdLst>
                  <a:gd name="connsiteX0" fmla="*/ 0 w 187855"/>
                  <a:gd name="connsiteY0" fmla="*/ 0 h 4146"/>
                  <a:gd name="connsiteX1" fmla="*/ 187855 w 187855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87855" h="4146">
                    <a:moveTo>
                      <a:pt x="0" y="0"/>
                    </a:moveTo>
                    <a:lnTo>
                      <a:pt x="187855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5" name="Freeform: Shape 256">
                <a:extLst>
                  <a:ext uri="{FF2B5EF4-FFF2-40B4-BE49-F238E27FC236}">
                    <a16:creationId xmlns:a16="http://schemas.microsoft.com/office/drawing/2014/main" id="{DDC7B509-053E-72E5-5E26-F869CA9EE161}"/>
                  </a:ext>
                </a:extLst>
              </p:cNvPr>
              <p:cNvSpPr/>
              <p:nvPr/>
            </p:nvSpPr>
            <p:spPr>
              <a:xfrm>
                <a:off x="6480181" y="2073373"/>
                <a:ext cx="93720" cy="245082"/>
              </a:xfrm>
              <a:custGeom>
                <a:avLst/>
                <a:gdLst>
                  <a:gd name="connsiteX0" fmla="*/ 0 w 93720"/>
                  <a:gd name="connsiteY0" fmla="*/ 0 h 245082"/>
                  <a:gd name="connsiteX1" fmla="*/ 93720 w 93720"/>
                  <a:gd name="connsiteY1" fmla="*/ 0 h 245082"/>
                  <a:gd name="connsiteX2" fmla="*/ 93720 w 93720"/>
                  <a:gd name="connsiteY2" fmla="*/ 245083 h 245082"/>
                  <a:gd name="connsiteX3" fmla="*/ 0 w 93720"/>
                  <a:gd name="connsiteY3" fmla="*/ 245083 h 2450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3720" h="245082">
                    <a:moveTo>
                      <a:pt x="0" y="0"/>
                    </a:moveTo>
                    <a:lnTo>
                      <a:pt x="93720" y="0"/>
                    </a:lnTo>
                    <a:lnTo>
                      <a:pt x="93720" y="245083"/>
                    </a:lnTo>
                    <a:lnTo>
                      <a:pt x="0" y="245083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6" name="Freeform: Shape 257">
                <a:extLst>
                  <a:ext uri="{FF2B5EF4-FFF2-40B4-BE49-F238E27FC236}">
                    <a16:creationId xmlns:a16="http://schemas.microsoft.com/office/drawing/2014/main" id="{660AA429-F50A-1BF9-33D1-E9897FD1A900}"/>
                  </a:ext>
                </a:extLst>
              </p:cNvPr>
              <p:cNvSpPr/>
              <p:nvPr/>
            </p:nvSpPr>
            <p:spPr>
              <a:xfrm rot="5400000">
                <a:off x="6415071" y="2046866"/>
                <a:ext cx="53080" cy="53080"/>
              </a:xfrm>
              <a:custGeom>
                <a:avLst/>
                <a:gdLst>
                  <a:gd name="connsiteX0" fmla="*/ 0 w 53080"/>
                  <a:gd name="connsiteY0" fmla="*/ 0 h 53080"/>
                  <a:gd name="connsiteX1" fmla="*/ 53080 w 53080"/>
                  <a:gd name="connsiteY1" fmla="*/ 0 h 53080"/>
                  <a:gd name="connsiteX2" fmla="*/ 53080 w 53080"/>
                  <a:gd name="connsiteY2" fmla="*/ 53081 h 53080"/>
                  <a:gd name="connsiteX3" fmla="*/ 0 w 53080"/>
                  <a:gd name="connsiteY3" fmla="*/ 53081 h 530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3080" h="53080">
                    <a:moveTo>
                      <a:pt x="0" y="0"/>
                    </a:moveTo>
                    <a:lnTo>
                      <a:pt x="53080" y="0"/>
                    </a:lnTo>
                    <a:lnTo>
                      <a:pt x="53080" y="53081"/>
                    </a:lnTo>
                    <a:lnTo>
                      <a:pt x="0" y="53081"/>
                    </a:ln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7" name="Freeform: Shape 258">
                <a:extLst>
                  <a:ext uri="{FF2B5EF4-FFF2-40B4-BE49-F238E27FC236}">
                    <a16:creationId xmlns:a16="http://schemas.microsoft.com/office/drawing/2014/main" id="{405D0697-803F-D70E-F900-CF945CFCDF1C}"/>
                  </a:ext>
                </a:extLst>
              </p:cNvPr>
              <p:cNvSpPr/>
              <p:nvPr/>
            </p:nvSpPr>
            <p:spPr>
              <a:xfrm>
                <a:off x="6415490" y="2161702"/>
                <a:ext cx="52665" cy="68424"/>
              </a:xfrm>
              <a:custGeom>
                <a:avLst/>
                <a:gdLst>
                  <a:gd name="connsiteX0" fmla="*/ 0 w 52665"/>
                  <a:gd name="connsiteY0" fmla="*/ 68424 h 68424"/>
                  <a:gd name="connsiteX1" fmla="*/ 0 w 52665"/>
                  <a:gd name="connsiteY1" fmla="*/ 0 h 68424"/>
                  <a:gd name="connsiteX2" fmla="*/ 52666 w 52665"/>
                  <a:gd name="connsiteY2" fmla="*/ 34005 h 684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52665" h="68424">
                    <a:moveTo>
                      <a:pt x="0" y="68424"/>
                    </a:moveTo>
                    <a:lnTo>
                      <a:pt x="0" y="0"/>
                    </a:lnTo>
                    <a:lnTo>
                      <a:pt x="52666" y="34005"/>
                    </a:ln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8" name="Freeform: Shape 259">
                <a:extLst>
                  <a:ext uri="{FF2B5EF4-FFF2-40B4-BE49-F238E27FC236}">
                    <a16:creationId xmlns:a16="http://schemas.microsoft.com/office/drawing/2014/main" id="{3C2C9C96-66E4-3938-AC6C-E4934EE0A54C}"/>
                  </a:ext>
                </a:extLst>
              </p:cNvPr>
              <p:cNvSpPr/>
              <p:nvPr/>
            </p:nvSpPr>
            <p:spPr>
              <a:xfrm>
                <a:off x="6415490" y="2292330"/>
                <a:ext cx="52665" cy="52665"/>
              </a:xfrm>
              <a:custGeom>
                <a:avLst/>
                <a:gdLst>
                  <a:gd name="connsiteX0" fmla="*/ 0 w 52665"/>
                  <a:gd name="connsiteY0" fmla="*/ 30272 h 52665"/>
                  <a:gd name="connsiteX1" fmla="*/ 0 w 52665"/>
                  <a:gd name="connsiteY1" fmla="*/ 22393 h 52665"/>
                  <a:gd name="connsiteX2" fmla="*/ 22393 w 52665"/>
                  <a:gd name="connsiteY2" fmla="*/ 0 h 52665"/>
                  <a:gd name="connsiteX3" fmla="*/ 30272 w 52665"/>
                  <a:gd name="connsiteY3" fmla="*/ 0 h 52665"/>
                  <a:gd name="connsiteX4" fmla="*/ 52666 w 52665"/>
                  <a:gd name="connsiteY4" fmla="*/ 22393 h 52665"/>
                  <a:gd name="connsiteX5" fmla="*/ 52666 w 52665"/>
                  <a:gd name="connsiteY5" fmla="*/ 30272 h 52665"/>
                  <a:gd name="connsiteX6" fmla="*/ 30272 w 52665"/>
                  <a:gd name="connsiteY6" fmla="*/ 52666 h 52665"/>
                  <a:gd name="connsiteX7" fmla="*/ 22393 w 52665"/>
                  <a:gd name="connsiteY7" fmla="*/ 52666 h 52665"/>
                  <a:gd name="connsiteX8" fmla="*/ 0 w 52665"/>
                  <a:gd name="connsiteY8" fmla="*/ 30272 h 526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2665" h="52665">
                    <a:moveTo>
                      <a:pt x="0" y="30272"/>
                    </a:moveTo>
                    <a:lnTo>
                      <a:pt x="0" y="22393"/>
                    </a:lnTo>
                    <a:cubicBezTo>
                      <a:pt x="0" y="9953"/>
                      <a:pt x="9953" y="0"/>
                      <a:pt x="22393" y="0"/>
                    </a:cubicBezTo>
                    <a:lnTo>
                      <a:pt x="30272" y="0"/>
                    </a:lnTo>
                    <a:cubicBezTo>
                      <a:pt x="42713" y="0"/>
                      <a:pt x="52666" y="9953"/>
                      <a:pt x="52666" y="22393"/>
                    </a:cubicBezTo>
                    <a:lnTo>
                      <a:pt x="52666" y="30272"/>
                    </a:lnTo>
                    <a:cubicBezTo>
                      <a:pt x="52666" y="42713"/>
                      <a:pt x="42713" y="52666"/>
                      <a:pt x="30272" y="52666"/>
                    </a:cubicBezTo>
                    <a:lnTo>
                      <a:pt x="22393" y="52666"/>
                    </a:lnTo>
                    <a:cubicBezTo>
                      <a:pt x="9953" y="52666"/>
                      <a:pt x="0" y="42713"/>
                      <a:pt x="0" y="30272"/>
                    </a:cubicBez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</p:grpSp>
        <p:grpSp>
          <p:nvGrpSpPr>
            <p:cNvPr id="23" name="Graphic 18">
              <a:extLst>
                <a:ext uri="{FF2B5EF4-FFF2-40B4-BE49-F238E27FC236}">
                  <a16:creationId xmlns:a16="http://schemas.microsoft.com/office/drawing/2014/main" id="{664ED814-E074-A363-ECA9-73BFB569DEDE}"/>
                </a:ext>
              </a:extLst>
            </p:cNvPr>
            <p:cNvGrpSpPr/>
            <p:nvPr/>
          </p:nvGrpSpPr>
          <p:grpSpPr>
            <a:xfrm>
              <a:off x="6154419" y="2027842"/>
              <a:ext cx="191587" cy="274940"/>
              <a:chOff x="6696650" y="2050980"/>
              <a:chExt cx="191587" cy="274940"/>
            </a:xfrm>
            <a:noFill/>
          </p:grpSpPr>
          <p:sp>
            <p:nvSpPr>
              <p:cNvPr id="27" name="Freeform: Shape 248">
                <a:extLst>
                  <a:ext uri="{FF2B5EF4-FFF2-40B4-BE49-F238E27FC236}">
                    <a16:creationId xmlns:a16="http://schemas.microsoft.com/office/drawing/2014/main" id="{A17C7564-E239-D2B7-61C5-BCF8711B8D94}"/>
                  </a:ext>
                </a:extLst>
              </p:cNvPr>
              <p:cNvSpPr/>
              <p:nvPr/>
            </p:nvSpPr>
            <p:spPr>
              <a:xfrm>
                <a:off x="6696650" y="2050980"/>
                <a:ext cx="191587" cy="274940"/>
              </a:xfrm>
              <a:custGeom>
                <a:avLst/>
                <a:gdLst>
                  <a:gd name="connsiteX0" fmla="*/ 0 w 191587"/>
                  <a:gd name="connsiteY0" fmla="*/ 266232 h 274940"/>
                  <a:gd name="connsiteX1" fmla="*/ 0 w 191587"/>
                  <a:gd name="connsiteY1" fmla="*/ 8709 h 274940"/>
                  <a:gd name="connsiteX2" fmla="*/ 8709 w 191587"/>
                  <a:gd name="connsiteY2" fmla="*/ 0 h 274940"/>
                  <a:gd name="connsiteX3" fmla="*/ 127725 w 191587"/>
                  <a:gd name="connsiteY3" fmla="*/ 0 h 274940"/>
                  <a:gd name="connsiteX4" fmla="*/ 191587 w 191587"/>
                  <a:gd name="connsiteY4" fmla="*/ 63862 h 274940"/>
                  <a:gd name="connsiteX5" fmla="*/ 191587 w 191587"/>
                  <a:gd name="connsiteY5" fmla="*/ 266232 h 274940"/>
                  <a:gd name="connsiteX6" fmla="*/ 182879 w 191587"/>
                  <a:gd name="connsiteY6" fmla="*/ 274940 h 274940"/>
                  <a:gd name="connsiteX7" fmla="*/ 8709 w 191587"/>
                  <a:gd name="connsiteY7" fmla="*/ 274940 h 274940"/>
                  <a:gd name="connsiteX8" fmla="*/ 0 w 191587"/>
                  <a:gd name="connsiteY8" fmla="*/ 266232 h 27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91587" h="274940">
                    <a:moveTo>
                      <a:pt x="0" y="266232"/>
                    </a:moveTo>
                    <a:lnTo>
                      <a:pt x="0" y="8709"/>
                    </a:lnTo>
                    <a:cubicBezTo>
                      <a:pt x="0" y="3732"/>
                      <a:pt x="3732" y="0"/>
                      <a:pt x="8709" y="0"/>
                    </a:cubicBezTo>
                    <a:lnTo>
                      <a:pt x="127725" y="0"/>
                    </a:lnTo>
                    <a:lnTo>
                      <a:pt x="191587" y="63862"/>
                    </a:lnTo>
                    <a:lnTo>
                      <a:pt x="191587" y="266232"/>
                    </a:lnTo>
                    <a:cubicBezTo>
                      <a:pt x="191587" y="271208"/>
                      <a:pt x="187855" y="274940"/>
                      <a:pt x="182879" y="274940"/>
                    </a:cubicBezTo>
                    <a:lnTo>
                      <a:pt x="8709" y="274940"/>
                    </a:lnTo>
                    <a:cubicBezTo>
                      <a:pt x="3732" y="274940"/>
                      <a:pt x="0" y="271208"/>
                      <a:pt x="0" y="266232"/>
                    </a:cubicBez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8" name="Freeform: Shape 249">
                <a:extLst>
                  <a:ext uri="{FF2B5EF4-FFF2-40B4-BE49-F238E27FC236}">
                    <a16:creationId xmlns:a16="http://schemas.microsoft.com/office/drawing/2014/main" id="{7376CDA8-C856-32D6-8AEB-89E8EBD75261}"/>
                  </a:ext>
                </a:extLst>
              </p:cNvPr>
              <p:cNvSpPr/>
              <p:nvPr/>
            </p:nvSpPr>
            <p:spPr>
              <a:xfrm>
                <a:off x="6823961" y="2050980"/>
                <a:ext cx="64277" cy="63862"/>
              </a:xfrm>
              <a:custGeom>
                <a:avLst/>
                <a:gdLst>
                  <a:gd name="connsiteX0" fmla="*/ 0 w 64277"/>
                  <a:gd name="connsiteY0" fmla="*/ 63862 h 63862"/>
                  <a:gd name="connsiteX1" fmla="*/ 64277 w 64277"/>
                  <a:gd name="connsiteY1" fmla="*/ 63862 h 63862"/>
                  <a:gd name="connsiteX2" fmla="*/ 0 w 64277"/>
                  <a:gd name="connsiteY2" fmla="*/ 0 h 638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64277" h="63862">
                    <a:moveTo>
                      <a:pt x="0" y="63862"/>
                    </a:moveTo>
                    <a:lnTo>
                      <a:pt x="64277" y="63862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9" name="Freeform: Shape 250">
                <a:extLst>
                  <a:ext uri="{FF2B5EF4-FFF2-40B4-BE49-F238E27FC236}">
                    <a16:creationId xmlns:a16="http://schemas.microsoft.com/office/drawing/2014/main" id="{3EA2A2C8-FDD8-C961-437E-CE610B6C561B}"/>
                  </a:ext>
                </a:extLst>
              </p:cNvPr>
              <p:cNvSpPr/>
              <p:nvPr/>
            </p:nvSpPr>
            <p:spPr>
              <a:xfrm>
                <a:off x="6724849" y="2166679"/>
                <a:ext cx="135189" cy="4146"/>
              </a:xfrm>
              <a:custGeom>
                <a:avLst/>
                <a:gdLst>
                  <a:gd name="connsiteX0" fmla="*/ 0 w 135189"/>
                  <a:gd name="connsiteY0" fmla="*/ 0 h 4146"/>
                  <a:gd name="connsiteX1" fmla="*/ 135189 w 135189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35189" h="4146">
                    <a:moveTo>
                      <a:pt x="0" y="0"/>
                    </a:moveTo>
                    <a:lnTo>
                      <a:pt x="135189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0" name="Freeform: Shape 251">
                <a:extLst>
                  <a:ext uri="{FF2B5EF4-FFF2-40B4-BE49-F238E27FC236}">
                    <a16:creationId xmlns:a16="http://schemas.microsoft.com/office/drawing/2014/main" id="{D52FFE68-709B-473C-03D9-9A08C5E9AF5D}"/>
                  </a:ext>
                </a:extLst>
              </p:cNvPr>
              <p:cNvSpPr/>
              <p:nvPr/>
            </p:nvSpPr>
            <p:spPr>
              <a:xfrm>
                <a:off x="6724849" y="2204001"/>
                <a:ext cx="135189" cy="4146"/>
              </a:xfrm>
              <a:custGeom>
                <a:avLst/>
                <a:gdLst>
                  <a:gd name="connsiteX0" fmla="*/ 0 w 135189"/>
                  <a:gd name="connsiteY0" fmla="*/ 0 h 4146"/>
                  <a:gd name="connsiteX1" fmla="*/ 135189 w 135189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35189" h="4146">
                    <a:moveTo>
                      <a:pt x="0" y="0"/>
                    </a:moveTo>
                    <a:lnTo>
                      <a:pt x="135189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1" name="Freeform: Shape 252">
                <a:extLst>
                  <a:ext uri="{FF2B5EF4-FFF2-40B4-BE49-F238E27FC236}">
                    <a16:creationId xmlns:a16="http://schemas.microsoft.com/office/drawing/2014/main" id="{2DB2F479-9C0E-E402-E820-EBB6F9B2201C}"/>
                  </a:ext>
                </a:extLst>
              </p:cNvPr>
              <p:cNvSpPr/>
              <p:nvPr/>
            </p:nvSpPr>
            <p:spPr>
              <a:xfrm>
                <a:off x="6724849" y="2241323"/>
                <a:ext cx="135189" cy="4146"/>
              </a:xfrm>
              <a:custGeom>
                <a:avLst/>
                <a:gdLst>
                  <a:gd name="connsiteX0" fmla="*/ 0 w 135189"/>
                  <a:gd name="connsiteY0" fmla="*/ 0 h 4146"/>
                  <a:gd name="connsiteX1" fmla="*/ 135189 w 135189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35189" h="4146">
                    <a:moveTo>
                      <a:pt x="0" y="0"/>
                    </a:moveTo>
                    <a:lnTo>
                      <a:pt x="135189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2" name="Freeform: Shape 253">
                <a:extLst>
                  <a:ext uri="{FF2B5EF4-FFF2-40B4-BE49-F238E27FC236}">
                    <a16:creationId xmlns:a16="http://schemas.microsoft.com/office/drawing/2014/main" id="{40DE64C0-DF89-D1A5-7D5A-733577EBD417}"/>
                  </a:ext>
                </a:extLst>
              </p:cNvPr>
              <p:cNvSpPr/>
              <p:nvPr/>
            </p:nvSpPr>
            <p:spPr>
              <a:xfrm>
                <a:off x="6724849" y="2279060"/>
                <a:ext cx="135189" cy="4146"/>
              </a:xfrm>
              <a:custGeom>
                <a:avLst/>
                <a:gdLst>
                  <a:gd name="connsiteX0" fmla="*/ 0 w 135189"/>
                  <a:gd name="connsiteY0" fmla="*/ 0 h 4146"/>
                  <a:gd name="connsiteX1" fmla="*/ 135189 w 135189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35189" h="4146">
                    <a:moveTo>
                      <a:pt x="0" y="0"/>
                    </a:moveTo>
                    <a:lnTo>
                      <a:pt x="135189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3" name="Freeform: Shape 254">
                <a:extLst>
                  <a:ext uri="{FF2B5EF4-FFF2-40B4-BE49-F238E27FC236}">
                    <a16:creationId xmlns:a16="http://schemas.microsoft.com/office/drawing/2014/main" id="{15C00464-EE35-1889-3B23-296A0B2B50C9}"/>
                  </a:ext>
                </a:extLst>
              </p:cNvPr>
              <p:cNvSpPr/>
              <p:nvPr/>
            </p:nvSpPr>
            <p:spPr>
              <a:xfrm>
                <a:off x="6724849" y="2128942"/>
                <a:ext cx="76303" cy="4146"/>
              </a:xfrm>
              <a:custGeom>
                <a:avLst/>
                <a:gdLst>
                  <a:gd name="connsiteX0" fmla="*/ 0 w 76303"/>
                  <a:gd name="connsiteY0" fmla="*/ 0 h 4146"/>
                  <a:gd name="connsiteX1" fmla="*/ 76303 w 76303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76303" h="4146">
                    <a:moveTo>
                      <a:pt x="0" y="0"/>
                    </a:moveTo>
                    <a:lnTo>
                      <a:pt x="76303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</p:grpSp>
        <p:sp>
          <p:nvSpPr>
            <p:cNvPr id="24" name="Freeform: Shape 247">
              <a:extLst>
                <a:ext uri="{FF2B5EF4-FFF2-40B4-BE49-F238E27FC236}">
                  <a16:creationId xmlns:a16="http://schemas.microsoft.com/office/drawing/2014/main" id="{CFEC8A52-1F37-F078-5BDE-AC85D0C5670C}"/>
                </a:ext>
              </a:extLst>
            </p:cNvPr>
            <p:cNvSpPr/>
            <p:nvPr/>
          </p:nvSpPr>
          <p:spPr>
            <a:xfrm>
              <a:off x="5610344" y="2221088"/>
              <a:ext cx="179561" cy="161314"/>
            </a:xfrm>
            <a:custGeom>
              <a:avLst/>
              <a:gdLst>
                <a:gd name="connsiteX0" fmla="*/ 95794 w 179561"/>
                <a:gd name="connsiteY0" fmla="*/ 99111 h 161314"/>
                <a:gd name="connsiteX1" fmla="*/ 29028 w 179561"/>
                <a:gd name="connsiteY1" fmla="*/ 154680 h 161314"/>
                <a:gd name="connsiteX2" fmla="*/ 0 w 179561"/>
                <a:gd name="connsiteY2" fmla="*/ 119846 h 161314"/>
                <a:gd name="connsiteX3" fmla="*/ 66765 w 179561"/>
                <a:gd name="connsiteY3" fmla="*/ 64277 h 161314"/>
                <a:gd name="connsiteX4" fmla="*/ 8294 w 179561"/>
                <a:gd name="connsiteY4" fmla="*/ 38981 h 161314"/>
                <a:gd name="connsiteX5" fmla="*/ 179561 w 179561"/>
                <a:gd name="connsiteY5" fmla="*/ 0 h 161314"/>
                <a:gd name="connsiteX6" fmla="*/ 109893 w 179561"/>
                <a:gd name="connsiteY6" fmla="*/ 161315 h 161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9561" h="161314">
                  <a:moveTo>
                    <a:pt x="95794" y="99111"/>
                  </a:moveTo>
                  <a:lnTo>
                    <a:pt x="29028" y="154680"/>
                  </a:lnTo>
                  <a:lnTo>
                    <a:pt x="0" y="119846"/>
                  </a:lnTo>
                  <a:lnTo>
                    <a:pt x="66765" y="64277"/>
                  </a:lnTo>
                  <a:lnTo>
                    <a:pt x="8294" y="38981"/>
                  </a:lnTo>
                  <a:lnTo>
                    <a:pt x="179561" y="0"/>
                  </a:lnTo>
                  <a:lnTo>
                    <a:pt x="109893" y="161315"/>
                  </a:lnTo>
                  <a:close/>
                </a:path>
              </a:pathLst>
            </a:custGeom>
            <a:noFill/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mazon Ember"/>
              </a:endParaRPr>
            </a:p>
          </p:txBody>
        </p:sp>
      </p:grpSp>
      <p:sp>
        <p:nvSpPr>
          <p:cNvPr id="49" name="TextBox 29">
            <a:extLst>
              <a:ext uri="{FF2B5EF4-FFF2-40B4-BE49-F238E27FC236}">
                <a16:creationId xmlns:a16="http://schemas.microsoft.com/office/drawing/2014/main" id="{F132BABC-A445-6460-4630-3156E0C0411B}"/>
              </a:ext>
            </a:extLst>
          </p:cNvPr>
          <p:cNvSpPr txBox="1"/>
          <p:nvPr/>
        </p:nvSpPr>
        <p:spPr>
          <a:xfrm>
            <a:off x="1496477" y="3847228"/>
            <a:ext cx="1321724" cy="584775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sz="1600" dirty="0">
                <a:solidFill>
                  <a:schemeClr val="accent5">
                    <a:lumMod val="75000"/>
                  </a:schemeClr>
                </a:solidFill>
              </a:rPr>
              <a:t>HR Time Off Agent</a:t>
            </a:r>
          </a:p>
        </p:txBody>
      </p:sp>
      <p:sp>
        <p:nvSpPr>
          <p:cNvPr id="50" name="TextBox 31">
            <a:extLst>
              <a:ext uri="{FF2B5EF4-FFF2-40B4-BE49-F238E27FC236}">
                <a16:creationId xmlns:a16="http://schemas.microsoft.com/office/drawing/2014/main" id="{1847285F-524D-FBC8-F7B3-A04F837CE873}"/>
              </a:ext>
            </a:extLst>
          </p:cNvPr>
          <p:cNvSpPr txBox="1"/>
          <p:nvPr/>
        </p:nvSpPr>
        <p:spPr>
          <a:xfrm>
            <a:off x="4997900" y="2838049"/>
            <a:ext cx="2348343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sz="1600" dirty="0">
                <a:solidFill>
                  <a:schemeClr val="accent5">
                    <a:lumMod val="75000"/>
                  </a:schemeClr>
                </a:solidFill>
              </a:rPr>
              <a:t>Vacation Actions</a:t>
            </a:r>
          </a:p>
        </p:txBody>
      </p:sp>
      <p:sp>
        <p:nvSpPr>
          <p:cNvPr id="51" name="TextBox 33">
            <a:extLst>
              <a:ext uri="{FF2B5EF4-FFF2-40B4-BE49-F238E27FC236}">
                <a16:creationId xmlns:a16="http://schemas.microsoft.com/office/drawing/2014/main" id="{3368EBBB-BA29-ED90-745F-4D59F24DA4FE}"/>
              </a:ext>
            </a:extLst>
          </p:cNvPr>
          <p:cNvSpPr txBox="1"/>
          <p:nvPr/>
        </p:nvSpPr>
        <p:spPr>
          <a:xfrm>
            <a:off x="4722988" y="4457326"/>
            <a:ext cx="2844596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sz="1600" dirty="0">
                <a:solidFill>
                  <a:schemeClr val="accent5">
                    <a:lumMod val="75000"/>
                  </a:schemeClr>
                </a:solidFill>
              </a:rPr>
              <a:t>Leave of absence Actions</a:t>
            </a:r>
          </a:p>
        </p:txBody>
      </p:sp>
      <p:cxnSp>
        <p:nvCxnSpPr>
          <p:cNvPr id="52" name="Straight Arrow Connector 39">
            <a:extLst>
              <a:ext uri="{FF2B5EF4-FFF2-40B4-BE49-F238E27FC236}">
                <a16:creationId xmlns:a16="http://schemas.microsoft.com/office/drawing/2014/main" id="{A77DB056-7F8F-A271-F19C-F90A79E49AB2}"/>
              </a:ext>
            </a:extLst>
          </p:cNvPr>
          <p:cNvCxnSpPr>
            <a:cxnSpLocks/>
          </p:cNvCxnSpPr>
          <p:nvPr/>
        </p:nvCxnSpPr>
        <p:spPr>
          <a:xfrm flipV="1">
            <a:off x="3338311" y="3634371"/>
            <a:ext cx="2119271" cy="6604"/>
          </a:xfrm>
          <a:prstGeom prst="straightConnector1">
            <a:avLst/>
          </a:prstGeom>
          <a:ln w="28575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40">
            <a:extLst>
              <a:ext uri="{FF2B5EF4-FFF2-40B4-BE49-F238E27FC236}">
                <a16:creationId xmlns:a16="http://schemas.microsoft.com/office/drawing/2014/main" id="{4043D3BE-1FE6-2920-B6C2-48D86063D1AE}"/>
              </a:ext>
            </a:extLst>
          </p:cNvPr>
          <p:cNvSpPr txBox="1"/>
          <p:nvPr/>
        </p:nvSpPr>
        <p:spPr>
          <a:xfrm>
            <a:off x="3194869" y="3214015"/>
            <a:ext cx="2322702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sz="1600" dirty="0"/>
              <a:t>get-Vacation-Balance</a:t>
            </a:r>
          </a:p>
        </p:txBody>
      </p:sp>
      <p:cxnSp>
        <p:nvCxnSpPr>
          <p:cNvPr id="54" name="Straight Arrow Connector 47">
            <a:extLst>
              <a:ext uri="{FF2B5EF4-FFF2-40B4-BE49-F238E27FC236}">
                <a16:creationId xmlns:a16="http://schemas.microsoft.com/office/drawing/2014/main" id="{4A7ACEE2-B368-F8B6-48D6-F1B4139F28CD}"/>
              </a:ext>
            </a:extLst>
          </p:cNvPr>
          <p:cNvCxnSpPr>
            <a:cxnSpLocks/>
          </p:cNvCxnSpPr>
          <p:nvPr/>
        </p:nvCxnSpPr>
        <p:spPr>
          <a:xfrm>
            <a:off x="3345685" y="4551066"/>
            <a:ext cx="1990962" cy="808700"/>
          </a:xfrm>
          <a:prstGeom prst="straightConnector1">
            <a:avLst/>
          </a:prstGeom>
          <a:ln w="28575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48">
            <a:extLst>
              <a:ext uri="{FF2B5EF4-FFF2-40B4-BE49-F238E27FC236}">
                <a16:creationId xmlns:a16="http://schemas.microsoft.com/office/drawing/2014/main" id="{77DDEAAB-FDAE-3AEE-7441-6493A63F119D}"/>
              </a:ext>
            </a:extLst>
          </p:cNvPr>
          <p:cNvSpPr txBox="1"/>
          <p:nvPr/>
        </p:nvSpPr>
        <p:spPr>
          <a:xfrm rot="1274150">
            <a:off x="3098975" y="4446099"/>
            <a:ext cx="2206389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sz="1600" dirty="0"/>
              <a:t>request-LOA</a:t>
            </a:r>
          </a:p>
        </p:txBody>
      </p:sp>
      <p:sp>
        <p:nvSpPr>
          <p:cNvPr id="57" name="TextBox 52">
            <a:extLst>
              <a:ext uri="{FF2B5EF4-FFF2-40B4-BE49-F238E27FC236}">
                <a16:creationId xmlns:a16="http://schemas.microsoft.com/office/drawing/2014/main" id="{FCA1AA8A-5CD0-006E-252E-E6EFFE03617A}"/>
              </a:ext>
            </a:extLst>
          </p:cNvPr>
          <p:cNvSpPr txBox="1"/>
          <p:nvPr/>
        </p:nvSpPr>
        <p:spPr>
          <a:xfrm>
            <a:off x="8091309" y="3990977"/>
            <a:ext cx="1321724" cy="523220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sz="1400" dirty="0"/>
              <a:t>Vacation microservice</a:t>
            </a:r>
          </a:p>
        </p:txBody>
      </p:sp>
      <p:pic>
        <p:nvPicPr>
          <p:cNvPr id="58" name="Picture 58">
            <a:extLst>
              <a:ext uri="{FF2B5EF4-FFF2-40B4-BE49-F238E27FC236}">
                <a16:creationId xmlns:a16="http://schemas.microsoft.com/office/drawing/2014/main" id="{ECDE255C-6B2D-A12F-9F3D-5BD0B204AA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658667" y="2905350"/>
            <a:ext cx="1249583" cy="1249583"/>
          </a:xfrm>
          <a:prstGeom prst="rect">
            <a:avLst/>
          </a:prstGeom>
        </p:spPr>
      </p:pic>
      <p:sp>
        <p:nvSpPr>
          <p:cNvPr id="59" name="TextBox 59">
            <a:extLst>
              <a:ext uri="{FF2B5EF4-FFF2-40B4-BE49-F238E27FC236}">
                <a16:creationId xmlns:a16="http://schemas.microsoft.com/office/drawing/2014/main" id="{6C521D5E-5DB3-856D-476A-E8323AEA0DF5}"/>
              </a:ext>
            </a:extLst>
          </p:cNvPr>
          <p:cNvSpPr txBox="1"/>
          <p:nvPr/>
        </p:nvSpPr>
        <p:spPr>
          <a:xfrm>
            <a:off x="9675186" y="3990977"/>
            <a:ext cx="1321724" cy="523220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sz="1400" dirty="0"/>
              <a:t>Vacation database</a:t>
            </a:r>
          </a:p>
        </p:txBody>
      </p:sp>
      <p:cxnSp>
        <p:nvCxnSpPr>
          <p:cNvPr id="60" name="Straight Arrow Connector 60">
            <a:extLst>
              <a:ext uri="{FF2B5EF4-FFF2-40B4-BE49-F238E27FC236}">
                <a16:creationId xmlns:a16="http://schemas.microsoft.com/office/drawing/2014/main" id="{84ABDC37-0271-F3CB-5556-D6A1CA2FF6DD}"/>
              </a:ext>
            </a:extLst>
          </p:cNvPr>
          <p:cNvCxnSpPr>
            <a:cxnSpLocks/>
          </p:cNvCxnSpPr>
          <p:nvPr/>
        </p:nvCxnSpPr>
        <p:spPr>
          <a:xfrm>
            <a:off x="9208453" y="3406706"/>
            <a:ext cx="592247" cy="0"/>
          </a:xfrm>
          <a:prstGeom prst="straightConnector1">
            <a:avLst/>
          </a:prstGeom>
          <a:ln w="28575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1">
            <a:extLst>
              <a:ext uri="{FF2B5EF4-FFF2-40B4-BE49-F238E27FC236}">
                <a16:creationId xmlns:a16="http://schemas.microsoft.com/office/drawing/2014/main" id="{F024F771-8344-91A5-BEB0-139998A0FA64}"/>
              </a:ext>
            </a:extLst>
          </p:cNvPr>
          <p:cNvCxnSpPr>
            <a:cxnSpLocks/>
          </p:cNvCxnSpPr>
          <p:nvPr/>
        </p:nvCxnSpPr>
        <p:spPr>
          <a:xfrm flipH="1">
            <a:off x="9168502" y="3649288"/>
            <a:ext cx="598947" cy="0"/>
          </a:xfrm>
          <a:prstGeom prst="straightConnector1">
            <a:avLst/>
          </a:prstGeom>
          <a:ln w="28575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6">
            <a:extLst>
              <a:ext uri="{FF2B5EF4-FFF2-40B4-BE49-F238E27FC236}">
                <a16:creationId xmlns:a16="http://schemas.microsoft.com/office/drawing/2014/main" id="{39003257-AF7F-7336-712A-30533488C614}"/>
              </a:ext>
            </a:extLst>
          </p:cNvPr>
          <p:cNvCxnSpPr>
            <a:cxnSpLocks/>
          </p:cNvCxnSpPr>
          <p:nvPr/>
        </p:nvCxnSpPr>
        <p:spPr>
          <a:xfrm>
            <a:off x="7673370" y="3400102"/>
            <a:ext cx="592247" cy="0"/>
          </a:xfrm>
          <a:prstGeom prst="straightConnector1">
            <a:avLst/>
          </a:prstGeom>
          <a:ln w="28575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7">
            <a:extLst>
              <a:ext uri="{FF2B5EF4-FFF2-40B4-BE49-F238E27FC236}">
                <a16:creationId xmlns:a16="http://schemas.microsoft.com/office/drawing/2014/main" id="{F484F5A6-990C-A501-BD37-5030F4E6540B}"/>
              </a:ext>
            </a:extLst>
          </p:cNvPr>
          <p:cNvCxnSpPr>
            <a:cxnSpLocks/>
          </p:cNvCxnSpPr>
          <p:nvPr/>
        </p:nvCxnSpPr>
        <p:spPr>
          <a:xfrm flipH="1">
            <a:off x="7633419" y="3642684"/>
            <a:ext cx="598947" cy="0"/>
          </a:xfrm>
          <a:prstGeom prst="straightConnector1">
            <a:avLst/>
          </a:prstGeom>
          <a:ln w="28575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4" name="Picture 68">
            <a:extLst>
              <a:ext uri="{FF2B5EF4-FFF2-40B4-BE49-F238E27FC236}">
                <a16:creationId xmlns:a16="http://schemas.microsoft.com/office/drawing/2014/main" id="{DA6C45BB-82EA-60ED-BF1E-0373EF06FB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859438" y="4631833"/>
            <a:ext cx="1211332" cy="1211332"/>
          </a:xfrm>
          <a:prstGeom prst="rect">
            <a:avLst/>
          </a:prstGeom>
        </p:spPr>
      </p:pic>
      <p:sp>
        <p:nvSpPr>
          <p:cNvPr id="65" name="TextBox 69">
            <a:extLst>
              <a:ext uri="{FF2B5EF4-FFF2-40B4-BE49-F238E27FC236}">
                <a16:creationId xmlns:a16="http://schemas.microsoft.com/office/drawing/2014/main" id="{67FACB42-9CFE-7BC5-FB23-43DE46840A40}"/>
              </a:ext>
            </a:extLst>
          </p:cNvPr>
          <p:cNvSpPr txBox="1"/>
          <p:nvPr/>
        </p:nvSpPr>
        <p:spPr>
          <a:xfrm>
            <a:off x="8608847" y="5639453"/>
            <a:ext cx="1890128" cy="523220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sz="1400" dirty="0"/>
              <a:t>Leave of absence (LOA) database</a:t>
            </a:r>
          </a:p>
        </p:txBody>
      </p:sp>
      <p:cxnSp>
        <p:nvCxnSpPr>
          <p:cNvPr id="66" name="Straight Arrow Connector 70">
            <a:extLst>
              <a:ext uri="{FF2B5EF4-FFF2-40B4-BE49-F238E27FC236}">
                <a16:creationId xmlns:a16="http://schemas.microsoft.com/office/drawing/2014/main" id="{BEFEDD29-6BD9-E140-798E-B7DB5E36B9DD}"/>
              </a:ext>
            </a:extLst>
          </p:cNvPr>
          <p:cNvCxnSpPr>
            <a:cxnSpLocks/>
          </p:cNvCxnSpPr>
          <p:nvPr/>
        </p:nvCxnSpPr>
        <p:spPr>
          <a:xfrm flipV="1">
            <a:off x="7691410" y="5095038"/>
            <a:ext cx="1211332" cy="10022"/>
          </a:xfrm>
          <a:prstGeom prst="straightConnector1">
            <a:avLst/>
          </a:prstGeom>
          <a:ln w="28575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Arrow Connector 71">
            <a:extLst>
              <a:ext uri="{FF2B5EF4-FFF2-40B4-BE49-F238E27FC236}">
                <a16:creationId xmlns:a16="http://schemas.microsoft.com/office/drawing/2014/main" id="{374E5156-B78F-8316-3D0C-1644093A2E22}"/>
              </a:ext>
            </a:extLst>
          </p:cNvPr>
          <p:cNvCxnSpPr>
            <a:cxnSpLocks/>
          </p:cNvCxnSpPr>
          <p:nvPr/>
        </p:nvCxnSpPr>
        <p:spPr>
          <a:xfrm flipH="1">
            <a:off x="7651459" y="5347642"/>
            <a:ext cx="1222615" cy="0"/>
          </a:xfrm>
          <a:prstGeom prst="straightConnector1">
            <a:avLst/>
          </a:prstGeom>
          <a:ln w="28575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77">
            <a:extLst>
              <a:ext uri="{FF2B5EF4-FFF2-40B4-BE49-F238E27FC236}">
                <a16:creationId xmlns:a16="http://schemas.microsoft.com/office/drawing/2014/main" id="{1F766C6E-7340-0AAF-77A7-25D75DEBA86D}"/>
              </a:ext>
            </a:extLst>
          </p:cNvPr>
          <p:cNvSpPr txBox="1"/>
          <p:nvPr/>
        </p:nvSpPr>
        <p:spPr>
          <a:xfrm>
            <a:off x="5022115" y="1162703"/>
            <a:ext cx="2348343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sz="1600" dirty="0">
                <a:solidFill>
                  <a:schemeClr val="accent5">
                    <a:lumMod val="75000"/>
                  </a:schemeClr>
                </a:solidFill>
              </a:rPr>
              <a:t>HR Knowledge Base</a:t>
            </a:r>
          </a:p>
        </p:txBody>
      </p:sp>
      <p:cxnSp>
        <p:nvCxnSpPr>
          <p:cNvPr id="69" name="Straight Arrow Connector 126">
            <a:extLst>
              <a:ext uri="{FF2B5EF4-FFF2-40B4-BE49-F238E27FC236}">
                <a16:creationId xmlns:a16="http://schemas.microsoft.com/office/drawing/2014/main" id="{374F3926-B3AE-750F-F947-D8861C3467DF}"/>
              </a:ext>
            </a:extLst>
          </p:cNvPr>
          <p:cNvCxnSpPr>
            <a:cxnSpLocks/>
          </p:cNvCxnSpPr>
          <p:nvPr/>
        </p:nvCxnSpPr>
        <p:spPr>
          <a:xfrm flipV="1">
            <a:off x="3321685" y="2155226"/>
            <a:ext cx="2119271" cy="444673"/>
          </a:xfrm>
          <a:prstGeom prst="straightConnector1">
            <a:avLst/>
          </a:prstGeom>
          <a:ln w="28575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127">
            <a:extLst>
              <a:ext uri="{FF2B5EF4-FFF2-40B4-BE49-F238E27FC236}">
                <a16:creationId xmlns:a16="http://schemas.microsoft.com/office/drawing/2014/main" id="{C93CBA5C-B28E-86E4-EEEE-731DE164F13F}"/>
              </a:ext>
            </a:extLst>
          </p:cNvPr>
          <p:cNvSpPr txBox="1"/>
          <p:nvPr/>
        </p:nvSpPr>
        <p:spPr>
          <a:xfrm rot="20883966">
            <a:off x="3081104" y="1995442"/>
            <a:ext cx="2322702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sz="1600" dirty="0"/>
              <a:t>search-HR-policy</a:t>
            </a:r>
          </a:p>
        </p:txBody>
      </p:sp>
      <p:sp>
        <p:nvSpPr>
          <p:cNvPr id="72" name="TextBox 132">
            <a:extLst>
              <a:ext uri="{FF2B5EF4-FFF2-40B4-BE49-F238E27FC236}">
                <a16:creationId xmlns:a16="http://schemas.microsoft.com/office/drawing/2014/main" id="{6BA33A05-FAC1-2E11-56E9-563833CC9B39}"/>
              </a:ext>
            </a:extLst>
          </p:cNvPr>
          <p:cNvSpPr txBox="1"/>
          <p:nvPr/>
        </p:nvSpPr>
        <p:spPr>
          <a:xfrm>
            <a:off x="8692316" y="2451668"/>
            <a:ext cx="1545575" cy="307777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sz="1400" dirty="0"/>
              <a:t>HR Policy docs</a:t>
            </a:r>
          </a:p>
        </p:txBody>
      </p:sp>
      <p:sp>
        <p:nvSpPr>
          <p:cNvPr id="73" name="TextBox 157">
            <a:extLst>
              <a:ext uri="{FF2B5EF4-FFF2-40B4-BE49-F238E27FC236}">
                <a16:creationId xmlns:a16="http://schemas.microsoft.com/office/drawing/2014/main" id="{38303BAD-3EC1-B144-E997-C7D7B1549C30}"/>
              </a:ext>
            </a:extLst>
          </p:cNvPr>
          <p:cNvSpPr txBox="1"/>
          <p:nvPr/>
        </p:nvSpPr>
        <p:spPr>
          <a:xfrm>
            <a:off x="8330404" y="1094284"/>
            <a:ext cx="2348343" cy="338554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sz="1600" dirty="0">
                <a:solidFill>
                  <a:schemeClr val="accent5">
                    <a:lumMod val="75000"/>
                  </a:schemeClr>
                </a:solidFill>
              </a:rPr>
              <a:t>Existing resources</a:t>
            </a:r>
          </a:p>
        </p:txBody>
      </p:sp>
      <p:grpSp>
        <p:nvGrpSpPr>
          <p:cNvPr id="74" name="Graphic 1959">
            <a:extLst>
              <a:ext uri="{FF2B5EF4-FFF2-40B4-BE49-F238E27FC236}">
                <a16:creationId xmlns:a16="http://schemas.microsoft.com/office/drawing/2014/main" id="{B32C4576-056A-9609-CF6B-6996F4F0B3C0}"/>
              </a:ext>
            </a:extLst>
          </p:cNvPr>
          <p:cNvGrpSpPr/>
          <p:nvPr/>
        </p:nvGrpSpPr>
        <p:grpSpPr>
          <a:xfrm>
            <a:off x="5751379" y="1548210"/>
            <a:ext cx="885814" cy="953781"/>
            <a:chOff x="2106490" y="758377"/>
            <a:chExt cx="471991" cy="577656"/>
          </a:xfrm>
          <a:noFill/>
        </p:grpSpPr>
        <p:grpSp>
          <p:nvGrpSpPr>
            <p:cNvPr id="75" name="Graphic 1959">
              <a:extLst>
                <a:ext uri="{FF2B5EF4-FFF2-40B4-BE49-F238E27FC236}">
                  <a16:creationId xmlns:a16="http://schemas.microsoft.com/office/drawing/2014/main" id="{F66CDFF5-9A83-BBE1-2AFD-A9D60471D0AE}"/>
                </a:ext>
              </a:extLst>
            </p:cNvPr>
            <p:cNvGrpSpPr/>
            <p:nvPr/>
          </p:nvGrpSpPr>
          <p:grpSpPr>
            <a:xfrm>
              <a:off x="2176187" y="758377"/>
              <a:ext cx="332597" cy="234289"/>
              <a:chOff x="2176187" y="758377"/>
              <a:chExt cx="332597" cy="234289"/>
            </a:xfrm>
            <a:noFill/>
          </p:grpSpPr>
          <p:sp>
            <p:nvSpPr>
              <p:cNvPr id="88" name="Freeform: Shape 63">
                <a:extLst>
                  <a:ext uri="{FF2B5EF4-FFF2-40B4-BE49-F238E27FC236}">
                    <a16:creationId xmlns:a16="http://schemas.microsoft.com/office/drawing/2014/main" id="{83D4A9E2-6E24-5903-9AD5-C233A8F0986D}"/>
                  </a:ext>
                </a:extLst>
              </p:cNvPr>
              <p:cNvSpPr/>
              <p:nvPr/>
            </p:nvSpPr>
            <p:spPr>
              <a:xfrm>
                <a:off x="2342486" y="758377"/>
                <a:ext cx="166298" cy="181723"/>
              </a:xfrm>
              <a:custGeom>
                <a:avLst/>
                <a:gdLst>
                  <a:gd name="connsiteX0" fmla="*/ 41584 w 166298"/>
                  <a:gd name="connsiteY0" fmla="*/ 138577 h 181723"/>
                  <a:gd name="connsiteX1" fmla="*/ 0 w 166298"/>
                  <a:gd name="connsiteY1" fmla="*/ 110890 h 181723"/>
                  <a:gd name="connsiteX2" fmla="*/ 0 w 166298"/>
                  <a:gd name="connsiteY2" fmla="*/ 27722 h 181723"/>
                  <a:gd name="connsiteX3" fmla="*/ 41584 w 166298"/>
                  <a:gd name="connsiteY3" fmla="*/ 0 h 181723"/>
                  <a:gd name="connsiteX4" fmla="*/ 124715 w 166298"/>
                  <a:gd name="connsiteY4" fmla="*/ 49687 h 181723"/>
                  <a:gd name="connsiteX5" fmla="*/ 124715 w 166298"/>
                  <a:gd name="connsiteY5" fmla="*/ 103604 h 181723"/>
                  <a:gd name="connsiteX6" fmla="*/ 166299 w 166298"/>
                  <a:gd name="connsiteY6" fmla="*/ 127203 h 181723"/>
                  <a:gd name="connsiteX7" fmla="*/ 166299 w 166298"/>
                  <a:gd name="connsiteY7" fmla="*/ 168112 h 181723"/>
                  <a:gd name="connsiteX8" fmla="*/ 166299 w 166298"/>
                  <a:gd name="connsiteY8" fmla="*/ 181724 h 1817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66298" h="181723">
                    <a:moveTo>
                      <a:pt x="41584" y="138577"/>
                    </a:moveTo>
                    <a:lnTo>
                      <a:pt x="0" y="110890"/>
                    </a:lnTo>
                    <a:lnTo>
                      <a:pt x="0" y="27722"/>
                    </a:lnTo>
                    <a:lnTo>
                      <a:pt x="41584" y="0"/>
                    </a:lnTo>
                    <a:lnTo>
                      <a:pt x="124715" y="49687"/>
                    </a:lnTo>
                    <a:lnTo>
                      <a:pt x="124715" y="103604"/>
                    </a:lnTo>
                    <a:lnTo>
                      <a:pt x="166299" y="127203"/>
                    </a:lnTo>
                    <a:lnTo>
                      <a:pt x="166299" y="168112"/>
                    </a:lnTo>
                    <a:lnTo>
                      <a:pt x="166299" y="181724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9" name="Freeform: Shape 64">
                <a:extLst>
                  <a:ext uri="{FF2B5EF4-FFF2-40B4-BE49-F238E27FC236}">
                    <a16:creationId xmlns:a16="http://schemas.microsoft.com/office/drawing/2014/main" id="{11AE5691-8B1A-1269-A0E9-817C777A6DDB}"/>
                  </a:ext>
                </a:extLst>
              </p:cNvPr>
              <p:cNvSpPr/>
              <p:nvPr/>
            </p:nvSpPr>
            <p:spPr>
              <a:xfrm>
                <a:off x="2259318" y="820753"/>
                <a:ext cx="41583" cy="105736"/>
              </a:xfrm>
              <a:custGeom>
                <a:avLst/>
                <a:gdLst>
                  <a:gd name="connsiteX0" fmla="*/ 0 w 41583"/>
                  <a:gd name="connsiteY0" fmla="*/ 105736 h 105736"/>
                  <a:gd name="connsiteX1" fmla="*/ 0 w 41583"/>
                  <a:gd name="connsiteY1" fmla="*/ 62340 h 105736"/>
                  <a:gd name="connsiteX2" fmla="*/ 41584 w 41583"/>
                  <a:gd name="connsiteY2" fmla="*/ 41584 h 105736"/>
                  <a:gd name="connsiteX3" fmla="*/ 41584 w 41583"/>
                  <a:gd name="connsiteY3" fmla="*/ 0 h 1057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1583" h="105736">
                    <a:moveTo>
                      <a:pt x="0" y="105736"/>
                    </a:moveTo>
                    <a:lnTo>
                      <a:pt x="0" y="62340"/>
                    </a:lnTo>
                    <a:lnTo>
                      <a:pt x="41584" y="41584"/>
                    </a:lnTo>
                    <a:lnTo>
                      <a:pt x="41584" y="0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0" name="Freeform: Shape 65">
                <a:extLst>
                  <a:ext uri="{FF2B5EF4-FFF2-40B4-BE49-F238E27FC236}">
                    <a16:creationId xmlns:a16="http://schemas.microsoft.com/office/drawing/2014/main" id="{79058C51-BABE-0FB4-1AE4-5C8A5AA64680}"/>
                  </a:ext>
                </a:extLst>
              </p:cNvPr>
              <p:cNvSpPr/>
              <p:nvPr/>
            </p:nvSpPr>
            <p:spPr>
              <a:xfrm>
                <a:off x="2217735" y="862336"/>
                <a:ext cx="41583" cy="20756"/>
              </a:xfrm>
              <a:custGeom>
                <a:avLst/>
                <a:gdLst>
                  <a:gd name="connsiteX0" fmla="*/ 41584 w 41583"/>
                  <a:gd name="connsiteY0" fmla="*/ 20756 h 20756"/>
                  <a:gd name="connsiteX1" fmla="*/ 0 w 41583"/>
                  <a:gd name="connsiteY1" fmla="*/ 0 h 207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41583" h="20756">
                    <a:moveTo>
                      <a:pt x="41584" y="20756"/>
                    </a:moveTo>
                    <a:lnTo>
                      <a:pt x="0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1" name="Freeform: Shape 66">
                <a:extLst>
                  <a:ext uri="{FF2B5EF4-FFF2-40B4-BE49-F238E27FC236}">
                    <a16:creationId xmlns:a16="http://schemas.microsoft.com/office/drawing/2014/main" id="{18E2D3F2-2988-09CD-E581-8CB2547785CE}"/>
                  </a:ext>
                </a:extLst>
              </p:cNvPr>
              <p:cNvSpPr/>
              <p:nvPr/>
            </p:nvSpPr>
            <p:spPr>
              <a:xfrm>
                <a:off x="2259318" y="783541"/>
                <a:ext cx="3554" cy="51073"/>
              </a:xfrm>
              <a:custGeom>
                <a:avLst/>
                <a:gdLst>
                  <a:gd name="connsiteX0" fmla="*/ 0 w 3554"/>
                  <a:gd name="connsiteY0" fmla="*/ 51073 h 51073"/>
                  <a:gd name="connsiteX1" fmla="*/ 0 w 3554"/>
                  <a:gd name="connsiteY1" fmla="*/ 0 h 510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554" h="51073">
                    <a:moveTo>
                      <a:pt x="0" y="51073"/>
                    </a:moveTo>
                    <a:lnTo>
                      <a:pt x="0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2" name="Freeform: Shape 67">
                <a:extLst>
                  <a:ext uri="{FF2B5EF4-FFF2-40B4-BE49-F238E27FC236}">
                    <a16:creationId xmlns:a16="http://schemas.microsoft.com/office/drawing/2014/main" id="{579B2259-79BD-DB3B-5EC3-F3C6C2217360}"/>
                  </a:ext>
                </a:extLst>
              </p:cNvPr>
              <p:cNvSpPr/>
              <p:nvPr/>
            </p:nvSpPr>
            <p:spPr>
              <a:xfrm>
                <a:off x="2176187" y="903351"/>
                <a:ext cx="40019" cy="23564"/>
              </a:xfrm>
              <a:custGeom>
                <a:avLst/>
                <a:gdLst>
                  <a:gd name="connsiteX0" fmla="*/ 0 w 40019"/>
                  <a:gd name="connsiteY0" fmla="*/ 23564 h 23564"/>
                  <a:gd name="connsiteX1" fmla="*/ 40020 w 40019"/>
                  <a:gd name="connsiteY1" fmla="*/ 0 h 23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40019" h="23564">
                    <a:moveTo>
                      <a:pt x="0" y="23564"/>
                    </a:moveTo>
                    <a:lnTo>
                      <a:pt x="40020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3" name="Freeform: Shape 68">
                <a:extLst>
                  <a:ext uri="{FF2B5EF4-FFF2-40B4-BE49-F238E27FC236}">
                    <a16:creationId xmlns:a16="http://schemas.microsoft.com/office/drawing/2014/main" id="{7B2C7DEC-E76D-D4C1-B396-C06168610C98}"/>
                  </a:ext>
                </a:extLst>
              </p:cNvPr>
              <p:cNvSpPr/>
              <p:nvPr/>
            </p:nvSpPr>
            <p:spPr>
              <a:xfrm>
                <a:off x="2217735" y="924676"/>
                <a:ext cx="41583" cy="27722"/>
              </a:xfrm>
              <a:custGeom>
                <a:avLst/>
                <a:gdLst>
                  <a:gd name="connsiteX0" fmla="*/ 0 w 41583"/>
                  <a:gd name="connsiteY0" fmla="*/ 27722 h 27722"/>
                  <a:gd name="connsiteX1" fmla="*/ 41584 w 41583"/>
                  <a:gd name="connsiteY1" fmla="*/ 0 h 27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41583" h="27722">
                    <a:moveTo>
                      <a:pt x="0" y="27722"/>
                    </a:moveTo>
                    <a:lnTo>
                      <a:pt x="41584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94" name="Freeform: Shape 69">
                <a:extLst>
                  <a:ext uri="{FF2B5EF4-FFF2-40B4-BE49-F238E27FC236}">
                    <a16:creationId xmlns:a16="http://schemas.microsoft.com/office/drawing/2014/main" id="{60CB8E1D-F244-A172-E275-D172E1D0D235}"/>
                  </a:ext>
                </a:extLst>
              </p:cNvPr>
              <p:cNvSpPr/>
              <p:nvPr/>
            </p:nvSpPr>
            <p:spPr>
              <a:xfrm>
                <a:off x="2176187" y="758377"/>
                <a:ext cx="166298" cy="184922"/>
              </a:xfrm>
              <a:custGeom>
                <a:avLst/>
                <a:gdLst>
                  <a:gd name="connsiteX0" fmla="*/ 166299 w 166298"/>
                  <a:gd name="connsiteY0" fmla="*/ 27722 h 184922"/>
                  <a:gd name="connsiteX1" fmla="*/ 124715 w 166298"/>
                  <a:gd name="connsiteY1" fmla="*/ 0 h 184922"/>
                  <a:gd name="connsiteX2" fmla="*/ 41548 w 166298"/>
                  <a:gd name="connsiteY2" fmla="*/ 48514 h 184922"/>
                  <a:gd name="connsiteX3" fmla="*/ 41548 w 166298"/>
                  <a:gd name="connsiteY3" fmla="*/ 103604 h 184922"/>
                  <a:gd name="connsiteX4" fmla="*/ 0 w 166298"/>
                  <a:gd name="connsiteY4" fmla="*/ 124715 h 184922"/>
                  <a:gd name="connsiteX5" fmla="*/ 0 w 166298"/>
                  <a:gd name="connsiteY5" fmla="*/ 168112 h 184922"/>
                  <a:gd name="connsiteX6" fmla="*/ 0 w 166298"/>
                  <a:gd name="connsiteY6" fmla="*/ 184923 h 1849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6298" h="184922">
                    <a:moveTo>
                      <a:pt x="166299" y="27722"/>
                    </a:moveTo>
                    <a:lnTo>
                      <a:pt x="124715" y="0"/>
                    </a:lnTo>
                    <a:lnTo>
                      <a:pt x="41548" y="48514"/>
                    </a:lnTo>
                    <a:lnTo>
                      <a:pt x="41548" y="103604"/>
                    </a:lnTo>
                    <a:lnTo>
                      <a:pt x="0" y="124715"/>
                    </a:lnTo>
                    <a:lnTo>
                      <a:pt x="0" y="168112"/>
                    </a:lnTo>
                    <a:lnTo>
                      <a:pt x="0" y="184923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5" name="Freeform: Shape 70">
                <a:extLst>
                  <a:ext uri="{FF2B5EF4-FFF2-40B4-BE49-F238E27FC236}">
                    <a16:creationId xmlns:a16="http://schemas.microsoft.com/office/drawing/2014/main" id="{4749D449-0E96-2583-7242-2EE358A22321}"/>
                  </a:ext>
                </a:extLst>
              </p:cNvPr>
              <p:cNvSpPr/>
              <p:nvPr/>
            </p:nvSpPr>
            <p:spPr>
              <a:xfrm>
                <a:off x="2259318" y="924676"/>
                <a:ext cx="83167" cy="56617"/>
              </a:xfrm>
              <a:custGeom>
                <a:avLst/>
                <a:gdLst>
                  <a:gd name="connsiteX0" fmla="*/ 0 w 83167"/>
                  <a:gd name="connsiteY0" fmla="*/ 0 h 56617"/>
                  <a:gd name="connsiteX1" fmla="*/ 41584 w 83167"/>
                  <a:gd name="connsiteY1" fmla="*/ 27722 h 56617"/>
                  <a:gd name="connsiteX2" fmla="*/ 41584 w 83167"/>
                  <a:gd name="connsiteY2" fmla="*/ 56618 h 56617"/>
                  <a:gd name="connsiteX3" fmla="*/ 83167 w 83167"/>
                  <a:gd name="connsiteY3" fmla="*/ 34227 h 566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3167" h="56617">
                    <a:moveTo>
                      <a:pt x="0" y="0"/>
                    </a:moveTo>
                    <a:lnTo>
                      <a:pt x="41584" y="27722"/>
                    </a:lnTo>
                    <a:lnTo>
                      <a:pt x="41584" y="56618"/>
                    </a:lnTo>
                    <a:lnTo>
                      <a:pt x="83167" y="34227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6" name="Freeform: Shape 71">
                <a:extLst>
                  <a:ext uri="{FF2B5EF4-FFF2-40B4-BE49-F238E27FC236}">
                    <a16:creationId xmlns:a16="http://schemas.microsoft.com/office/drawing/2014/main" id="{2EAD9AE8-D94C-DD15-A55E-E05A4EC0C601}"/>
                  </a:ext>
                </a:extLst>
              </p:cNvPr>
              <p:cNvSpPr/>
              <p:nvPr/>
            </p:nvSpPr>
            <p:spPr>
              <a:xfrm>
                <a:off x="2467201" y="945468"/>
                <a:ext cx="15069" cy="7534"/>
              </a:xfrm>
              <a:custGeom>
                <a:avLst/>
                <a:gdLst>
                  <a:gd name="connsiteX0" fmla="*/ 0 w 15069"/>
                  <a:gd name="connsiteY0" fmla="*/ 0 h 7534"/>
                  <a:gd name="connsiteX1" fmla="*/ 15070 w 15069"/>
                  <a:gd name="connsiteY1" fmla="*/ 7535 h 75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5069" h="7534">
                    <a:moveTo>
                      <a:pt x="0" y="0"/>
                    </a:moveTo>
                    <a:lnTo>
                      <a:pt x="15070" y="7535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7" name="Freeform: Shape 72">
                <a:extLst>
                  <a:ext uri="{FF2B5EF4-FFF2-40B4-BE49-F238E27FC236}">
                    <a16:creationId xmlns:a16="http://schemas.microsoft.com/office/drawing/2014/main" id="{90236A68-31A8-32D4-445A-0030117FD676}"/>
                  </a:ext>
                </a:extLst>
              </p:cNvPr>
              <p:cNvSpPr/>
              <p:nvPr/>
            </p:nvSpPr>
            <p:spPr>
              <a:xfrm>
                <a:off x="2439478" y="834614"/>
                <a:ext cx="27722" cy="3554"/>
              </a:xfrm>
              <a:custGeom>
                <a:avLst/>
                <a:gdLst>
                  <a:gd name="connsiteX0" fmla="*/ 27722 w 27722"/>
                  <a:gd name="connsiteY0" fmla="*/ 0 h 3554"/>
                  <a:gd name="connsiteX1" fmla="*/ 0 w 27722"/>
                  <a:gd name="connsiteY1" fmla="*/ 0 h 35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7722" h="3554">
                    <a:moveTo>
                      <a:pt x="27722" y="0"/>
                    </a:moveTo>
                    <a:lnTo>
                      <a:pt x="0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8" name="Freeform: Shape 73">
                <a:extLst>
                  <a:ext uri="{FF2B5EF4-FFF2-40B4-BE49-F238E27FC236}">
                    <a16:creationId xmlns:a16="http://schemas.microsoft.com/office/drawing/2014/main" id="{59073E75-5CE3-2DD3-9314-1090FA9F16F0}"/>
                  </a:ext>
                </a:extLst>
              </p:cNvPr>
              <p:cNvSpPr/>
              <p:nvPr/>
            </p:nvSpPr>
            <p:spPr>
              <a:xfrm>
                <a:off x="2411792" y="820753"/>
                <a:ext cx="27722" cy="27722"/>
              </a:xfrm>
              <a:custGeom>
                <a:avLst/>
                <a:gdLst>
                  <a:gd name="connsiteX0" fmla="*/ 27722 w 27722"/>
                  <a:gd name="connsiteY0" fmla="*/ 13861 h 27722"/>
                  <a:gd name="connsiteX1" fmla="*/ 13861 w 27722"/>
                  <a:gd name="connsiteY1" fmla="*/ 27722 h 27722"/>
                  <a:gd name="connsiteX2" fmla="*/ 0 w 27722"/>
                  <a:gd name="connsiteY2" fmla="*/ 13861 h 27722"/>
                  <a:gd name="connsiteX3" fmla="*/ 13861 w 27722"/>
                  <a:gd name="connsiteY3" fmla="*/ 0 h 27722"/>
                  <a:gd name="connsiteX4" fmla="*/ 27722 w 27722"/>
                  <a:gd name="connsiteY4" fmla="*/ 13861 h 27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722" h="27722">
                    <a:moveTo>
                      <a:pt x="27722" y="13861"/>
                    </a:moveTo>
                    <a:cubicBezTo>
                      <a:pt x="27722" y="21517"/>
                      <a:pt x="21517" y="27722"/>
                      <a:pt x="13861" y="27722"/>
                    </a:cubicBezTo>
                    <a:cubicBezTo>
                      <a:pt x="6206" y="27722"/>
                      <a:pt x="0" y="21517"/>
                      <a:pt x="0" y="13861"/>
                    </a:cubicBezTo>
                    <a:cubicBezTo>
                      <a:pt x="0" y="6206"/>
                      <a:pt x="6206" y="0"/>
                      <a:pt x="13861" y="0"/>
                    </a:cubicBezTo>
                    <a:cubicBezTo>
                      <a:pt x="21517" y="0"/>
                      <a:pt x="27722" y="6206"/>
                      <a:pt x="27722" y="13861"/>
                    </a:cubicBez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99" name="Freeform: Shape 74">
                <a:extLst>
                  <a:ext uri="{FF2B5EF4-FFF2-40B4-BE49-F238E27FC236}">
                    <a16:creationId xmlns:a16="http://schemas.microsoft.com/office/drawing/2014/main" id="{77D1D01C-C237-B069-53C0-CC7C9A5B7BC8}"/>
                  </a:ext>
                </a:extLst>
              </p:cNvPr>
              <p:cNvSpPr/>
              <p:nvPr/>
            </p:nvSpPr>
            <p:spPr>
              <a:xfrm>
                <a:off x="2439478" y="924676"/>
                <a:ext cx="27722" cy="27722"/>
              </a:xfrm>
              <a:custGeom>
                <a:avLst/>
                <a:gdLst>
                  <a:gd name="connsiteX0" fmla="*/ 27722 w 27722"/>
                  <a:gd name="connsiteY0" fmla="*/ 13861 h 27722"/>
                  <a:gd name="connsiteX1" fmla="*/ 13861 w 27722"/>
                  <a:gd name="connsiteY1" fmla="*/ 27722 h 27722"/>
                  <a:gd name="connsiteX2" fmla="*/ 0 w 27722"/>
                  <a:gd name="connsiteY2" fmla="*/ 13861 h 27722"/>
                  <a:gd name="connsiteX3" fmla="*/ 13861 w 27722"/>
                  <a:gd name="connsiteY3" fmla="*/ 0 h 27722"/>
                  <a:gd name="connsiteX4" fmla="*/ 27722 w 27722"/>
                  <a:gd name="connsiteY4" fmla="*/ 13861 h 27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722" h="27722">
                    <a:moveTo>
                      <a:pt x="27722" y="13861"/>
                    </a:moveTo>
                    <a:cubicBezTo>
                      <a:pt x="27722" y="21517"/>
                      <a:pt x="21517" y="27722"/>
                      <a:pt x="13861" y="27722"/>
                    </a:cubicBezTo>
                    <a:cubicBezTo>
                      <a:pt x="6206" y="27722"/>
                      <a:pt x="0" y="21517"/>
                      <a:pt x="0" y="13861"/>
                    </a:cubicBezTo>
                    <a:cubicBezTo>
                      <a:pt x="0" y="6206"/>
                      <a:pt x="6206" y="0"/>
                      <a:pt x="13861" y="0"/>
                    </a:cubicBezTo>
                    <a:cubicBezTo>
                      <a:pt x="21517" y="0"/>
                      <a:pt x="27722" y="6206"/>
                      <a:pt x="27722" y="13861"/>
                    </a:cubicBez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0" name="Freeform: Shape 75">
                <a:extLst>
                  <a:ext uri="{FF2B5EF4-FFF2-40B4-BE49-F238E27FC236}">
                    <a16:creationId xmlns:a16="http://schemas.microsoft.com/office/drawing/2014/main" id="{656F151E-5062-8763-8AF5-24E844077556}"/>
                  </a:ext>
                </a:extLst>
              </p:cNvPr>
              <p:cNvSpPr/>
              <p:nvPr/>
            </p:nvSpPr>
            <p:spPr>
              <a:xfrm>
                <a:off x="2384069" y="890023"/>
                <a:ext cx="27722" cy="27722"/>
              </a:xfrm>
              <a:custGeom>
                <a:avLst/>
                <a:gdLst>
                  <a:gd name="connsiteX0" fmla="*/ 27722 w 27722"/>
                  <a:gd name="connsiteY0" fmla="*/ 13861 h 27722"/>
                  <a:gd name="connsiteX1" fmla="*/ 13861 w 27722"/>
                  <a:gd name="connsiteY1" fmla="*/ 27722 h 27722"/>
                  <a:gd name="connsiteX2" fmla="*/ 0 w 27722"/>
                  <a:gd name="connsiteY2" fmla="*/ 13861 h 27722"/>
                  <a:gd name="connsiteX3" fmla="*/ 13861 w 27722"/>
                  <a:gd name="connsiteY3" fmla="*/ 0 h 27722"/>
                  <a:gd name="connsiteX4" fmla="*/ 27722 w 27722"/>
                  <a:gd name="connsiteY4" fmla="*/ 13861 h 27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722" h="27722">
                    <a:moveTo>
                      <a:pt x="27722" y="13861"/>
                    </a:moveTo>
                    <a:cubicBezTo>
                      <a:pt x="27722" y="21517"/>
                      <a:pt x="21517" y="27722"/>
                      <a:pt x="13861" y="27722"/>
                    </a:cubicBezTo>
                    <a:cubicBezTo>
                      <a:pt x="6206" y="27722"/>
                      <a:pt x="0" y="21517"/>
                      <a:pt x="0" y="13861"/>
                    </a:cubicBezTo>
                    <a:cubicBezTo>
                      <a:pt x="0" y="6206"/>
                      <a:pt x="6206" y="0"/>
                      <a:pt x="13861" y="0"/>
                    </a:cubicBezTo>
                    <a:cubicBezTo>
                      <a:pt x="21517" y="0"/>
                      <a:pt x="27722" y="6206"/>
                      <a:pt x="27722" y="13861"/>
                    </a:cubicBez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1" name="Freeform: Shape 76">
                <a:extLst>
                  <a:ext uri="{FF2B5EF4-FFF2-40B4-BE49-F238E27FC236}">
                    <a16:creationId xmlns:a16="http://schemas.microsoft.com/office/drawing/2014/main" id="{1DE7FAEF-56BA-12AE-D70B-60D1B0DEAC90}"/>
                  </a:ext>
                </a:extLst>
              </p:cNvPr>
              <p:cNvSpPr/>
              <p:nvPr/>
            </p:nvSpPr>
            <p:spPr>
              <a:xfrm>
                <a:off x="2304136" y="903351"/>
                <a:ext cx="38349" cy="89315"/>
              </a:xfrm>
              <a:custGeom>
                <a:avLst/>
                <a:gdLst>
                  <a:gd name="connsiteX0" fmla="*/ 38349 w 38349"/>
                  <a:gd name="connsiteY0" fmla="*/ 89316 h 89315"/>
                  <a:gd name="connsiteX1" fmla="*/ 38349 w 38349"/>
                  <a:gd name="connsiteY1" fmla="*/ 23528 h 89315"/>
                  <a:gd name="connsiteX2" fmla="*/ 0 w 38349"/>
                  <a:gd name="connsiteY2" fmla="*/ 0 h 893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8349" h="89315">
                    <a:moveTo>
                      <a:pt x="38349" y="89316"/>
                    </a:moveTo>
                    <a:lnTo>
                      <a:pt x="38349" y="23528"/>
                    </a:lnTo>
                    <a:lnTo>
                      <a:pt x="0" y="0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76" name="Graphic 1959">
              <a:extLst>
                <a:ext uri="{FF2B5EF4-FFF2-40B4-BE49-F238E27FC236}">
                  <a16:creationId xmlns:a16="http://schemas.microsoft.com/office/drawing/2014/main" id="{DAB72293-A5F4-237C-0755-B18C9095A15E}"/>
                </a:ext>
              </a:extLst>
            </p:cNvPr>
            <p:cNvGrpSpPr/>
            <p:nvPr/>
          </p:nvGrpSpPr>
          <p:grpSpPr>
            <a:xfrm>
              <a:off x="2106490" y="983533"/>
              <a:ext cx="471991" cy="352501"/>
              <a:chOff x="2106490" y="983533"/>
              <a:chExt cx="471991" cy="352501"/>
            </a:xfrm>
            <a:noFill/>
          </p:grpSpPr>
          <p:grpSp>
            <p:nvGrpSpPr>
              <p:cNvPr id="83" name="Graphic 1959">
                <a:extLst>
                  <a:ext uri="{FF2B5EF4-FFF2-40B4-BE49-F238E27FC236}">
                    <a16:creationId xmlns:a16="http://schemas.microsoft.com/office/drawing/2014/main" id="{84B93E29-ABD0-3BE3-162C-0BA1B251E69D}"/>
                  </a:ext>
                </a:extLst>
              </p:cNvPr>
              <p:cNvGrpSpPr/>
              <p:nvPr/>
            </p:nvGrpSpPr>
            <p:grpSpPr>
              <a:xfrm>
                <a:off x="2106490" y="1205881"/>
                <a:ext cx="471991" cy="130153"/>
                <a:chOff x="2106490" y="1205881"/>
                <a:chExt cx="471991" cy="130153"/>
              </a:xfrm>
              <a:noFill/>
            </p:grpSpPr>
            <p:sp>
              <p:nvSpPr>
                <p:cNvPr id="85" name="Freeform: Shape 59">
                  <a:extLst>
                    <a:ext uri="{FF2B5EF4-FFF2-40B4-BE49-F238E27FC236}">
                      <a16:creationId xmlns:a16="http://schemas.microsoft.com/office/drawing/2014/main" id="{9D112855-8100-2B8F-FE7C-169086AEE692}"/>
                    </a:ext>
                  </a:extLst>
                </p:cNvPr>
                <p:cNvSpPr/>
                <p:nvPr/>
              </p:nvSpPr>
              <p:spPr>
                <a:xfrm>
                  <a:off x="2578481" y="1205881"/>
                  <a:ext cx="3554" cy="43929"/>
                </a:xfrm>
                <a:custGeom>
                  <a:avLst/>
                  <a:gdLst>
                    <a:gd name="connsiteX0" fmla="*/ 0 w 3554"/>
                    <a:gd name="connsiteY0" fmla="*/ 43929 h 43929"/>
                    <a:gd name="connsiteX1" fmla="*/ 0 w 3554"/>
                    <a:gd name="connsiteY1" fmla="*/ 0 h 439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3554" h="43929">
                      <a:moveTo>
                        <a:pt x="0" y="43929"/>
                      </a:moveTo>
                      <a:lnTo>
                        <a:pt x="0" y="0"/>
                      </a:lnTo>
                    </a:path>
                  </a:pathLst>
                </a:custGeom>
                <a:ln w="12700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6" name="Freeform: Shape 60">
                  <a:extLst>
                    <a:ext uri="{FF2B5EF4-FFF2-40B4-BE49-F238E27FC236}">
                      <a16:creationId xmlns:a16="http://schemas.microsoft.com/office/drawing/2014/main" id="{AE726E63-5A40-8559-7EF8-48A85FAEBE7A}"/>
                    </a:ext>
                  </a:extLst>
                </p:cNvPr>
                <p:cNvSpPr/>
                <p:nvPr/>
              </p:nvSpPr>
              <p:spPr>
                <a:xfrm>
                  <a:off x="2362602" y="1267545"/>
                  <a:ext cx="215879" cy="68488"/>
                </a:xfrm>
                <a:custGeom>
                  <a:avLst/>
                  <a:gdLst>
                    <a:gd name="connsiteX0" fmla="*/ 0 w 215879"/>
                    <a:gd name="connsiteY0" fmla="*/ 68489 h 68488"/>
                    <a:gd name="connsiteX1" fmla="*/ 215879 w 215879"/>
                    <a:gd name="connsiteY1" fmla="*/ 27403 h 68488"/>
                    <a:gd name="connsiteX2" fmla="*/ 215879 w 215879"/>
                    <a:gd name="connsiteY2" fmla="*/ 0 h 684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15879" h="68488">
                      <a:moveTo>
                        <a:pt x="0" y="68489"/>
                      </a:moveTo>
                      <a:lnTo>
                        <a:pt x="215879" y="27403"/>
                      </a:lnTo>
                      <a:lnTo>
                        <a:pt x="215879" y="0"/>
                      </a:lnTo>
                    </a:path>
                  </a:pathLst>
                </a:custGeom>
                <a:noFill/>
                <a:ln w="12700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87" name="Freeform: Shape 62">
                  <a:extLst>
                    <a:ext uri="{FF2B5EF4-FFF2-40B4-BE49-F238E27FC236}">
                      <a16:creationId xmlns:a16="http://schemas.microsoft.com/office/drawing/2014/main" id="{79B64237-4B8F-194C-E7C4-6293876CF708}"/>
                    </a:ext>
                  </a:extLst>
                </p:cNvPr>
                <p:cNvSpPr/>
                <p:nvPr/>
              </p:nvSpPr>
              <p:spPr>
                <a:xfrm>
                  <a:off x="2106490" y="1236802"/>
                  <a:ext cx="215879" cy="99232"/>
                </a:xfrm>
                <a:custGeom>
                  <a:avLst/>
                  <a:gdLst>
                    <a:gd name="connsiteX0" fmla="*/ 0 w 215879"/>
                    <a:gd name="connsiteY0" fmla="*/ 0 h 99232"/>
                    <a:gd name="connsiteX1" fmla="*/ 0 w 215879"/>
                    <a:gd name="connsiteY1" fmla="*/ 58146 h 99232"/>
                    <a:gd name="connsiteX2" fmla="*/ 215879 w 215879"/>
                    <a:gd name="connsiteY2" fmla="*/ 99232 h 992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15879" h="99232">
                      <a:moveTo>
                        <a:pt x="0" y="0"/>
                      </a:moveTo>
                      <a:lnTo>
                        <a:pt x="0" y="58146"/>
                      </a:lnTo>
                      <a:lnTo>
                        <a:pt x="215879" y="99232"/>
                      </a:lnTo>
                    </a:path>
                  </a:pathLst>
                </a:custGeom>
                <a:noFill/>
                <a:ln w="12700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sp>
            <p:nvSpPr>
              <p:cNvPr id="84" name="Freeform: Shape 58">
                <a:extLst>
                  <a:ext uri="{FF2B5EF4-FFF2-40B4-BE49-F238E27FC236}">
                    <a16:creationId xmlns:a16="http://schemas.microsoft.com/office/drawing/2014/main" id="{F8F154B0-E44B-1683-8F39-D8C1C0B0FF3C}"/>
                  </a:ext>
                </a:extLst>
              </p:cNvPr>
              <p:cNvSpPr/>
              <p:nvPr/>
            </p:nvSpPr>
            <p:spPr>
              <a:xfrm>
                <a:off x="2106490" y="983533"/>
                <a:ext cx="471991" cy="352501"/>
              </a:xfrm>
              <a:custGeom>
                <a:avLst/>
                <a:gdLst>
                  <a:gd name="connsiteX0" fmla="*/ 471992 w 471991"/>
                  <a:gd name="connsiteY0" fmla="*/ 201485 h 352501"/>
                  <a:gd name="connsiteX1" fmla="*/ 471992 w 471991"/>
                  <a:gd name="connsiteY1" fmla="*/ 0 h 352501"/>
                  <a:gd name="connsiteX2" fmla="*/ 256112 w 471991"/>
                  <a:gd name="connsiteY2" fmla="*/ 26692 h 352501"/>
                  <a:gd name="connsiteX3" fmla="*/ 256112 w 471991"/>
                  <a:gd name="connsiteY3" fmla="*/ 352501 h 352501"/>
                  <a:gd name="connsiteX4" fmla="*/ 215879 w 471991"/>
                  <a:gd name="connsiteY4" fmla="*/ 352501 h 352501"/>
                  <a:gd name="connsiteX5" fmla="*/ 215879 w 471991"/>
                  <a:gd name="connsiteY5" fmla="*/ 26656 h 352501"/>
                  <a:gd name="connsiteX6" fmla="*/ 0 w 471991"/>
                  <a:gd name="connsiteY6" fmla="*/ 0 h 352501"/>
                  <a:gd name="connsiteX7" fmla="*/ 0 w 471991"/>
                  <a:gd name="connsiteY7" fmla="*/ 149914 h 3525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71991" h="352501">
                    <a:moveTo>
                      <a:pt x="471992" y="201485"/>
                    </a:moveTo>
                    <a:lnTo>
                      <a:pt x="471992" y="0"/>
                    </a:lnTo>
                    <a:lnTo>
                      <a:pt x="256112" y="26692"/>
                    </a:lnTo>
                    <a:lnTo>
                      <a:pt x="256112" y="352501"/>
                    </a:lnTo>
                    <a:lnTo>
                      <a:pt x="215879" y="352501"/>
                    </a:lnTo>
                    <a:lnTo>
                      <a:pt x="215879" y="26656"/>
                    </a:lnTo>
                    <a:lnTo>
                      <a:pt x="0" y="0"/>
                    </a:lnTo>
                    <a:lnTo>
                      <a:pt x="0" y="149914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77" name="Freeform: Shape 51">
              <a:extLst>
                <a:ext uri="{FF2B5EF4-FFF2-40B4-BE49-F238E27FC236}">
                  <a16:creationId xmlns:a16="http://schemas.microsoft.com/office/drawing/2014/main" id="{DA3C1988-DDC0-BE5E-9D5D-641EF57FCBD3}"/>
                </a:ext>
              </a:extLst>
            </p:cNvPr>
            <p:cNvSpPr/>
            <p:nvPr/>
          </p:nvSpPr>
          <p:spPr>
            <a:xfrm>
              <a:off x="2323506" y="1302198"/>
              <a:ext cx="38136" cy="2985"/>
            </a:xfrm>
            <a:custGeom>
              <a:avLst/>
              <a:gdLst>
                <a:gd name="connsiteX0" fmla="*/ 38136 w 38136"/>
                <a:gd name="connsiteY0" fmla="*/ 142 h 2985"/>
                <a:gd name="connsiteX1" fmla="*/ 19548 w 38136"/>
                <a:gd name="connsiteY1" fmla="*/ 2986 h 2985"/>
                <a:gd name="connsiteX2" fmla="*/ 0 w 38136"/>
                <a:gd name="connsiteY2" fmla="*/ 0 h 2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136" h="2985">
                  <a:moveTo>
                    <a:pt x="38136" y="142"/>
                  </a:moveTo>
                  <a:lnTo>
                    <a:pt x="19548" y="2986"/>
                  </a:lnTo>
                  <a:lnTo>
                    <a:pt x="0" y="0"/>
                  </a:lnTo>
                </a:path>
              </a:pathLst>
            </a:custGeom>
            <a:noFill/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8" name="Freeform: Shape 52">
              <a:extLst>
                <a:ext uri="{FF2B5EF4-FFF2-40B4-BE49-F238E27FC236}">
                  <a16:creationId xmlns:a16="http://schemas.microsoft.com/office/drawing/2014/main" id="{C07D2AB5-1A28-E05F-C34D-3B18F1955957}"/>
                </a:ext>
              </a:extLst>
            </p:cNvPr>
            <p:cNvSpPr/>
            <p:nvPr/>
          </p:nvSpPr>
          <p:spPr>
            <a:xfrm>
              <a:off x="2323506" y="1044771"/>
              <a:ext cx="38136" cy="2985"/>
            </a:xfrm>
            <a:custGeom>
              <a:avLst/>
              <a:gdLst>
                <a:gd name="connsiteX0" fmla="*/ 38136 w 38136"/>
                <a:gd name="connsiteY0" fmla="*/ 142 h 2985"/>
                <a:gd name="connsiteX1" fmla="*/ 19548 w 38136"/>
                <a:gd name="connsiteY1" fmla="*/ 2985 h 2985"/>
                <a:gd name="connsiteX2" fmla="*/ 0 w 38136"/>
                <a:gd name="connsiteY2" fmla="*/ 0 h 2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136" h="2985">
                  <a:moveTo>
                    <a:pt x="38136" y="142"/>
                  </a:moveTo>
                  <a:lnTo>
                    <a:pt x="19548" y="2985"/>
                  </a:lnTo>
                  <a:lnTo>
                    <a:pt x="0" y="0"/>
                  </a:lnTo>
                </a:path>
              </a:pathLst>
            </a:custGeom>
            <a:noFill/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79" name="Freeform: Shape 53">
              <a:extLst>
                <a:ext uri="{FF2B5EF4-FFF2-40B4-BE49-F238E27FC236}">
                  <a16:creationId xmlns:a16="http://schemas.microsoft.com/office/drawing/2014/main" id="{5C189C91-C198-69AE-E18A-E6469DCA2143}"/>
                </a:ext>
              </a:extLst>
            </p:cNvPr>
            <p:cNvSpPr/>
            <p:nvPr/>
          </p:nvSpPr>
          <p:spPr>
            <a:xfrm>
              <a:off x="2322405" y="1010189"/>
              <a:ext cx="40197" cy="3554"/>
            </a:xfrm>
            <a:custGeom>
              <a:avLst/>
              <a:gdLst>
                <a:gd name="connsiteX0" fmla="*/ 40198 w 40197"/>
                <a:gd name="connsiteY0" fmla="*/ 0 h 3554"/>
                <a:gd name="connsiteX1" fmla="*/ 0 w 40197"/>
                <a:gd name="connsiteY1" fmla="*/ 0 h 3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0197" h="3554">
                  <a:moveTo>
                    <a:pt x="40198" y="0"/>
                  </a:moveTo>
                  <a:lnTo>
                    <a:pt x="0" y="0"/>
                  </a:lnTo>
                </a:path>
              </a:pathLst>
            </a:custGeom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0" name="Freeform: Shape 54">
              <a:extLst>
                <a:ext uri="{FF2B5EF4-FFF2-40B4-BE49-F238E27FC236}">
                  <a16:creationId xmlns:a16="http://schemas.microsoft.com/office/drawing/2014/main" id="{8C4BE257-FD26-C06E-C3C6-C1E8AF9090F2}"/>
                </a:ext>
              </a:extLst>
            </p:cNvPr>
            <p:cNvSpPr/>
            <p:nvPr/>
          </p:nvSpPr>
          <p:spPr>
            <a:xfrm>
              <a:off x="2106490" y="1148659"/>
              <a:ext cx="3554" cy="66107"/>
            </a:xfrm>
            <a:custGeom>
              <a:avLst/>
              <a:gdLst>
                <a:gd name="connsiteX0" fmla="*/ 0 w 3554"/>
                <a:gd name="connsiteY0" fmla="*/ 0 h 66107"/>
                <a:gd name="connsiteX1" fmla="*/ 0 w 3554"/>
                <a:gd name="connsiteY1" fmla="*/ 66107 h 66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554" h="66107">
                  <a:moveTo>
                    <a:pt x="0" y="0"/>
                  </a:moveTo>
                  <a:lnTo>
                    <a:pt x="0" y="66107"/>
                  </a:lnTo>
                </a:path>
              </a:pathLst>
            </a:custGeom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1" name="Freeform: Shape 55">
              <a:extLst>
                <a:ext uri="{FF2B5EF4-FFF2-40B4-BE49-F238E27FC236}">
                  <a16:creationId xmlns:a16="http://schemas.microsoft.com/office/drawing/2014/main" id="{A7C0A5A6-7A50-5C9B-655D-0ADE25784640}"/>
                </a:ext>
              </a:extLst>
            </p:cNvPr>
            <p:cNvSpPr/>
            <p:nvPr/>
          </p:nvSpPr>
          <p:spPr>
            <a:xfrm>
              <a:off x="2147860" y="952398"/>
              <a:ext cx="194625" cy="57790"/>
            </a:xfrm>
            <a:custGeom>
              <a:avLst/>
              <a:gdLst>
                <a:gd name="connsiteX0" fmla="*/ 0 w 194625"/>
                <a:gd name="connsiteY0" fmla="*/ 36252 h 57790"/>
                <a:gd name="connsiteX1" fmla="*/ 0 w 194625"/>
                <a:gd name="connsiteY1" fmla="*/ 0 h 57790"/>
                <a:gd name="connsiteX2" fmla="*/ 194626 w 194625"/>
                <a:gd name="connsiteY2" fmla="*/ 57791 h 57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625" h="57790">
                  <a:moveTo>
                    <a:pt x="0" y="36252"/>
                  </a:moveTo>
                  <a:lnTo>
                    <a:pt x="0" y="0"/>
                  </a:lnTo>
                  <a:lnTo>
                    <a:pt x="194626" y="57791"/>
                  </a:lnTo>
                </a:path>
              </a:pathLst>
            </a:custGeom>
            <a:noFill/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2" name="Freeform: Shape 56">
              <a:extLst>
                <a:ext uri="{FF2B5EF4-FFF2-40B4-BE49-F238E27FC236}">
                  <a16:creationId xmlns:a16="http://schemas.microsoft.com/office/drawing/2014/main" id="{4F70229D-F34C-E660-5F38-5A881354ECD7}"/>
                </a:ext>
              </a:extLst>
            </p:cNvPr>
            <p:cNvSpPr/>
            <p:nvPr/>
          </p:nvSpPr>
          <p:spPr>
            <a:xfrm>
              <a:off x="2347995" y="952398"/>
              <a:ext cx="194589" cy="57790"/>
            </a:xfrm>
            <a:custGeom>
              <a:avLst/>
              <a:gdLst>
                <a:gd name="connsiteX0" fmla="*/ 194590 w 194589"/>
                <a:gd name="connsiteY0" fmla="*/ 36252 h 57790"/>
                <a:gd name="connsiteX1" fmla="*/ 194590 w 194589"/>
                <a:gd name="connsiteY1" fmla="*/ 0 h 57790"/>
                <a:gd name="connsiteX2" fmla="*/ 0 w 194589"/>
                <a:gd name="connsiteY2" fmla="*/ 57791 h 57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589" h="57790">
                  <a:moveTo>
                    <a:pt x="194590" y="36252"/>
                  </a:moveTo>
                  <a:lnTo>
                    <a:pt x="194590" y="0"/>
                  </a:lnTo>
                  <a:lnTo>
                    <a:pt x="0" y="57791"/>
                  </a:lnTo>
                </a:path>
              </a:pathLst>
            </a:custGeom>
            <a:noFill/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102" name="Group 168">
            <a:extLst>
              <a:ext uri="{FF2B5EF4-FFF2-40B4-BE49-F238E27FC236}">
                <a16:creationId xmlns:a16="http://schemas.microsoft.com/office/drawing/2014/main" id="{578B05CF-D884-530C-6987-99F4E868A6EA}"/>
              </a:ext>
            </a:extLst>
          </p:cNvPr>
          <p:cNvGrpSpPr/>
          <p:nvPr/>
        </p:nvGrpSpPr>
        <p:grpSpPr>
          <a:xfrm>
            <a:off x="5671962" y="3257006"/>
            <a:ext cx="971901" cy="826201"/>
            <a:chOff x="4898440" y="859854"/>
            <a:chExt cx="758718" cy="438608"/>
          </a:xfrm>
        </p:grpSpPr>
        <p:sp>
          <p:nvSpPr>
            <p:cNvPr id="103" name="Freeform: Shape 78">
              <a:extLst>
                <a:ext uri="{FF2B5EF4-FFF2-40B4-BE49-F238E27FC236}">
                  <a16:creationId xmlns:a16="http://schemas.microsoft.com/office/drawing/2014/main" id="{842F0C30-17B0-51B1-02E1-EC96745C6506}"/>
                </a:ext>
              </a:extLst>
            </p:cNvPr>
            <p:cNvSpPr/>
            <p:nvPr/>
          </p:nvSpPr>
          <p:spPr>
            <a:xfrm>
              <a:off x="4898440" y="859854"/>
              <a:ext cx="599442" cy="190785"/>
            </a:xfrm>
            <a:custGeom>
              <a:avLst/>
              <a:gdLst>
                <a:gd name="connsiteX0" fmla="*/ 322343 w 599442"/>
                <a:gd name="connsiteY0" fmla="*/ 190785 h 190785"/>
                <a:gd name="connsiteX1" fmla="*/ 0 w 599442"/>
                <a:gd name="connsiteY1" fmla="*/ 190785 h 190785"/>
                <a:gd name="connsiteX2" fmla="*/ 0 w 599442"/>
                <a:gd name="connsiteY2" fmla="*/ 0 h 190785"/>
                <a:gd name="connsiteX3" fmla="*/ 599443 w 599442"/>
                <a:gd name="connsiteY3" fmla="*/ 0 h 190785"/>
                <a:gd name="connsiteX4" fmla="*/ 599443 w 599442"/>
                <a:gd name="connsiteY4" fmla="*/ 88463 h 1907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99442" h="190785">
                  <a:moveTo>
                    <a:pt x="322343" y="190785"/>
                  </a:moveTo>
                  <a:lnTo>
                    <a:pt x="0" y="190785"/>
                  </a:lnTo>
                  <a:lnTo>
                    <a:pt x="0" y="0"/>
                  </a:lnTo>
                  <a:lnTo>
                    <a:pt x="599443" y="0"/>
                  </a:lnTo>
                  <a:lnTo>
                    <a:pt x="599443" y="88463"/>
                  </a:lnTo>
                </a:path>
              </a:pathLst>
            </a:custGeom>
            <a:noFill/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4" name="Freeform: Shape 79">
              <a:extLst>
                <a:ext uri="{FF2B5EF4-FFF2-40B4-BE49-F238E27FC236}">
                  <a16:creationId xmlns:a16="http://schemas.microsoft.com/office/drawing/2014/main" id="{5786B68A-3F59-7020-886D-DB75A320A94E}"/>
                </a:ext>
              </a:extLst>
            </p:cNvPr>
            <p:cNvSpPr/>
            <p:nvPr/>
          </p:nvSpPr>
          <p:spPr>
            <a:xfrm>
              <a:off x="5251239" y="980459"/>
              <a:ext cx="405919" cy="140361"/>
            </a:xfrm>
            <a:custGeom>
              <a:avLst/>
              <a:gdLst>
                <a:gd name="connsiteX0" fmla="*/ 0 w 405919"/>
                <a:gd name="connsiteY0" fmla="*/ 0 h 140361"/>
                <a:gd name="connsiteX1" fmla="*/ 405919 w 405919"/>
                <a:gd name="connsiteY1" fmla="*/ 0 h 140361"/>
                <a:gd name="connsiteX2" fmla="*/ 405919 w 405919"/>
                <a:gd name="connsiteY2" fmla="*/ 140362 h 140361"/>
                <a:gd name="connsiteX3" fmla="*/ 0 w 405919"/>
                <a:gd name="connsiteY3" fmla="*/ 140362 h 140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05919" h="140361">
                  <a:moveTo>
                    <a:pt x="0" y="0"/>
                  </a:moveTo>
                  <a:lnTo>
                    <a:pt x="405919" y="0"/>
                  </a:lnTo>
                  <a:lnTo>
                    <a:pt x="405919" y="140362"/>
                  </a:lnTo>
                  <a:lnTo>
                    <a:pt x="0" y="140362"/>
                  </a:lnTo>
                  <a:close/>
                </a:path>
              </a:pathLst>
            </a:custGeom>
            <a:noFill/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: Shape 80">
              <a:extLst>
                <a:ext uri="{FF2B5EF4-FFF2-40B4-BE49-F238E27FC236}">
                  <a16:creationId xmlns:a16="http://schemas.microsoft.com/office/drawing/2014/main" id="{45E56789-3CED-D9F4-E3AE-A0FAD2DA4FAC}"/>
                </a:ext>
              </a:extLst>
            </p:cNvPr>
            <p:cNvSpPr/>
            <p:nvPr/>
          </p:nvSpPr>
          <p:spPr>
            <a:xfrm>
              <a:off x="5249385" y="1158101"/>
              <a:ext cx="405919" cy="140361"/>
            </a:xfrm>
            <a:custGeom>
              <a:avLst/>
              <a:gdLst>
                <a:gd name="connsiteX0" fmla="*/ 0 w 405919"/>
                <a:gd name="connsiteY0" fmla="*/ 0 h 140361"/>
                <a:gd name="connsiteX1" fmla="*/ 405919 w 405919"/>
                <a:gd name="connsiteY1" fmla="*/ 0 h 140361"/>
                <a:gd name="connsiteX2" fmla="*/ 405919 w 405919"/>
                <a:gd name="connsiteY2" fmla="*/ 140362 h 140361"/>
                <a:gd name="connsiteX3" fmla="*/ 0 w 405919"/>
                <a:gd name="connsiteY3" fmla="*/ 140362 h 140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05919" h="140361">
                  <a:moveTo>
                    <a:pt x="0" y="0"/>
                  </a:moveTo>
                  <a:lnTo>
                    <a:pt x="405919" y="0"/>
                  </a:lnTo>
                  <a:lnTo>
                    <a:pt x="405919" y="140362"/>
                  </a:lnTo>
                  <a:lnTo>
                    <a:pt x="0" y="140362"/>
                  </a:lnTo>
                  <a:close/>
                </a:path>
              </a:pathLst>
            </a:custGeom>
            <a:noFill/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: Shape 81">
              <a:extLst>
                <a:ext uri="{FF2B5EF4-FFF2-40B4-BE49-F238E27FC236}">
                  <a16:creationId xmlns:a16="http://schemas.microsoft.com/office/drawing/2014/main" id="{5B223F9C-D142-9A8D-3FDD-5EC6E3B79468}"/>
                </a:ext>
              </a:extLst>
            </p:cNvPr>
            <p:cNvSpPr/>
            <p:nvPr/>
          </p:nvSpPr>
          <p:spPr>
            <a:xfrm>
              <a:off x="5293575" y="1017739"/>
              <a:ext cx="63609" cy="65799"/>
            </a:xfrm>
            <a:custGeom>
              <a:avLst/>
              <a:gdLst>
                <a:gd name="connsiteX0" fmla="*/ 0 w 63609"/>
                <a:gd name="connsiteY0" fmla="*/ 0 h 65799"/>
                <a:gd name="connsiteX1" fmla="*/ 0 w 63609"/>
                <a:gd name="connsiteY1" fmla="*/ 65800 h 65799"/>
                <a:gd name="connsiteX2" fmla="*/ 63609 w 63609"/>
                <a:gd name="connsiteY2" fmla="*/ 32900 h 65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609" h="65799">
                  <a:moveTo>
                    <a:pt x="0" y="0"/>
                  </a:moveTo>
                  <a:lnTo>
                    <a:pt x="0" y="65800"/>
                  </a:lnTo>
                  <a:lnTo>
                    <a:pt x="63609" y="32900"/>
                  </a:lnTo>
                  <a:close/>
                </a:path>
              </a:pathLst>
            </a:custGeom>
            <a:noFill/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: Shape 82">
              <a:extLst>
                <a:ext uri="{FF2B5EF4-FFF2-40B4-BE49-F238E27FC236}">
                  <a16:creationId xmlns:a16="http://schemas.microsoft.com/office/drawing/2014/main" id="{650A70CC-314A-B881-3D03-65F2FC9525D2}"/>
                </a:ext>
              </a:extLst>
            </p:cNvPr>
            <p:cNvSpPr/>
            <p:nvPr/>
          </p:nvSpPr>
          <p:spPr>
            <a:xfrm>
              <a:off x="4953034" y="895702"/>
              <a:ext cx="26033" cy="119130"/>
            </a:xfrm>
            <a:custGeom>
              <a:avLst/>
              <a:gdLst>
                <a:gd name="connsiteX0" fmla="*/ 26033 w 26033"/>
                <a:gd name="connsiteY0" fmla="*/ 119130 h 119130"/>
                <a:gd name="connsiteX1" fmla="*/ 0 w 26033"/>
                <a:gd name="connsiteY1" fmla="*/ 59481 h 119130"/>
                <a:gd name="connsiteX2" fmla="*/ 25865 w 26033"/>
                <a:gd name="connsiteY2" fmla="*/ 0 h 119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6033" h="119130">
                  <a:moveTo>
                    <a:pt x="26033" y="119130"/>
                  </a:moveTo>
                  <a:cubicBezTo>
                    <a:pt x="10026" y="104260"/>
                    <a:pt x="0" y="83029"/>
                    <a:pt x="0" y="59481"/>
                  </a:cubicBezTo>
                  <a:cubicBezTo>
                    <a:pt x="0" y="35975"/>
                    <a:pt x="9942" y="14828"/>
                    <a:pt x="25865" y="0"/>
                  </a:cubicBezTo>
                </a:path>
              </a:pathLst>
            </a:custGeom>
            <a:noFill/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8" name="Freeform: Shape 83">
              <a:extLst>
                <a:ext uri="{FF2B5EF4-FFF2-40B4-BE49-F238E27FC236}">
                  <a16:creationId xmlns:a16="http://schemas.microsoft.com/office/drawing/2014/main" id="{C09EA844-DEAC-7E7C-D59C-F716CAE7BFC9}"/>
                </a:ext>
              </a:extLst>
            </p:cNvPr>
            <p:cNvSpPr/>
            <p:nvPr/>
          </p:nvSpPr>
          <p:spPr>
            <a:xfrm>
              <a:off x="5131856" y="895702"/>
              <a:ext cx="26033" cy="119130"/>
            </a:xfrm>
            <a:custGeom>
              <a:avLst/>
              <a:gdLst>
                <a:gd name="connsiteX0" fmla="*/ 0 w 26033"/>
                <a:gd name="connsiteY0" fmla="*/ 0 h 119130"/>
                <a:gd name="connsiteX1" fmla="*/ 26033 w 26033"/>
                <a:gd name="connsiteY1" fmla="*/ 59649 h 119130"/>
                <a:gd name="connsiteX2" fmla="*/ 169 w 26033"/>
                <a:gd name="connsiteY2" fmla="*/ 119130 h 119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6033" h="119130">
                  <a:moveTo>
                    <a:pt x="0" y="0"/>
                  </a:moveTo>
                  <a:cubicBezTo>
                    <a:pt x="16008" y="14870"/>
                    <a:pt x="26033" y="36101"/>
                    <a:pt x="26033" y="59649"/>
                  </a:cubicBezTo>
                  <a:cubicBezTo>
                    <a:pt x="26033" y="83155"/>
                    <a:pt x="16092" y="104302"/>
                    <a:pt x="169" y="119130"/>
                  </a:cubicBezTo>
                </a:path>
              </a:pathLst>
            </a:custGeom>
            <a:noFill/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9" name="Freeform: Shape 84">
              <a:extLst>
                <a:ext uri="{FF2B5EF4-FFF2-40B4-BE49-F238E27FC236}">
                  <a16:creationId xmlns:a16="http://schemas.microsoft.com/office/drawing/2014/main" id="{9735D0AC-5147-BC96-981B-F9041AE15552}"/>
                </a:ext>
              </a:extLst>
            </p:cNvPr>
            <p:cNvSpPr/>
            <p:nvPr/>
          </p:nvSpPr>
          <p:spPr>
            <a:xfrm>
              <a:off x="5042087" y="944526"/>
              <a:ext cx="21483" cy="21483"/>
            </a:xfrm>
            <a:custGeom>
              <a:avLst/>
              <a:gdLst>
                <a:gd name="connsiteX0" fmla="*/ 21484 w 21483"/>
                <a:gd name="connsiteY0" fmla="*/ 10742 h 21483"/>
                <a:gd name="connsiteX1" fmla="*/ 10742 w 21483"/>
                <a:gd name="connsiteY1" fmla="*/ 21484 h 21483"/>
                <a:gd name="connsiteX2" fmla="*/ 0 w 21483"/>
                <a:gd name="connsiteY2" fmla="*/ 10742 h 21483"/>
                <a:gd name="connsiteX3" fmla="*/ 10742 w 21483"/>
                <a:gd name="connsiteY3" fmla="*/ 0 h 21483"/>
                <a:gd name="connsiteX4" fmla="*/ 21484 w 21483"/>
                <a:gd name="connsiteY4" fmla="*/ 10742 h 21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483" h="21483">
                  <a:moveTo>
                    <a:pt x="21484" y="10742"/>
                  </a:moveTo>
                  <a:cubicBezTo>
                    <a:pt x="21484" y="16675"/>
                    <a:pt x="16675" y="21484"/>
                    <a:pt x="10742" y="21484"/>
                  </a:cubicBezTo>
                  <a:cubicBezTo>
                    <a:pt x="4809" y="21484"/>
                    <a:pt x="0" y="16675"/>
                    <a:pt x="0" y="10742"/>
                  </a:cubicBezTo>
                  <a:cubicBezTo>
                    <a:pt x="0" y="4809"/>
                    <a:pt x="4809" y="0"/>
                    <a:pt x="10742" y="0"/>
                  </a:cubicBezTo>
                  <a:cubicBezTo>
                    <a:pt x="16675" y="0"/>
                    <a:pt x="21484" y="4809"/>
                    <a:pt x="21484" y="10742"/>
                  </a:cubicBezTo>
                  <a:close/>
                </a:path>
              </a:pathLst>
            </a:custGeom>
            <a:noFill/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0" name="Freeform: Shape 85">
              <a:extLst>
                <a:ext uri="{FF2B5EF4-FFF2-40B4-BE49-F238E27FC236}">
                  <a16:creationId xmlns:a16="http://schemas.microsoft.com/office/drawing/2014/main" id="{503D62D3-6834-15CF-0BB9-A1C65886EE80}"/>
                </a:ext>
              </a:extLst>
            </p:cNvPr>
            <p:cNvSpPr/>
            <p:nvPr/>
          </p:nvSpPr>
          <p:spPr>
            <a:xfrm>
              <a:off x="5002026" y="944526"/>
              <a:ext cx="21483" cy="21483"/>
            </a:xfrm>
            <a:custGeom>
              <a:avLst/>
              <a:gdLst>
                <a:gd name="connsiteX0" fmla="*/ 21484 w 21483"/>
                <a:gd name="connsiteY0" fmla="*/ 10742 h 21483"/>
                <a:gd name="connsiteX1" fmla="*/ 10742 w 21483"/>
                <a:gd name="connsiteY1" fmla="*/ 21484 h 21483"/>
                <a:gd name="connsiteX2" fmla="*/ 0 w 21483"/>
                <a:gd name="connsiteY2" fmla="*/ 10742 h 21483"/>
                <a:gd name="connsiteX3" fmla="*/ 10742 w 21483"/>
                <a:gd name="connsiteY3" fmla="*/ 0 h 21483"/>
                <a:gd name="connsiteX4" fmla="*/ 21484 w 21483"/>
                <a:gd name="connsiteY4" fmla="*/ 10742 h 21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483" h="21483">
                  <a:moveTo>
                    <a:pt x="21484" y="10742"/>
                  </a:moveTo>
                  <a:cubicBezTo>
                    <a:pt x="21484" y="16675"/>
                    <a:pt x="16675" y="21484"/>
                    <a:pt x="10742" y="21484"/>
                  </a:cubicBezTo>
                  <a:cubicBezTo>
                    <a:pt x="4809" y="21484"/>
                    <a:pt x="0" y="16675"/>
                    <a:pt x="0" y="10742"/>
                  </a:cubicBezTo>
                  <a:cubicBezTo>
                    <a:pt x="0" y="4809"/>
                    <a:pt x="4809" y="0"/>
                    <a:pt x="10742" y="0"/>
                  </a:cubicBezTo>
                  <a:cubicBezTo>
                    <a:pt x="16675" y="0"/>
                    <a:pt x="21484" y="4809"/>
                    <a:pt x="21484" y="10742"/>
                  </a:cubicBezTo>
                  <a:close/>
                </a:path>
              </a:pathLst>
            </a:custGeom>
            <a:noFill/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1" name="Freeform: Shape 86">
              <a:extLst>
                <a:ext uri="{FF2B5EF4-FFF2-40B4-BE49-F238E27FC236}">
                  <a16:creationId xmlns:a16="http://schemas.microsoft.com/office/drawing/2014/main" id="{9B3689D3-4918-A969-7FD8-0A11DE4EE204}"/>
                </a:ext>
              </a:extLst>
            </p:cNvPr>
            <p:cNvSpPr/>
            <p:nvPr/>
          </p:nvSpPr>
          <p:spPr>
            <a:xfrm>
              <a:off x="5082401" y="944526"/>
              <a:ext cx="21483" cy="21483"/>
            </a:xfrm>
            <a:custGeom>
              <a:avLst/>
              <a:gdLst>
                <a:gd name="connsiteX0" fmla="*/ 21484 w 21483"/>
                <a:gd name="connsiteY0" fmla="*/ 10742 h 21483"/>
                <a:gd name="connsiteX1" fmla="*/ 10742 w 21483"/>
                <a:gd name="connsiteY1" fmla="*/ 21484 h 21483"/>
                <a:gd name="connsiteX2" fmla="*/ 0 w 21483"/>
                <a:gd name="connsiteY2" fmla="*/ 10742 h 21483"/>
                <a:gd name="connsiteX3" fmla="*/ 10742 w 21483"/>
                <a:gd name="connsiteY3" fmla="*/ 0 h 21483"/>
                <a:gd name="connsiteX4" fmla="*/ 21484 w 21483"/>
                <a:gd name="connsiteY4" fmla="*/ 10742 h 21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483" h="21483">
                  <a:moveTo>
                    <a:pt x="21484" y="10742"/>
                  </a:moveTo>
                  <a:cubicBezTo>
                    <a:pt x="21484" y="16675"/>
                    <a:pt x="16675" y="21484"/>
                    <a:pt x="10742" y="21484"/>
                  </a:cubicBezTo>
                  <a:cubicBezTo>
                    <a:pt x="4809" y="21484"/>
                    <a:pt x="0" y="16675"/>
                    <a:pt x="0" y="10742"/>
                  </a:cubicBezTo>
                  <a:cubicBezTo>
                    <a:pt x="0" y="4809"/>
                    <a:pt x="4809" y="0"/>
                    <a:pt x="10742" y="0"/>
                  </a:cubicBezTo>
                  <a:cubicBezTo>
                    <a:pt x="16675" y="0"/>
                    <a:pt x="21484" y="4809"/>
                    <a:pt x="21484" y="10742"/>
                  </a:cubicBezTo>
                  <a:close/>
                </a:path>
              </a:pathLst>
            </a:custGeom>
            <a:noFill/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112" name="Graphic 2034">
              <a:extLst>
                <a:ext uri="{FF2B5EF4-FFF2-40B4-BE49-F238E27FC236}">
                  <a16:creationId xmlns:a16="http://schemas.microsoft.com/office/drawing/2014/main" id="{9384E792-1C04-7071-9FAA-F76EE4B4344C}"/>
                </a:ext>
              </a:extLst>
            </p:cNvPr>
            <p:cNvGrpSpPr/>
            <p:nvPr/>
          </p:nvGrpSpPr>
          <p:grpSpPr>
            <a:xfrm>
              <a:off x="5282875" y="1228282"/>
              <a:ext cx="99626" cy="44568"/>
              <a:chOff x="5282875" y="1228282"/>
              <a:chExt cx="99626" cy="44568"/>
            </a:xfrm>
          </p:grpSpPr>
          <p:sp>
            <p:nvSpPr>
              <p:cNvPr id="117" name="Freeform: Shape 92">
                <a:extLst>
                  <a:ext uri="{FF2B5EF4-FFF2-40B4-BE49-F238E27FC236}">
                    <a16:creationId xmlns:a16="http://schemas.microsoft.com/office/drawing/2014/main" id="{BBF09D87-BFD4-963C-09BE-B4423A18C198}"/>
                  </a:ext>
                </a:extLst>
              </p:cNvPr>
              <p:cNvSpPr/>
              <p:nvPr/>
            </p:nvSpPr>
            <p:spPr>
              <a:xfrm>
                <a:off x="5282875" y="1237844"/>
                <a:ext cx="86061" cy="35006"/>
              </a:xfrm>
              <a:custGeom>
                <a:avLst/>
                <a:gdLst>
                  <a:gd name="connsiteX0" fmla="*/ 0 w 86061"/>
                  <a:gd name="connsiteY0" fmla="*/ 3876 h 35006"/>
                  <a:gd name="connsiteX1" fmla="*/ 42504 w 86061"/>
                  <a:gd name="connsiteY1" fmla="*/ 35006 h 35006"/>
                  <a:gd name="connsiteX2" fmla="*/ 86062 w 86061"/>
                  <a:gd name="connsiteY2" fmla="*/ 0 h 35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6061" h="35006">
                    <a:moveTo>
                      <a:pt x="0" y="3876"/>
                    </a:moveTo>
                    <a:cubicBezTo>
                      <a:pt x="5729" y="21905"/>
                      <a:pt x="22579" y="35006"/>
                      <a:pt x="42504" y="35006"/>
                    </a:cubicBezTo>
                    <a:cubicBezTo>
                      <a:pt x="63820" y="35006"/>
                      <a:pt x="81681" y="20010"/>
                      <a:pt x="86062" y="0"/>
                    </a:cubicBezTo>
                  </a:path>
                </a:pathLst>
              </a:custGeom>
              <a:noFill/>
              <a:ln w="8382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8" name="Freeform: Shape 93">
                <a:extLst>
                  <a:ext uri="{FF2B5EF4-FFF2-40B4-BE49-F238E27FC236}">
                    <a16:creationId xmlns:a16="http://schemas.microsoft.com/office/drawing/2014/main" id="{B2D7AAAA-144B-8CC2-DC60-1F907A03CA2E}"/>
                  </a:ext>
                </a:extLst>
              </p:cNvPr>
              <p:cNvSpPr/>
              <p:nvPr/>
            </p:nvSpPr>
            <p:spPr>
              <a:xfrm>
                <a:off x="5352719" y="1228282"/>
                <a:ext cx="29782" cy="27886"/>
              </a:xfrm>
              <a:custGeom>
                <a:avLst/>
                <a:gdLst>
                  <a:gd name="connsiteX0" fmla="*/ 28350 w 29782"/>
                  <a:gd name="connsiteY0" fmla="*/ 27887 h 27886"/>
                  <a:gd name="connsiteX1" fmla="*/ 15839 w 29782"/>
                  <a:gd name="connsiteY1" fmla="*/ 12006 h 27886"/>
                  <a:gd name="connsiteX2" fmla="*/ 0 w 29782"/>
                  <a:gd name="connsiteY2" fmla="*/ 24559 h 27886"/>
                  <a:gd name="connsiteX3" fmla="*/ 1390 w 29782"/>
                  <a:gd name="connsiteY3" fmla="*/ 12511 h 27886"/>
                  <a:gd name="connsiteX4" fmla="*/ 17271 w 29782"/>
                  <a:gd name="connsiteY4" fmla="*/ 0 h 27886"/>
                  <a:gd name="connsiteX5" fmla="*/ 29783 w 29782"/>
                  <a:gd name="connsiteY5" fmla="*/ 15839 h 27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9782" h="27886">
                    <a:moveTo>
                      <a:pt x="28350" y="27887"/>
                    </a:moveTo>
                    <a:lnTo>
                      <a:pt x="15839" y="12006"/>
                    </a:lnTo>
                    <a:lnTo>
                      <a:pt x="0" y="24559"/>
                    </a:lnTo>
                    <a:lnTo>
                      <a:pt x="1390" y="12511"/>
                    </a:lnTo>
                    <a:lnTo>
                      <a:pt x="17271" y="0"/>
                    </a:lnTo>
                    <a:lnTo>
                      <a:pt x="29783" y="15839"/>
                    </a:lnTo>
                    <a:close/>
                  </a:path>
                </a:pathLst>
              </a:custGeom>
              <a:solidFill>
                <a:srgbClr val="01A98D"/>
              </a:solidFill>
              <a:ln w="4191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13" name="Graphic 2034">
              <a:extLst>
                <a:ext uri="{FF2B5EF4-FFF2-40B4-BE49-F238E27FC236}">
                  <a16:creationId xmlns:a16="http://schemas.microsoft.com/office/drawing/2014/main" id="{5279358F-6183-0FB5-AA3E-20EA5E01D1B6}"/>
                </a:ext>
              </a:extLst>
            </p:cNvPr>
            <p:cNvGrpSpPr/>
            <p:nvPr/>
          </p:nvGrpSpPr>
          <p:grpSpPr>
            <a:xfrm>
              <a:off x="5268300" y="1183671"/>
              <a:ext cx="100384" cy="44610"/>
              <a:chOff x="5268300" y="1183671"/>
              <a:chExt cx="100384" cy="44610"/>
            </a:xfrm>
          </p:grpSpPr>
          <p:sp>
            <p:nvSpPr>
              <p:cNvPr id="115" name="Freeform: Shape 90">
                <a:extLst>
                  <a:ext uri="{FF2B5EF4-FFF2-40B4-BE49-F238E27FC236}">
                    <a16:creationId xmlns:a16="http://schemas.microsoft.com/office/drawing/2014/main" id="{0F7BB734-1CC3-EEC8-33EE-5DB155AA7733}"/>
                  </a:ext>
                </a:extLst>
              </p:cNvPr>
              <p:cNvSpPr/>
              <p:nvPr/>
            </p:nvSpPr>
            <p:spPr>
              <a:xfrm>
                <a:off x="5281822" y="1183671"/>
                <a:ext cx="86862" cy="35006"/>
              </a:xfrm>
              <a:custGeom>
                <a:avLst/>
                <a:gdLst>
                  <a:gd name="connsiteX0" fmla="*/ 86862 w 86862"/>
                  <a:gd name="connsiteY0" fmla="*/ 33953 h 35006"/>
                  <a:gd name="connsiteX1" fmla="*/ 43558 w 86862"/>
                  <a:gd name="connsiteY1" fmla="*/ 0 h 35006"/>
                  <a:gd name="connsiteX2" fmla="*/ 0 w 86862"/>
                  <a:gd name="connsiteY2" fmla="*/ 35006 h 35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6862" h="35006">
                    <a:moveTo>
                      <a:pt x="86862" y="33953"/>
                    </a:moveTo>
                    <a:cubicBezTo>
                      <a:pt x="82102" y="14491"/>
                      <a:pt x="64494" y="0"/>
                      <a:pt x="43558" y="0"/>
                    </a:cubicBezTo>
                    <a:cubicBezTo>
                      <a:pt x="22242" y="0"/>
                      <a:pt x="4381" y="14997"/>
                      <a:pt x="0" y="35006"/>
                    </a:cubicBezTo>
                  </a:path>
                </a:pathLst>
              </a:custGeom>
              <a:noFill/>
              <a:ln w="8382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6" name="Freeform: Shape 91">
                <a:extLst>
                  <a:ext uri="{FF2B5EF4-FFF2-40B4-BE49-F238E27FC236}">
                    <a16:creationId xmlns:a16="http://schemas.microsoft.com/office/drawing/2014/main" id="{58940982-FCBD-B8C2-59A9-125E402019D8}"/>
                  </a:ext>
                </a:extLst>
              </p:cNvPr>
              <p:cNvSpPr/>
              <p:nvPr/>
            </p:nvSpPr>
            <p:spPr>
              <a:xfrm>
                <a:off x="5268300" y="1200353"/>
                <a:ext cx="29782" cy="27929"/>
              </a:xfrm>
              <a:custGeom>
                <a:avLst/>
                <a:gdLst>
                  <a:gd name="connsiteX0" fmla="*/ 1390 w 29782"/>
                  <a:gd name="connsiteY0" fmla="*/ 0 h 27929"/>
                  <a:gd name="connsiteX1" fmla="*/ 13901 w 29782"/>
                  <a:gd name="connsiteY1" fmla="*/ 15881 h 27929"/>
                  <a:gd name="connsiteX2" fmla="*/ 29783 w 29782"/>
                  <a:gd name="connsiteY2" fmla="*/ 3370 h 27929"/>
                  <a:gd name="connsiteX3" fmla="*/ 28350 w 29782"/>
                  <a:gd name="connsiteY3" fmla="*/ 15418 h 27929"/>
                  <a:gd name="connsiteX4" fmla="*/ 12511 w 29782"/>
                  <a:gd name="connsiteY4" fmla="*/ 27929 h 27929"/>
                  <a:gd name="connsiteX5" fmla="*/ 0 w 29782"/>
                  <a:gd name="connsiteY5" fmla="*/ 12048 h 279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9782" h="27929">
                    <a:moveTo>
                      <a:pt x="1390" y="0"/>
                    </a:moveTo>
                    <a:lnTo>
                      <a:pt x="13901" y="15881"/>
                    </a:lnTo>
                    <a:lnTo>
                      <a:pt x="29783" y="3370"/>
                    </a:lnTo>
                    <a:lnTo>
                      <a:pt x="28350" y="15418"/>
                    </a:lnTo>
                    <a:lnTo>
                      <a:pt x="12511" y="27929"/>
                    </a:lnTo>
                    <a:lnTo>
                      <a:pt x="0" y="12048"/>
                    </a:lnTo>
                    <a:close/>
                  </a:path>
                </a:pathLst>
              </a:custGeom>
              <a:solidFill>
                <a:srgbClr val="01A98D"/>
              </a:solidFill>
              <a:ln w="4191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cxnSp>
          <p:nvCxnSpPr>
            <p:cNvPr id="114" name="Connector: Elbow 89">
              <a:extLst>
                <a:ext uri="{FF2B5EF4-FFF2-40B4-BE49-F238E27FC236}">
                  <a16:creationId xmlns:a16="http://schemas.microsoft.com/office/drawing/2014/main" id="{B4092FD1-EFA7-83FC-1CBB-48C1684CCB09}"/>
                </a:ext>
              </a:extLst>
            </p:cNvPr>
            <p:cNvCxnSpPr>
              <a:cxnSpLocks/>
            </p:cNvCxnSpPr>
            <p:nvPr/>
          </p:nvCxnSpPr>
          <p:spPr>
            <a:xfrm>
              <a:off x="5024484" y="1088776"/>
              <a:ext cx="217297" cy="143688"/>
            </a:xfrm>
            <a:prstGeom prst="bentConnector3">
              <a:avLst>
                <a:gd name="adj1" fmla="val 2659"/>
              </a:avLst>
            </a:prstGeom>
            <a:ln w="12700">
              <a:solidFill>
                <a:schemeClr val="tx1"/>
              </a:solidFill>
              <a:prstDash val="dash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9" name="Group 185">
            <a:extLst>
              <a:ext uri="{FF2B5EF4-FFF2-40B4-BE49-F238E27FC236}">
                <a16:creationId xmlns:a16="http://schemas.microsoft.com/office/drawing/2014/main" id="{BA96EDA7-1C52-264F-108D-F3130F45533A}"/>
              </a:ext>
            </a:extLst>
          </p:cNvPr>
          <p:cNvGrpSpPr/>
          <p:nvPr/>
        </p:nvGrpSpPr>
        <p:grpSpPr>
          <a:xfrm>
            <a:off x="5659335" y="4866213"/>
            <a:ext cx="971901" cy="826201"/>
            <a:chOff x="4898440" y="859854"/>
            <a:chExt cx="758718" cy="438608"/>
          </a:xfrm>
          <a:noFill/>
        </p:grpSpPr>
        <p:sp>
          <p:nvSpPr>
            <p:cNvPr id="120" name="Freeform: Shape 78">
              <a:extLst>
                <a:ext uri="{FF2B5EF4-FFF2-40B4-BE49-F238E27FC236}">
                  <a16:creationId xmlns:a16="http://schemas.microsoft.com/office/drawing/2014/main" id="{C77B83B0-A7DC-B902-5500-9D4898A9AF70}"/>
                </a:ext>
              </a:extLst>
            </p:cNvPr>
            <p:cNvSpPr/>
            <p:nvPr/>
          </p:nvSpPr>
          <p:spPr>
            <a:xfrm>
              <a:off x="4898440" y="859854"/>
              <a:ext cx="599442" cy="190785"/>
            </a:xfrm>
            <a:custGeom>
              <a:avLst/>
              <a:gdLst>
                <a:gd name="connsiteX0" fmla="*/ 322343 w 599442"/>
                <a:gd name="connsiteY0" fmla="*/ 190785 h 190785"/>
                <a:gd name="connsiteX1" fmla="*/ 0 w 599442"/>
                <a:gd name="connsiteY1" fmla="*/ 190785 h 190785"/>
                <a:gd name="connsiteX2" fmla="*/ 0 w 599442"/>
                <a:gd name="connsiteY2" fmla="*/ 0 h 190785"/>
                <a:gd name="connsiteX3" fmla="*/ 599443 w 599442"/>
                <a:gd name="connsiteY3" fmla="*/ 0 h 190785"/>
                <a:gd name="connsiteX4" fmla="*/ 599443 w 599442"/>
                <a:gd name="connsiteY4" fmla="*/ 88463 h 1907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99442" h="190785">
                  <a:moveTo>
                    <a:pt x="322343" y="190785"/>
                  </a:moveTo>
                  <a:lnTo>
                    <a:pt x="0" y="190785"/>
                  </a:lnTo>
                  <a:lnTo>
                    <a:pt x="0" y="0"/>
                  </a:lnTo>
                  <a:lnTo>
                    <a:pt x="599443" y="0"/>
                  </a:lnTo>
                  <a:lnTo>
                    <a:pt x="599443" y="88463"/>
                  </a:lnTo>
                </a:path>
              </a:pathLst>
            </a:custGeom>
            <a:grpFill/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1" name="Freeform: Shape 79">
              <a:extLst>
                <a:ext uri="{FF2B5EF4-FFF2-40B4-BE49-F238E27FC236}">
                  <a16:creationId xmlns:a16="http://schemas.microsoft.com/office/drawing/2014/main" id="{65DE7460-AE20-5AE6-1D2E-EE5941994944}"/>
                </a:ext>
              </a:extLst>
            </p:cNvPr>
            <p:cNvSpPr/>
            <p:nvPr/>
          </p:nvSpPr>
          <p:spPr>
            <a:xfrm>
              <a:off x="5251239" y="980459"/>
              <a:ext cx="405919" cy="140361"/>
            </a:xfrm>
            <a:custGeom>
              <a:avLst/>
              <a:gdLst>
                <a:gd name="connsiteX0" fmla="*/ 0 w 405919"/>
                <a:gd name="connsiteY0" fmla="*/ 0 h 140361"/>
                <a:gd name="connsiteX1" fmla="*/ 405919 w 405919"/>
                <a:gd name="connsiteY1" fmla="*/ 0 h 140361"/>
                <a:gd name="connsiteX2" fmla="*/ 405919 w 405919"/>
                <a:gd name="connsiteY2" fmla="*/ 140362 h 140361"/>
                <a:gd name="connsiteX3" fmla="*/ 0 w 405919"/>
                <a:gd name="connsiteY3" fmla="*/ 140362 h 140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05919" h="140361">
                  <a:moveTo>
                    <a:pt x="0" y="0"/>
                  </a:moveTo>
                  <a:lnTo>
                    <a:pt x="405919" y="0"/>
                  </a:lnTo>
                  <a:lnTo>
                    <a:pt x="405919" y="140362"/>
                  </a:lnTo>
                  <a:lnTo>
                    <a:pt x="0" y="140362"/>
                  </a:lnTo>
                  <a:close/>
                </a:path>
              </a:pathLst>
            </a:custGeom>
            <a:grpFill/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2" name="Freeform: Shape 80">
              <a:extLst>
                <a:ext uri="{FF2B5EF4-FFF2-40B4-BE49-F238E27FC236}">
                  <a16:creationId xmlns:a16="http://schemas.microsoft.com/office/drawing/2014/main" id="{AAF93F1E-3B34-DC74-7449-0D467E378B0F}"/>
                </a:ext>
              </a:extLst>
            </p:cNvPr>
            <p:cNvSpPr/>
            <p:nvPr/>
          </p:nvSpPr>
          <p:spPr>
            <a:xfrm>
              <a:off x="5249385" y="1158101"/>
              <a:ext cx="405919" cy="140361"/>
            </a:xfrm>
            <a:custGeom>
              <a:avLst/>
              <a:gdLst>
                <a:gd name="connsiteX0" fmla="*/ 0 w 405919"/>
                <a:gd name="connsiteY0" fmla="*/ 0 h 140361"/>
                <a:gd name="connsiteX1" fmla="*/ 405919 w 405919"/>
                <a:gd name="connsiteY1" fmla="*/ 0 h 140361"/>
                <a:gd name="connsiteX2" fmla="*/ 405919 w 405919"/>
                <a:gd name="connsiteY2" fmla="*/ 140362 h 140361"/>
                <a:gd name="connsiteX3" fmla="*/ 0 w 405919"/>
                <a:gd name="connsiteY3" fmla="*/ 140362 h 140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05919" h="140361">
                  <a:moveTo>
                    <a:pt x="0" y="0"/>
                  </a:moveTo>
                  <a:lnTo>
                    <a:pt x="405919" y="0"/>
                  </a:lnTo>
                  <a:lnTo>
                    <a:pt x="405919" y="140362"/>
                  </a:lnTo>
                  <a:lnTo>
                    <a:pt x="0" y="140362"/>
                  </a:lnTo>
                  <a:close/>
                </a:path>
              </a:pathLst>
            </a:custGeom>
            <a:grpFill/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3" name="Freeform: Shape 81">
              <a:extLst>
                <a:ext uri="{FF2B5EF4-FFF2-40B4-BE49-F238E27FC236}">
                  <a16:creationId xmlns:a16="http://schemas.microsoft.com/office/drawing/2014/main" id="{AE69283D-263B-1889-392D-0D0F45D1E39D}"/>
                </a:ext>
              </a:extLst>
            </p:cNvPr>
            <p:cNvSpPr/>
            <p:nvPr/>
          </p:nvSpPr>
          <p:spPr>
            <a:xfrm>
              <a:off x="5293575" y="1017739"/>
              <a:ext cx="63609" cy="65799"/>
            </a:xfrm>
            <a:custGeom>
              <a:avLst/>
              <a:gdLst>
                <a:gd name="connsiteX0" fmla="*/ 0 w 63609"/>
                <a:gd name="connsiteY0" fmla="*/ 0 h 65799"/>
                <a:gd name="connsiteX1" fmla="*/ 0 w 63609"/>
                <a:gd name="connsiteY1" fmla="*/ 65800 h 65799"/>
                <a:gd name="connsiteX2" fmla="*/ 63609 w 63609"/>
                <a:gd name="connsiteY2" fmla="*/ 32900 h 65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609" h="65799">
                  <a:moveTo>
                    <a:pt x="0" y="0"/>
                  </a:moveTo>
                  <a:lnTo>
                    <a:pt x="0" y="65800"/>
                  </a:lnTo>
                  <a:lnTo>
                    <a:pt x="63609" y="32900"/>
                  </a:lnTo>
                  <a:close/>
                </a:path>
              </a:pathLst>
            </a:custGeom>
            <a:grpFill/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4" name="Freeform: Shape 82">
              <a:extLst>
                <a:ext uri="{FF2B5EF4-FFF2-40B4-BE49-F238E27FC236}">
                  <a16:creationId xmlns:a16="http://schemas.microsoft.com/office/drawing/2014/main" id="{64F09206-1245-FFB0-F00D-3A8F5B2FB52C}"/>
                </a:ext>
              </a:extLst>
            </p:cNvPr>
            <p:cNvSpPr/>
            <p:nvPr/>
          </p:nvSpPr>
          <p:spPr>
            <a:xfrm>
              <a:off x="4953034" y="895702"/>
              <a:ext cx="26033" cy="119130"/>
            </a:xfrm>
            <a:custGeom>
              <a:avLst/>
              <a:gdLst>
                <a:gd name="connsiteX0" fmla="*/ 26033 w 26033"/>
                <a:gd name="connsiteY0" fmla="*/ 119130 h 119130"/>
                <a:gd name="connsiteX1" fmla="*/ 0 w 26033"/>
                <a:gd name="connsiteY1" fmla="*/ 59481 h 119130"/>
                <a:gd name="connsiteX2" fmla="*/ 25865 w 26033"/>
                <a:gd name="connsiteY2" fmla="*/ 0 h 119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6033" h="119130">
                  <a:moveTo>
                    <a:pt x="26033" y="119130"/>
                  </a:moveTo>
                  <a:cubicBezTo>
                    <a:pt x="10026" y="104260"/>
                    <a:pt x="0" y="83029"/>
                    <a:pt x="0" y="59481"/>
                  </a:cubicBezTo>
                  <a:cubicBezTo>
                    <a:pt x="0" y="35975"/>
                    <a:pt x="9942" y="14828"/>
                    <a:pt x="25865" y="0"/>
                  </a:cubicBezTo>
                </a:path>
              </a:pathLst>
            </a:custGeom>
            <a:grpFill/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: Shape 83">
              <a:extLst>
                <a:ext uri="{FF2B5EF4-FFF2-40B4-BE49-F238E27FC236}">
                  <a16:creationId xmlns:a16="http://schemas.microsoft.com/office/drawing/2014/main" id="{5009BB26-50D9-0534-02A2-950FA226673D}"/>
                </a:ext>
              </a:extLst>
            </p:cNvPr>
            <p:cNvSpPr/>
            <p:nvPr/>
          </p:nvSpPr>
          <p:spPr>
            <a:xfrm>
              <a:off x="5131856" y="895702"/>
              <a:ext cx="26033" cy="119130"/>
            </a:xfrm>
            <a:custGeom>
              <a:avLst/>
              <a:gdLst>
                <a:gd name="connsiteX0" fmla="*/ 0 w 26033"/>
                <a:gd name="connsiteY0" fmla="*/ 0 h 119130"/>
                <a:gd name="connsiteX1" fmla="*/ 26033 w 26033"/>
                <a:gd name="connsiteY1" fmla="*/ 59649 h 119130"/>
                <a:gd name="connsiteX2" fmla="*/ 169 w 26033"/>
                <a:gd name="connsiteY2" fmla="*/ 119130 h 119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6033" h="119130">
                  <a:moveTo>
                    <a:pt x="0" y="0"/>
                  </a:moveTo>
                  <a:cubicBezTo>
                    <a:pt x="16008" y="14870"/>
                    <a:pt x="26033" y="36101"/>
                    <a:pt x="26033" y="59649"/>
                  </a:cubicBezTo>
                  <a:cubicBezTo>
                    <a:pt x="26033" y="83155"/>
                    <a:pt x="16092" y="104302"/>
                    <a:pt x="169" y="119130"/>
                  </a:cubicBezTo>
                </a:path>
              </a:pathLst>
            </a:custGeom>
            <a:grpFill/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: Shape 84">
              <a:extLst>
                <a:ext uri="{FF2B5EF4-FFF2-40B4-BE49-F238E27FC236}">
                  <a16:creationId xmlns:a16="http://schemas.microsoft.com/office/drawing/2014/main" id="{A16580F8-EFEA-DF64-FE0E-A8B686F250D5}"/>
                </a:ext>
              </a:extLst>
            </p:cNvPr>
            <p:cNvSpPr/>
            <p:nvPr/>
          </p:nvSpPr>
          <p:spPr>
            <a:xfrm>
              <a:off x="5042087" y="944526"/>
              <a:ext cx="21483" cy="21483"/>
            </a:xfrm>
            <a:custGeom>
              <a:avLst/>
              <a:gdLst>
                <a:gd name="connsiteX0" fmla="*/ 21484 w 21483"/>
                <a:gd name="connsiteY0" fmla="*/ 10742 h 21483"/>
                <a:gd name="connsiteX1" fmla="*/ 10742 w 21483"/>
                <a:gd name="connsiteY1" fmla="*/ 21484 h 21483"/>
                <a:gd name="connsiteX2" fmla="*/ 0 w 21483"/>
                <a:gd name="connsiteY2" fmla="*/ 10742 h 21483"/>
                <a:gd name="connsiteX3" fmla="*/ 10742 w 21483"/>
                <a:gd name="connsiteY3" fmla="*/ 0 h 21483"/>
                <a:gd name="connsiteX4" fmla="*/ 21484 w 21483"/>
                <a:gd name="connsiteY4" fmla="*/ 10742 h 21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483" h="21483">
                  <a:moveTo>
                    <a:pt x="21484" y="10742"/>
                  </a:moveTo>
                  <a:cubicBezTo>
                    <a:pt x="21484" y="16675"/>
                    <a:pt x="16675" y="21484"/>
                    <a:pt x="10742" y="21484"/>
                  </a:cubicBezTo>
                  <a:cubicBezTo>
                    <a:pt x="4809" y="21484"/>
                    <a:pt x="0" y="16675"/>
                    <a:pt x="0" y="10742"/>
                  </a:cubicBezTo>
                  <a:cubicBezTo>
                    <a:pt x="0" y="4809"/>
                    <a:pt x="4809" y="0"/>
                    <a:pt x="10742" y="0"/>
                  </a:cubicBezTo>
                  <a:cubicBezTo>
                    <a:pt x="16675" y="0"/>
                    <a:pt x="21484" y="4809"/>
                    <a:pt x="21484" y="10742"/>
                  </a:cubicBezTo>
                  <a:close/>
                </a:path>
              </a:pathLst>
            </a:custGeom>
            <a:grpFill/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: Shape 85">
              <a:extLst>
                <a:ext uri="{FF2B5EF4-FFF2-40B4-BE49-F238E27FC236}">
                  <a16:creationId xmlns:a16="http://schemas.microsoft.com/office/drawing/2014/main" id="{C7C6D7F5-72CD-A3B6-0A4D-39D08703A90D}"/>
                </a:ext>
              </a:extLst>
            </p:cNvPr>
            <p:cNvSpPr/>
            <p:nvPr/>
          </p:nvSpPr>
          <p:spPr>
            <a:xfrm>
              <a:off x="5002026" y="944526"/>
              <a:ext cx="21483" cy="21483"/>
            </a:xfrm>
            <a:custGeom>
              <a:avLst/>
              <a:gdLst>
                <a:gd name="connsiteX0" fmla="*/ 21484 w 21483"/>
                <a:gd name="connsiteY0" fmla="*/ 10742 h 21483"/>
                <a:gd name="connsiteX1" fmla="*/ 10742 w 21483"/>
                <a:gd name="connsiteY1" fmla="*/ 21484 h 21483"/>
                <a:gd name="connsiteX2" fmla="*/ 0 w 21483"/>
                <a:gd name="connsiteY2" fmla="*/ 10742 h 21483"/>
                <a:gd name="connsiteX3" fmla="*/ 10742 w 21483"/>
                <a:gd name="connsiteY3" fmla="*/ 0 h 21483"/>
                <a:gd name="connsiteX4" fmla="*/ 21484 w 21483"/>
                <a:gd name="connsiteY4" fmla="*/ 10742 h 21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483" h="21483">
                  <a:moveTo>
                    <a:pt x="21484" y="10742"/>
                  </a:moveTo>
                  <a:cubicBezTo>
                    <a:pt x="21484" y="16675"/>
                    <a:pt x="16675" y="21484"/>
                    <a:pt x="10742" y="21484"/>
                  </a:cubicBezTo>
                  <a:cubicBezTo>
                    <a:pt x="4809" y="21484"/>
                    <a:pt x="0" y="16675"/>
                    <a:pt x="0" y="10742"/>
                  </a:cubicBezTo>
                  <a:cubicBezTo>
                    <a:pt x="0" y="4809"/>
                    <a:pt x="4809" y="0"/>
                    <a:pt x="10742" y="0"/>
                  </a:cubicBezTo>
                  <a:cubicBezTo>
                    <a:pt x="16675" y="0"/>
                    <a:pt x="21484" y="4809"/>
                    <a:pt x="21484" y="10742"/>
                  </a:cubicBezTo>
                  <a:close/>
                </a:path>
              </a:pathLst>
            </a:custGeom>
            <a:grpFill/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8" name="Freeform: Shape 86">
              <a:extLst>
                <a:ext uri="{FF2B5EF4-FFF2-40B4-BE49-F238E27FC236}">
                  <a16:creationId xmlns:a16="http://schemas.microsoft.com/office/drawing/2014/main" id="{774F8180-782D-FA49-151F-A26BEAA0DF81}"/>
                </a:ext>
              </a:extLst>
            </p:cNvPr>
            <p:cNvSpPr/>
            <p:nvPr/>
          </p:nvSpPr>
          <p:spPr>
            <a:xfrm>
              <a:off x="5082401" y="944526"/>
              <a:ext cx="21483" cy="21483"/>
            </a:xfrm>
            <a:custGeom>
              <a:avLst/>
              <a:gdLst>
                <a:gd name="connsiteX0" fmla="*/ 21484 w 21483"/>
                <a:gd name="connsiteY0" fmla="*/ 10742 h 21483"/>
                <a:gd name="connsiteX1" fmla="*/ 10742 w 21483"/>
                <a:gd name="connsiteY1" fmla="*/ 21484 h 21483"/>
                <a:gd name="connsiteX2" fmla="*/ 0 w 21483"/>
                <a:gd name="connsiteY2" fmla="*/ 10742 h 21483"/>
                <a:gd name="connsiteX3" fmla="*/ 10742 w 21483"/>
                <a:gd name="connsiteY3" fmla="*/ 0 h 21483"/>
                <a:gd name="connsiteX4" fmla="*/ 21484 w 21483"/>
                <a:gd name="connsiteY4" fmla="*/ 10742 h 21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483" h="21483">
                  <a:moveTo>
                    <a:pt x="21484" y="10742"/>
                  </a:moveTo>
                  <a:cubicBezTo>
                    <a:pt x="21484" y="16675"/>
                    <a:pt x="16675" y="21484"/>
                    <a:pt x="10742" y="21484"/>
                  </a:cubicBezTo>
                  <a:cubicBezTo>
                    <a:pt x="4809" y="21484"/>
                    <a:pt x="0" y="16675"/>
                    <a:pt x="0" y="10742"/>
                  </a:cubicBezTo>
                  <a:cubicBezTo>
                    <a:pt x="0" y="4809"/>
                    <a:pt x="4809" y="0"/>
                    <a:pt x="10742" y="0"/>
                  </a:cubicBezTo>
                  <a:cubicBezTo>
                    <a:pt x="16675" y="0"/>
                    <a:pt x="21484" y="4809"/>
                    <a:pt x="21484" y="10742"/>
                  </a:cubicBezTo>
                  <a:close/>
                </a:path>
              </a:pathLst>
            </a:custGeom>
            <a:grpFill/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129" name="Graphic 2034">
              <a:extLst>
                <a:ext uri="{FF2B5EF4-FFF2-40B4-BE49-F238E27FC236}">
                  <a16:creationId xmlns:a16="http://schemas.microsoft.com/office/drawing/2014/main" id="{643C819C-B5D6-392E-AA3F-824DB16467CD}"/>
                </a:ext>
              </a:extLst>
            </p:cNvPr>
            <p:cNvGrpSpPr/>
            <p:nvPr/>
          </p:nvGrpSpPr>
          <p:grpSpPr>
            <a:xfrm>
              <a:off x="5282875" y="1228282"/>
              <a:ext cx="99626" cy="44568"/>
              <a:chOff x="5282875" y="1228282"/>
              <a:chExt cx="99626" cy="44568"/>
            </a:xfrm>
            <a:grpFill/>
          </p:grpSpPr>
          <p:sp>
            <p:nvSpPr>
              <p:cNvPr id="134" name="Freeform: Shape 92">
                <a:extLst>
                  <a:ext uri="{FF2B5EF4-FFF2-40B4-BE49-F238E27FC236}">
                    <a16:creationId xmlns:a16="http://schemas.microsoft.com/office/drawing/2014/main" id="{2F17AB79-FF7A-C91F-F933-EC6690899B09}"/>
                  </a:ext>
                </a:extLst>
              </p:cNvPr>
              <p:cNvSpPr/>
              <p:nvPr/>
            </p:nvSpPr>
            <p:spPr>
              <a:xfrm>
                <a:off x="5282875" y="1237844"/>
                <a:ext cx="86061" cy="35006"/>
              </a:xfrm>
              <a:custGeom>
                <a:avLst/>
                <a:gdLst>
                  <a:gd name="connsiteX0" fmla="*/ 0 w 86061"/>
                  <a:gd name="connsiteY0" fmla="*/ 3876 h 35006"/>
                  <a:gd name="connsiteX1" fmla="*/ 42504 w 86061"/>
                  <a:gd name="connsiteY1" fmla="*/ 35006 h 35006"/>
                  <a:gd name="connsiteX2" fmla="*/ 86062 w 86061"/>
                  <a:gd name="connsiteY2" fmla="*/ 0 h 35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6061" h="35006">
                    <a:moveTo>
                      <a:pt x="0" y="3876"/>
                    </a:moveTo>
                    <a:cubicBezTo>
                      <a:pt x="5729" y="21905"/>
                      <a:pt x="22579" y="35006"/>
                      <a:pt x="42504" y="35006"/>
                    </a:cubicBezTo>
                    <a:cubicBezTo>
                      <a:pt x="63820" y="35006"/>
                      <a:pt x="81681" y="20010"/>
                      <a:pt x="86062" y="0"/>
                    </a:cubicBezTo>
                  </a:path>
                </a:pathLst>
              </a:custGeom>
              <a:grpFill/>
              <a:ln w="8382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5" name="Freeform: Shape 93">
                <a:extLst>
                  <a:ext uri="{FF2B5EF4-FFF2-40B4-BE49-F238E27FC236}">
                    <a16:creationId xmlns:a16="http://schemas.microsoft.com/office/drawing/2014/main" id="{B9F91CEC-CDC1-8B0E-3701-269EFDC1A516}"/>
                  </a:ext>
                </a:extLst>
              </p:cNvPr>
              <p:cNvSpPr/>
              <p:nvPr/>
            </p:nvSpPr>
            <p:spPr>
              <a:xfrm>
                <a:off x="5352719" y="1228282"/>
                <a:ext cx="29782" cy="27886"/>
              </a:xfrm>
              <a:custGeom>
                <a:avLst/>
                <a:gdLst>
                  <a:gd name="connsiteX0" fmla="*/ 28350 w 29782"/>
                  <a:gd name="connsiteY0" fmla="*/ 27887 h 27886"/>
                  <a:gd name="connsiteX1" fmla="*/ 15839 w 29782"/>
                  <a:gd name="connsiteY1" fmla="*/ 12006 h 27886"/>
                  <a:gd name="connsiteX2" fmla="*/ 0 w 29782"/>
                  <a:gd name="connsiteY2" fmla="*/ 24559 h 27886"/>
                  <a:gd name="connsiteX3" fmla="*/ 1390 w 29782"/>
                  <a:gd name="connsiteY3" fmla="*/ 12511 h 27886"/>
                  <a:gd name="connsiteX4" fmla="*/ 17271 w 29782"/>
                  <a:gd name="connsiteY4" fmla="*/ 0 h 27886"/>
                  <a:gd name="connsiteX5" fmla="*/ 29783 w 29782"/>
                  <a:gd name="connsiteY5" fmla="*/ 15839 h 27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9782" h="27886">
                    <a:moveTo>
                      <a:pt x="28350" y="27887"/>
                    </a:moveTo>
                    <a:lnTo>
                      <a:pt x="15839" y="12006"/>
                    </a:lnTo>
                    <a:lnTo>
                      <a:pt x="0" y="24559"/>
                    </a:lnTo>
                    <a:lnTo>
                      <a:pt x="1390" y="12511"/>
                    </a:lnTo>
                    <a:lnTo>
                      <a:pt x="17271" y="0"/>
                    </a:lnTo>
                    <a:lnTo>
                      <a:pt x="29783" y="15839"/>
                    </a:lnTo>
                    <a:close/>
                  </a:path>
                </a:pathLst>
              </a:custGeom>
              <a:grpFill/>
              <a:ln w="4191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30" name="Graphic 2034">
              <a:extLst>
                <a:ext uri="{FF2B5EF4-FFF2-40B4-BE49-F238E27FC236}">
                  <a16:creationId xmlns:a16="http://schemas.microsoft.com/office/drawing/2014/main" id="{155E59DE-FC07-BF0E-217E-DD1EA278E2A3}"/>
                </a:ext>
              </a:extLst>
            </p:cNvPr>
            <p:cNvGrpSpPr/>
            <p:nvPr/>
          </p:nvGrpSpPr>
          <p:grpSpPr>
            <a:xfrm>
              <a:off x="5268300" y="1183671"/>
              <a:ext cx="100384" cy="44610"/>
              <a:chOff x="5268300" y="1183671"/>
              <a:chExt cx="100384" cy="44610"/>
            </a:xfrm>
            <a:grpFill/>
          </p:grpSpPr>
          <p:sp>
            <p:nvSpPr>
              <p:cNvPr id="132" name="Freeform: Shape 90">
                <a:extLst>
                  <a:ext uri="{FF2B5EF4-FFF2-40B4-BE49-F238E27FC236}">
                    <a16:creationId xmlns:a16="http://schemas.microsoft.com/office/drawing/2014/main" id="{AC87D867-3726-6ED5-D847-918C62759D47}"/>
                  </a:ext>
                </a:extLst>
              </p:cNvPr>
              <p:cNvSpPr/>
              <p:nvPr/>
            </p:nvSpPr>
            <p:spPr>
              <a:xfrm>
                <a:off x="5281822" y="1183671"/>
                <a:ext cx="86862" cy="35006"/>
              </a:xfrm>
              <a:custGeom>
                <a:avLst/>
                <a:gdLst>
                  <a:gd name="connsiteX0" fmla="*/ 86862 w 86862"/>
                  <a:gd name="connsiteY0" fmla="*/ 33953 h 35006"/>
                  <a:gd name="connsiteX1" fmla="*/ 43558 w 86862"/>
                  <a:gd name="connsiteY1" fmla="*/ 0 h 35006"/>
                  <a:gd name="connsiteX2" fmla="*/ 0 w 86862"/>
                  <a:gd name="connsiteY2" fmla="*/ 35006 h 35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6862" h="35006">
                    <a:moveTo>
                      <a:pt x="86862" y="33953"/>
                    </a:moveTo>
                    <a:cubicBezTo>
                      <a:pt x="82102" y="14491"/>
                      <a:pt x="64494" y="0"/>
                      <a:pt x="43558" y="0"/>
                    </a:cubicBezTo>
                    <a:cubicBezTo>
                      <a:pt x="22242" y="0"/>
                      <a:pt x="4381" y="14997"/>
                      <a:pt x="0" y="35006"/>
                    </a:cubicBezTo>
                  </a:path>
                </a:pathLst>
              </a:custGeom>
              <a:grpFill/>
              <a:ln w="8382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3" name="Freeform: Shape 91">
                <a:extLst>
                  <a:ext uri="{FF2B5EF4-FFF2-40B4-BE49-F238E27FC236}">
                    <a16:creationId xmlns:a16="http://schemas.microsoft.com/office/drawing/2014/main" id="{FFBD253F-D4FF-BCE6-A48E-F9C20104F8D0}"/>
                  </a:ext>
                </a:extLst>
              </p:cNvPr>
              <p:cNvSpPr/>
              <p:nvPr/>
            </p:nvSpPr>
            <p:spPr>
              <a:xfrm>
                <a:off x="5268300" y="1200353"/>
                <a:ext cx="29782" cy="27929"/>
              </a:xfrm>
              <a:custGeom>
                <a:avLst/>
                <a:gdLst>
                  <a:gd name="connsiteX0" fmla="*/ 1390 w 29782"/>
                  <a:gd name="connsiteY0" fmla="*/ 0 h 27929"/>
                  <a:gd name="connsiteX1" fmla="*/ 13901 w 29782"/>
                  <a:gd name="connsiteY1" fmla="*/ 15881 h 27929"/>
                  <a:gd name="connsiteX2" fmla="*/ 29783 w 29782"/>
                  <a:gd name="connsiteY2" fmla="*/ 3370 h 27929"/>
                  <a:gd name="connsiteX3" fmla="*/ 28350 w 29782"/>
                  <a:gd name="connsiteY3" fmla="*/ 15418 h 27929"/>
                  <a:gd name="connsiteX4" fmla="*/ 12511 w 29782"/>
                  <a:gd name="connsiteY4" fmla="*/ 27929 h 27929"/>
                  <a:gd name="connsiteX5" fmla="*/ 0 w 29782"/>
                  <a:gd name="connsiteY5" fmla="*/ 12048 h 279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9782" h="27929">
                    <a:moveTo>
                      <a:pt x="1390" y="0"/>
                    </a:moveTo>
                    <a:lnTo>
                      <a:pt x="13901" y="15881"/>
                    </a:lnTo>
                    <a:lnTo>
                      <a:pt x="29783" y="3370"/>
                    </a:lnTo>
                    <a:lnTo>
                      <a:pt x="28350" y="15418"/>
                    </a:lnTo>
                    <a:lnTo>
                      <a:pt x="12511" y="27929"/>
                    </a:lnTo>
                    <a:lnTo>
                      <a:pt x="0" y="12048"/>
                    </a:lnTo>
                    <a:close/>
                  </a:path>
                </a:pathLst>
              </a:custGeom>
              <a:grpFill/>
              <a:ln w="4191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cxnSp>
          <p:nvCxnSpPr>
            <p:cNvPr id="131" name="Connector: Elbow 89">
              <a:extLst>
                <a:ext uri="{FF2B5EF4-FFF2-40B4-BE49-F238E27FC236}">
                  <a16:creationId xmlns:a16="http://schemas.microsoft.com/office/drawing/2014/main" id="{D41D4472-AD27-2064-253F-6AA3010EA5A4}"/>
                </a:ext>
              </a:extLst>
            </p:cNvPr>
            <p:cNvCxnSpPr>
              <a:cxnSpLocks/>
            </p:cNvCxnSpPr>
            <p:nvPr/>
          </p:nvCxnSpPr>
          <p:spPr>
            <a:xfrm>
              <a:off x="5024484" y="1088776"/>
              <a:ext cx="217297" cy="143688"/>
            </a:xfrm>
            <a:prstGeom prst="bentConnector3">
              <a:avLst>
                <a:gd name="adj1" fmla="val 2659"/>
              </a:avLst>
            </a:prstGeom>
            <a:grpFill/>
            <a:ln w="12700">
              <a:solidFill>
                <a:schemeClr val="tx1"/>
              </a:solidFill>
              <a:prstDash val="dash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36" name="Straight Arrow Connector 205">
            <a:extLst>
              <a:ext uri="{FF2B5EF4-FFF2-40B4-BE49-F238E27FC236}">
                <a16:creationId xmlns:a16="http://schemas.microsoft.com/office/drawing/2014/main" id="{452359D7-9716-3065-ECCF-8082A4CFA711}"/>
              </a:ext>
            </a:extLst>
          </p:cNvPr>
          <p:cNvCxnSpPr>
            <a:cxnSpLocks/>
          </p:cNvCxnSpPr>
          <p:nvPr/>
        </p:nvCxnSpPr>
        <p:spPr>
          <a:xfrm flipV="1">
            <a:off x="7730634" y="1915042"/>
            <a:ext cx="1211332" cy="10022"/>
          </a:xfrm>
          <a:prstGeom prst="straightConnector1">
            <a:avLst/>
          </a:prstGeom>
          <a:ln w="28575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Arrow Connector 206">
            <a:extLst>
              <a:ext uri="{FF2B5EF4-FFF2-40B4-BE49-F238E27FC236}">
                <a16:creationId xmlns:a16="http://schemas.microsoft.com/office/drawing/2014/main" id="{D46A9ACC-43E3-4661-A448-603D2F8D831B}"/>
              </a:ext>
            </a:extLst>
          </p:cNvPr>
          <p:cNvCxnSpPr>
            <a:cxnSpLocks/>
          </p:cNvCxnSpPr>
          <p:nvPr/>
        </p:nvCxnSpPr>
        <p:spPr>
          <a:xfrm flipH="1">
            <a:off x="7690683" y="2167646"/>
            <a:ext cx="1222615" cy="0"/>
          </a:xfrm>
          <a:prstGeom prst="straightConnector1">
            <a:avLst/>
          </a:prstGeom>
          <a:ln w="28575" cap="rnd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9" name="Graphique 138" descr="Document avec un remplissage uni">
            <a:extLst>
              <a:ext uri="{FF2B5EF4-FFF2-40B4-BE49-F238E27FC236}">
                <a16:creationId xmlns:a16="http://schemas.microsoft.com/office/drawing/2014/main" id="{3504E905-1D9F-6EA7-B367-F1D1D446D6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96711" y="1506780"/>
            <a:ext cx="914400" cy="914400"/>
          </a:xfrm>
          <a:prstGeom prst="rect">
            <a:avLst/>
          </a:prstGeom>
        </p:spPr>
      </p:pic>
      <p:pic>
        <p:nvPicPr>
          <p:cNvPr id="140" name="Graphique 139" descr="Document avec un remplissage uni">
            <a:extLst>
              <a:ext uri="{FF2B5EF4-FFF2-40B4-BE49-F238E27FC236}">
                <a16:creationId xmlns:a16="http://schemas.microsoft.com/office/drawing/2014/main" id="{283F25C4-BE0B-5D6E-E1DA-F267F5DBA7A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243962" y="3027332"/>
            <a:ext cx="914400" cy="914400"/>
          </a:xfrm>
          <a:prstGeom prst="rect">
            <a:avLst/>
          </a:prstGeom>
        </p:spPr>
      </p:pic>
      <p:pic>
        <p:nvPicPr>
          <p:cNvPr id="143" name="Graphique 142" descr="Base de données avec un remplissage uni">
            <a:extLst>
              <a:ext uri="{FF2B5EF4-FFF2-40B4-BE49-F238E27FC236}">
                <a16:creationId xmlns:a16="http://schemas.microsoft.com/office/drawing/2014/main" id="{7B0BB2D0-8004-0A0F-0156-408DFA5631D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902282" y="3005450"/>
            <a:ext cx="914400" cy="914400"/>
          </a:xfrm>
          <a:prstGeom prst="rect">
            <a:avLst/>
          </a:prstGeom>
        </p:spPr>
      </p:pic>
      <p:pic>
        <p:nvPicPr>
          <p:cNvPr id="145" name="Graphique 144" descr="Base de données avec un remplissage uni">
            <a:extLst>
              <a:ext uri="{FF2B5EF4-FFF2-40B4-BE49-F238E27FC236}">
                <a16:creationId xmlns:a16="http://schemas.microsoft.com/office/drawing/2014/main" id="{1EFD42A8-1FEB-D9C5-6C18-01C930C430C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048698" y="4694182"/>
            <a:ext cx="914400" cy="914400"/>
          </a:xfrm>
          <a:prstGeom prst="rect">
            <a:avLst/>
          </a:prstGeom>
        </p:spPr>
      </p:pic>
      <p:sp>
        <p:nvSpPr>
          <p:cNvPr id="146" name="Title 1">
            <a:extLst>
              <a:ext uri="{FF2B5EF4-FFF2-40B4-BE49-F238E27FC236}">
                <a16:creationId xmlns:a16="http://schemas.microsoft.com/office/drawing/2014/main" id="{7E656244-EC89-E874-6C21-32B08ADA6F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1104" y="372402"/>
            <a:ext cx="11558016" cy="1141536"/>
          </a:xfrm>
        </p:spPr>
        <p:txBody>
          <a:bodyPr>
            <a:normAutofit/>
          </a:bodyPr>
          <a:lstStyle/>
          <a:p>
            <a:r>
              <a:rPr lang="en-US" dirty="0"/>
              <a:t>Agents Workflow</a:t>
            </a:r>
            <a:endParaRPr lang="en-US" dirty="0">
              <a:solidFill>
                <a:schemeClr val="accent4"/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7D2E4C2-4F45-9B4A-F600-3895FA476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5791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  <p:bldP spid="50" grpId="0"/>
      <p:bldP spid="51" grpId="0"/>
      <p:bldP spid="53" grpId="0"/>
      <p:bldP spid="55" grpId="0"/>
      <p:bldP spid="68" grpId="0"/>
      <p:bldP spid="70" grpId="0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 : coins arrondis 22">
            <a:extLst>
              <a:ext uri="{FF2B5EF4-FFF2-40B4-BE49-F238E27FC236}">
                <a16:creationId xmlns:a16="http://schemas.microsoft.com/office/drawing/2014/main" id="{50A82E8E-4768-EF85-6CBE-5497C0F0279B}"/>
              </a:ext>
            </a:extLst>
          </p:cNvPr>
          <p:cNvSpPr/>
          <p:nvPr/>
        </p:nvSpPr>
        <p:spPr>
          <a:xfrm>
            <a:off x="7318180" y="2015889"/>
            <a:ext cx="847388" cy="211721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 : coins arrondis 21">
            <a:extLst>
              <a:ext uri="{FF2B5EF4-FFF2-40B4-BE49-F238E27FC236}">
                <a16:creationId xmlns:a16="http://schemas.microsoft.com/office/drawing/2014/main" id="{F1DB6F04-3FA1-13EB-750B-02233B1ADB8C}"/>
              </a:ext>
            </a:extLst>
          </p:cNvPr>
          <p:cNvSpPr/>
          <p:nvPr/>
        </p:nvSpPr>
        <p:spPr>
          <a:xfrm>
            <a:off x="1889617" y="2228482"/>
            <a:ext cx="1255444" cy="323369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3FDA3FD-C267-25D9-4BA9-5E1C40E0980E}"/>
              </a:ext>
            </a:extLst>
          </p:cNvPr>
          <p:cNvCxnSpPr>
            <a:cxnSpLocks/>
          </p:cNvCxnSpPr>
          <p:nvPr/>
        </p:nvCxnSpPr>
        <p:spPr>
          <a:xfrm>
            <a:off x="3126496" y="3780793"/>
            <a:ext cx="4193679" cy="0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F281DAD5-2D7F-00E0-AD1B-E20B09FDE79F}"/>
              </a:ext>
            </a:extLst>
          </p:cNvPr>
          <p:cNvCxnSpPr>
            <a:cxnSpLocks/>
          </p:cNvCxnSpPr>
          <p:nvPr/>
        </p:nvCxnSpPr>
        <p:spPr>
          <a:xfrm>
            <a:off x="5688432" y="2572087"/>
            <a:ext cx="1631743" cy="5304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08C0F4EF-FB67-D7FA-281D-2182C175A3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Agent orchestration – Detailed flow</a:t>
            </a:r>
          </a:p>
        </p:txBody>
      </p:sp>
      <p:grpSp>
        <p:nvGrpSpPr>
          <p:cNvPr id="65" name="Group 64">
            <a:extLst>
              <a:ext uri="{FF2B5EF4-FFF2-40B4-BE49-F238E27FC236}">
                <a16:creationId xmlns:a16="http://schemas.microsoft.com/office/drawing/2014/main" id="{2E05467F-F473-A610-FDCB-BAE35F564E41}"/>
              </a:ext>
            </a:extLst>
          </p:cNvPr>
          <p:cNvGrpSpPr/>
          <p:nvPr/>
        </p:nvGrpSpPr>
        <p:grpSpPr>
          <a:xfrm>
            <a:off x="827199" y="2826099"/>
            <a:ext cx="722383" cy="669762"/>
            <a:chOff x="478155" y="2227116"/>
            <a:chExt cx="914400" cy="914400"/>
          </a:xfrm>
        </p:grpSpPr>
        <p:pic>
          <p:nvPicPr>
            <p:cNvPr id="7" name="Graphic 6" descr="Question mark with solid fill">
              <a:extLst>
                <a:ext uri="{FF2B5EF4-FFF2-40B4-BE49-F238E27FC236}">
                  <a16:creationId xmlns:a16="http://schemas.microsoft.com/office/drawing/2014/main" id="{A7D5F172-D063-4B4C-94CD-EA3EF9D171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30555" y="2363081"/>
              <a:ext cx="609600" cy="624840"/>
            </a:xfrm>
            <a:prstGeom prst="rect">
              <a:avLst/>
            </a:prstGeom>
          </p:spPr>
        </p:pic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D5DAE61A-27A1-D6FC-A2F7-7695D13A0629}"/>
                </a:ext>
              </a:extLst>
            </p:cNvPr>
            <p:cNvGrpSpPr/>
            <p:nvPr/>
          </p:nvGrpSpPr>
          <p:grpSpPr>
            <a:xfrm>
              <a:off x="478155" y="2227116"/>
              <a:ext cx="914400" cy="914400"/>
              <a:chOff x="478155" y="2227116"/>
              <a:chExt cx="914400" cy="914400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27837D8D-D090-2547-6576-6DCD3D3B6DDE}"/>
                  </a:ext>
                </a:extLst>
              </p:cNvPr>
              <p:cNvSpPr/>
              <p:nvPr/>
            </p:nvSpPr>
            <p:spPr>
              <a:xfrm>
                <a:off x="478155" y="2227116"/>
                <a:ext cx="914400" cy="914400"/>
              </a:xfrm>
              <a:prstGeom prst="ellipse">
                <a:avLst/>
              </a:prstGeom>
              <a:noFill/>
              <a:ln>
                <a:solidFill>
                  <a:srgbClr val="2074D5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45720" rIns="45720"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2FACE68E-B185-C421-C64A-0665ED3D8128}"/>
                  </a:ext>
                </a:extLst>
              </p:cNvPr>
              <p:cNvSpPr/>
              <p:nvPr/>
            </p:nvSpPr>
            <p:spPr>
              <a:xfrm>
                <a:off x="508635" y="2248781"/>
                <a:ext cx="853440" cy="853440"/>
              </a:xfrm>
              <a:prstGeom prst="ellipse">
                <a:avLst/>
              </a:prstGeom>
              <a:noFill/>
              <a:ln>
                <a:solidFill>
                  <a:srgbClr val="2074D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45720" tIns="45720" rIns="45720"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</a:endParaRPr>
              </a:p>
            </p:txBody>
          </p:sp>
        </p:grpSp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B158C90D-6C29-BCE5-7FEE-5A4FE2DAB279}"/>
              </a:ext>
            </a:extLst>
          </p:cNvPr>
          <p:cNvSpPr txBox="1"/>
          <p:nvPr/>
        </p:nvSpPr>
        <p:spPr>
          <a:xfrm>
            <a:off x="1012739" y="3584486"/>
            <a:ext cx="389530" cy="307777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l"/>
            <a:r>
              <a:rPr lang="en-US" sz="1400" b="1" dirty="0">
                <a:solidFill>
                  <a:schemeClr val="accent4"/>
                </a:solidFill>
              </a:rPr>
              <a:t>Task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FB9BF1A-46C4-D2E7-938E-CF7848BF0D29}"/>
              </a:ext>
            </a:extLst>
          </p:cNvPr>
          <p:cNvSpPr txBox="1"/>
          <p:nvPr/>
        </p:nvSpPr>
        <p:spPr>
          <a:xfrm>
            <a:off x="2202542" y="3654362"/>
            <a:ext cx="690895" cy="478858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accent4"/>
                </a:solidFill>
              </a:rPr>
              <a:t>Bedrock</a:t>
            </a:r>
          </a:p>
          <a:p>
            <a:pPr algn="ctr"/>
            <a:r>
              <a:rPr lang="en-US" sz="1400" b="1" dirty="0">
                <a:solidFill>
                  <a:schemeClr val="accent4"/>
                </a:solidFill>
              </a:rPr>
              <a:t>Agent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03DCE65-55CB-670E-6C3B-61B4D05B0E81}"/>
              </a:ext>
            </a:extLst>
          </p:cNvPr>
          <p:cNvSpPr txBox="1"/>
          <p:nvPr/>
        </p:nvSpPr>
        <p:spPr>
          <a:xfrm>
            <a:off x="10309360" y="3911854"/>
            <a:ext cx="998671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accent4"/>
                </a:solidFill>
              </a:rPr>
              <a:t>Knowledge </a:t>
            </a:r>
            <a:br>
              <a:rPr lang="en-US" sz="1400" b="1" dirty="0">
                <a:solidFill>
                  <a:schemeClr val="accent4"/>
                </a:solidFill>
              </a:rPr>
            </a:br>
            <a:r>
              <a:rPr lang="en-US" sz="1400" b="1" dirty="0">
                <a:solidFill>
                  <a:schemeClr val="accent4"/>
                </a:solidFill>
              </a:rPr>
              <a:t>Bases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20C1CCC8-4EAB-F78D-5E53-29FA0638AFFE}"/>
              </a:ext>
            </a:extLst>
          </p:cNvPr>
          <p:cNvCxnSpPr>
            <a:cxnSpLocks/>
          </p:cNvCxnSpPr>
          <p:nvPr/>
        </p:nvCxnSpPr>
        <p:spPr>
          <a:xfrm>
            <a:off x="1653176" y="3167663"/>
            <a:ext cx="255680" cy="0"/>
          </a:xfrm>
          <a:prstGeom prst="straightConnector1">
            <a:avLst/>
          </a:prstGeom>
          <a:ln w="19050" cap="rnd">
            <a:solidFill>
              <a:schemeClr val="tx1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Elbow Connector 114">
            <a:extLst>
              <a:ext uri="{FF2B5EF4-FFF2-40B4-BE49-F238E27FC236}">
                <a16:creationId xmlns:a16="http://schemas.microsoft.com/office/drawing/2014/main" id="{D45D9EEB-DF96-0F6A-B255-C743F38B1209}"/>
              </a:ext>
            </a:extLst>
          </p:cNvPr>
          <p:cNvCxnSpPr>
            <a:cxnSpLocks/>
            <a:stCxn id="205" idx="3"/>
          </p:cNvCxnSpPr>
          <p:nvPr/>
        </p:nvCxnSpPr>
        <p:spPr>
          <a:xfrm>
            <a:off x="9460492" y="3706303"/>
            <a:ext cx="874327" cy="185961"/>
          </a:xfrm>
          <a:prstGeom prst="bentConnector3">
            <a:avLst>
              <a:gd name="adj1" fmla="val 50000"/>
            </a:avLst>
          </a:prstGeom>
          <a:ln w="19050" cap="rnd">
            <a:solidFill>
              <a:schemeClr val="tx1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Elbow Connector 115">
            <a:extLst>
              <a:ext uri="{FF2B5EF4-FFF2-40B4-BE49-F238E27FC236}">
                <a16:creationId xmlns:a16="http://schemas.microsoft.com/office/drawing/2014/main" id="{FC1B8A27-502A-B262-14AA-84F448393414}"/>
              </a:ext>
            </a:extLst>
          </p:cNvPr>
          <p:cNvCxnSpPr>
            <a:cxnSpLocks/>
            <a:endCxn id="208" idx="3"/>
          </p:cNvCxnSpPr>
          <p:nvPr/>
        </p:nvCxnSpPr>
        <p:spPr>
          <a:xfrm rot="10800000" flipV="1">
            <a:off x="9437407" y="3892264"/>
            <a:ext cx="897412" cy="117288"/>
          </a:xfrm>
          <a:prstGeom prst="bentConnector3">
            <a:avLst>
              <a:gd name="adj1" fmla="val 50000"/>
            </a:avLst>
          </a:prstGeom>
          <a:ln w="19050" cap="rnd">
            <a:solidFill>
              <a:schemeClr val="tx1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947E6622-450D-A937-503E-3F65F7221C03}"/>
              </a:ext>
            </a:extLst>
          </p:cNvPr>
          <p:cNvCxnSpPr>
            <a:cxnSpLocks/>
          </p:cNvCxnSpPr>
          <p:nvPr/>
        </p:nvCxnSpPr>
        <p:spPr>
          <a:xfrm>
            <a:off x="3180941" y="4671333"/>
            <a:ext cx="1452660" cy="1"/>
          </a:xfrm>
          <a:prstGeom prst="line">
            <a:avLst/>
          </a:prstGeom>
          <a:ln w="19050" cap="rnd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Straight Arrow Connector 127">
            <a:extLst>
              <a:ext uri="{FF2B5EF4-FFF2-40B4-BE49-F238E27FC236}">
                <a16:creationId xmlns:a16="http://schemas.microsoft.com/office/drawing/2014/main" id="{CFDF812E-33AA-CAC9-137F-A21A39857C80}"/>
              </a:ext>
            </a:extLst>
          </p:cNvPr>
          <p:cNvCxnSpPr>
            <a:cxnSpLocks/>
            <a:stCxn id="44" idx="3"/>
          </p:cNvCxnSpPr>
          <p:nvPr/>
        </p:nvCxnSpPr>
        <p:spPr>
          <a:xfrm flipV="1">
            <a:off x="6164435" y="4671333"/>
            <a:ext cx="1039980" cy="6532"/>
          </a:xfrm>
          <a:prstGeom prst="straightConnector1">
            <a:avLst/>
          </a:prstGeom>
          <a:ln w="19050" cap="rnd">
            <a:solidFill>
              <a:schemeClr val="tx1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05D026E4-0461-1725-694F-92E3CF526A96}"/>
              </a:ext>
            </a:extLst>
          </p:cNvPr>
          <p:cNvSpPr txBox="1"/>
          <p:nvPr/>
        </p:nvSpPr>
        <p:spPr>
          <a:xfrm>
            <a:off x="4590698" y="5832547"/>
            <a:ext cx="695507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dirty="0"/>
              <a:t>Agent breaks task into subtasks, determines the right sequence, </a:t>
            </a:r>
          </a:p>
          <a:p>
            <a:pPr algn="ctr"/>
            <a:r>
              <a:rPr lang="en-US" sz="1600" dirty="0"/>
              <a:t>and executes actions and knowledge searches on the fly</a:t>
            </a:r>
          </a:p>
        </p:txBody>
      </p:sp>
      <p:sp>
        <p:nvSpPr>
          <p:cNvPr id="150" name="Rectangle: Rounded Corners 216">
            <a:extLst>
              <a:ext uri="{FF2B5EF4-FFF2-40B4-BE49-F238E27FC236}">
                <a16:creationId xmlns:a16="http://schemas.microsoft.com/office/drawing/2014/main" id="{D8115DF3-DE67-9053-E9C8-4B7C7EA6A404}"/>
              </a:ext>
            </a:extLst>
          </p:cNvPr>
          <p:cNvSpPr/>
          <p:nvPr/>
        </p:nvSpPr>
        <p:spPr>
          <a:xfrm>
            <a:off x="8458752" y="2271712"/>
            <a:ext cx="999692" cy="221137"/>
          </a:xfrm>
          <a:prstGeom prst="roundRect">
            <a:avLst>
              <a:gd name="adj" fmla="val 50000"/>
            </a:avLst>
          </a:prstGeom>
          <a:solidFill>
            <a:schemeClr val="accent2">
              <a:lumMod val="40000"/>
              <a:lumOff val="60000"/>
            </a:schemeClr>
          </a:solidFill>
          <a:ln w="19050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200" b="1" spc="50" dirty="0">
                <a:solidFill>
                  <a:srgbClr val="232F3E"/>
                </a:solidFill>
                <a:latin typeface="Amazon Ember Display"/>
              </a:rPr>
              <a:t>API call</a:t>
            </a:r>
          </a:p>
        </p:txBody>
      </p:sp>
      <p:cxnSp>
        <p:nvCxnSpPr>
          <p:cNvPr id="160" name="Elbow Connector 159">
            <a:extLst>
              <a:ext uri="{FF2B5EF4-FFF2-40B4-BE49-F238E27FC236}">
                <a16:creationId xmlns:a16="http://schemas.microsoft.com/office/drawing/2014/main" id="{B6EA3D2E-BA1D-96FF-04BD-83766F848D24}"/>
              </a:ext>
            </a:extLst>
          </p:cNvPr>
          <p:cNvCxnSpPr>
            <a:cxnSpLocks/>
            <a:stCxn id="150" idx="3"/>
          </p:cNvCxnSpPr>
          <p:nvPr/>
        </p:nvCxnSpPr>
        <p:spPr>
          <a:xfrm>
            <a:off x="9458444" y="2382281"/>
            <a:ext cx="894718" cy="121851"/>
          </a:xfrm>
          <a:prstGeom prst="bentConnector3">
            <a:avLst>
              <a:gd name="adj1" fmla="val 50000"/>
            </a:avLst>
          </a:prstGeom>
          <a:ln w="19050" cap="rnd">
            <a:solidFill>
              <a:schemeClr val="tx1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Elbow Connector 160">
            <a:extLst>
              <a:ext uri="{FF2B5EF4-FFF2-40B4-BE49-F238E27FC236}">
                <a16:creationId xmlns:a16="http://schemas.microsoft.com/office/drawing/2014/main" id="{16BADF74-6103-D679-E46E-060D57CA11E6}"/>
              </a:ext>
            </a:extLst>
          </p:cNvPr>
          <p:cNvCxnSpPr>
            <a:cxnSpLocks/>
            <a:endCxn id="195" idx="3"/>
          </p:cNvCxnSpPr>
          <p:nvPr/>
        </p:nvCxnSpPr>
        <p:spPr>
          <a:xfrm rot="10800000" flipV="1">
            <a:off x="9435360" y="2504132"/>
            <a:ext cx="917803" cy="181398"/>
          </a:xfrm>
          <a:prstGeom prst="bentConnector3">
            <a:avLst>
              <a:gd name="adj1" fmla="val 50000"/>
            </a:avLst>
          </a:prstGeom>
          <a:ln w="19050" cap="rnd">
            <a:solidFill>
              <a:schemeClr val="tx1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Straight Connector 161">
            <a:extLst>
              <a:ext uri="{FF2B5EF4-FFF2-40B4-BE49-F238E27FC236}">
                <a16:creationId xmlns:a16="http://schemas.microsoft.com/office/drawing/2014/main" id="{46A40861-CA27-6F81-2BE7-FB5F2DCC463B}"/>
              </a:ext>
            </a:extLst>
          </p:cNvPr>
          <p:cNvCxnSpPr>
            <a:cxnSpLocks/>
          </p:cNvCxnSpPr>
          <p:nvPr/>
        </p:nvCxnSpPr>
        <p:spPr>
          <a:xfrm>
            <a:off x="8194528" y="2681474"/>
            <a:ext cx="228600" cy="0"/>
          </a:xfrm>
          <a:prstGeom prst="line">
            <a:avLst/>
          </a:prstGeom>
          <a:ln w="19050" cap="rnd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2B23FAF0-CA2F-E99F-E10C-81AF7A8C12FD}"/>
              </a:ext>
            </a:extLst>
          </p:cNvPr>
          <p:cNvCxnSpPr>
            <a:cxnSpLocks/>
          </p:cNvCxnSpPr>
          <p:nvPr/>
        </p:nvCxnSpPr>
        <p:spPr>
          <a:xfrm>
            <a:off x="8182151" y="2363513"/>
            <a:ext cx="286258" cy="19"/>
          </a:xfrm>
          <a:prstGeom prst="line">
            <a:avLst/>
          </a:prstGeom>
          <a:ln w="19050" cap="rnd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TextBox 152">
            <a:extLst>
              <a:ext uri="{FF2B5EF4-FFF2-40B4-BE49-F238E27FC236}">
                <a16:creationId xmlns:a16="http://schemas.microsoft.com/office/drawing/2014/main" id="{FB7C9560-7C49-07D7-FD84-1E9B4E29D4DD}"/>
              </a:ext>
            </a:extLst>
          </p:cNvPr>
          <p:cNvSpPr txBox="1"/>
          <p:nvPr/>
        </p:nvSpPr>
        <p:spPr>
          <a:xfrm>
            <a:off x="10525686" y="2607391"/>
            <a:ext cx="604333" cy="523220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accent4"/>
                </a:solidFill>
              </a:rPr>
              <a:t>Action </a:t>
            </a:r>
            <a:br>
              <a:rPr lang="en-US" sz="1400" b="1" dirty="0">
                <a:solidFill>
                  <a:schemeClr val="accent4"/>
                </a:solidFill>
              </a:rPr>
            </a:br>
            <a:r>
              <a:rPr lang="en-US" sz="1400" b="1" dirty="0">
                <a:solidFill>
                  <a:schemeClr val="accent4"/>
                </a:solidFill>
              </a:rPr>
              <a:t>Groups</a:t>
            </a:r>
          </a:p>
        </p:txBody>
      </p:sp>
      <p:sp>
        <p:nvSpPr>
          <p:cNvPr id="195" name="Rectangle: Rounded Corners 216">
            <a:extLst>
              <a:ext uri="{FF2B5EF4-FFF2-40B4-BE49-F238E27FC236}">
                <a16:creationId xmlns:a16="http://schemas.microsoft.com/office/drawing/2014/main" id="{36A1214B-C518-4C62-54CD-E640E1792FA0}"/>
              </a:ext>
            </a:extLst>
          </p:cNvPr>
          <p:cNvSpPr/>
          <p:nvPr/>
        </p:nvSpPr>
        <p:spPr>
          <a:xfrm>
            <a:off x="8435667" y="2578042"/>
            <a:ext cx="999692" cy="214976"/>
          </a:xfrm>
          <a:prstGeom prst="roundRect">
            <a:avLst>
              <a:gd name="adj" fmla="val 50000"/>
            </a:avLst>
          </a:prstGeom>
          <a:solidFill>
            <a:schemeClr val="accent2">
              <a:lumMod val="40000"/>
              <a:lumOff val="60000"/>
            </a:schemeClr>
          </a:solidFill>
          <a:ln w="19050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200" b="1" spc="50" dirty="0">
                <a:solidFill>
                  <a:srgbClr val="232F3E"/>
                </a:solidFill>
                <a:latin typeface="Amazon Ember Display"/>
              </a:rPr>
              <a:t>Results</a:t>
            </a:r>
          </a:p>
        </p:txBody>
      </p:sp>
      <p:sp>
        <p:nvSpPr>
          <p:cNvPr id="205" name="Rectangle: Rounded Corners 216">
            <a:extLst>
              <a:ext uri="{FF2B5EF4-FFF2-40B4-BE49-F238E27FC236}">
                <a16:creationId xmlns:a16="http://schemas.microsoft.com/office/drawing/2014/main" id="{641BA19B-203E-1158-D55E-301BB71C2617}"/>
              </a:ext>
            </a:extLst>
          </p:cNvPr>
          <p:cNvSpPr/>
          <p:nvPr/>
        </p:nvSpPr>
        <p:spPr>
          <a:xfrm>
            <a:off x="8460800" y="3595734"/>
            <a:ext cx="999692" cy="221137"/>
          </a:xfrm>
          <a:prstGeom prst="roundRect">
            <a:avLst>
              <a:gd name="adj" fmla="val 50000"/>
            </a:avLst>
          </a:prstGeom>
          <a:solidFill>
            <a:schemeClr val="accent2">
              <a:lumMod val="40000"/>
              <a:lumOff val="60000"/>
            </a:schemeClr>
          </a:solidFill>
          <a:ln w="19050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200" b="1" spc="50" dirty="0">
                <a:solidFill>
                  <a:srgbClr val="232F3E"/>
                </a:solidFill>
                <a:latin typeface="Amazon Ember Display"/>
              </a:rPr>
              <a:t>Search</a:t>
            </a:r>
          </a:p>
        </p:txBody>
      </p:sp>
      <p:cxnSp>
        <p:nvCxnSpPr>
          <p:cNvPr id="206" name="Straight Connector 205">
            <a:extLst>
              <a:ext uri="{FF2B5EF4-FFF2-40B4-BE49-F238E27FC236}">
                <a16:creationId xmlns:a16="http://schemas.microsoft.com/office/drawing/2014/main" id="{9B5959C2-D807-3325-B913-07B16D45B2C1}"/>
              </a:ext>
            </a:extLst>
          </p:cNvPr>
          <p:cNvCxnSpPr>
            <a:cxnSpLocks/>
          </p:cNvCxnSpPr>
          <p:nvPr/>
        </p:nvCxnSpPr>
        <p:spPr>
          <a:xfrm>
            <a:off x="8196576" y="4005496"/>
            <a:ext cx="228600" cy="0"/>
          </a:xfrm>
          <a:prstGeom prst="line">
            <a:avLst/>
          </a:prstGeom>
          <a:ln w="19050" cap="rnd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Straight Connector 206">
            <a:extLst>
              <a:ext uri="{FF2B5EF4-FFF2-40B4-BE49-F238E27FC236}">
                <a16:creationId xmlns:a16="http://schemas.microsoft.com/office/drawing/2014/main" id="{4380AB67-3941-04D8-073F-1ECB305B08AD}"/>
              </a:ext>
            </a:extLst>
          </p:cNvPr>
          <p:cNvCxnSpPr>
            <a:cxnSpLocks/>
          </p:cNvCxnSpPr>
          <p:nvPr/>
        </p:nvCxnSpPr>
        <p:spPr>
          <a:xfrm>
            <a:off x="8184199" y="3687535"/>
            <a:ext cx="286258" cy="19"/>
          </a:xfrm>
          <a:prstGeom prst="line">
            <a:avLst/>
          </a:prstGeom>
          <a:ln w="19050" cap="rnd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8" name="Rectangle: Rounded Corners 216">
            <a:extLst>
              <a:ext uri="{FF2B5EF4-FFF2-40B4-BE49-F238E27FC236}">
                <a16:creationId xmlns:a16="http://schemas.microsoft.com/office/drawing/2014/main" id="{39B1364E-2E5F-7C8E-D254-3392D16C84E3}"/>
              </a:ext>
            </a:extLst>
          </p:cNvPr>
          <p:cNvSpPr/>
          <p:nvPr/>
        </p:nvSpPr>
        <p:spPr>
          <a:xfrm>
            <a:off x="8437715" y="3902064"/>
            <a:ext cx="999692" cy="214976"/>
          </a:xfrm>
          <a:prstGeom prst="roundRect">
            <a:avLst>
              <a:gd name="adj" fmla="val 50000"/>
            </a:avLst>
          </a:prstGeom>
          <a:solidFill>
            <a:schemeClr val="accent2">
              <a:lumMod val="40000"/>
              <a:lumOff val="60000"/>
            </a:schemeClr>
          </a:solidFill>
          <a:ln w="19050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200" b="1" spc="50" dirty="0">
                <a:solidFill>
                  <a:srgbClr val="232F3E"/>
                </a:solidFill>
                <a:latin typeface="Amazon Ember Display"/>
              </a:rPr>
              <a:t>Results</a:t>
            </a:r>
          </a:p>
        </p:txBody>
      </p:sp>
      <p:sp>
        <p:nvSpPr>
          <p:cNvPr id="214" name="Rectangle: Rounded Corners 216">
            <a:extLst>
              <a:ext uri="{FF2B5EF4-FFF2-40B4-BE49-F238E27FC236}">
                <a16:creationId xmlns:a16="http://schemas.microsoft.com/office/drawing/2014/main" id="{9B07A013-93CF-9BF2-A953-0425D4CBBC08}"/>
              </a:ext>
            </a:extLst>
          </p:cNvPr>
          <p:cNvSpPr/>
          <p:nvPr/>
        </p:nvSpPr>
        <p:spPr>
          <a:xfrm>
            <a:off x="5903828" y="2348543"/>
            <a:ext cx="1121115" cy="447273"/>
          </a:xfrm>
          <a:prstGeom prst="roundRect">
            <a:avLst>
              <a:gd name="adj" fmla="val 50000"/>
            </a:avLst>
          </a:prstGeom>
          <a:solidFill>
            <a:schemeClr val="accent2">
              <a:lumMod val="40000"/>
              <a:lumOff val="60000"/>
            </a:schemeClr>
          </a:solidFill>
          <a:ln w="19050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200" b="1" spc="50" dirty="0">
                <a:solidFill>
                  <a:srgbClr val="232F3E"/>
                </a:solidFill>
                <a:latin typeface="Amazon Ember Display"/>
              </a:rPr>
              <a:t>Chain of thought</a:t>
            </a:r>
          </a:p>
        </p:txBody>
      </p:sp>
      <p:sp>
        <p:nvSpPr>
          <p:cNvPr id="18" name="Rectangle: Rounded Corners 216">
            <a:extLst>
              <a:ext uri="{FF2B5EF4-FFF2-40B4-BE49-F238E27FC236}">
                <a16:creationId xmlns:a16="http://schemas.microsoft.com/office/drawing/2014/main" id="{2EBF3F80-B47D-B7F6-B124-0C33472C5702}"/>
              </a:ext>
            </a:extLst>
          </p:cNvPr>
          <p:cNvSpPr/>
          <p:nvPr/>
        </p:nvSpPr>
        <p:spPr>
          <a:xfrm>
            <a:off x="4758288" y="3652964"/>
            <a:ext cx="1051455" cy="265601"/>
          </a:xfrm>
          <a:prstGeom prst="roundRect">
            <a:avLst>
              <a:gd name="adj" fmla="val 50000"/>
            </a:avLst>
          </a:prstGeom>
          <a:solidFill>
            <a:schemeClr val="accent2">
              <a:lumMod val="40000"/>
              <a:lumOff val="60000"/>
            </a:schemeClr>
          </a:solidFill>
          <a:ln w="19050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200" b="1" spc="50" dirty="0">
                <a:solidFill>
                  <a:srgbClr val="232F3E"/>
                </a:solidFill>
                <a:latin typeface="Amazon Ember Display"/>
              </a:rPr>
              <a:t>Results</a:t>
            </a:r>
          </a:p>
        </p:txBody>
      </p: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2A1ACBEE-804D-25C2-BD18-45201B130EAF}"/>
              </a:ext>
            </a:extLst>
          </p:cNvPr>
          <p:cNvCxnSpPr>
            <a:cxnSpLocks/>
          </p:cNvCxnSpPr>
          <p:nvPr/>
        </p:nvCxnSpPr>
        <p:spPr>
          <a:xfrm flipV="1">
            <a:off x="3146304" y="2565282"/>
            <a:ext cx="1799656" cy="12109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: Rounded Corners 216">
            <a:extLst>
              <a:ext uri="{FF2B5EF4-FFF2-40B4-BE49-F238E27FC236}">
                <a16:creationId xmlns:a16="http://schemas.microsoft.com/office/drawing/2014/main" id="{95723143-BFAE-E151-0C13-04E505110B80}"/>
              </a:ext>
            </a:extLst>
          </p:cNvPr>
          <p:cNvSpPr/>
          <p:nvPr/>
        </p:nvSpPr>
        <p:spPr>
          <a:xfrm>
            <a:off x="3245552" y="1590638"/>
            <a:ext cx="1526170" cy="1866308"/>
          </a:xfrm>
          <a:prstGeom prst="roundRect">
            <a:avLst>
              <a:gd name="adj" fmla="val 25527"/>
            </a:avLst>
          </a:prstGeom>
          <a:solidFill>
            <a:schemeClr val="accent2">
              <a:lumMod val="40000"/>
              <a:lumOff val="60000"/>
            </a:schemeClr>
          </a:solidFill>
          <a:ln w="19050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200" b="1" spc="50" dirty="0">
                <a:solidFill>
                  <a:srgbClr val="232F3E"/>
                </a:solidFill>
                <a:latin typeface="Amazon Ember Display"/>
              </a:rPr>
              <a:t>PROMPT</a:t>
            </a:r>
            <a:br>
              <a:rPr lang="en-US" sz="1200" b="1" spc="50" dirty="0">
                <a:solidFill>
                  <a:srgbClr val="232F3E"/>
                </a:solidFill>
                <a:latin typeface="Amazon Ember Display"/>
              </a:rPr>
            </a:br>
            <a:br>
              <a:rPr lang="en-US" sz="1200" b="1" spc="50" dirty="0">
                <a:solidFill>
                  <a:srgbClr val="232F3E"/>
                </a:solidFill>
                <a:latin typeface="Amazon Ember Display"/>
              </a:rPr>
            </a:br>
            <a:r>
              <a:rPr lang="en-US" sz="1200" b="1" spc="50" dirty="0">
                <a:solidFill>
                  <a:srgbClr val="232F3E"/>
                </a:solidFill>
                <a:latin typeface="Amazon Ember Display"/>
              </a:rPr>
              <a:t>Conversation history</a:t>
            </a:r>
            <a:br>
              <a:rPr lang="en-US" sz="1200" b="1" spc="50" dirty="0">
                <a:solidFill>
                  <a:srgbClr val="232F3E"/>
                </a:solidFill>
                <a:latin typeface="Amazon Ember Display"/>
              </a:rPr>
            </a:br>
            <a:br>
              <a:rPr lang="en-US" sz="1200" b="1" spc="50" dirty="0">
                <a:solidFill>
                  <a:srgbClr val="232F3E"/>
                </a:solidFill>
                <a:latin typeface="Amazon Ember Display"/>
              </a:rPr>
            </a:br>
            <a:r>
              <a:rPr lang="en-US" sz="1200" b="1" spc="50" dirty="0">
                <a:solidFill>
                  <a:srgbClr val="232F3E"/>
                </a:solidFill>
                <a:latin typeface="Amazon Ember Display"/>
              </a:rPr>
              <a:t>Actions, KBs</a:t>
            </a:r>
            <a:br>
              <a:rPr lang="en-US" sz="1200" b="1" spc="50" dirty="0">
                <a:solidFill>
                  <a:srgbClr val="232F3E"/>
                </a:solidFill>
                <a:latin typeface="Amazon Ember Display"/>
              </a:rPr>
            </a:br>
            <a:br>
              <a:rPr lang="en-US" sz="1200" b="1" spc="50" dirty="0">
                <a:solidFill>
                  <a:srgbClr val="232F3E"/>
                </a:solidFill>
                <a:latin typeface="Amazon Ember Display"/>
              </a:rPr>
            </a:br>
            <a:r>
              <a:rPr lang="en-US" sz="1200" b="1" spc="50" dirty="0">
                <a:solidFill>
                  <a:srgbClr val="232F3E"/>
                </a:solidFill>
                <a:latin typeface="Amazon Ember Display"/>
              </a:rPr>
              <a:t> Instructions</a:t>
            </a:r>
            <a:br>
              <a:rPr lang="en-US" sz="1200" b="1" spc="50" dirty="0">
                <a:solidFill>
                  <a:srgbClr val="232F3E"/>
                </a:solidFill>
                <a:latin typeface="Amazon Ember Display"/>
              </a:rPr>
            </a:br>
            <a:br>
              <a:rPr lang="en-US" sz="1200" b="1" spc="50" dirty="0">
                <a:solidFill>
                  <a:srgbClr val="232F3E"/>
                </a:solidFill>
                <a:latin typeface="Amazon Ember Display"/>
              </a:rPr>
            </a:br>
            <a:r>
              <a:rPr lang="en-US" sz="1200" b="1" spc="50" dirty="0">
                <a:solidFill>
                  <a:srgbClr val="232F3E"/>
                </a:solidFill>
                <a:latin typeface="Amazon Ember Display"/>
              </a:rPr>
              <a:t>Task</a:t>
            </a:r>
          </a:p>
        </p:txBody>
      </p:sp>
      <p:sp>
        <p:nvSpPr>
          <p:cNvPr id="44" name="Rectangle: Rounded Corners 216">
            <a:extLst>
              <a:ext uri="{FF2B5EF4-FFF2-40B4-BE49-F238E27FC236}">
                <a16:creationId xmlns:a16="http://schemas.microsoft.com/office/drawing/2014/main" id="{A0E2177A-2F90-F965-53CC-843512752111}"/>
              </a:ext>
            </a:extLst>
          </p:cNvPr>
          <p:cNvSpPr/>
          <p:nvPr/>
        </p:nvSpPr>
        <p:spPr>
          <a:xfrm>
            <a:off x="4403596" y="4545064"/>
            <a:ext cx="1760839" cy="265601"/>
          </a:xfrm>
          <a:prstGeom prst="roundRect">
            <a:avLst>
              <a:gd name="adj" fmla="val 50000"/>
            </a:avLst>
          </a:prstGeom>
          <a:solidFill>
            <a:schemeClr val="accent2">
              <a:lumMod val="40000"/>
              <a:lumOff val="60000"/>
            </a:schemeClr>
          </a:solidFill>
          <a:ln w="19050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200" b="1" spc="50" dirty="0">
                <a:solidFill>
                  <a:srgbClr val="232F3E"/>
                </a:solidFill>
                <a:latin typeface="Amazon Ember Display"/>
              </a:rPr>
              <a:t>Task + results</a:t>
            </a:r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45AD75B1-1FBD-F828-A9DF-C16C1BADF616}"/>
              </a:ext>
            </a:extLst>
          </p:cNvPr>
          <p:cNvCxnSpPr>
            <a:cxnSpLocks/>
          </p:cNvCxnSpPr>
          <p:nvPr/>
        </p:nvCxnSpPr>
        <p:spPr>
          <a:xfrm>
            <a:off x="3145061" y="5166778"/>
            <a:ext cx="4009887" cy="5984"/>
          </a:xfrm>
          <a:prstGeom prst="line">
            <a:avLst/>
          </a:prstGeom>
          <a:ln w="19050" cap="rnd">
            <a:solidFill>
              <a:schemeClr val="tx1"/>
            </a:solidFill>
            <a:round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: Rounded Corners 216">
            <a:extLst>
              <a:ext uri="{FF2B5EF4-FFF2-40B4-BE49-F238E27FC236}">
                <a16:creationId xmlns:a16="http://schemas.microsoft.com/office/drawing/2014/main" id="{1314D475-E881-65A8-171B-BADA568A244B}"/>
              </a:ext>
            </a:extLst>
          </p:cNvPr>
          <p:cNvSpPr/>
          <p:nvPr/>
        </p:nvSpPr>
        <p:spPr>
          <a:xfrm>
            <a:off x="4500430" y="5038949"/>
            <a:ext cx="1567170" cy="293149"/>
          </a:xfrm>
          <a:prstGeom prst="roundRect">
            <a:avLst>
              <a:gd name="adj" fmla="val 50000"/>
            </a:avLst>
          </a:prstGeom>
          <a:solidFill>
            <a:schemeClr val="accent2">
              <a:lumMod val="40000"/>
              <a:lumOff val="60000"/>
            </a:schemeClr>
          </a:solidFill>
          <a:ln w="19050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200" b="1" spc="50" dirty="0">
                <a:solidFill>
                  <a:srgbClr val="232F3E"/>
                </a:solidFill>
                <a:latin typeface="Amazon Ember Display"/>
              </a:rPr>
              <a:t>Final response</a:t>
            </a:r>
          </a:p>
        </p:txBody>
      </p:sp>
      <p:grpSp>
        <p:nvGrpSpPr>
          <p:cNvPr id="6" name="Graphic 1959">
            <a:extLst>
              <a:ext uri="{FF2B5EF4-FFF2-40B4-BE49-F238E27FC236}">
                <a16:creationId xmlns:a16="http://schemas.microsoft.com/office/drawing/2014/main" id="{636D9F49-8006-2528-C9E0-1E10F2A804CB}"/>
              </a:ext>
            </a:extLst>
          </p:cNvPr>
          <p:cNvGrpSpPr/>
          <p:nvPr/>
        </p:nvGrpSpPr>
        <p:grpSpPr>
          <a:xfrm>
            <a:off x="10572701" y="3339143"/>
            <a:ext cx="471991" cy="577656"/>
            <a:chOff x="2106490" y="758377"/>
            <a:chExt cx="471991" cy="577656"/>
          </a:xfrm>
          <a:noFill/>
        </p:grpSpPr>
        <p:grpSp>
          <p:nvGrpSpPr>
            <p:cNvPr id="8" name="Graphic 1959">
              <a:extLst>
                <a:ext uri="{FF2B5EF4-FFF2-40B4-BE49-F238E27FC236}">
                  <a16:creationId xmlns:a16="http://schemas.microsoft.com/office/drawing/2014/main" id="{9E0A0F77-D19A-1894-4F27-313160AFB54E}"/>
                </a:ext>
              </a:extLst>
            </p:cNvPr>
            <p:cNvGrpSpPr/>
            <p:nvPr/>
          </p:nvGrpSpPr>
          <p:grpSpPr>
            <a:xfrm>
              <a:off x="2176187" y="758377"/>
              <a:ext cx="332597" cy="234289"/>
              <a:chOff x="2176187" y="758377"/>
              <a:chExt cx="332597" cy="234289"/>
            </a:xfrm>
            <a:noFill/>
          </p:grpSpPr>
          <p:sp>
            <p:nvSpPr>
              <p:cNvPr id="34" name="Freeform: Shape 876">
                <a:extLst>
                  <a:ext uri="{FF2B5EF4-FFF2-40B4-BE49-F238E27FC236}">
                    <a16:creationId xmlns:a16="http://schemas.microsoft.com/office/drawing/2014/main" id="{FC0E42D2-89BB-140F-5074-3D473AAF95DB}"/>
                  </a:ext>
                </a:extLst>
              </p:cNvPr>
              <p:cNvSpPr/>
              <p:nvPr/>
            </p:nvSpPr>
            <p:spPr>
              <a:xfrm>
                <a:off x="2342486" y="758377"/>
                <a:ext cx="166298" cy="181723"/>
              </a:xfrm>
              <a:custGeom>
                <a:avLst/>
                <a:gdLst>
                  <a:gd name="connsiteX0" fmla="*/ 41584 w 166298"/>
                  <a:gd name="connsiteY0" fmla="*/ 138577 h 181723"/>
                  <a:gd name="connsiteX1" fmla="*/ 0 w 166298"/>
                  <a:gd name="connsiteY1" fmla="*/ 110890 h 181723"/>
                  <a:gd name="connsiteX2" fmla="*/ 0 w 166298"/>
                  <a:gd name="connsiteY2" fmla="*/ 27722 h 181723"/>
                  <a:gd name="connsiteX3" fmla="*/ 41584 w 166298"/>
                  <a:gd name="connsiteY3" fmla="*/ 0 h 181723"/>
                  <a:gd name="connsiteX4" fmla="*/ 124715 w 166298"/>
                  <a:gd name="connsiteY4" fmla="*/ 49687 h 181723"/>
                  <a:gd name="connsiteX5" fmla="*/ 124715 w 166298"/>
                  <a:gd name="connsiteY5" fmla="*/ 103604 h 181723"/>
                  <a:gd name="connsiteX6" fmla="*/ 166299 w 166298"/>
                  <a:gd name="connsiteY6" fmla="*/ 127203 h 181723"/>
                  <a:gd name="connsiteX7" fmla="*/ 166299 w 166298"/>
                  <a:gd name="connsiteY7" fmla="*/ 168112 h 181723"/>
                  <a:gd name="connsiteX8" fmla="*/ 166299 w 166298"/>
                  <a:gd name="connsiteY8" fmla="*/ 181724 h 18172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66298" h="181723">
                    <a:moveTo>
                      <a:pt x="41584" y="138577"/>
                    </a:moveTo>
                    <a:lnTo>
                      <a:pt x="0" y="110890"/>
                    </a:lnTo>
                    <a:lnTo>
                      <a:pt x="0" y="27722"/>
                    </a:lnTo>
                    <a:lnTo>
                      <a:pt x="41584" y="0"/>
                    </a:lnTo>
                    <a:lnTo>
                      <a:pt x="124715" y="49687"/>
                    </a:lnTo>
                    <a:lnTo>
                      <a:pt x="124715" y="103604"/>
                    </a:lnTo>
                    <a:lnTo>
                      <a:pt x="166299" y="127203"/>
                    </a:lnTo>
                    <a:lnTo>
                      <a:pt x="166299" y="168112"/>
                    </a:lnTo>
                    <a:lnTo>
                      <a:pt x="166299" y="181724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" name="Freeform: Shape 877">
                <a:extLst>
                  <a:ext uri="{FF2B5EF4-FFF2-40B4-BE49-F238E27FC236}">
                    <a16:creationId xmlns:a16="http://schemas.microsoft.com/office/drawing/2014/main" id="{053E90D5-A260-69FF-BE34-633EC67BCBBF}"/>
                  </a:ext>
                </a:extLst>
              </p:cNvPr>
              <p:cNvSpPr/>
              <p:nvPr/>
            </p:nvSpPr>
            <p:spPr>
              <a:xfrm>
                <a:off x="2259318" y="820753"/>
                <a:ext cx="41583" cy="105736"/>
              </a:xfrm>
              <a:custGeom>
                <a:avLst/>
                <a:gdLst>
                  <a:gd name="connsiteX0" fmla="*/ 0 w 41583"/>
                  <a:gd name="connsiteY0" fmla="*/ 105736 h 105736"/>
                  <a:gd name="connsiteX1" fmla="*/ 0 w 41583"/>
                  <a:gd name="connsiteY1" fmla="*/ 62340 h 105736"/>
                  <a:gd name="connsiteX2" fmla="*/ 41584 w 41583"/>
                  <a:gd name="connsiteY2" fmla="*/ 41584 h 105736"/>
                  <a:gd name="connsiteX3" fmla="*/ 41584 w 41583"/>
                  <a:gd name="connsiteY3" fmla="*/ 0 h 10573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41583" h="105736">
                    <a:moveTo>
                      <a:pt x="0" y="105736"/>
                    </a:moveTo>
                    <a:lnTo>
                      <a:pt x="0" y="62340"/>
                    </a:lnTo>
                    <a:lnTo>
                      <a:pt x="41584" y="41584"/>
                    </a:lnTo>
                    <a:lnTo>
                      <a:pt x="41584" y="0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" name="Freeform: Shape 878">
                <a:extLst>
                  <a:ext uri="{FF2B5EF4-FFF2-40B4-BE49-F238E27FC236}">
                    <a16:creationId xmlns:a16="http://schemas.microsoft.com/office/drawing/2014/main" id="{B5DA9C6E-EDC3-6A26-213F-A5CB22F06D78}"/>
                  </a:ext>
                </a:extLst>
              </p:cNvPr>
              <p:cNvSpPr/>
              <p:nvPr/>
            </p:nvSpPr>
            <p:spPr>
              <a:xfrm>
                <a:off x="2217735" y="862336"/>
                <a:ext cx="41583" cy="20756"/>
              </a:xfrm>
              <a:custGeom>
                <a:avLst/>
                <a:gdLst>
                  <a:gd name="connsiteX0" fmla="*/ 41584 w 41583"/>
                  <a:gd name="connsiteY0" fmla="*/ 20756 h 20756"/>
                  <a:gd name="connsiteX1" fmla="*/ 0 w 41583"/>
                  <a:gd name="connsiteY1" fmla="*/ 0 h 207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41583" h="20756">
                    <a:moveTo>
                      <a:pt x="41584" y="20756"/>
                    </a:moveTo>
                    <a:lnTo>
                      <a:pt x="0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" name="Freeform: Shape 879">
                <a:extLst>
                  <a:ext uri="{FF2B5EF4-FFF2-40B4-BE49-F238E27FC236}">
                    <a16:creationId xmlns:a16="http://schemas.microsoft.com/office/drawing/2014/main" id="{9B385766-8521-6FD7-7DE2-50CEB29B8410}"/>
                  </a:ext>
                </a:extLst>
              </p:cNvPr>
              <p:cNvSpPr/>
              <p:nvPr/>
            </p:nvSpPr>
            <p:spPr>
              <a:xfrm>
                <a:off x="2259318" y="783541"/>
                <a:ext cx="3554" cy="51073"/>
              </a:xfrm>
              <a:custGeom>
                <a:avLst/>
                <a:gdLst>
                  <a:gd name="connsiteX0" fmla="*/ 0 w 3554"/>
                  <a:gd name="connsiteY0" fmla="*/ 51073 h 51073"/>
                  <a:gd name="connsiteX1" fmla="*/ 0 w 3554"/>
                  <a:gd name="connsiteY1" fmla="*/ 0 h 510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3554" h="51073">
                    <a:moveTo>
                      <a:pt x="0" y="51073"/>
                    </a:moveTo>
                    <a:lnTo>
                      <a:pt x="0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9" name="Freeform: Shape 880">
                <a:extLst>
                  <a:ext uri="{FF2B5EF4-FFF2-40B4-BE49-F238E27FC236}">
                    <a16:creationId xmlns:a16="http://schemas.microsoft.com/office/drawing/2014/main" id="{7832323B-C021-AC17-990C-A047F80A10C3}"/>
                  </a:ext>
                </a:extLst>
              </p:cNvPr>
              <p:cNvSpPr/>
              <p:nvPr/>
            </p:nvSpPr>
            <p:spPr>
              <a:xfrm>
                <a:off x="2176187" y="903351"/>
                <a:ext cx="40019" cy="23564"/>
              </a:xfrm>
              <a:custGeom>
                <a:avLst/>
                <a:gdLst>
                  <a:gd name="connsiteX0" fmla="*/ 0 w 40019"/>
                  <a:gd name="connsiteY0" fmla="*/ 23564 h 23564"/>
                  <a:gd name="connsiteX1" fmla="*/ 40020 w 40019"/>
                  <a:gd name="connsiteY1" fmla="*/ 0 h 235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40019" h="23564">
                    <a:moveTo>
                      <a:pt x="0" y="23564"/>
                    </a:moveTo>
                    <a:lnTo>
                      <a:pt x="40020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0" name="Freeform: Shape 881">
                <a:extLst>
                  <a:ext uri="{FF2B5EF4-FFF2-40B4-BE49-F238E27FC236}">
                    <a16:creationId xmlns:a16="http://schemas.microsoft.com/office/drawing/2014/main" id="{CAE7FCF4-E1D8-01F9-A145-E386283FF72C}"/>
                  </a:ext>
                </a:extLst>
              </p:cNvPr>
              <p:cNvSpPr/>
              <p:nvPr/>
            </p:nvSpPr>
            <p:spPr>
              <a:xfrm>
                <a:off x="2217735" y="924676"/>
                <a:ext cx="41583" cy="27722"/>
              </a:xfrm>
              <a:custGeom>
                <a:avLst/>
                <a:gdLst>
                  <a:gd name="connsiteX0" fmla="*/ 0 w 41583"/>
                  <a:gd name="connsiteY0" fmla="*/ 27722 h 27722"/>
                  <a:gd name="connsiteX1" fmla="*/ 41584 w 41583"/>
                  <a:gd name="connsiteY1" fmla="*/ 0 h 27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41583" h="27722">
                    <a:moveTo>
                      <a:pt x="0" y="27722"/>
                    </a:moveTo>
                    <a:lnTo>
                      <a:pt x="41584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1" name="Freeform: Shape 882">
                <a:extLst>
                  <a:ext uri="{FF2B5EF4-FFF2-40B4-BE49-F238E27FC236}">
                    <a16:creationId xmlns:a16="http://schemas.microsoft.com/office/drawing/2014/main" id="{48C373D3-7208-0954-F5CD-A7D0FE3B6324}"/>
                  </a:ext>
                </a:extLst>
              </p:cNvPr>
              <p:cNvSpPr/>
              <p:nvPr/>
            </p:nvSpPr>
            <p:spPr>
              <a:xfrm>
                <a:off x="2176187" y="758377"/>
                <a:ext cx="166298" cy="184922"/>
              </a:xfrm>
              <a:custGeom>
                <a:avLst/>
                <a:gdLst>
                  <a:gd name="connsiteX0" fmla="*/ 166299 w 166298"/>
                  <a:gd name="connsiteY0" fmla="*/ 27722 h 184922"/>
                  <a:gd name="connsiteX1" fmla="*/ 124715 w 166298"/>
                  <a:gd name="connsiteY1" fmla="*/ 0 h 184922"/>
                  <a:gd name="connsiteX2" fmla="*/ 41548 w 166298"/>
                  <a:gd name="connsiteY2" fmla="*/ 48514 h 184922"/>
                  <a:gd name="connsiteX3" fmla="*/ 41548 w 166298"/>
                  <a:gd name="connsiteY3" fmla="*/ 103604 h 184922"/>
                  <a:gd name="connsiteX4" fmla="*/ 0 w 166298"/>
                  <a:gd name="connsiteY4" fmla="*/ 124715 h 184922"/>
                  <a:gd name="connsiteX5" fmla="*/ 0 w 166298"/>
                  <a:gd name="connsiteY5" fmla="*/ 168112 h 184922"/>
                  <a:gd name="connsiteX6" fmla="*/ 0 w 166298"/>
                  <a:gd name="connsiteY6" fmla="*/ 184923 h 1849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6298" h="184922">
                    <a:moveTo>
                      <a:pt x="166299" y="27722"/>
                    </a:moveTo>
                    <a:lnTo>
                      <a:pt x="124715" y="0"/>
                    </a:lnTo>
                    <a:lnTo>
                      <a:pt x="41548" y="48514"/>
                    </a:lnTo>
                    <a:lnTo>
                      <a:pt x="41548" y="103604"/>
                    </a:lnTo>
                    <a:lnTo>
                      <a:pt x="0" y="124715"/>
                    </a:lnTo>
                    <a:lnTo>
                      <a:pt x="0" y="168112"/>
                    </a:lnTo>
                    <a:lnTo>
                      <a:pt x="0" y="184923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2" name="Freeform: Shape 883">
                <a:extLst>
                  <a:ext uri="{FF2B5EF4-FFF2-40B4-BE49-F238E27FC236}">
                    <a16:creationId xmlns:a16="http://schemas.microsoft.com/office/drawing/2014/main" id="{72B0B161-469F-9694-5BC3-3B0054FD87C0}"/>
                  </a:ext>
                </a:extLst>
              </p:cNvPr>
              <p:cNvSpPr/>
              <p:nvPr/>
            </p:nvSpPr>
            <p:spPr>
              <a:xfrm>
                <a:off x="2259318" y="924676"/>
                <a:ext cx="83167" cy="56617"/>
              </a:xfrm>
              <a:custGeom>
                <a:avLst/>
                <a:gdLst>
                  <a:gd name="connsiteX0" fmla="*/ 0 w 83167"/>
                  <a:gd name="connsiteY0" fmla="*/ 0 h 56617"/>
                  <a:gd name="connsiteX1" fmla="*/ 41584 w 83167"/>
                  <a:gd name="connsiteY1" fmla="*/ 27722 h 56617"/>
                  <a:gd name="connsiteX2" fmla="*/ 41584 w 83167"/>
                  <a:gd name="connsiteY2" fmla="*/ 56618 h 56617"/>
                  <a:gd name="connsiteX3" fmla="*/ 83167 w 83167"/>
                  <a:gd name="connsiteY3" fmla="*/ 34227 h 5661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83167" h="56617">
                    <a:moveTo>
                      <a:pt x="0" y="0"/>
                    </a:moveTo>
                    <a:lnTo>
                      <a:pt x="41584" y="27722"/>
                    </a:lnTo>
                    <a:lnTo>
                      <a:pt x="41584" y="56618"/>
                    </a:lnTo>
                    <a:lnTo>
                      <a:pt x="83167" y="34227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3" name="Freeform: Shape 884">
                <a:extLst>
                  <a:ext uri="{FF2B5EF4-FFF2-40B4-BE49-F238E27FC236}">
                    <a16:creationId xmlns:a16="http://schemas.microsoft.com/office/drawing/2014/main" id="{EF4FF36E-A3E7-209C-A83A-B5EE5CBA711F}"/>
                  </a:ext>
                </a:extLst>
              </p:cNvPr>
              <p:cNvSpPr/>
              <p:nvPr/>
            </p:nvSpPr>
            <p:spPr>
              <a:xfrm>
                <a:off x="2467201" y="945468"/>
                <a:ext cx="15069" cy="7534"/>
              </a:xfrm>
              <a:custGeom>
                <a:avLst/>
                <a:gdLst>
                  <a:gd name="connsiteX0" fmla="*/ 0 w 15069"/>
                  <a:gd name="connsiteY0" fmla="*/ 0 h 7534"/>
                  <a:gd name="connsiteX1" fmla="*/ 15070 w 15069"/>
                  <a:gd name="connsiteY1" fmla="*/ 7535 h 75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5069" h="7534">
                    <a:moveTo>
                      <a:pt x="0" y="0"/>
                    </a:moveTo>
                    <a:lnTo>
                      <a:pt x="15070" y="7535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5" name="Freeform: Shape 885">
                <a:extLst>
                  <a:ext uri="{FF2B5EF4-FFF2-40B4-BE49-F238E27FC236}">
                    <a16:creationId xmlns:a16="http://schemas.microsoft.com/office/drawing/2014/main" id="{F8494845-A60D-3E17-7585-2C3950DABF2E}"/>
                  </a:ext>
                </a:extLst>
              </p:cNvPr>
              <p:cNvSpPr/>
              <p:nvPr/>
            </p:nvSpPr>
            <p:spPr>
              <a:xfrm>
                <a:off x="2439478" y="834614"/>
                <a:ext cx="27722" cy="3554"/>
              </a:xfrm>
              <a:custGeom>
                <a:avLst/>
                <a:gdLst>
                  <a:gd name="connsiteX0" fmla="*/ 27722 w 27722"/>
                  <a:gd name="connsiteY0" fmla="*/ 0 h 3554"/>
                  <a:gd name="connsiteX1" fmla="*/ 0 w 27722"/>
                  <a:gd name="connsiteY1" fmla="*/ 0 h 35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7722" h="3554">
                    <a:moveTo>
                      <a:pt x="27722" y="0"/>
                    </a:moveTo>
                    <a:lnTo>
                      <a:pt x="0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6" name="Freeform: Shape 886">
                <a:extLst>
                  <a:ext uri="{FF2B5EF4-FFF2-40B4-BE49-F238E27FC236}">
                    <a16:creationId xmlns:a16="http://schemas.microsoft.com/office/drawing/2014/main" id="{B8D8152F-3A54-A016-A2E5-13DB754BDE31}"/>
                  </a:ext>
                </a:extLst>
              </p:cNvPr>
              <p:cNvSpPr/>
              <p:nvPr/>
            </p:nvSpPr>
            <p:spPr>
              <a:xfrm>
                <a:off x="2411792" y="820753"/>
                <a:ext cx="27722" cy="27722"/>
              </a:xfrm>
              <a:custGeom>
                <a:avLst/>
                <a:gdLst>
                  <a:gd name="connsiteX0" fmla="*/ 27722 w 27722"/>
                  <a:gd name="connsiteY0" fmla="*/ 13861 h 27722"/>
                  <a:gd name="connsiteX1" fmla="*/ 13861 w 27722"/>
                  <a:gd name="connsiteY1" fmla="*/ 27722 h 27722"/>
                  <a:gd name="connsiteX2" fmla="*/ 0 w 27722"/>
                  <a:gd name="connsiteY2" fmla="*/ 13861 h 27722"/>
                  <a:gd name="connsiteX3" fmla="*/ 13861 w 27722"/>
                  <a:gd name="connsiteY3" fmla="*/ 0 h 27722"/>
                  <a:gd name="connsiteX4" fmla="*/ 27722 w 27722"/>
                  <a:gd name="connsiteY4" fmla="*/ 13861 h 27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722" h="27722">
                    <a:moveTo>
                      <a:pt x="27722" y="13861"/>
                    </a:moveTo>
                    <a:cubicBezTo>
                      <a:pt x="27722" y="21517"/>
                      <a:pt x="21517" y="27722"/>
                      <a:pt x="13861" y="27722"/>
                    </a:cubicBezTo>
                    <a:cubicBezTo>
                      <a:pt x="6206" y="27722"/>
                      <a:pt x="0" y="21517"/>
                      <a:pt x="0" y="13861"/>
                    </a:cubicBezTo>
                    <a:cubicBezTo>
                      <a:pt x="0" y="6206"/>
                      <a:pt x="6206" y="0"/>
                      <a:pt x="13861" y="0"/>
                    </a:cubicBezTo>
                    <a:cubicBezTo>
                      <a:pt x="21517" y="0"/>
                      <a:pt x="27722" y="6206"/>
                      <a:pt x="27722" y="13861"/>
                    </a:cubicBez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1" name="Freeform: Shape 887">
                <a:extLst>
                  <a:ext uri="{FF2B5EF4-FFF2-40B4-BE49-F238E27FC236}">
                    <a16:creationId xmlns:a16="http://schemas.microsoft.com/office/drawing/2014/main" id="{67661300-D846-7250-2D69-C0A67DBF7221}"/>
                  </a:ext>
                </a:extLst>
              </p:cNvPr>
              <p:cNvSpPr/>
              <p:nvPr/>
            </p:nvSpPr>
            <p:spPr>
              <a:xfrm>
                <a:off x="2439478" y="924676"/>
                <a:ext cx="27722" cy="27722"/>
              </a:xfrm>
              <a:custGeom>
                <a:avLst/>
                <a:gdLst>
                  <a:gd name="connsiteX0" fmla="*/ 27722 w 27722"/>
                  <a:gd name="connsiteY0" fmla="*/ 13861 h 27722"/>
                  <a:gd name="connsiteX1" fmla="*/ 13861 w 27722"/>
                  <a:gd name="connsiteY1" fmla="*/ 27722 h 27722"/>
                  <a:gd name="connsiteX2" fmla="*/ 0 w 27722"/>
                  <a:gd name="connsiteY2" fmla="*/ 13861 h 27722"/>
                  <a:gd name="connsiteX3" fmla="*/ 13861 w 27722"/>
                  <a:gd name="connsiteY3" fmla="*/ 0 h 27722"/>
                  <a:gd name="connsiteX4" fmla="*/ 27722 w 27722"/>
                  <a:gd name="connsiteY4" fmla="*/ 13861 h 27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722" h="27722">
                    <a:moveTo>
                      <a:pt x="27722" y="13861"/>
                    </a:moveTo>
                    <a:cubicBezTo>
                      <a:pt x="27722" y="21517"/>
                      <a:pt x="21517" y="27722"/>
                      <a:pt x="13861" y="27722"/>
                    </a:cubicBezTo>
                    <a:cubicBezTo>
                      <a:pt x="6206" y="27722"/>
                      <a:pt x="0" y="21517"/>
                      <a:pt x="0" y="13861"/>
                    </a:cubicBezTo>
                    <a:cubicBezTo>
                      <a:pt x="0" y="6206"/>
                      <a:pt x="6206" y="0"/>
                      <a:pt x="13861" y="0"/>
                    </a:cubicBezTo>
                    <a:cubicBezTo>
                      <a:pt x="21517" y="0"/>
                      <a:pt x="27722" y="6206"/>
                      <a:pt x="27722" y="13861"/>
                    </a:cubicBez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2" name="Freeform: Shape 888">
                <a:extLst>
                  <a:ext uri="{FF2B5EF4-FFF2-40B4-BE49-F238E27FC236}">
                    <a16:creationId xmlns:a16="http://schemas.microsoft.com/office/drawing/2014/main" id="{AF7DE9AB-4C2A-A49E-371A-023287D518DC}"/>
                  </a:ext>
                </a:extLst>
              </p:cNvPr>
              <p:cNvSpPr/>
              <p:nvPr/>
            </p:nvSpPr>
            <p:spPr>
              <a:xfrm>
                <a:off x="2384069" y="890023"/>
                <a:ext cx="27722" cy="27722"/>
              </a:xfrm>
              <a:custGeom>
                <a:avLst/>
                <a:gdLst>
                  <a:gd name="connsiteX0" fmla="*/ 27722 w 27722"/>
                  <a:gd name="connsiteY0" fmla="*/ 13861 h 27722"/>
                  <a:gd name="connsiteX1" fmla="*/ 13861 w 27722"/>
                  <a:gd name="connsiteY1" fmla="*/ 27722 h 27722"/>
                  <a:gd name="connsiteX2" fmla="*/ 0 w 27722"/>
                  <a:gd name="connsiteY2" fmla="*/ 13861 h 27722"/>
                  <a:gd name="connsiteX3" fmla="*/ 13861 w 27722"/>
                  <a:gd name="connsiteY3" fmla="*/ 0 h 27722"/>
                  <a:gd name="connsiteX4" fmla="*/ 27722 w 27722"/>
                  <a:gd name="connsiteY4" fmla="*/ 13861 h 27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27722" h="27722">
                    <a:moveTo>
                      <a:pt x="27722" y="13861"/>
                    </a:moveTo>
                    <a:cubicBezTo>
                      <a:pt x="27722" y="21517"/>
                      <a:pt x="21517" y="27722"/>
                      <a:pt x="13861" y="27722"/>
                    </a:cubicBezTo>
                    <a:cubicBezTo>
                      <a:pt x="6206" y="27722"/>
                      <a:pt x="0" y="21517"/>
                      <a:pt x="0" y="13861"/>
                    </a:cubicBezTo>
                    <a:cubicBezTo>
                      <a:pt x="0" y="6206"/>
                      <a:pt x="6206" y="0"/>
                      <a:pt x="13861" y="0"/>
                    </a:cubicBezTo>
                    <a:cubicBezTo>
                      <a:pt x="21517" y="0"/>
                      <a:pt x="27722" y="6206"/>
                      <a:pt x="27722" y="13861"/>
                    </a:cubicBez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3" name="Freeform: Shape 889">
                <a:extLst>
                  <a:ext uri="{FF2B5EF4-FFF2-40B4-BE49-F238E27FC236}">
                    <a16:creationId xmlns:a16="http://schemas.microsoft.com/office/drawing/2014/main" id="{77386D9D-3331-CCB7-B3A8-C3C7723637BF}"/>
                  </a:ext>
                </a:extLst>
              </p:cNvPr>
              <p:cNvSpPr/>
              <p:nvPr/>
            </p:nvSpPr>
            <p:spPr>
              <a:xfrm>
                <a:off x="2304136" y="903351"/>
                <a:ext cx="38349" cy="89315"/>
              </a:xfrm>
              <a:custGeom>
                <a:avLst/>
                <a:gdLst>
                  <a:gd name="connsiteX0" fmla="*/ 38349 w 38349"/>
                  <a:gd name="connsiteY0" fmla="*/ 89316 h 89315"/>
                  <a:gd name="connsiteX1" fmla="*/ 38349 w 38349"/>
                  <a:gd name="connsiteY1" fmla="*/ 23528 h 89315"/>
                  <a:gd name="connsiteX2" fmla="*/ 0 w 38349"/>
                  <a:gd name="connsiteY2" fmla="*/ 0 h 893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8349" h="89315">
                    <a:moveTo>
                      <a:pt x="38349" y="89316"/>
                    </a:moveTo>
                    <a:lnTo>
                      <a:pt x="38349" y="23528"/>
                    </a:lnTo>
                    <a:lnTo>
                      <a:pt x="0" y="0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0" name="Graphic 1959">
              <a:extLst>
                <a:ext uri="{FF2B5EF4-FFF2-40B4-BE49-F238E27FC236}">
                  <a16:creationId xmlns:a16="http://schemas.microsoft.com/office/drawing/2014/main" id="{656135C3-5341-A8A3-AD4E-EA2B0CC1F23C}"/>
                </a:ext>
              </a:extLst>
            </p:cNvPr>
            <p:cNvGrpSpPr/>
            <p:nvPr/>
          </p:nvGrpSpPr>
          <p:grpSpPr>
            <a:xfrm>
              <a:off x="2106490" y="983533"/>
              <a:ext cx="471991" cy="352501"/>
              <a:chOff x="2106490" y="983533"/>
              <a:chExt cx="471991" cy="352501"/>
            </a:xfrm>
            <a:noFill/>
          </p:grpSpPr>
          <p:grpSp>
            <p:nvGrpSpPr>
              <p:cNvPr id="19" name="Graphic 1959">
                <a:extLst>
                  <a:ext uri="{FF2B5EF4-FFF2-40B4-BE49-F238E27FC236}">
                    <a16:creationId xmlns:a16="http://schemas.microsoft.com/office/drawing/2014/main" id="{4F1D4108-2FF2-A5CD-E7FC-D61D3F14904B}"/>
                  </a:ext>
                </a:extLst>
              </p:cNvPr>
              <p:cNvGrpSpPr/>
              <p:nvPr/>
            </p:nvGrpSpPr>
            <p:grpSpPr>
              <a:xfrm>
                <a:off x="2106490" y="1205881"/>
                <a:ext cx="471991" cy="130153"/>
                <a:chOff x="2106490" y="1205881"/>
                <a:chExt cx="471991" cy="130153"/>
              </a:xfrm>
              <a:noFill/>
            </p:grpSpPr>
            <p:sp>
              <p:nvSpPr>
                <p:cNvPr id="30" name="Freeform: Shape 873">
                  <a:extLst>
                    <a:ext uri="{FF2B5EF4-FFF2-40B4-BE49-F238E27FC236}">
                      <a16:creationId xmlns:a16="http://schemas.microsoft.com/office/drawing/2014/main" id="{9F33DEDF-8FB6-B5FA-5DAC-6115E898865B}"/>
                    </a:ext>
                  </a:extLst>
                </p:cNvPr>
                <p:cNvSpPr/>
                <p:nvPr/>
              </p:nvSpPr>
              <p:spPr>
                <a:xfrm>
                  <a:off x="2578481" y="1205881"/>
                  <a:ext cx="3554" cy="43929"/>
                </a:xfrm>
                <a:custGeom>
                  <a:avLst/>
                  <a:gdLst>
                    <a:gd name="connsiteX0" fmla="*/ 0 w 3554"/>
                    <a:gd name="connsiteY0" fmla="*/ 43929 h 43929"/>
                    <a:gd name="connsiteX1" fmla="*/ 0 w 3554"/>
                    <a:gd name="connsiteY1" fmla="*/ 0 h 4392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3554" h="43929">
                      <a:moveTo>
                        <a:pt x="0" y="43929"/>
                      </a:moveTo>
                      <a:lnTo>
                        <a:pt x="0" y="0"/>
                      </a:lnTo>
                    </a:path>
                  </a:pathLst>
                </a:custGeom>
                <a:ln w="12700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1" name="Freeform: Shape 874">
                  <a:extLst>
                    <a:ext uri="{FF2B5EF4-FFF2-40B4-BE49-F238E27FC236}">
                      <a16:creationId xmlns:a16="http://schemas.microsoft.com/office/drawing/2014/main" id="{048512BF-51CA-EFE4-B8F8-419F5E285375}"/>
                    </a:ext>
                  </a:extLst>
                </p:cNvPr>
                <p:cNvSpPr/>
                <p:nvPr/>
              </p:nvSpPr>
              <p:spPr>
                <a:xfrm>
                  <a:off x="2362602" y="1267545"/>
                  <a:ext cx="215879" cy="68488"/>
                </a:xfrm>
                <a:custGeom>
                  <a:avLst/>
                  <a:gdLst>
                    <a:gd name="connsiteX0" fmla="*/ 0 w 215879"/>
                    <a:gd name="connsiteY0" fmla="*/ 68489 h 68488"/>
                    <a:gd name="connsiteX1" fmla="*/ 215879 w 215879"/>
                    <a:gd name="connsiteY1" fmla="*/ 27403 h 68488"/>
                    <a:gd name="connsiteX2" fmla="*/ 215879 w 215879"/>
                    <a:gd name="connsiteY2" fmla="*/ 0 h 6848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15879" h="68488">
                      <a:moveTo>
                        <a:pt x="0" y="68489"/>
                      </a:moveTo>
                      <a:lnTo>
                        <a:pt x="215879" y="27403"/>
                      </a:lnTo>
                      <a:lnTo>
                        <a:pt x="215879" y="0"/>
                      </a:lnTo>
                    </a:path>
                  </a:pathLst>
                </a:custGeom>
                <a:noFill/>
                <a:ln w="12700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3" name="Freeform: Shape 875">
                  <a:extLst>
                    <a:ext uri="{FF2B5EF4-FFF2-40B4-BE49-F238E27FC236}">
                      <a16:creationId xmlns:a16="http://schemas.microsoft.com/office/drawing/2014/main" id="{C6BFDC1F-9124-7E5D-79F7-324B5CCC8137}"/>
                    </a:ext>
                  </a:extLst>
                </p:cNvPr>
                <p:cNvSpPr/>
                <p:nvPr/>
              </p:nvSpPr>
              <p:spPr>
                <a:xfrm>
                  <a:off x="2106490" y="1236802"/>
                  <a:ext cx="215879" cy="99232"/>
                </a:xfrm>
                <a:custGeom>
                  <a:avLst/>
                  <a:gdLst>
                    <a:gd name="connsiteX0" fmla="*/ 0 w 215879"/>
                    <a:gd name="connsiteY0" fmla="*/ 0 h 99232"/>
                    <a:gd name="connsiteX1" fmla="*/ 0 w 215879"/>
                    <a:gd name="connsiteY1" fmla="*/ 58146 h 99232"/>
                    <a:gd name="connsiteX2" fmla="*/ 215879 w 215879"/>
                    <a:gd name="connsiteY2" fmla="*/ 99232 h 992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215879" h="99232">
                      <a:moveTo>
                        <a:pt x="0" y="0"/>
                      </a:moveTo>
                      <a:lnTo>
                        <a:pt x="0" y="58146"/>
                      </a:lnTo>
                      <a:lnTo>
                        <a:pt x="215879" y="99232"/>
                      </a:lnTo>
                    </a:path>
                  </a:pathLst>
                </a:custGeom>
                <a:noFill/>
                <a:ln w="12700" cap="flat">
                  <a:solidFill>
                    <a:schemeClr val="tx1"/>
                  </a:solidFill>
                  <a:prstDash val="solid"/>
                  <a:round/>
                </a:ln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</p:grpSp>
          <p:sp>
            <p:nvSpPr>
              <p:cNvPr id="20" name="Freeform: Shape 872">
                <a:extLst>
                  <a:ext uri="{FF2B5EF4-FFF2-40B4-BE49-F238E27FC236}">
                    <a16:creationId xmlns:a16="http://schemas.microsoft.com/office/drawing/2014/main" id="{5D0AC096-A09C-2EA4-6DD2-56F78B6D925E}"/>
                  </a:ext>
                </a:extLst>
              </p:cNvPr>
              <p:cNvSpPr/>
              <p:nvPr/>
            </p:nvSpPr>
            <p:spPr>
              <a:xfrm>
                <a:off x="2106490" y="983533"/>
                <a:ext cx="471991" cy="352501"/>
              </a:xfrm>
              <a:custGeom>
                <a:avLst/>
                <a:gdLst>
                  <a:gd name="connsiteX0" fmla="*/ 471992 w 471991"/>
                  <a:gd name="connsiteY0" fmla="*/ 201485 h 352501"/>
                  <a:gd name="connsiteX1" fmla="*/ 471992 w 471991"/>
                  <a:gd name="connsiteY1" fmla="*/ 0 h 352501"/>
                  <a:gd name="connsiteX2" fmla="*/ 256112 w 471991"/>
                  <a:gd name="connsiteY2" fmla="*/ 26692 h 352501"/>
                  <a:gd name="connsiteX3" fmla="*/ 256112 w 471991"/>
                  <a:gd name="connsiteY3" fmla="*/ 352501 h 352501"/>
                  <a:gd name="connsiteX4" fmla="*/ 215879 w 471991"/>
                  <a:gd name="connsiteY4" fmla="*/ 352501 h 352501"/>
                  <a:gd name="connsiteX5" fmla="*/ 215879 w 471991"/>
                  <a:gd name="connsiteY5" fmla="*/ 26656 h 352501"/>
                  <a:gd name="connsiteX6" fmla="*/ 0 w 471991"/>
                  <a:gd name="connsiteY6" fmla="*/ 0 h 352501"/>
                  <a:gd name="connsiteX7" fmla="*/ 0 w 471991"/>
                  <a:gd name="connsiteY7" fmla="*/ 149914 h 3525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471991" h="352501">
                    <a:moveTo>
                      <a:pt x="471992" y="201485"/>
                    </a:moveTo>
                    <a:lnTo>
                      <a:pt x="471992" y="0"/>
                    </a:lnTo>
                    <a:lnTo>
                      <a:pt x="256112" y="26692"/>
                    </a:lnTo>
                    <a:lnTo>
                      <a:pt x="256112" y="352501"/>
                    </a:lnTo>
                    <a:lnTo>
                      <a:pt x="215879" y="352501"/>
                    </a:lnTo>
                    <a:lnTo>
                      <a:pt x="215879" y="26656"/>
                    </a:lnTo>
                    <a:lnTo>
                      <a:pt x="0" y="0"/>
                    </a:lnTo>
                    <a:lnTo>
                      <a:pt x="0" y="149914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11" name="Freeform: Shape 865">
              <a:extLst>
                <a:ext uri="{FF2B5EF4-FFF2-40B4-BE49-F238E27FC236}">
                  <a16:creationId xmlns:a16="http://schemas.microsoft.com/office/drawing/2014/main" id="{10167E1A-23F5-1051-42FD-92454638AA6B}"/>
                </a:ext>
              </a:extLst>
            </p:cNvPr>
            <p:cNvSpPr/>
            <p:nvPr/>
          </p:nvSpPr>
          <p:spPr>
            <a:xfrm>
              <a:off x="2323506" y="1302198"/>
              <a:ext cx="38136" cy="2985"/>
            </a:xfrm>
            <a:custGeom>
              <a:avLst/>
              <a:gdLst>
                <a:gd name="connsiteX0" fmla="*/ 38136 w 38136"/>
                <a:gd name="connsiteY0" fmla="*/ 142 h 2985"/>
                <a:gd name="connsiteX1" fmla="*/ 19548 w 38136"/>
                <a:gd name="connsiteY1" fmla="*/ 2986 h 2985"/>
                <a:gd name="connsiteX2" fmla="*/ 0 w 38136"/>
                <a:gd name="connsiteY2" fmla="*/ 0 h 2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136" h="2985">
                  <a:moveTo>
                    <a:pt x="38136" y="142"/>
                  </a:moveTo>
                  <a:lnTo>
                    <a:pt x="19548" y="2986"/>
                  </a:lnTo>
                  <a:lnTo>
                    <a:pt x="0" y="0"/>
                  </a:lnTo>
                </a:path>
              </a:pathLst>
            </a:custGeom>
            <a:noFill/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866">
              <a:extLst>
                <a:ext uri="{FF2B5EF4-FFF2-40B4-BE49-F238E27FC236}">
                  <a16:creationId xmlns:a16="http://schemas.microsoft.com/office/drawing/2014/main" id="{AD58E8B9-631B-53FD-5872-BAB9A4AC4726}"/>
                </a:ext>
              </a:extLst>
            </p:cNvPr>
            <p:cNvSpPr/>
            <p:nvPr/>
          </p:nvSpPr>
          <p:spPr>
            <a:xfrm>
              <a:off x="2323506" y="1044771"/>
              <a:ext cx="38136" cy="2985"/>
            </a:xfrm>
            <a:custGeom>
              <a:avLst/>
              <a:gdLst>
                <a:gd name="connsiteX0" fmla="*/ 38136 w 38136"/>
                <a:gd name="connsiteY0" fmla="*/ 142 h 2985"/>
                <a:gd name="connsiteX1" fmla="*/ 19548 w 38136"/>
                <a:gd name="connsiteY1" fmla="*/ 2985 h 2985"/>
                <a:gd name="connsiteX2" fmla="*/ 0 w 38136"/>
                <a:gd name="connsiteY2" fmla="*/ 0 h 29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8136" h="2985">
                  <a:moveTo>
                    <a:pt x="38136" y="142"/>
                  </a:moveTo>
                  <a:lnTo>
                    <a:pt x="19548" y="2985"/>
                  </a:lnTo>
                  <a:lnTo>
                    <a:pt x="0" y="0"/>
                  </a:lnTo>
                </a:path>
              </a:pathLst>
            </a:custGeom>
            <a:noFill/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867">
              <a:extLst>
                <a:ext uri="{FF2B5EF4-FFF2-40B4-BE49-F238E27FC236}">
                  <a16:creationId xmlns:a16="http://schemas.microsoft.com/office/drawing/2014/main" id="{83E8D025-6308-A822-355B-B43AF488E016}"/>
                </a:ext>
              </a:extLst>
            </p:cNvPr>
            <p:cNvSpPr/>
            <p:nvPr/>
          </p:nvSpPr>
          <p:spPr>
            <a:xfrm>
              <a:off x="2322405" y="1010189"/>
              <a:ext cx="40197" cy="3554"/>
            </a:xfrm>
            <a:custGeom>
              <a:avLst/>
              <a:gdLst>
                <a:gd name="connsiteX0" fmla="*/ 40198 w 40197"/>
                <a:gd name="connsiteY0" fmla="*/ 0 h 3554"/>
                <a:gd name="connsiteX1" fmla="*/ 0 w 40197"/>
                <a:gd name="connsiteY1" fmla="*/ 0 h 35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0197" h="3554">
                  <a:moveTo>
                    <a:pt x="40198" y="0"/>
                  </a:moveTo>
                  <a:lnTo>
                    <a:pt x="0" y="0"/>
                  </a:lnTo>
                </a:path>
              </a:pathLst>
            </a:custGeom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868">
              <a:extLst>
                <a:ext uri="{FF2B5EF4-FFF2-40B4-BE49-F238E27FC236}">
                  <a16:creationId xmlns:a16="http://schemas.microsoft.com/office/drawing/2014/main" id="{CA92CF4C-5506-90BE-6472-90FA188D1078}"/>
                </a:ext>
              </a:extLst>
            </p:cNvPr>
            <p:cNvSpPr/>
            <p:nvPr/>
          </p:nvSpPr>
          <p:spPr>
            <a:xfrm>
              <a:off x="2106490" y="1148659"/>
              <a:ext cx="3554" cy="66107"/>
            </a:xfrm>
            <a:custGeom>
              <a:avLst/>
              <a:gdLst>
                <a:gd name="connsiteX0" fmla="*/ 0 w 3554"/>
                <a:gd name="connsiteY0" fmla="*/ 0 h 66107"/>
                <a:gd name="connsiteX1" fmla="*/ 0 w 3554"/>
                <a:gd name="connsiteY1" fmla="*/ 66107 h 661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554" h="66107">
                  <a:moveTo>
                    <a:pt x="0" y="0"/>
                  </a:moveTo>
                  <a:lnTo>
                    <a:pt x="0" y="66107"/>
                  </a:lnTo>
                </a:path>
              </a:pathLst>
            </a:custGeom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869">
              <a:extLst>
                <a:ext uri="{FF2B5EF4-FFF2-40B4-BE49-F238E27FC236}">
                  <a16:creationId xmlns:a16="http://schemas.microsoft.com/office/drawing/2014/main" id="{525F522D-CC14-E61B-C47A-F80CA55818B6}"/>
                </a:ext>
              </a:extLst>
            </p:cNvPr>
            <p:cNvSpPr/>
            <p:nvPr/>
          </p:nvSpPr>
          <p:spPr>
            <a:xfrm>
              <a:off x="2147860" y="952398"/>
              <a:ext cx="194625" cy="57790"/>
            </a:xfrm>
            <a:custGeom>
              <a:avLst/>
              <a:gdLst>
                <a:gd name="connsiteX0" fmla="*/ 0 w 194625"/>
                <a:gd name="connsiteY0" fmla="*/ 36252 h 57790"/>
                <a:gd name="connsiteX1" fmla="*/ 0 w 194625"/>
                <a:gd name="connsiteY1" fmla="*/ 0 h 57790"/>
                <a:gd name="connsiteX2" fmla="*/ 194626 w 194625"/>
                <a:gd name="connsiteY2" fmla="*/ 57791 h 57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625" h="57790">
                  <a:moveTo>
                    <a:pt x="0" y="36252"/>
                  </a:moveTo>
                  <a:lnTo>
                    <a:pt x="0" y="0"/>
                  </a:lnTo>
                  <a:lnTo>
                    <a:pt x="194626" y="57791"/>
                  </a:lnTo>
                </a:path>
              </a:pathLst>
            </a:custGeom>
            <a:noFill/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: Shape 870">
              <a:extLst>
                <a:ext uri="{FF2B5EF4-FFF2-40B4-BE49-F238E27FC236}">
                  <a16:creationId xmlns:a16="http://schemas.microsoft.com/office/drawing/2014/main" id="{51D1D474-E74B-3677-3955-68B3A7FF4B42}"/>
                </a:ext>
              </a:extLst>
            </p:cNvPr>
            <p:cNvSpPr/>
            <p:nvPr/>
          </p:nvSpPr>
          <p:spPr>
            <a:xfrm>
              <a:off x="2347995" y="952398"/>
              <a:ext cx="194589" cy="57790"/>
            </a:xfrm>
            <a:custGeom>
              <a:avLst/>
              <a:gdLst>
                <a:gd name="connsiteX0" fmla="*/ 194590 w 194589"/>
                <a:gd name="connsiteY0" fmla="*/ 36252 h 57790"/>
                <a:gd name="connsiteX1" fmla="*/ 194590 w 194589"/>
                <a:gd name="connsiteY1" fmla="*/ 0 h 57790"/>
                <a:gd name="connsiteX2" fmla="*/ 0 w 194589"/>
                <a:gd name="connsiteY2" fmla="*/ 57791 h 577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94589" h="57790">
                  <a:moveTo>
                    <a:pt x="194590" y="36252"/>
                  </a:moveTo>
                  <a:lnTo>
                    <a:pt x="194590" y="0"/>
                  </a:lnTo>
                  <a:lnTo>
                    <a:pt x="0" y="57791"/>
                  </a:lnTo>
                </a:path>
              </a:pathLst>
            </a:custGeom>
            <a:noFill/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B147B832-A786-561E-8EBF-203883C9FA64}"/>
              </a:ext>
            </a:extLst>
          </p:cNvPr>
          <p:cNvGrpSpPr/>
          <p:nvPr/>
        </p:nvGrpSpPr>
        <p:grpSpPr>
          <a:xfrm>
            <a:off x="10512487" y="2154830"/>
            <a:ext cx="758718" cy="438608"/>
            <a:chOff x="4898440" y="859854"/>
            <a:chExt cx="758718" cy="438608"/>
          </a:xfrm>
        </p:grpSpPr>
        <p:sp>
          <p:nvSpPr>
            <p:cNvPr id="55" name="Freeform: Shape 931">
              <a:extLst>
                <a:ext uri="{FF2B5EF4-FFF2-40B4-BE49-F238E27FC236}">
                  <a16:creationId xmlns:a16="http://schemas.microsoft.com/office/drawing/2014/main" id="{92FB57A7-60E7-6235-C2B4-788E84B92FA7}"/>
                </a:ext>
              </a:extLst>
            </p:cNvPr>
            <p:cNvSpPr/>
            <p:nvPr/>
          </p:nvSpPr>
          <p:spPr>
            <a:xfrm>
              <a:off x="4898440" y="859854"/>
              <a:ext cx="599442" cy="190785"/>
            </a:xfrm>
            <a:custGeom>
              <a:avLst/>
              <a:gdLst>
                <a:gd name="connsiteX0" fmla="*/ 322343 w 599442"/>
                <a:gd name="connsiteY0" fmla="*/ 190785 h 190785"/>
                <a:gd name="connsiteX1" fmla="*/ 0 w 599442"/>
                <a:gd name="connsiteY1" fmla="*/ 190785 h 190785"/>
                <a:gd name="connsiteX2" fmla="*/ 0 w 599442"/>
                <a:gd name="connsiteY2" fmla="*/ 0 h 190785"/>
                <a:gd name="connsiteX3" fmla="*/ 599443 w 599442"/>
                <a:gd name="connsiteY3" fmla="*/ 0 h 190785"/>
                <a:gd name="connsiteX4" fmla="*/ 599443 w 599442"/>
                <a:gd name="connsiteY4" fmla="*/ 88463 h 1907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99442" h="190785">
                  <a:moveTo>
                    <a:pt x="322343" y="190785"/>
                  </a:moveTo>
                  <a:lnTo>
                    <a:pt x="0" y="190785"/>
                  </a:lnTo>
                  <a:lnTo>
                    <a:pt x="0" y="0"/>
                  </a:lnTo>
                  <a:lnTo>
                    <a:pt x="599443" y="0"/>
                  </a:lnTo>
                  <a:lnTo>
                    <a:pt x="599443" y="88463"/>
                  </a:lnTo>
                </a:path>
              </a:pathLst>
            </a:custGeom>
            <a:noFill/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: Shape 932">
              <a:extLst>
                <a:ext uri="{FF2B5EF4-FFF2-40B4-BE49-F238E27FC236}">
                  <a16:creationId xmlns:a16="http://schemas.microsoft.com/office/drawing/2014/main" id="{C01F3F66-7A32-3CB6-3158-479D7661E1E4}"/>
                </a:ext>
              </a:extLst>
            </p:cNvPr>
            <p:cNvSpPr/>
            <p:nvPr/>
          </p:nvSpPr>
          <p:spPr>
            <a:xfrm>
              <a:off x="5251239" y="980459"/>
              <a:ext cx="405919" cy="140361"/>
            </a:xfrm>
            <a:custGeom>
              <a:avLst/>
              <a:gdLst>
                <a:gd name="connsiteX0" fmla="*/ 0 w 405919"/>
                <a:gd name="connsiteY0" fmla="*/ 0 h 140361"/>
                <a:gd name="connsiteX1" fmla="*/ 405919 w 405919"/>
                <a:gd name="connsiteY1" fmla="*/ 0 h 140361"/>
                <a:gd name="connsiteX2" fmla="*/ 405919 w 405919"/>
                <a:gd name="connsiteY2" fmla="*/ 140362 h 140361"/>
                <a:gd name="connsiteX3" fmla="*/ 0 w 405919"/>
                <a:gd name="connsiteY3" fmla="*/ 140362 h 140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05919" h="140361">
                  <a:moveTo>
                    <a:pt x="0" y="0"/>
                  </a:moveTo>
                  <a:lnTo>
                    <a:pt x="405919" y="0"/>
                  </a:lnTo>
                  <a:lnTo>
                    <a:pt x="405919" y="140362"/>
                  </a:lnTo>
                  <a:lnTo>
                    <a:pt x="0" y="140362"/>
                  </a:lnTo>
                  <a:close/>
                </a:path>
              </a:pathLst>
            </a:custGeom>
            <a:noFill/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: Shape 933">
              <a:extLst>
                <a:ext uri="{FF2B5EF4-FFF2-40B4-BE49-F238E27FC236}">
                  <a16:creationId xmlns:a16="http://schemas.microsoft.com/office/drawing/2014/main" id="{6F96B3C3-9B8D-0F78-3A2A-E0B798F05DD5}"/>
                </a:ext>
              </a:extLst>
            </p:cNvPr>
            <p:cNvSpPr/>
            <p:nvPr/>
          </p:nvSpPr>
          <p:spPr>
            <a:xfrm>
              <a:off x="5249385" y="1158101"/>
              <a:ext cx="405919" cy="140361"/>
            </a:xfrm>
            <a:custGeom>
              <a:avLst/>
              <a:gdLst>
                <a:gd name="connsiteX0" fmla="*/ 0 w 405919"/>
                <a:gd name="connsiteY0" fmla="*/ 0 h 140361"/>
                <a:gd name="connsiteX1" fmla="*/ 405919 w 405919"/>
                <a:gd name="connsiteY1" fmla="*/ 0 h 140361"/>
                <a:gd name="connsiteX2" fmla="*/ 405919 w 405919"/>
                <a:gd name="connsiteY2" fmla="*/ 140362 h 140361"/>
                <a:gd name="connsiteX3" fmla="*/ 0 w 405919"/>
                <a:gd name="connsiteY3" fmla="*/ 140362 h 1403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05919" h="140361">
                  <a:moveTo>
                    <a:pt x="0" y="0"/>
                  </a:moveTo>
                  <a:lnTo>
                    <a:pt x="405919" y="0"/>
                  </a:lnTo>
                  <a:lnTo>
                    <a:pt x="405919" y="140362"/>
                  </a:lnTo>
                  <a:lnTo>
                    <a:pt x="0" y="140362"/>
                  </a:lnTo>
                  <a:close/>
                </a:path>
              </a:pathLst>
            </a:custGeom>
            <a:noFill/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: Shape 934">
              <a:extLst>
                <a:ext uri="{FF2B5EF4-FFF2-40B4-BE49-F238E27FC236}">
                  <a16:creationId xmlns:a16="http://schemas.microsoft.com/office/drawing/2014/main" id="{AE52DFE2-ABF7-CAB7-BB9A-332ECAA4F05D}"/>
                </a:ext>
              </a:extLst>
            </p:cNvPr>
            <p:cNvSpPr/>
            <p:nvPr/>
          </p:nvSpPr>
          <p:spPr>
            <a:xfrm>
              <a:off x="5293575" y="1017739"/>
              <a:ext cx="63609" cy="65799"/>
            </a:xfrm>
            <a:custGeom>
              <a:avLst/>
              <a:gdLst>
                <a:gd name="connsiteX0" fmla="*/ 0 w 63609"/>
                <a:gd name="connsiteY0" fmla="*/ 0 h 65799"/>
                <a:gd name="connsiteX1" fmla="*/ 0 w 63609"/>
                <a:gd name="connsiteY1" fmla="*/ 65800 h 65799"/>
                <a:gd name="connsiteX2" fmla="*/ 63609 w 63609"/>
                <a:gd name="connsiteY2" fmla="*/ 32900 h 657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63609" h="65799">
                  <a:moveTo>
                    <a:pt x="0" y="0"/>
                  </a:moveTo>
                  <a:lnTo>
                    <a:pt x="0" y="65800"/>
                  </a:lnTo>
                  <a:lnTo>
                    <a:pt x="63609" y="32900"/>
                  </a:lnTo>
                  <a:close/>
                </a:path>
              </a:pathLst>
            </a:custGeom>
            <a:noFill/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: Shape 935">
              <a:extLst>
                <a:ext uri="{FF2B5EF4-FFF2-40B4-BE49-F238E27FC236}">
                  <a16:creationId xmlns:a16="http://schemas.microsoft.com/office/drawing/2014/main" id="{A161B583-608D-C23B-D02A-F946300C996F}"/>
                </a:ext>
              </a:extLst>
            </p:cNvPr>
            <p:cNvSpPr/>
            <p:nvPr/>
          </p:nvSpPr>
          <p:spPr>
            <a:xfrm>
              <a:off x="4953034" y="895702"/>
              <a:ext cx="26033" cy="119130"/>
            </a:xfrm>
            <a:custGeom>
              <a:avLst/>
              <a:gdLst>
                <a:gd name="connsiteX0" fmla="*/ 26033 w 26033"/>
                <a:gd name="connsiteY0" fmla="*/ 119130 h 119130"/>
                <a:gd name="connsiteX1" fmla="*/ 0 w 26033"/>
                <a:gd name="connsiteY1" fmla="*/ 59481 h 119130"/>
                <a:gd name="connsiteX2" fmla="*/ 25865 w 26033"/>
                <a:gd name="connsiteY2" fmla="*/ 0 h 119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6033" h="119130">
                  <a:moveTo>
                    <a:pt x="26033" y="119130"/>
                  </a:moveTo>
                  <a:cubicBezTo>
                    <a:pt x="10026" y="104260"/>
                    <a:pt x="0" y="83029"/>
                    <a:pt x="0" y="59481"/>
                  </a:cubicBezTo>
                  <a:cubicBezTo>
                    <a:pt x="0" y="35975"/>
                    <a:pt x="9942" y="14828"/>
                    <a:pt x="25865" y="0"/>
                  </a:cubicBezTo>
                </a:path>
              </a:pathLst>
            </a:custGeom>
            <a:noFill/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6" name="Freeform: Shape 936">
              <a:extLst>
                <a:ext uri="{FF2B5EF4-FFF2-40B4-BE49-F238E27FC236}">
                  <a16:creationId xmlns:a16="http://schemas.microsoft.com/office/drawing/2014/main" id="{7F6E315C-DF06-F000-4000-6C10DFF99D5D}"/>
                </a:ext>
              </a:extLst>
            </p:cNvPr>
            <p:cNvSpPr/>
            <p:nvPr/>
          </p:nvSpPr>
          <p:spPr>
            <a:xfrm>
              <a:off x="5131856" y="895702"/>
              <a:ext cx="26033" cy="119130"/>
            </a:xfrm>
            <a:custGeom>
              <a:avLst/>
              <a:gdLst>
                <a:gd name="connsiteX0" fmla="*/ 0 w 26033"/>
                <a:gd name="connsiteY0" fmla="*/ 0 h 119130"/>
                <a:gd name="connsiteX1" fmla="*/ 26033 w 26033"/>
                <a:gd name="connsiteY1" fmla="*/ 59649 h 119130"/>
                <a:gd name="connsiteX2" fmla="*/ 169 w 26033"/>
                <a:gd name="connsiteY2" fmla="*/ 119130 h 119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6033" h="119130">
                  <a:moveTo>
                    <a:pt x="0" y="0"/>
                  </a:moveTo>
                  <a:cubicBezTo>
                    <a:pt x="16008" y="14870"/>
                    <a:pt x="26033" y="36101"/>
                    <a:pt x="26033" y="59649"/>
                  </a:cubicBezTo>
                  <a:cubicBezTo>
                    <a:pt x="26033" y="83155"/>
                    <a:pt x="16092" y="104302"/>
                    <a:pt x="169" y="119130"/>
                  </a:cubicBezTo>
                </a:path>
              </a:pathLst>
            </a:custGeom>
            <a:noFill/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7" name="Freeform: Shape 937">
              <a:extLst>
                <a:ext uri="{FF2B5EF4-FFF2-40B4-BE49-F238E27FC236}">
                  <a16:creationId xmlns:a16="http://schemas.microsoft.com/office/drawing/2014/main" id="{9D334406-3742-9DAE-453C-D83AA5CA3740}"/>
                </a:ext>
              </a:extLst>
            </p:cNvPr>
            <p:cNvSpPr/>
            <p:nvPr/>
          </p:nvSpPr>
          <p:spPr>
            <a:xfrm>
              <a:off x="5042087" y="944526"/>
              <a:ext cx="21483" cy="21483"/>
            </a:xfrm>
            <a:custGeom>
              <a:avLst/>
              <a:gdLst>
                <a:gd name="connsiteX0" fmla="*/ 21484 w 21483"/>
                <a:gd name="connsiteY0" fmla="*/ 10742 h 21483"/>
                <a:gd name="connsiteX1" fmla="*/ 10742 w 21483"/>
                <a:gd name="connsiteY1" fmla="*/ 21484 h 21483"/>
                <a:gd name="connsiteX2" fmla="*/ 0 w 21483"/>
                <a:gd name="connsiteY2" fmla="*/ 10742 h 21483"/>
                <a:gd name="connsiteX3" fmla="*/ 10742 w 21483"/>
                <a:gd name="connsiteY3" fmla="*/ 0 h 21483"/>
                <a:gd name="connsiteX4" fmla="*/ 21484 w 21483"/>
                <a:gd name="connsiteY4" fmla="*/ 10742 h 21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483" h="21483">
                  <a:moveTo>
                    <a:pt x="21484" y="10742"/>
                  </a:moveTo>
                  <a:cubicBezTo>
                    <a:pt x="21484" y="16675"/>
                    <a:pt x="16675" y="21484"/>
                    <a:pt x="10742" y="21484"/>
                  </a:cubicBezTo>
                  <a:cubicBezTo>
                    <a:pt x="4809" y="21484"/>
                    <a:pt x="0" y="16675"/>
                    <a:pt x="0" y="10742"/>
                  </a:cubicBezTo>
                  <a:cubicBezTo>
                    <a:pt x="0" y="4809"/>
                    <a:pt x="4809" y="0"/>
                    <a:pt x="10742" y="0"/>
                  </a:cubicBezTo>
                  <a:cubicBezTo>
                    <a:pt x="16675" y="0"/>
                    <a:pt x="21484" y="4809"/>
                    <a:pt x="21484" y="10742"/>
                  </a:cubicBezTo>
                  <a:close/>
                </a:path>
              </a:pathLst>
            </a:custGeom>
            <a:noFill/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8" name="Freeform: Shape 938">
              <a:extLst>
                <a:ext uri="{FF2B5EF4-FFF2-40B4-BE49-F238E27FC236}">
                  <a16:creationId xmlns:a16="http://schemas.microsoft.com/office/drawing/2014/main" id="{2793E483-30E7-EA05-7972-41327230A637}"/>
                </a:ext>
              </a:extLst>
            </p:cNvPr>
            <p:cNvSpPr/>
            <p:nvPr/>
          </p:nvSpPr>
          <p:spPr>
            <a:xfrm>
              <a:off x="5002026" y="944526"/>
              <a:ext cx="21483" cy="21483"/>
            </a:xfrm>
            <a:custGeom>
              <a:avLst/>
              <a:gdLst>
                <a:gd name="connsiteX0" fmla="*/ 21484 w 21483"/>
                <a:gd name="connsiteY0" fmla="*/ 10742 h 21483"/>
                <a:gd name="connsiteX1" fmla="*/ 10742 w 21483"/>
                <a:gd name="connsiteY1" fmla="*/ 21484 h 21483"/>
                <a:gd name="connsiteX2" fmla="*/ 0 w 21483"/>
                <a:gd name="connsiteY2" fmla="*/ 10742 h 21483"/>
                <a:gd name="connsiteX3" fmla="*/ 10742 w 21483"/>
                <a:gd name="connsiteY3" fmla="*/ 0 h 21483"/>
                <a:gd name="connsiteX4" fmla="*/ 21484 w 21483"/>
                <a:gd name="connsiteY4" fmla="*/ 10742 h 21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483" h="21483">
                  <a:moveTo>
                    <a:pt x="21484" y="10742"/>
                  </a:moveTo>
                  <a:cubicBezTo>
                    <a:pt x="21484" y="16675"/>
                    <a:pt x="16675" y="21484"/>
                    <a:pt x="10742" y="21484"/>
                  </a:cubicBezTo>
                  <a:cubicBezTo>
                    <a:pt x="4809" y="21484"/>
                    <a:pt x="0" y="16675"/>
                    <a:pt x="0" y="10742"/>
                  </a:cubicBezTo>
                  <a:cubicBezTo>
                    <a:pt x="0" y="4809"/>
                    <a:pt x="4809" y="0"/>
                    <a:pt x="10742" y="0"/>
                  </a:cubicBezTo>
                  <a:cubicBezTo>
                    <a:pt x="16675" y="0"/>
                    <a:pt x="21484" y="4809"/>
                    <a:pt x="21484" y="10742"/>
                  </a:cubicBezTo>
                  <a:close/>
                </a:path>
              </a:pathLst>
            </a:custGeom>
            <a:noFill/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9" name="Freeform: Shape 939">
              <a:extLst>
                <a:ext uri="{FF2B5EF4-FFF2-40B4-BE49-F238E27FC236}">
                  <a16:creationId xmlns:a16="http://schemas.microsoft.com/office/drawing/2014/main" id="{6A22A4DB-11FD-EBDD-7A91-C90D9B826584}"/>
                </a:ext>
              </a:extLst>
            </p:cNvPr>
            <p:cNvSpPr/>
            <p:nvPr/>
          </p:nvSpPr>
          <p:spPr>
            <a:xfrm>
              <a:off x="5082401" y="944526"/>
              <a:ext cx="21483" cy="21483"/>
            </a:xfrm>
            <a:custGeom>
              <a:avLst/>
              <a:gdLst>
                <a:gd name="connsiteX0" fmla="*/ 21484 w 21483"/>
                <a:gd name="connsiteY0" fmla="*/ 10742 h 21483"/>
                <a:gd name="connsiteX1" fmla="*/ 10742 w 21483"/>
                <a:gd name="connsiteY1" fmla="*/ 21484 h 21483"/>
                <a:gd name="connsiteX2" fmla="*/ 0 w 21483"/>
                <a:gd name="connsiteY2" fmla="*/ 10742 h 21483"/>
                <a:gd name="connsiteX3" fmla="*/ 10742 w 21483"/>
                <a:gd name="connsiteY3" fmla="*/ 0 h 21483"/>
                <a:gd name="connsiteX4" fmla="*/ 21484 w 21483"/>
                <a:gd name="connsiteY4" fmla="*/ 10742 h 214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1483" h="21483">
                  <a:moveTo>
                    <a:pt x="21484" y="10742"/>
                  </a:moveTo>
                  <a:cubicBezTo>
                    <a:pt x="21484" y="16675"/>
                    <a:pt x="16675" y="21484"/>
                    <a:pt x="10742" y="21484"/>
                  </a:cubicBezTo>
                  <a:cubicBezTo>
                    <a:pt x="4809" y="21484"/>
                    <a:pt x="0" y="16675"/>
                    <a:pt x="0" y="10742"/>
                  </a:cubicBezTo>
                  <a:cubicBezTo>
                    <a:pt x="0" y="4809"/>
                    <a:pt x="4809" y="0"/>
                    <a:pt x="10742" y="0"/>
                  </a:cubicBezTo>
                  <a:cubicBezTo>
                    <a:pt x="16675" y="0"/>
                    <a:pt x="21484" y="4809"/>
                    <a:pt x="21484" y="10742"/>
                  </a:cubicBezTo>
                  <a:close/>
                </a:path>
              </a:pathLst>
            </a:custGeom>
            <a:noFill/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grpSp>
          <p:nvGrpSpPr>
            <p:cNvPr id="73" name="Graphic 2034">
              <a:extLst>
                <a:ext uri="{FF2B5EF4-FFF2-40B4-BE49-F238E27FC236}">
                  <a16:creationId xmlns:a16="http://schemas.microsoft.com/office/drawing/2014/main" id="{9B150721-5F23-011B-9CE6-29CE6DA5BBDD}"/>
                </a:ext>
              </a:extLst>
            </p:cNvPr>
            <p:cNvGrpSpPr/>
            <p:nvPr/>
          </p:nvGrpSpPr>
          <p:grpSpPr>
            <a:xfrm>
              <a:off x="5282875" y="1228282"/>
              <a:ext cx="99626" cy="44568"/>
              <a:chOff x="5282875" y="1228282"/>
              <a:chExt cx="99626" cy="44568"/>
            </a:xfrm>
          </p:grpSpPr>
          <p:sp>
            <p:nvSpPr>
              <p:cNvPr id="83" name="Freeform: Shape 945">
                <a:extLst>
                  <a:ext uri="{FF2B5EF4-FFF2-40B4-BE49-F238E27FC236}">
                    <a16:creationId xmlns:a16="http://schemas.microsoft.com/office/drawing/2014/main" id="{EA5B1B5C-D7FE-C260-2E3B-4791783891CA}"/>
                  </a:ext>
                </a:extLst>
              </p:cNvPr>
              <p:cNvSpPr/>
              <p:nvPr/>
            </p:nvSpPr>
            <p:spPr>
              <a:xfrm>
                <a:off x="5282875" y="1237844"/>
                <a:ext cx="86061" cy="35006"/>
              </a:xfrm>
              <a:custGeom>
                <a:avLst/>
                <a:gdLst>
                  <a:gd name="connsiteX0" fmla="*/ 0 w 86061"/>
                  <a:gd name="connsiteY0" fmla="*/ 3876 h 35006"/>
                  <a:gd name="connsiteX1" fmla="*/ 42504 w 86061"/>
                  <a:gd name="connsiteY1" fmla="*/ 35006 h 35006"/>
                  <a:gd name="connsiteX2" fmla="*/ 86062 w 86061"/>
                  <a:gd name="connsiteY2" fmla="*/ 0 h 35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6061" h="35006">
                    <a:moveTo>
                      <a:pt x="0" y="3876"/>
                    </a:moveTo>
                    <a:cubicBezTo>
                      <a:pt x="5729" y="21905"/>
                      <a:pt x="22579" y="35006"/>
                      <a:pt x="42504" y="35006"/>
                    </a:cubicBezTo>
                    <a:cubicBezTo>
                      <a:pt x="63820" y="35006"/>
                      <a:pt x="81681" y="20010"/>
                      <a:pt x="86062" y="0"/>
                    </a:cubicBezTo>
                  </a:path>
                </a:pathLst>
              </a:custGeom>
              <a:noFill/>
              <a:ln w="8382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4" name="Freeform: Shape 946">
                <a:extLst>
                  <a:ext uri="{FF2B5EF4-FFF2-40B4-BE49-F238E27FC236}">
                    <a16:creationId xmlns:a16="http://schemas.microsoft.com/office/drawing/2014/main" id="{4366C2EC-52A9-343A-0185-8187951B2C6D}"/>
                  </a:ext>
                </a:extLst>
              </p:cNvPr>
              <p:cNvSpPr/>
              <p:nvPr/>
            </p:nvSpPr>
            <p:spPr>
              <a:xfrm>
                <a:off x="5352719" y="1228282"/>
                <a:ext cx="29782" cy="27886"/>
              </a:xfrm>
              <a:custGeom>
                <a:avLst/>
                <a:gdLst>
                  <a:gd name="connsiteX0" fmla="*/ 28350 w 29782"/>
                  <a:gd name="connsiteY0" fmla="*/ 27887 h 27886"/>
                  <a:gd name="connsiteX1" fmla="*/ 15839 w 29782"/>
                  <a:gd name="connsiteY1" fmla="*/ 12006 h 27886"/>
                  <a:gd name="connsiteX2" fmla="*/ 0 w 29782"/>
                  <a:gd name="connsiteY2" fmla="*/ 24559 h 27886"/>
                  <a:gd name="connsiteX3" fmla="*/ 1390 w 29782"/>
                  <a:gd name="connsiteY3" fmla="*/ 12511 h 27886"/>
                  <a:gd name="connsiteX4" fmla="*/ 17271 w 29782"/>
                  <a:gd name="connsiteY4" fmla="*/ 0 h 27886"/>
                  <a:gd name="connsiteX5" fmla="*/ 29783 w 29782"/>
                  <a:gd name="connsiteY5" fmla="*/ 15839 h 2788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9782" h="27886">
                    <a:moveTo>
                      <a:pt x="28350" y="27887"/>
                    </a:moveTo>
                    <a:lnTo>
                      <a:pt x="15839" y="12006"/>
                    </a:lnTo>
                    <a:lnTo>
                      <a:pt x="0" y="24559"/>
                    </a:lnTo>
                    <a:lnTo>
                      <a:pt x="1390" y="12511"/>
                    </a:lnTo>
                    <a:lnTo>
                      <a:pt x="17271" y="0"/>
                    </a:lnTo>
                    <a:lnTo>
                      <a:pt x="29783" y="15839"/>
                    </a:lnTo>
                    <a:close/>
                  </a:path>
                </a:pathLst>
              </a:custGeom>
              <a:solidFill>
                <a:srgbClr val="01A98D"/>
              </a:solidFill>
              <a:ln w="4191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79" name="Graphic 2034">
              <a:extLst>
                <a:ext uri="{FF2B5EF4-FFF2-40B4-BE49-F238E27FC236}">
                  <a16:creationId xmlns:a16="http://schemas.microsoft.com/office/drawing/2014/main" id="{AF90EE8E-6116-72CA-6084-9BCF0F919CB1}"/>
                </a:ext>
              </a:extLst>
            </p:cNvPr>
            <p:cNvGrpSpPr/>
            <p:nvPr/>
          </p:nvGrpSpPr>
          <p:grpSpPr>
            <a:xfrm>
              <a:off x="5268300" y="1183671"/>
              <a:ext cx="100384" cy="44610"/>
              <a:chOff x="5268300" y="1183671"/>
              <a:chExt cx="100384" cy="44610"/>
            </a:xfrm>
          </p:grpSpPr>
          <p:sp>
            <p:nvSpPr>
              <p:cNvPr id="81" name="Freeform: Shape 943">
                <a:extLst>
                  <a:ext uri="{FF2B5EF4-FFF2-40B4-BE49-F238E27FC236}">
                    <a16:creationId xmlns:a16="http://schemas.microsoft.com/office/drawing/2014/main" id="{659980A5-5E26-6FC0-0DDD-920AC3F17063}"/>
                  </a:ext>
                </a:extLst>
              </p:cNvPr>
              <p:cNvSpPr/>
              <p:nvPr/>
            </p:nvSpPr>
            <p:spPr>
              <a:xfrm>
                <a:off x="5281822" y="1183671"/>
                <a:ext cx="86862" cy="35006"/>
              </a:xfrm>
              <a:custGeom>
                <a:avLst/>
                <a:gdLst>
                  <a:gd name="connsiteX0" fmla="*/ 86862 w 86862"/>
                  <a:gd name="connsiteY0" fmla="*/ 33953 h 35006"/>
                  <a:gd name="connsiteX1" fmla="*/ 43558 w 86862"/>
                  <a:gd name="connsiteY1" fmla="*/ 0 h 35006"/>
                  <a:gd name="connsiteX2" fmla="*/ 0 w 86862"/>
                  <a:gd name="connsiteY2" fmla="*/ 35006 h 3500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86862" h="35006">
                    <a:moveTo>
                      <a:pt x="86862" y="33953"/>
                    </a:moveTo>
                    <a:cubicBezTo>
                      <a:pt x="82102" y="14491"/>
                      <a:pt x="64494" y="0"/>
                      <a:pt x="43558" y="0"/>
                    </a:cubicBezTo>
                    <a:cubicBezTo>
                      <a:pt x="22242" y="0"/>
                      <a:pt x="4381" y="14997"/>
                      <a:pt x="0" y="35006"/>
                    </a:cubicBezTo>
                  </a:path>
                </a:pathLst>
              </a:custGeom>
              <a:noFill/>
              <a:ln w="8382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82" name="Freeform: Shape 944">
                <a:extLst>
                  <a:ext uri="{FF2B5EF4-FFF2-40B4-BE49-F238E27FC236}">
                    <a16:creationId xmlns:a16="http://schemas.microsoft.com/office/drawing/2014/main" id="{07C049FD-9B3D-65EC-FFE4-2B7E3A279E5E}"/>
                  </a:ext>
                </a:extLst>
              </p:cNvPr>
              <p:cNvSpPr/>
              <p:nvPr/>
            </p:nvSpPr>
            <p:spPr>
              <a:xfrm>
                <a:off x="5268300" y="1200353"/>
                <a:ext cx="29782" cy="27929"/>
              </a:xfrm>
              <a:custGeom>
                <a:avLst/>
                <a:gdLst>
                  <a:gd name="connsiteX0" fmla="*/ 1390 w 29782"/>
                  <a:gd name="connsiteY0" fmla="*/ 0 h 27929"/>
                  <a:gd name="connsiteX1" fmla="*/ 13901 w 29782"/>
                  <a:gd name="connsiteY1" fmla="*/ 15881 h 27929"/>
                  <a:gd name="connsiteX2" fmla="*/ 29783 w 29782"/>
                  <a:gd name="connsiteY2" fmla="*/ 3370 h 27929"/>
                  <a:gd name="connsiteX3" fmla="*/ 28350 w 29782"/>
                  <a:gd name="connsiteY3" fmla="*/ 15418 h 27929"/>
                  <a:gd name="connsiteX4" fmla="*/ 12511 w 29782"/>
                  <a:gd name="connsiteY4" fmla="*/ 27929 h 27929"/>
                  <a:gd name="connsiteX5" fmla="*/ 0 w 29782"/>
                  <a:gd name="connsiteY5" fmla="*/ 12048 h 2792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29782" h="27929">
                    <a:moveTo>
                      <a:pt x="1390" y="0"/>
                    </a:moveTo>
                    <a:lnTo>
                      <a:pt x="13901" y="15881"/>
                    </a:lnTo>
                    <a:lnTo>
                      <a:pt x="29783" y="3370"/>
                    </a:lnTo>
                    <a:lnTo>
                      <a:pt x="28350" y="15418"/>
                    </a:lnTo>
                    <a:lnTo>
                      <a:pt x="12511" y="27929"/>
                    </a:lnTo>
                    <a:lnTo>
                      <a:pt x="0" y="12048"/>
                    </a:lnTo>
                    <a:close/>
                  </a:path>
                </a:pathLst>
              </a:custGeom>
              <a:solidFill>
                <a:srgbClr val="01A98D"/>
              </a:solidFill>
              <a:ln w="4191" cap="flat">
                <a:solidFill>
                  <a:schemeClr val="tx1"/>
                </a:solidFill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cxnSp>
          <p:nvCxnSpPr>
            <p:cNvPr id="80" name="Connector: Elbow 942">
              <a:extLst>
                <a:ext uri="{FF2B5EF4-FFF2-40B4-BE49-F238E27FC236}">
                  <a16:creationId xmlns:a16="http://schemas.microsoft.com/office/drawing/2014/main" id="{5F570F41-19DF-9F6C-143E-5FD7A794162D}"/>
                </a:ext>
              </a:extLst>
            </p:cNvPr>
            <p:cNvCxnSpPr>
              <a:cxnSpLocks/>
            </p:cNvCxnSpPr>
            <p:nvPr/>
          </p:nvCxnSpPr>
          <p:spPr>
            <a:xfrm>
              <a:off x="5024484" y="1088776"/>
              <a:ext cx="217297" cy="143688"/>
            </a:xfrm>
            <a:prstGeom prst="bentConnector3">
              <a:avLst>
                <a:gd name="adj1" fmla="val 2659"/>
              </a:avLst>
            </a:prstGeom>
            <a:ln w="12700">
              <a:solidFill>
                <a:schemeClr val="tx1"/>
              </a:solidFill>
              <a:prstDash val="dash"/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15A9EF34-AC0E-5336-43E1-3B7DA39F8F72}"/>
              </a:ext>
            </a:extLst>
          </p:cNvPr>
          <p:cNvGrpSpPr/>
          <p:nvPr/>
        </p:nvGrpSpPr>
        <p:grpSpPr>
          <a:xfrm>
            <a:off x="4945960" y="2344119"/>
            <a:ext cx="617841" cy="442614"/>
            <a:chOff x="2402507" y="1939950"/>
            <a:chExt cx="617841" cy="442614"/>
          </a:xfrm>
        </p:grpSpPr>
        <p:grpSp>
          <p:nvGrpSpPr>
            <p:cNvPr id="86" name="Graphic 4081">
              <a:extLst>
                <a:ext uri="{FF2B5EF4-FFF2-40B4-BE49-F238E27FC236}">
                  <a16:creationId xmlns:a16="http://schemas.microsoft.com/office/drawing/2014/main" id="{C3E31578-DD38-5EBB-7446-881A5DBB987C}"/>
                </a:ext>
              </a:extLst>
            </p:cNvPr>
            <p:cNvGrpSpPr/>
            <p:nvPr/>
          </p:nvGrpSpPr>
          <p:grpSpPr>
            <a:xfrm>
              <a:off x="2699794" y="2064511"/>
              <a:ext cx="198418" cy="198456"/>
              <a:chOff x="2699794" y="2064511"/>
              <a:chExt cx="198418" cy="198456"/>
            </a:xfrm>
            <a:noFill/>
          </p:grpSpPr>
          <p:sp>
            <p:nvSpPr>
              <p:cNvPr id="114" name="Freeform: Shape 40">
                <a:extLst>
                  <a:ext uri="{FF2B5EF4-FFF2-40B4-BE49-F238E27FC236}">
                    <a16:creationId xmlns:a16="http://schemas.microsoft.com/office/drawing/2014/main" id="{C1B44D77-8C8B-9430-4736-5706D52378D0}"/>
                  </a:ext>
                </a:extLst>
              </p:cNvPr>
              <p:cNvSpPr/>
              <p:nvPr/>
            </p:nvSpPr>
            <p:spPr>
              <a:xfrm>
                <a:off x="2699794" y="2064511"/>
                <a:ext cx="198418" cy="198456"/>
              </a:xfrm>
              <a:custGeom>
                <a:avLst/>
                <a:gdLst>
                  <a:gd name="connsiteX0" fmla="*/ 18872 w 198418"/>
                  <a:gd name="connsiteY0" fmla="*/ 157340 h 198456"/>
                  <a:gd name="connsiteX1" fmla="*/ 22889 w 198418"/>
                  <a:gd name="connsiteY1" fmla="*/ 161963 h 198456"/>
                  <a:gd name="connsiteX2" fmla="*/ 26943 w 198418"/>
                  <a:gd name="connsiteY2" fmla="*/ 166587 h 198456"/>
                  <a:gd name="connsiteX3" fmla="*/ 30960 w 198418"/>
                  <a:gd name="connsiteY3" fmla="*/ 171210 h 198456"/>
                  <a:gd name="connsiteX4" fmla="*/ 58396 w 198418"/>
                  <a:gd name="connsiteY4" fmla="*/ 157151 h 198456"/>
                  <a:gd name="connsiteX5" fmla="*/ 78026 w 198418"/>
                  <a:gd name="connsiteY5" fmla="*/ 166814 h 198456"/>
                  <a:gd name="connsiteX6" fmla="*/ 83521 w 198418"/>
                  <a:gd name="connsiteY6" fmla="*/ 197206 h 198456"/>
                  <a:gd name="connsiteX7" fmla="*/ 89622 w 198418"/>
                  <a:gd name="connsiteY7" fmla="*/ 197623 h 198456"/>
                  <a:gd name="connsiteX8" fmla="*/ 95723 w 198418"/>
                  <a:gd name="connsiteY8" fmla="*/ 198040 h 198456"/>
                  <a:gd name="connsiteX9" fmla="*/ 101824 w 198418"/>
                  <a:gd name="connsiteY9" fmla="*/ 198456 h 198456"/>
                  <a:gd name="connsiteX10" fmla="*/ 111298 w 198418"/>
                  <a:gd name="connsiteY10" fmla="*/ 169050 h 198456"/>
                  <a:gd name="connsiteX11" fmla="*/ 131913 w 198418"/>
                  <a:gd name="connsiteY11" fmla="*/ 162039 h 198456"/>
                  <a:gd name="connsiteX12" fmla="*/ 157340 w 198418"/>
                  <a:gd name="connsiteY12" fmla="*/ 179660 h 198456"/>
                  <a:gd name="connsiteX13" fmla="*/ 161963 w 198418"/>
                  <a:gd name="connsiteY13" fmla="*/ 175606 h 198456"/>
                  <a:gd name="connsiteX14" fmla="*/ 166587 w 198418"/>
                  <a:gd name="connsiteY14" fmla="*/ 171589 h 198456"/>
                  <a:gd name="connsiteX15" fmla="*/ 171210 w 198418"/>
                  <a:gd name="connsiteY15" fmla="*/ 167534 h 198456"/>
                  <a:gd name="connsiteX16" fmla="*/ 157075 w 198418"/>
                  <a:gd name="connsiteY16" fmla="*/ 139984 h 198456"/>
                  <a:gd name="connsiteX17" fmla="*/ 166738 w 198418"/>
                  <a:gd name="connsiteY17" fmla="*/ 120468 h 198456"/>
                  <a:gd name="connsiteX18" fmla="*/ 197168 w 198418"/>
                  <a:gd name="connsiteY18" fmla="*/ 114936 h 198456"/>
                  <a:gd name="connsiteX19" fmla="*/ 197585 w 198418"/>
                  <a:gd name="connsiteY19" fmla="*/ 108835 h 198456"/>
                  <a:gd name="connsiteX20" fmla="*/ 198002 w 198418"/>
                  <a:gd name="connsiteY20" fmla="*/ 102733 h 198456"/>
                  <a:gd name="connsiteX21" fmla="*/ 198419 w 198418"/>
                  <a:gd name="connsiteY21" fmla="*/ 96632 h 198456"/>
                  <a:gd name="connsiteX22" fmla="*/ 169050 w 198418"/>
                  <a:gd name="connsiteY22" fmla="*/ 87159 h 198456"/>
                  <a:gd name="connsiteX23" fmla="*/ 162077 w 198418"/>
                  <a:gd name="connsiteY23" fmla="*/ 66430 h 198456"/>
                  <a:gd name="connsiteX24" fmla="*/ 179623 w 198418"/>
                  <a:gd name="connsiteY24" fmla="*/ 41078 h 198456"/>
                  <a:gd name="connsiteX25" fmla="*/ 175606 w 198418"/>
                  <a:gd name="connsiteY25" fmla="*/ 36455 h 198456"/>
                  <a:gd name="connsiteX26" fmla="*/ 171551 w 198418"/>
                  <a:gd name="connsiteY26" fmla="*/ 31832 h 198456"/>
                  <a:gd name="connsiteX27" fmla="*/ 167534 w 198418"/>
                  <a:gd name="connsiteY27" fmla="*/ 27209 h 198456"/>
                  <a:gd name="connsiteX28" fmla="*/ 140136 w 198418"/>
                  <a:gd name="connsiteY28" fmla="*/ 41268 h 198456"/>
                  <a:gd name="connsiteX29" fmla="*/ 120430 w 198418"/>
                  <a:gd name="connsiteY29" fmla="*/ 31491 h 198456"/>
                  <a:gd name="connsiteX30" fmla="*/ 114936 w 198418"/>
                  <a:gd name="connsiteY30" fmla="*/ 1251 h 198456"/>
                  <a:gd name="connsiteX31" fmla="*/ 108835 w 198418"/>
                  <a:gd name="connsiteY31" fmla="*/ 834 h 198456"/>
                  <a:gd name="connsiteX32" fmla="*/ 102733 w 198418"/>
                  <a:gd name="connsiteY32" fmla="*/ 417 h 198456"/>
                  <a:gd name="connsiteX33" fmla="*/ 96632 w 198418"/>
                  <a:gd name="connsiteY33" fmla="*/ 0 h 198456"/>
                  <a:gd name="connsiteX34" fmla="*/ 87234 w 198418"/>
                  <a:gd name="connsiteY34" fmla="*/ 29217 h 198456"/>
                  <a:gd name="connsiteX35" fmla="*/ 66316 w 198418"/>
                  <a:gd name="connsiteY35" fmla="*/ 36303 h 198456"/>
                  <a:gd name="connsiteX36" fmla="*/ 41116 w 198418"/>
                  <a:gd name="connsiteY36" fmla="*/ 18834 h 198456"/>
                  <a:gd name="connsiteX37" fmla="*/ 36493 w 198418"/>
                  <a:gd name="connsiteY37" fmla="*/ 22889 h 198456"/>
                  <a:gd name="connsiteX38" fmla="*/ 31870 w 198418"/>
                  <a:gd name="connsiteY38" fmla="*/ 26905 h 198456"/>
                  <a:gd name="connsiteX39" fmla="*/ 27247 w 198418"/>
                  <a:gd name="connsiteY39" fmla="*/ 30960 h 198456"/>
                  <a:gd name="connsiteX40" fmla="*/ 41230 w 198418"/>
                  <a:gd name="connsiteY40" fmla="*/ 58245 h 198456"/>
                  <a:gd name="connsiteX41" fmla="*/ 31453 w 198418"/>
                  <a:gd name="connsiteY41" fmla="*/ 78064 h 198456"/>
                  <a:gd name="connsiteX42" fmla="*/ 1251 w 198418"/>
                  <a:gd name="connsiteY42" fmla="*/ 83521 h 198456"/>
                  <a:gd name="connsiteX43" fmla="*/ 834 w 198418"/>
                  <a:gd name="connsiteY43" fmla="*/ 89622 h 198456"/>
                  <a:gd name="connsiteX44" fmla="*/ 417 w 198418"/>
                  <a:gd name="connsiteY44" fmla="*/ 95723 h 198456"/>
                  <a:gd name="connsiteX45" fmla="*/ 0 w 198418"/>
                  <a:gd name="connsiteY45" fmla="*/ 101824 h 198456"/>
                  <a:gd name="connsiteX46" fmla="*/ 29255 w 198418"/>
                  <a:gd name="connsiteY46" fmla="*/ 111222 h 198456"/>
                  <a:gd name="connsiteX47" fmla="*/ 36341 w 198418"/>
                  <a:gd name="connsiteY47" fmla="*/ 132026 h 198456"/>
                  <a:gd name="connsiteX48" fmla="*/ 18872 w 198418"/>
                  <a:gd name="connsiteY48" fmla="*/ 157340 h 1984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</a:cxnLst>
                <a:rect l="l" t="t" r="r" b="b"/>
                <a:pathLst>
                  <a:path w="198418" h="198456">
                    <a:moveTo>
                      <a:pt x="18872" y="157340"/>
                    </a:moveTo>
                    <a:lnTo>
                      <a:pt x="22889" y="161963"/>
                    </a:lnTo>
                    <a:lnTo>
                      <a:pt x="26943" y="166587"/>
                    </a:lnTo>
                    <a:lnTo>
                      <a:pt x="30960" y="171210"/>
                    </a:lnTo>
                    <a:lnTo>
                      <a:pt x="58396" y="157151"/>
                    </a:lnTo>
                    <a:cubicBezTo>
                      <a:pt x="64497" y="161433"/>
                      <a:pt x="71091" y="164654"/>
                      <a:pt x="78026" y="166814"/>
                    </a:cubicBezTo>
                    <a:lnTo>
                      <a:pt x="83521" y="197206"/>
                    </a:lnTo>
                    <a:lnTo>
                      <a:pt x="89622" y="197623"/>
                    </a:lnTo>
                    <a:lnTo>
                      <a:pt x="95723" y="198040"/>
                    </a:lnTo>
                    <a:lnTo>
                      <a:pt x="101824" y="198456"/>
                    </a:lnTo>
                    <a:lnTo>
                      <a:pt x="111298" y="169050"/>
                    </a:lnTo>
                    <a:cubicBezTo>
                      <a:pt x="118384" y="167799"/>
                      <a:pt x="125357" y="165488"/>
                      <a:pt x="131913" y="162039"/>
                    </a:cubicBezTo>
                    <a:lnTo>
                      <a:pt x="157340" y="179660"/>
                    </a:lnTo>
                    <a:lnTo>
                      <a:pt x="161963" y="175606"/>
                    </a:lnTo>
                    <a:lnTo>
                      <a:pt x="166587" y="171589"/>
                    </a:lnTo>
                    <a:lnTo>
                      <a:pt x="171210" y="167534"/>
                    </a:lnTo>
                    <a:lnTo>
                      <a:pt x="157075" y="139984"/>
                    </a:lnTo>
                    <a:cubicBezTo>
                      <a:pt x="161357" y="133921"/>
                      <a:pt x="164578" y="127327"/>
                      <a:pt x="166738" y="120468"/>
                    </a:cubicBezTo>
                    <a:lnTo>
                      <a:pt x="197168" y="114936"/>
                    </a:lnTo>
                    <a:lnTo>
                      <a:pt x="197585" y="108835"/>
                    </a:lnTo>
                    <a:lnTo>
                      <a:pt x="198002" y="102733"/>
                    </a:lnTo>
                    <a:lnTo>
                      <a:pt x="198419" y="96632"/>
                    </a:lnTo>
                    <a:lnTo>
                      <a:pt x="169050" y="87159"/>
                    </a:lnTo>
                    <a:cubicBezTo>
                      <a:pt x="167837" y="80034"/>
                      <a:pt x="165488" y="73024"/>
                      <a:pt x="162077" y="66430"/>
                    </a:cubicBezTo>
                    <a:lnTo>
                      <a:pt x="179623" y="41078"/>
                    </a:lnTo>
                    <a:lnTo>
                      <a:pt x="175606" y="36455"/>
                    </a:lnTo>
                    <a:lnTo>
                      <a:pt x="171551" y="31832"/>
                    </a:lnTo>
                    <a:lnTo>
                      <a:pt x="167534" y="27209"/>
                    </a:lnTo>
                    <a:lnTo>
                      <a:pt x="140136" y="41268"/>
                    </a:lnTo>
                    <a:cubicBezTo>
                      <a:pt x="134035" y="36948"/>
                      <a:pt x="127365" y="33651"/>
                      <a:pt x="120430" y="31491"/>
                    </a:cubicBezTo>
                    <a:lnTo>
                      <a:pt x="114936" y="1251"/>
                    </a:lnTo>
                    <a:lnTo>
                      <a:pt x="108835" y="834"/>
                    </a:lnTo>
                    <a:lnTo>
                      <a:pt x="102733" y="417"/>
                    </a:lnTo>
                    <a:lnTo>
                      <a:pt x="96632" y="0"/>
                    </a:lnTo>
                    <a:lnTo>
                      <a:pt x="87234" y="29217"/>
                    </a:lnTo>
                    <a:cubicBezTo>
                      <a:pt x="80034" y="30430"/>
                      <a:pt x="72986" y="32817"/>
                      <a:pt x="66316" y="36303"/>
                    </a:cubicBezTo>
                    <a:lnTo>
                      <a:pt x="41116" y="18834"/>
                    </a:lnTo>
                    <a:lnTo>
                      <a:pt x="36493" y="22889"/>
                    </a:lnTo>
                    <a:lnTo>
                      <a:pt x="31870" y="26905"/>
                    </a:lnTo>
                    <a:lnTo>
                      <a:pt x="27247" y="30960"/>
                    </a:lnTo>
                    <a:lnTo>
                      <a:pt x="41230" y="58245"/>
                    </a:lnTo>
                    <a:cubicBezTo>
                      <a:pt x="36910" y="64384"/>
                      <a:pt x="33613" y="71053"/>
                      <a:pt x="31453" y="78064"/>
                    </a:cubicBezTo>
                    <a:lnTo>
                      <a:pt x="1251" y="83521"/>
                    </a:lnTo>
                    <a:lnTo>
                      <a:pt x="834" y="89622"/>
                    </a:lnTo>
                    <a:lnTo>
                      <a:pt x="417" y="95723"/>
                    </a:lnTo>
                    <a:lnTo>
                      <a:pt x="0" y="101824"/>
                    </a:lnTo>
                    <a:lnTo>
                      <a:pt x="29255" y="111222"/>
                    </a:lnTo>
                    <a:cubicBezTo>
                      <a:pt x="30506" y="118384"/>
                      <a:pt x="32855" y="125433"/>
                      <a:pt x="36341" y="132026"/>
                    </a:cubicBezTo>
                    <a:lnTo>
                      <a:pt x="18872" y="157340"/>
                    </a:ln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17" name="Freeform: Shape 41">
                <a:extLst>
                  <a:ext uri="{FF2B5EF4-FFF2-40B4-BE49-F238E27FC236}">
                    <a16:creationId xmlns:a16="http://schemas.microsoft.com/office/drawing/2014/main" id="{D827C163-432E-CE74-6FB1-694B97B5C98F}"/>
                  </a:ext>
                </a:extLst>
              </p:cNvPr>
              <p:cNvSpPr/>
              <p:nvPr/>
            </p:nvSpPr>
            <p:spPr>
              <a:xfrm>
                <a:off x="2759517" y="2124120"/>
                <a:ext cx="79049" cy="79049"/>
              </a:xfrm>
              <a:custGeom>
                <a:avLst/>
                <a:gdLst>
                  <a:gd name="connsiteX0" fmla="*/ 79049 w 79049"/>
                  <a:gd name="connsiteY0" fmla="*/ 39525 h 79049"/>
                  <a:gd name="connsiteX1" fmla="*/ 39525 w 79049"/>
                  <a:gd name="connsiteY1" fmla="*/ 79049 h 79049"/>
                  <a:gd name="connsiteX2" fmla="*/ 0 w 79049"/>
                  <a:gd name="connsiteY2" fmla="*/ 39525 h 79049"/>
                  <a:gd name="connsiteX3" fmla="*/ 39525 w 79049"/>
                  <a:gd name="connsiteY3" fmla="*/ 0 h 79049"/>
                  <a:gd name="connsiteX4" fmla="*/ 79049 w 79049"/>
                  <a:gd name="connsiteY4" fmla="*/ 39525 h 790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9049" h="79049">
                    <a:moveTo>
                      <a:pt x="79049" y="39525"/>
                    </a:moveTo>
                    <a:cubicBezTo>
                      <a:pt x="79049" y="61353"/>
                      <a:pt x="61353" y="79049"/>
                      <a:pt x="39525" y="79049"/>
                    </a:cubicBezTo>
                    <a:cubicBezTo>
                      <a:pt x="17696" y="79049"/>
                      <a:pt x="0" y="61353"/>
                      <a:pt x="0" y="39525"/>
                    </a:cubicBezTo>
                    <a:cubicBezTo>
                      <a:pt x="0" y="17696"/>
                      <a:pt x="17696" y="0"/>
                      <a:pt x="39525" y="0"/>
                    </a:cubicBezTo>
                    <a:cubicBezTo>
                      <a:pt x="61353" y="0"/>
                      <a:pt x="79049" y="17696"/>
                      <a:pt x="79049" y="39525"/>
                    </a:cubicBez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87" name="Graphic 4081">
              <a:extLst>
                <a:ext uri="{FF2B5EF4-FFF2-40B4-BE49-F238E27FC236}">
                  <a16:creationId xmlns:a16="http://schemas.microsoft.com/office/drawing/2014/main" id="{F1E07F1B-7C29-D27D-E55A-105685F3BA6E}"/>
                </a:ext>
              </a:extLst>
            </p:cNvPr>
            <p:cNvGrpSpPr/>
            <p:nvPr/>
          </p:nvGrpSpPr>
          <p:grpSpPr>
            <a:xfrm>
              <a:off x="2402507" y="1997096"/>
              <a:ext cx="273261" cy="302932"/>
              <a:chOff x="2402507" y="1997096"/>
              <a:chExt cx="273261" cy="302932"/>
            </a:xfrm>
            <a:noFill/>
          </p:grpSpPr>
          <p:sp>
            <p:nvSpPr>
              <p:cNvPr id="108" name="Freeform: Shape 35">
                <a:extLst>
                  <a:ext uri="{FF2B5EF4-FFF2-40B4-BE49-F238E27FC236}">
                    <a16:creationId xmlns:a16="http://schemas.microsoft.com/office/drawing/2014/main" id="{0C0FE034-06EF-46FD-3BF3-90412517777E}"/>
                  </a:ext>
                </a:extLst>
              </p:cNvPr>
              <p:cNvSpPr/>
              <p:nvPr/>
            </p:nvSpPr>
            <p:spPr>
              <a:xfrm>
                <a:off x="2402507" y="1997096"/>
                <a:ext cx="273261" cy="147904"/>
              </a:xfrm>
              <a:custGeom>
                <a:avLst/>
                <a:gdLst>
                  <a:gd name="connsiteX0" fmla="*/ 0 w 273261"/>
                  <a:gd name="connsiteY0" fmla="*/ 0 h 147904"/>
                  <a:gd name="connsiteX1" fmla="*/ 273261 w 273261"/>
                  <a:gd name="connsiteY1" fmla="*/ 147904 h 1479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73261" h="147904">
                    <a:moveTo>
                      <a:pt x="0" y="0"/>
                    </a:moveTo>
                    <a:cubicBezTo>
                      <a:pt x="95496" y="0"/>
                      <a:pt x="186482" y="135361"/>
                      <a:pt x="273261" y="147904"/>
                    </a:cubicBez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custDash>
                  <a:ds d="300000" sp="450000"/>
                </a:custDash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09" name="Freeform: Shape 36">
                <a:extLst>
                  <a:ext uri="{FF2B5EF4-FFF2-40B4-BE49-F238E27FC236}">
                    <a16:creationId xmlns:a16="http://schemas.microsoft.com/office/drawing/2014/main" id="{F681103B-0735-8B59-5E98-6B0FAF3CAF34}"/>
                  </a:ext>
                </a:extLst>
              </p:cNvPr>
              <p:cNvSpPr/>
              <p:nvPr/>
            </p:nvSpPr>
            <p:spPr>
              <a:xfrm>
                <a:off x="2408950" y="2217796"/>
                <a:ext cx="266781" cy="82232"/>
              </a:xfrm>
              <a:custGeom>
                <a:avLst/>
                <a:gdLst>
                  <a:gd name="connsiteX0" fmla="*/ 0 w 266781"/>
                  <a:gd name="connsiteY0" fmla="*/ 82232 h 82232"/>
                  <a:gd name="connsiteX1" fmla="*/ 178865 w 266781"/>
                  <a:gd name="connsiteY1" fmla="*/ 14552 h 82232"/>
                  <a:gd name="connsiteX2" fmla="*/ 266781 w 266781"/>
                  <a:gd name="connsiteY2" fmla="*/ 0 h 822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66781" h="82232">
                    <a:moveTo>
                      <a:pt x="0" y="82232"/>
                    </a:moveTo>
                    <a:cubicBezTo>
                      <a:pt x="67036" y="60518"/>
                      <a:pt x="133694" y="21979"/>
                      <a:pt x="178865" y="14552"/>
                    </a:cubicBezTo>
                    <a:cubicBezTo>
                      <a:pt x="202132" y="10724"/>
                      <a:pt x="209332" y="22927"/>
                      <a:pt x="266781" y="0"/>
                    </a:cubicBez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custDash>
                  <a:ds d="300000" sp="450000"/>
                </a:custDash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0" name="Freeform: Shape 37">
                <a:extLst>
                  <a:ext uri="{FF2B5EF4-FFF2-40B4-BE49-F238E27FC236}">
                    <a16:creationId xmlns:a16="http://schemas.microsoft.com/office/drawing/2014/main" id="{36CC3097-2191-1B7B-0CA3-871874457138}"/>
                  </a:ext>
                </a:extLst>
              </p:cNvPr>
              <p:cNvSpPr/>
              <p:nvPr/>
            </p:nvSpPr>
            <p:spPr>
              <a:xfrm>
                <a:off x="2402507" y="2174008"/>
                <a:ext cx="266781" cy="66335"/>
              </a:xfrm>
              <a:custGeom>
                <a:avLst/>
                <a:gdLst>
                  <a:gd name="connsiteX0" fmla="*/ 0 w 273261"/>
                  <a:gd name="connsiteY0" fmla="*/ 66336 h 66335"/>
                  <a:gd name="connsiteX1" fmla="*/ 178713 w 273261"/>
                  <a:gd name="connsiteY1" fmla="*/ 3771 h 66335"/>
                  <a:gd name="connsiteX2" fmla="*/ 273261 w 273261"/>
                  <a:gd name="connsiteY2" fmla="*/ 11691 h 663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73261" h="66335">
                    <a:moveTo>
                      <a:pt x="0" y="66336"/>
                    </a:moveTo>
                    <a:cubicBezTo>
                      <a:pt x="68780" y="56938"/>
                      <a:pt x="136309" y="7712"/>
                      <a:pt x="178713" y="3771"/>
                    </a:cubicBezTo>
                    <a:cubicBezTo>
                      <a:pt x="203345" y="1497"/>
                      <a:pt x="251206" y="-6650"/>
                      <a:pt x="273261" y="11691"/>
                    </a:cubicBez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custDash>
                  <a:ds d="300000" sp="450000"/>
                </a:custDash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1" name="Freeform: Shape 38">
                <a:extLst>
                  <a:ext uri="{FF2B5EF4-FFF2-40B4-BE49-F238E27FC236}">
                    <a16:creationId xmlns:a16="http://schemas.microsoft.com/office/drawing/2014/main" id="{E70F3E70-499D-67D4-B5C6-41E588B19E42}"/>
                  </a:ext>
                </a:extLst>
              </p:cNvPr>
              <p:cNvSpPr/>
              <p:nvPr/>
            </p:nvSpPr>
            <p:spPr>
              <a:xfrm>
                <a:off x="2402507" y="2085471"/>
                <a:ext cx="119331" cy="8450"/>
              </a:xfrm>
              <a:custGeom>
                <a:avLst/>
                <a:gdLst>
                  <a:gd name="connsiteX0" fmla="*/ 0 w 119331"/>
                  <a:gd name="connsiteY0" fmla="*/ 3676 h 8450"/>
                  <a:gd name="connsiteX1" fmla="*/ 119332 w 119331"/>
                  <a:gd name="connsiteY1" fmla="*/ 0 h 8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9331" h="8450">
                    <a:moveTo>
                      <a:pt x="0" y="3676"/>
                    </a:moveTo>
                    <a:cubicBezTo>
                      <a:pt x="19175" y="14324"/>
                      <a:pt x="106826" y="4472"/>
                      <a:pt x="119332" y="0"/>
                    </a:cubicBez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custDash>
                  <a:ds d="300000" sp="450000"/>
                </a:custDash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12" name="Freeform: Shape 39">
                <a:extLst>
                  <a:ext uri="{FF2B5EF4-FFF2-40B4-BE49-F238E27FC236}">
                    <a16:creationId xmlns:a16="http://schemas.microsoft.com/office/drawing/2014/main" id="{0F77B0CF-592E-1184-F624-2A088A332D35}"/>
                  </a:ext>
                </a:extLst>
              </p:cNvPr>
              <p:cNvSpPr/>
              <p:nvPr/>
            </p:nvSpPr>
            <p:spPr>
              <a:xfrm>
                <a:off x="2539119" y="2071062"/>
                <a:ext cx="136649" cy="14409"/>
              </a:xfrm>
              <a:custGeom>
                <a:avLst/>
                <a:gdLst>
                  <a:gd name="connsiteX0" fmla="*/ 0 w 136649"/>
                  <a:gd name="connsiteY0" fmla="*/ 5770 h 14409"/>
                  <a:gd name="connsiteX1" fmla="*/ 136650 w 136649"/>
                  <a:gd name="connsiteY1" fmla="*/ 14410 h 144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36649" h="14409">
                    <a:moveTo>
                      <a:pt x="0" y="5770"/>
                    </a:moveTo>
                    <a:cubicBezTo>
                      <a:pt x="16522" y="1033"/>
                      <a:pt x="93866" y="-7759"/>
                      <a:pt x="136650" y="14410"/>
                    </a:cubicBez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custDash>
                  <a:ds d="300000" sp="450000"/>
                </a:custDash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90" name="Freeform: Shape 22">
              <a:extLst>
                <a:ext uri="{FF2B5EF4-FFF2-40B4-BE49-F238E27FC236}">
                  <a16:creationId xmlns:a16="http://schemas.microsoft.com/office/drawing/2014/main" id="{F9FB71D6-44D0-DFD9-0C0B-1A7376AF6221}"/>
                </a:ext>
              </a:extLst>
            </p:cNvPr>
            <p:cNvSpPr/>
            <p:nvPr/>
          </p:nvSpPr>
          <p:spPr>
            <a:xfrm>
              <a:off x="2633061" y="2279906"/>
              <a:ext cx="165980" cy="102657"/>
            </a:xfrm>
            <a:custGeom>
              <a:avLst/>
              <a:gdLst>
                <a:gd name="connsiteX0" fmla="*/ 0 w 165980"/>
                <a:gd name="connsiteY0" fmla="*/ 0 h 102657"/>
                <a:gd name="connsiteX1" fmla="*/ 0 w 165980"/>
                <a:gd name="connsiteY1" fmla="*/ 38122 h 102657"/>
                <a:gd name="connsiteX2" fmla="*/ 110654 w 165980"/>
                <a:gd name="connsiteY2" fmla="*/ 102658 h 102657"/>
                <a:gd name="connsiteX3" fmla="*/ 165980 w 165980"/>
                <a:gd name="connsiteY3" fmla="*/ 74994 h 10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5980" h="102657">
                  <a:moveTo>
                    <a:pt x="0" y="0"/>
                  </a:moveTo>
                  <a:lnTo>
                    <a:pt x="0" y="38122"/>
                  </a:lnTo>
                  <a:lnTo>
                    <a:pt x="110654" y="102658"/>
                  </a:lnTo>
                  <a:lnTo>
                    <a:pt x="165980" y="74994"/>
                  </a:lnTo>
                </a:path>
              </a:pathLst>
            </a:custGeom>
            <a:noFill/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3" name="Freeform: Shape 24">
              <a:extLst>
                <a:ext uri="{FF2B5EF4-FFF2-40B4-BE49-F238E27FC236}">
                  <a16:creationId xmlns:a16="http://schemas.microsoft.com/office/drawing/2014/main" id="{5D881B77-63B3-4C83-F839-30905D71AD5C}"/>
                </a:ext>
              </a:extLst>
            </p:cNvPr>
            <p:cNvSpPr/>
            <p:nvPr/>
          </p:nvSpPr>
          <p:spPr>
            <a:xfrm>
              <a:off x="2633061" y="1939950"/>
              <a:ext cx="165980" cy="101445"/>
            </a:xfrm>
            <a:custGeom>
              <a:avLst/>
              <a:gdLst>
                <a:gd name="connsiteX0" fmla="*/ 165980 w 165980"/>
                <a:gd name="connsiteY0" fmla="*/ 36872 h 101445"/>
                <a:gd name="connsiteX1" fmla="*/ 110654 w 165980"/>
                <a:gd name="connsiteY1" fmla="*/ 0 h 101445"/>
                <a:gd name="connsiteX2" fmla="*/ 0 w 165980"/>
                <a:gd name="connsiteY2" fmla="*/ 66127 h 101445"/>
                <a:gd name="connsiteX3" fmla="*/ 0 w 165980"/>
                <a:gd name="connsiteY3" fmla="*/ 101445 h 1014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5980" h="101445">
                  <a:moveTo>
                    <a:pt x="165980" y="36872"/>
                  </a:moveTo>
                  <a:lnTo>
                    <a:pt x="110654" y="0"/>
                  </a:lnTo>
                  <a:lnTo>
                    <a:pt x="0" y="66127"/>
                  </a:lnTo>
                  <a:lnTo>
                    <a:pt x="0" y="101445"/>
                  </a:lnTo>
                </a:path>
              </a:pathLst>
            </a:custGeom>
            <a:noFill/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8" name="Freeform: Shape 26">
              <a:extLst>
                <a:ext uri="{FF2B5EF4-FFF2-40B4-BE49-F238E27FC236}">
                  <a16:creationId xmlns:a16="http://schemas.microsoft.com/office/drawing/2014/main" id="{65F2ED63-8564-1E41-A399-5F912A89558E}"/>
                </a:ext>
              </a:extLst>
            </p:cNvPr>
            <p:cNvSpPr/>
            <p:nvPr/>
          </p:nvSpPr>
          <p:spPr>
            <a:xfrm>
              <a:off x="2909695" y="2078267"/>
              <a:ext cx="55326" cy="27663"/>
            </a:xfrm>
            <a:custGeom>
              <a:avLst/>
              <a:gdLst>
                <a:gd name="connsiteX0" fmla="*/ 0 w 55326"/>
                <a:gd name="connsiteY0" fmla="*/ 27663 h 27663"/>
                <a:gd name="connsiteX1" fmla="*/ 55327 w 55326"/>
                <a:gd name="connsiteY1" fmla="*/ 0 h 27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5326" h="27663">
                  <a:moveTo>
                    <a:pt x="0" y="27663"/>
                  </a:moveTo>
                  <a:lnTo>
                    <a:pt x="55327" y="0"/>
                  </a:lnTo>
                </a:path>
              </a:pathLst>
            </a:custGeom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0" name="Freeform: Shape 28">
              <a:extLst>
                <a:ext uri="{FF2B5EF4-FFF2-40B4-BE49-F238E27FC236}">
                  <a16:creationId xmlns:a16="http://schemas.microsoft.com/office/drawing/2014/main" id="{A8D56D74-5AB3-032E-B503-B5C5ECD7F36F}"/>
                </a:ext>
              </a:extLst>
            </p:cNvPr>
            <p:cNvSpPr/>
            <p:nvPr/>
          </p:nvSpPr>
          <p:spPr>
            <a:xfrm>
              <a:off x="2909695" y="1973449"/>
              <a:ext cx="3789" cy="67945"/>
            </a:xfrm>
            <a:custGeom>
              <a:avLst/>
              <a:gdLst>
                <a:gd name="connsiteX0" fmla="*/ 0 w 3789"/>
                <a:gd name="connsiteY0" fmla="*/ 67946 h 67945"/>
                <a:gd name="connsiteX1" fmla="*/ 0 w 3789"/>
                <a:gd name="connsiteY1" fmla="*/ 0 h 679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789" h="67945">
                  <a:moveTo>
                    <a:pt x="0" y="67946"/>
                  </a:moveTo>
                  <a:lnTo>
                    <a:pt x="0" y="0"/>
                  </a:lnTo>
                </a:path>
              </a:pathLst>
            </a:custGeom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1" name="Freeform: Shape 29">
              <a:extLst>
                <a:ext uri="{FF2B5EF4-FFF2-40B4-BE49-F238E27FC236}">
                  <a16:creationId xmlns:a16="http://schemas.microsoft.com/office/drawing/2014/main" id="{BA960A5A-5755-ABF1-39E5-432C8F760225}"/>
                </a:ext>
              </a:extLst>
            </p:cNvPr>
            <p:cNvSpPr/>
            <p:nvPr/>
          </p:nvSpPr>
          <p:spPr>
            <a:xfrm>
              <a:off x="2967030" y="2132874"/>
              <a:ext cx="53318" cy="31377"/>
            </a:xfrm>
            <a:custGeom>
              <a:avLst/>
              <a:gdLst>
                <a:gd name="connsiteX0" fmla="*/ 53318 w 53318"/>
                <a:gd name="connsiteY0" fmla="*/ 31377 h 31377"/>
                <a:gd name="connsiteX1" fmla="*/ 0 w 53318"/>
                <a:gd name="connsiteY1" fmla="*/ 0 h 31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318" h="31377">
                  <a:moveTo>
                    <a:pt x="53318" y="31377"/>
                  </a:moveTo>
                  <a:lnTo>
                    <a:pt x="0" y="0"/>
                  </a:lnTo>
                </a:path>
              </a:pathLst>
            </a:custGeom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2" name="Freeform: Shape 30">
              <a:extLst>
                <a:ext uri="{FF2B5EF4-FFF2-40B4-BE49-F238E27FC236}">
                  <a16:creationId xmlns:a16="http://schemas.microsoft.com/office/drawing/2014/main" id="{E0B5EA8C-429B-C403-21BF-D092EFB5D684}"/>
                </a:ext>
              </a:extLst>
            </p:cNvPr>
            <p:cNvSpPr/>
            <p:nvPr/>
          </p:nvSpPr>
          <p:spPr>
            <a:xfrm>
              <a:off x="2909695" y="2216584"/>
              <a:ext cx="55326" cy="36871"/>
            </a:xfrm>
            <a:custGeom>
              <a:avLst/>
              <a:gdLst>
                <a:gd name="connsiteX0" fmla="*/ 55327 w 55326"/>
                <a:gd name="connsiteY0" fmla="*/ 36872 h 36871"/>
                <a:gd name="connsiteX1" fmla="*/ 0 w 55326"/>
                <a:gd name="connsiteY1" fmla="*/ 0 h 36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5326" h="36871">
                  <a:moveTo>
                    <a:pt x="55327" y="36872"/>
                  </a:moveTo>
                  <a:lnTo>
                    <a:pt x="0" y="0"/>
                  </a:lnTo>
                </a:path>
              </a:pathLst>
            </a:custGeom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3" name="Freeform: Shape 31">
              <a:extLst>
                <a:ext uri="{FF2B5EF4-FFF2-40B4-BE49-F238E27FC236}">
                  <a16:creationId xmlns:a16="http://schemas.microsoft.com/office/drawing/2014/main" id="{D02E1180-7CD8-1DBF-1CBC-EA6F8E6CA7CF}"/>
                </a:ext>
              </a:extLst>
            </p:cNvPr>
            <p:cNvSpPr/>
            <p:nvPr/>
          </p:nvSpPr>
          <p:spPr>
            <a:xfrm>
              <a:off x="2861189" y="2321174"/>
              <a:ext cx="48505" cy="28534"/>
            </a:xfrm>
            <a:custGeom>
              <a:avLst/>
              <a:gdLst>
                <a:gd name="connsiteX0" fmla="*/ 48506 w 48505"/>
                <a:gd name="connsiteY0" fmla="*/ 28535 h 28534"/>
                <a:gd name="connsiteX1" fmla="*/ 0 w 48505"/>
                <a:gd name="connsiteY1" fmla="*/ 0 h 285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8505" h="28534">
                  <a:moveTo>
                    <a:pt x="48506" y="28535"/>
                  </a:moveTo>
                  <a:lnTo>
                    <a:pt x="0" y="0"/>
                  </a:lnTo>
                </a:path>
              </a:pathLst>
            </a:custGeom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5" name="Freeform: Shape 32">
              <a:extLst>
                <a:ext uri="{FF2B5EF4-FFF2-40B4-BE49-F238E27FC236}">
                  <a16:creationId xmlns:a16="http://schemas.microsoft.com/office/drawing/2014/main" id="{C7C8C51D-704B-9A31-FF88-4E8B152E1ADB}"/>
                </a:ext>
              </a:extLst>
            </p:cNvPr>
            <p:cNvSpPr/>
            <p:nvPr/>
          </p:nvSpPr>
          <p:spPr>
            <a:xfrm>
              <a:off x="2861189" y="2321174"/>
              <a:ext cx="48505" cy="28534"/>
            </a:xfrm>
            <a:custGeom>
              <a:avLst/>
              <a:gdLst>
                <a:gd name="connsiteX0" fmla="*/ 48506 w 48505"/>
                <a:gd name="connsiteY0" fmla="*/ 28535 h 28534"/>
                <a:gd name="connsiteX1" fmla="*/ 0 w 48505"/>
                <a:gd name="connsiteY1" fmla="*/ 0 h 285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8505" h="28534">
                  <a:moveTo>
                    <a:pt x="48506" y="28535"/>
                  </a:moveTo>
                  <a:lnTo>
                    <a:pt x="0" y="0"/>
                  </a:lnTo>
                </a:path>
              </a:pathLst>
            </a:custGeom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6" name="Freeform: Shape 33">
              <a:extLst>
                <a:ext uri="{FF2B5EF4-FFF2-40B4-BE49-F238E27FC236}">
                  <a16:creationId xmlns:a16="http://schemas.microsoft.com/office/drawing/2014/main" id="{45CB11A1-B858-7AA7-528F-7A71DA346F08}"/>
                </a:ext>
              </a:extLst>
            </p:cNvPr>
            <p:cNvSpPr/>
            <p:nvPr/>
          </p:nvSpPr>
          <p:spPr>
            <a:xfrm>
              <a:off x="2861189" y="2321174"/>
              <a:ext cx="48505" cy="28534"/>
            </a:xfrm>
            <a:custGeom>
              <a:avLst/>
              <a:gdLst>
                <a:gd name="connsiteX0" fmla="*/ 48506 w 48505"/>
                <a:gd name="connsiteY0" fmla="*/ 28535 h 28534"/>
                <a:gd name="connsiteX1" fmla="*/ 0 w 48505"/>
                <a:gd name="connsiteY1" fmla="*/ 0 h 285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8505" h="28534">
                  <a:moveTo>
                    <a:pt x="48506" y="28535"/>
                  </a:moveTo>
                  <a:lnTo>
                    <a:pt x="0" y="0"/>
                  </a:lnTo>
                </a:path>
              </a:pathLst>
            </a:custGeom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7" name="Freeform: Shape 34">
              <a:extLst>
                <a:ext uri="{FF2B5EF4-FFF2-40B4-BE49-F238E27FC236}">
                  <a16:creationId xmlns:a16="http://schemas.microsoft.com/office/drawing/2014/main" id="{9E9EBBA8-4196-6F4C-8413-1BD8C0AB2D69}"/>
                </a:ext>
              </a:extLst>
            </p:cNvPr>
            <p:cNvSpPr/>
            <p:nvPr/>
          </p:nvSpPr>
          <p:spPr>
            <a:xfrm>
              <a:off x="2799041" y="1939950"/>
              <a:ext cx="221307" cy="442614"/>
            </a:xfrm>
            <a:custGeom>
              <a:avLst/>
              <a:gdLst>
                <a:gd name="connsiteX0" fmla="*/ 0 w 221307"/>
                <a:gd name="connsiteY0" fmla="*/ 104894 h 442614"/>
                <a:gd name="connsiteX1" fmla="*/ 0 w 221307"/>
                <a:gd name="connsiteY1" fmla="*/ 36872 h 442614"/>
                <a:gd name="connsiteX2" fmla="*/ 55327 w 221307"/>
                <a:gd name="connsiteY2" fmla="*/ 0 h 442614"/>
                <a:gd name="connsiteX3" fmla="*/ 165980 w 221307"/>
                <a:gd name="connsiteY3" fmla="*/ 64535 h 442614"/>
                <a:gd name="connsiteX4" fmla="*/ 165980 w 221307"/>
                <a:gd name="connsiteY4" fmla="*/ 137862 h 442614"/>
                <a:gd name="connsiteX5" fmla="*/ 221307 w 221307"/>
                <a:gd name="connsiteY5" fmla="*/ 165980 h 442614"/>
                <a:gd name="connsiteX6" fmla="*/ 221269 w 221307"/>
                <a:gd name="connsiteY6" fmla="*/ 223694 h 442614"/>
                <a:gd name="connsiteX7" fmla="*/ 221307 w 221307"/>
                <a:gd name="connsiteY7" fmla="*/ 276634 h 442614"/>
                <a:gd name="connsiteX8" fmla="*/ 165980 w 221307"/>
                <a:gd name="connsiteY8" fmla="*/ 313506 h 442614"/>
                <a:gd name="connsiteX9" fmla="*/ 165980 w 221307"/>
                <a:gd name="connsiteY9" fmla="*/ 378079 h 442614"/>
                <a:gd name="connsiteX10" fmla="*/ 55327 w 221307"/>
                <a:gd name="connsiteY10" fmla="*/ 442614 h 442614"/>
                <a:gd name="connsiteX11" fmla="*/ 0 w 221307"/>
                <a:gd name="connsiteY11" fmla="*/ 412980 h 442614"/>
                <a:gd name="connsiteX12" fmla="*/ 0 w 221307"/>
                <a:gd name="connsiteY12" fmla="*/ 342912 h 4426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1307" h="442614">
                  <a:moveTo>
                    <a:pt x="0" y="104894"/>
                  </a:moveTo>
                  <a:lnTo>
                    <a:pt x="0" y="36872"/>
                  </a:lnTo>
                  <a:lnTo>
                    <a:pt x="55327" y="0"/>
                  </a:lnTo>
                  <a:lnTo>
                    <a:pt x="165980" y="64535"/>
                  </a:lnTo>
                  <a:lnTo>
                    <a:pt x="165980" y="137862"/>
                  </a:lnTo>
                  <a:lnTo>
                    <a:pt x="221307" y="165980"/>
                  </a:lnTo>
                  <a:lnTo>
                    <a:pt x="221269" y="223694"/>
                  </a:lnTo>
                  <a:lnTo>
                    <a:pt x="221307" y="276634"/>
                  </a:lnTo>
                  <a:lnTo>
                    <a:pt x="165980" y="313506"/>
                  </a:lnTo>
                  <a:lnTo>
                    <a:pt x="165980" y="378079"/>
                  </a:lnTo>
                  <a:lnTo>
                    <a:pt x="55327" y="442614"/>
                  </a:lnTo>
                  <a:lnTo>
                    <a:pt x="0" y="412980"/>
                  </a:lnTo>
                  <a:lnTo>
                    <a:pt x="0" y="342912"/>
                  </a:lnTo>
                </a:path>
              </a:pathLst>
            </a:custGeom>
            <a:noFill/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18" name="TextBox 117">
            <a:extLst>
              <a:ext uri="{FF2B5EF4-FFF2-40B4-BE49-F238E27FC236}">
                <a16:creationId xmlns:a16="http://schemas.microsoft.com/office/drawing/2014/main" id="{7E57608E-CD04-BDF1-E151-6119DCF0A0CE}"/>
              </a:ext>
            </a:extLst>
          </p:cNvPr>
          <p:cNvSpPr txBox="1"/>
          <p:nvPr/>
        </p:nvSpPr>
        <p:spPr>
          <a:xfrm>
            <a:off x="4619378" y="2831320"/>
            <a:ext cx="1335310" cy="523220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accent4"/>
                </a:solidFill>
              </a:rPr>
              <a:t>Bedrock </a:t>
            </a:r>
          </a:p>
          <a:p>
            <a:pPr algn="ctr"/>
            <a:r>
              <a:rPr lang="en-US" sz="1400" b="1" dirty="0">
                <a:solidFill>
                  <a:schemeClr val="accent4"/>
                </a:solidFill>
              </a:rPr>
              <a:t>model</a:t>
            </a:r>
          </a:p>
        </p:txBody>
      </p: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5360E003-FC02-9B26-EF89-F06BD014B1E5}"/>
              </a:ext>
            </a:extLst>
          </p:cNvPr>
          <p:cNvGrpSpPr/>
          <p:nvPr/>
        </p:nvGrpSpPr>
        <p:grpSpPr>
          <a:xfrm>
            <a:off x="7473503" y="4500772"/>
            <a:ext cx="617841" cy="442614"/>
            <a:chOff x="2402507" y="1939950"/>
            <a:chExt cx="617841" cy="442614"/>
          </a:xfrm>
        </p:grpSpPr>
        <p:grpSp>
          <p:nvGrpSpPr>
            <p:cNvPr id="121" name="Graphic 4081">
              <a:extLst>
                <a:ext uri="{FF2B5EF4-FFF2-40B4-BE49-F238E27FC236}">
                  <a16:creationId xmlns:a16="http://schemas.microsoft.com/office/drawing/2014/main" id="{CFFEE620-0E71-BF69-9163-7F08C0C3C4D5}"/>
                </a:ext>
              </a:extLst>
            </p:cNvPr>
            <p:cNvGrpSpPr/>
            <p:nvPr/>
          </p:nvGrpSpPr>
          <p:grpSpPr>
            <a:xfrm>
              <a:off x="2699794" y="2064511"/>
              <a:ext cx="198418" cy="198456"/>
              <a:chOff x="2699794" y="2064511"/>
              <a:chExt cx="198418" cy="198456"/>
            </a:xfrm>
            <a:noFill/>
          </p:grpSpPr>
          <p:sp>
            <p:nvSpPr>
              <p:cNvPr id="141" name="Freeform: Shape 40">
                <a:extLst>
                  <a:ext uri="{FF2B5EF4-FFF2-40B4-BE49-F238E27FC236}">
                    <a16:creationId xmlns:a16="http://schemas.microsoft.com/office/drawing/2014/main" id="{92D34358-6B99-B4F5-5AB2-B73A1EE86B51}"/>
                  </a:ext>
                </a:extLst>
              </p:cNvPr>
              <p:cNvSpPr/>
              <p:nvPr/>
            </p:nvSpPr>
            <p:spPr>
              <a:xfrm>
                <a:off x="2699794" y="2064511"/>
                <a:ext cx="198418" cy="198456"/>
              </a:xfrm>
              <a:custGeom>
                <a:avLst/>
                <a:gdLst>
                  <a:gd name="connsiteX0" fmla="*/ 18872 w 198418"/>
                  <a:gd name="connsiteY0" fmla="*/ 157340 h 198456"/>
                  <a:gd name="connsiteX1" fmla="*/ 22889 w 198418"/>
                  <a:gd name="connsiteY1" fmla="*/ 161963 h 198456"/>
                  <a:gd name="connsiteX2" fmla="*/ 26943 w 198418"/>
                  <a:gd name="connsiteY2" fmla="*/ 166587 h 198456"/>
                  <a:gd name="connsiteX3" fmla="*/ 30960 w 198418"/>
                  <a:gd name="connsiteY3" fmla="*/ 171210 h 198456"/>
                  <a:gd name="connsiteX4" fmla="*/ 58396 w 198418"/>
                  <a:gd name="connsiteY4" fmla="*/ 157151 h 198456"/>
                  <a:gd name="connsiteX5" fmla="*/ 78026 w 198418"/>
                  <a:gd name="connsiteY5" fmla="*/ 166814 h 198456"/>
                  <a:gd name="connsiteX6" fmla="*/ 83521 w 198418"/>
                  <a:gd name="connsiteY6" fmla="*/ 197206 h 198456"/>
                  <a:gd name="connsiteX7" fmla="*/ 89622 w 198418"/>
                  <a:gd name="connsiteY7" fmla="*/ 197623 h 198456"/>
                  <a:gd name="connsiteX8" fmla="*/ 95723 w 198418"/>
                  <a:gd name="connsiteY8" fmla="*/ 198040 h 198456"/>
                  <a:gd name="connsiteX9" fmla="*/ 101824 w 198418"/>
                  <a:gd name="connsiteY9" fmla="*/ 198456 h 198456"/>
                  <a:gd name="connsiteX10" fmla="*/ 111298 w 198418"/>
                  <a:gd name="connsiteY10" fmla="*/ 169050 h 198456"/>
                  <a:gd name="connsiteX11" fmla="*/ 131913 w 198418"/>
                  <a:gd name="connsiteY11" fmla="*/ 162039 h 198456"/>
                  <a:gd name="connsiteX12" fmla="*/ 157340 w 198418"/>
                  <a:gd name="connsiteY12" fmla="*/ 179660 h 198456"/>
                  <a:gd name="connsiteX13" fmla="*/ 161963 w 198418"/>
                  <a:gd name="connsiteY13" fmla="*/ 175606 h 198456"/>
                  <a:gd name="connsiteX14" fmla="*/ 166587 w 198418"/>
                  <a:gd name="connsiteY14" fmla="*/ 171589 h 198456"/>
                  <a:gd name="connsiteX15" fmla="*/ 171210 w 198418"/>
                  <a:gd name="connsiteY15" fmla="*/ 167534 h 198456"/>
                  <a:gd name="connsiteX16" fmla="*/ 157075 w 198418"/>
                  <a:gd name="connsiteY16" fmla="*/ 139984 h 198456"/>
                  <a:gd name="connsiteX17" fmla="*/ 166738 w 198418"/>
                  <a:gd name="connsiteY17" fmla="*/ 120468 h 198456"/>
                  <a:gd name="connsiteX18" fmla="*/ 197168 w 198418"/>
                  <a:gd name="connsiteY18" fmla="*/ 114936 h 198456"/>
                  <a:gd name="connsiteX19" fmla="*/ 197585 w 198418"/>
                  <a:gd name="connsiteY19" fmla="*/ 108835 h 198456"/>
                  <a:gd name="connsiteX20" fmla="*/ 198002 w 198418"/>
                  <a:gd name="connsiteY20" fmla="*/ 102733 h 198456"/>
                  <a:gd name="connsiteX21" fmla="*/ 198419 w 198418"/>
                  <a:gd name="connsiteY21" fmla="*/ 96632 h 198456"/>
                  <a:gd name="connsiteX22" fmla="*/ 169050 w 198418"/>
                  <a:gd name="connsiteY22" fmla="*/ 87159 h 198456"/>
                  <a:gd name="connsiteX23" fmla="*/ 162077 w 198418"/>
                  <a:gd name="connsiteY23" fmla="*/ 66430 h 198456"/>
                  <a:gd name="connsiteX24" fmla="*/ 179623 w 198418"/>
                  <a:gd name="connsiteY24" fmla="*/ 41078 h 198456"/>
                  <a:gd name="connsiteX25" fmla="*/ 175606 w 198418"/>
                  <a:gd name="connsiteY25" fmla="*/ 36455 h 198456"/>
                  <a:gd name="connsiteX26" fmla="*/ 171551 w 198418"/>
                  <a:gd name="connsiteY26" fmla="*/ 31832 h 198456"/>
                  <a:gd name="connsiteX27" fmla="*/ 167534 w 198418"/>
                  <a:gd name="connsiteY27" fmla="*/ 27209 h 198456"/>
                  <a:gd name="connsiteX28" fmla="*/ 140136 w 198418"/>
                  <a:gd name="connsiteY28" fmla="*/ 41268 h 198456"/>
                  <a:gd name="connsiteX29" fmla="*/ 120430 w 198418"/>
                  <a:gd name="connsiteY29" fmla="*/ 31491 h 198456"/>
                  <a:gd name="connsiteX30" fmla="*/ 114936 w 198418"/>
                  <a:gd name="connsiteY30" fmla="*/ 1251 h 198456"/>
                  <a:gd name="connsiteX31" fmla="*/ 108835 w 198418"/>
                  <a:gd name="connsiteY31" fmla="*/ 834 h 198456"/>
                  <a:gd name="connsiteX32" fmla="*/ 102733 w 198418"/>
                  <a:gd name="connsiteY32" fmla="*/ 417 h 198456"/>
                  <a:gd name="connsiteX33" fmla="*/ 96632 w 198418"/>
                  <a:gd name="connsiteY33" fmla="*/ 0 h 198456"/>
                  <a:gd name="connsiteX34" fmla="*/ 87234 w 198418"/>
                  <a:gd name="connsiteY34" fmla="*/ 29217 h 198456"/>
                  <a:gd name="connsiteX35" fmla="*/ 66316 w 198418"/>
                  <a:gd name="connsiteY35" fmla="*/ 36303 h 198456"/>
                  <a:gd name="connsiteX36" fmla="*/ 41116 w 198418"/>
                  <a:gd name="connsiteY36" fmla="*/ 18834 h 198456"/>
                  <a:gd name="connsiteX37" fmla="*/ 36493 w 198418"/>
                  <a:gd name="connsiteY37" fmla="*/ 22889 h 198456"/>
                  <a:gd name="connsiteX38" fmla="*/ 31870 w 198418"/>
                  <a:gd name="connsiteY38" fmla="*/ 26905 h 198456"/>
                  <a:gd name="connsiteX39" fmla="*/ 27247 w 198418"/>
                  <a:gd name="connsiteY39" fmla="*/ 30960 h 198456"/>
                  <a:gd name="connsiteX40" fmla="*/ 41230 w 198418"/>
                  <a:gd name="connsiteY40" fmla="*/ 58245 h 198456"/>
                  <a:gd name="connsiteX41" fmla="*/ 31453 w 198418"/>
                  <a:gd name="connsiteY41" fmla="*/ 78064 h 198456"/>
                  <a:gd name="connsiteX42" fmla="*/ 1251 w 198418"/>
                  <a:gd name="connsiteY42" fmla="*/ 83521 h 198456"/>
                  <a:gd name="connsiteX43" fmla="*/ 834 w 198418"/>
                  <a:gd name="connsiteY43" fmla="*/ 89622 h 198456"/>
                  <a:gd name="connsiteX44" fmla="*/ 417 w 198418"/>
                  <a:gd name="connsiteY44" fmla="*/ 95723 h 198456"/>
                  <a:gd name="connsiteX45" fmla="*/ 0 w 198418"/>
                  <a:gd name="connsiteY45" fmla="*/ 101824 h 198456"/>
                  <a:gd name="connsiteX46" fmla="*/ 29255 w 198418"/>
                  <a:gd name="connsiteY46" fmla="*/ 111222 h 198456"/>
                  <a:gd name="connsiteX47" fmla="*/ 36341 w 198418"/>
                  <a:gd name="connsiteY47" fmla="*/ 132026 h 198456"/>
                  <a:gd name="connsiteX48" fmla="*/ 18872 w 198418"/>
                  <a:gd name="connsiteY48" fmla="*/ 157340 h 19845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</a:cxnLst>
                <a:rect l="l" t="t" r="r" b="b"/>
                <a:pathLst>
                  <a:path w="198418" h="198456">
                    <a:moveTo>
                      <a:pt x="18872" y="157340"/>
                    </a:moveTo>
                    <a:lnTo>
                      <a:pt x="22889" y="161963"/>
                    </a:lnTo>
                    <a:lnTo>
                      <a:pt x="26943" y="166587"/>
                    </a:lnTo>
                    <a:lnTo>
                      <a:pt x="30960" y="171210"/>
                    </a:lnTo>
                    <a:lnTo>
                      <a:pt x="58396" y="157151"/>
                    </a:lnTo>
                    <a:cubicBezTo>
                      <a:pt x="64497" y="161433"/>
                      <a:pt x="71091" y="164654"/>
                      <a:pt x="78026" y="166814"/>
                    </a:cubicBezTo>
                    <a:lnTo>
                      <a:pt x="83521" y="197206"/>
                    </a:lnTo>
                    <a:lnTo>
                      <a:pt x="89622" y="197623"/>
                    </a:lnTo>
                    <a:lnTo>
                      <a:pt x="95723" y="198040"/>
                    </a:lnTo>
                    <a:lnTo>
                      <a:pt x="101824" y="198456"/>
                    </a:lnTo>
                    <a:lnTo>
                      <a:pt x="111298" y="169050"/>
                    </a:lnTo>
                    <a:cubicBezTo>
                      <a:pt x="118384" y="167799"/>
                      <a:pt x="125357" y="165488"/>
                      <a:pt x="131913" y="162039"/>
                    </a:cubicBezTo>
                    <a:lnTo>
                      <a:pt x="157340" y="179660"/>
                    </a:lnTo>
                    <a:lnTo>
                      <a:pt x="161963" y="175606"/>
                    </a:lnTo>
                    <a:lnTo>
                      <a:pt x="166587" y="171589"/>
                    </a:lnTo>
                    <a:lnTo>
                      <a:pt x="171210" y="167534"/>
                    </a:lnTo>
                    <a:lnTo>
                      <a:pt x="157075" y="139984"/>
                    </a:lnTo>
                    <a:cubicBezTo>
                      <a:pt x="161357" y="133921"/>
                      <a:pt x="164578" y="127327"/>
                      <a:pt x="166738" y="120468"/>
                    </a:cubicBezTo>
                    <a:lnTo>
                      <a:pt x="197168" y="114936"/>
                    </a:lnTo>
                    <a:lnTo>
                      <a:pt x="197585" y="108835"/>
                    </a:lnTo>
                    <a:lnTo>
                      <a:pt x="198002" y="102733"/>
                    </a:lnTo>
                    <a:lnTo>
                      <a:pt x="198419" y="96632"/>
                    </a:lnTo>
                    <a:lnTo>
                      <a:pt x="169050" y="87159"/>
                    </a:lnTo>
                    <a:cubicBezTo>
                      <a:pt x="167837" y="80034"/>
                      <a:pt x="165488" y="73024"/>
                      <a:pt x="162077" y="66430"/>
                    </a:cubicBezTo>
                    <a:lnTo>
                      <a:pt x="179623" y="41078"/>
                    </a:lnTo>
                    <a:lnTo>
                      <a:pt x="175606" y="36455"/>
                    </a:lnTo>
                    <a:lnTo>
                      <a:pt x="171551" y="31832"/>
                    </a:lnTo>
                    <a:lnTo>
                      <a:pt x="167534" y="27209"/>
                    </a:lnTo>
                    <a:lnTo>
                      <a:pt x="140136" y="41268"/>
                    </a:lnTo>
                    <a:cubicBezTo>
                      <a:pt x="134035" y="36948"/>
                      <a:pt x="127365" y="33651"/>
                      <a:pt x="120430" y="31491"/>
                    </a:cubicBezTo>
                    <a:lnTo>
                      <a:pt x="114936" y="1251"/>
                    </a:lnTo>
                    <a:lnTo>
                      <a:pt x="108835" y="834"/>
                    </a:lnTo>
                    <a:lnTo>
                      <a:pt x="102733" y="417"/>
                    </a:lnTo>
                    <a:lnTo>
                      <a:pt x="96632" y="0"/>
                    </a:lnTo>
                    <a:lnTo>
                      <a:pt x="87234" y="29217"/>
                    </a:lnTo>
                    <a:cubicBezTo>
                      <a:pt x="80034" y="30430"/>
                      <a:pt x="72986" y="32817"/>
                      <a:pt x="66316" y="36303"/>
                    </a:cubicBezTo>
                    <a:lnTo>
                      <a:pt x="41116" y="18834"/>
                    </a:lnTo>
                    <a:lnTo>
                      <a:pt x="36493" y="22889"/>
                    </a:lnTo>
                    <a:lnTo>
                      <a:pt x="31870" y="26905"/>
                    </a:lnTo>
                    <a:lnTo>
                      <a:pt x="27247" y="30960"/>
                    </a:lnTo>
                    <a:lnTo>
                      <a:pt x="41230" y="58245"/>
                    </a:lnTo>
                    <a:cubicBezTo>
                      <a:pt x="36910" y="64384"/>
                      <a:pt x="33613" y="71053"/>
                      <a:pt x="31453" y="78064"/>
                    </a:cubicBezTo>
                    <a:lnTo>
                      <a:pt x="1251" y="83521"/>
                    </a:lnTo>
                    <a:lnTo>
                      <a:pt x="834" y="89622"/>
                    </a:lnTo>
                    <a:lnTo>
                      <a:pt x="417" y="95723"/>
                    </a:lnTo>
                    <a:lnTo>
                      <a:pt x="0" y="101824"/>
                    </a:lnTo>
                    <a:lnTo>
                      <a:pt x="29255" y="111222"/>
                    </a:lnTo>
                    <a:cubicBezTo>
                      <a:pt x="30506" y="118384"/>
                      <a:pt x="32855" y="125433"/>
                      <a:pt x="36341" y="132026"/>
                    </a:cubicBezTo>
                    <a:lnTo>
                      <a:pt x="18872" y="157340"/>
                    </a:ln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142" name="Freeform: Shape 41">
                <a:extLst>
                  <a:ext uri="{FF2B5EF4-FFF2-40B4-BE49-F238E27FC236}">
                    <a16:creationId xmlns:a16="http://schemas.microsoft.com/office/drawing/2014/main" id="{22B50EEE-CB08-C22E-67EB-A129071A9514}"/>
                  </a:ext>
                </a:extLst>
              </p:cNvPr>
              <p:cNvSpPr/>
              <p:nvPr/>
            </p:nvSpPr>
            <p:spPr>
              <a:xfrm>
                <a:off x="2759517" y="2124120"/>
                <a:ext cx="79049" cy="79049"/>
              </a:xfrm>
              <a:custGeom>
                <a:avLst/>
                <a:gdLst>
                  <a:gd name="connsiteX0" fmla="*/ 79049 w 79049"/>
                  <a:gd name="connsiteY0" fmla="*/ 39525 h 79049"/>
                  <a:gd name="connsiteX1" fmla="*/ 39525 w 79049"/>
                  <a:gd name="connsiteY1" fmla="*/ 79049 h 79049"/>
                  <a:gd name="connsiteX2" fmla="*/ 0 w 79049"/>
                  <a:gd name="connsiteY2" fmla="*/ 39525 h 79049"/>
                  <a:gd name="connsiteX3" fmla="*/ 39525 w 79049"/>
                  <a:gd name="connsiteY3" fmla="*/ 0 h 79049"/>
                  <a:gd name="connsiteX4" fmla="*/ 79049 w 79049"/>
                  <a:gd name="connsiteY4" fmla="*/ 39525 h 7904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9049" h="79049">
                    <a:moveTo>
                      <a:pt x="79049" y="39525"/>
                    </a:moveTo>
                    <a:cubicBezTo>
                      <a:pt x="79049" y="61353"/>
                      <a:pt x="61353" y="79049"/>
                      <a:pt x="39525" y="79049"/>
                    </a:cubicBezTo>
                    <a:cubicBezTo>
                      <a:pt x="17696" y="79049"/>
                      <a:pt x="0" y="61353"/>
                      <a:pt x="0" y="39525"/>
                    </a:cubicBezTo>
                    <a:cubicBezTo>
                      <a:pt x="0" y="17696"/>
                      <a:pt x="17696" y="0"/>
                      <a:pt x="39525" y="0"/>
                    </a:cubicBezTo>
                    <a:cubicBezTo>
                      <a:pt x="61353" y="0"/>
                      <a:pt x="79049" y="17696"/>
                      <a:pt x="79049" y="39525"/>
                    </a:cubicBez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grpSp>
          <p:nvGrpSpPr>
            <p:cNvPr id="122" name="Graphic 4081">
              <a:extLst>
                <a:ext uri="{FF2B5EF4-FFF2-40B4-BE49-F238E27FC236}">
                  <a16:creationId xmlns:a16="http://schemas.microsoft.com/office/drawing/2014/main" id="{07C1D790-4FF5-8A7B-BE95-2ACACE64B6D3}"/>
                </a:ext>
              </a:extLst>
            </p:cNvPr>
            <p:cNvGrpSpPr/>
            <p:nvPr/>
          </p:nvGrpSpPr>
          <p:grpSpPr>
            <a:xfrm>
              <a:off x="2402507" y="1997096"/>
              <a:ext cx="273261" cy="302932"/>
              <a:chOff x="2402507" y="1997096"/>
              <a:chExt cx="273261" cy="302932"/>
            </a:xfrm>
            <a:noFill/>
          </p:grpSpPr>
          <p:sp>
            <p:nvSpPr>
              <p:cNvPr id="135" name="Freeform: Shape 35">
                <a:extLst>
                  <a:ext uri="{FF2B5EF4-FFF2-40B4-BE49-F238E27FC236}">
                    <a16:creationId xmlns:a16="http://schemas.microsoft.com/office/drawing/2014/main" id="{8E261134-81CB-4EB1-4A3F-B476FF0780A2}"/>
                  </a:ext>
                </a:extLst>
              </p:cNvPr>
              <p:cNvSpPr/>
              <p:nvPr/>
            </p:nvSpPr>
            <p:spPr>
              <a:xfrm>
                <a:off x="2402507" y="1997096"/>
                <a:ext cx="273261" cy="147904"/>
              </a:xfrm>
              <a:custGeom>
                <a:avLst/>
                <a:gdLst>
                  <a:gd name="connsiteX0" fmla="*/ 0 w 273261"/>
                  <a:gd name="connsiteY0" fmla="*/ 0 h 147904"/>
                  <a:gd name="connsiteX1" fmla="*/ 273261 w 273261"/>
                  <a:gd name="connsiteY1" fmla="*/ 147904 h 14790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73261" h="147904">
                    <a:moveTo>
                      <a:pt x="0" y="0"/>
                    </a:moveTo>
                    <a:cubicBezTo>
                      <a:pt x="95496" y="0"/>
                      <a:pt x="186482" y="135361"/>
                      <a:pt x="273261" y="147904"/>
                    </a:cubicBez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custDash>
                  <a:ds d="300000" sp="450000"/>
                </a:custDash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7" name="Freeform: Shape 36">
                <a:extLst>
                  <a:ext uri="{FF2B5EF4-FFF2-40B4-BE49-F238E27FC236}">
                    <a16:creationId xmlns:a16="http://schemas.microsoft.com/office/drawing/2014/main" id="{4C7D90AC-0E5B-535C-D8BD-6A98EA652C47}"/>
                  </a:ext>
                </a:extLst>
              </p:cNvPr>
              <p:cNvSpPr/>
              <p:nvPr/>
            </p:nvSpPr>
            <p:spPr>
              <a:xfrm>
                <a:off x="2408950" y="2217796"/>
                <a:ext cx="266781" cy="82232"/>
              </a:xfrm>
              <a:custGeom>
                <a:avLst/>
                <a:gdLst>
                  <a:gd name="connsiteX0" fmla="*/ 0 w 266781"/>
                  <a:gd name="connsiteY0" fmla="*/ 82232 h 82232"/>
                  <a:gd name="connsiteX1" fmla="*/ 178865 w 266781"/>
                  <a:gd name="connsiteY1" fmla="*/ 14552 h 82232"/>
                  <a:gd name="connsiteX2" fmla="*/ 266781 w 266781"/>
                  <a:gd name="connsiteY2" fmla="*/ 0 h 822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66781" h="82232">
                    <a:moveTo>
                      <a:pt x="0" y="82232"/>
                    </a:moveTo>
                    <a:cubicBezTo>
                      <a:pt x="67036" y="60518"/>
                      <a:pt x="133694" y="21979"/>
                      <a:pt x="178865" y="14552"/>
                    </a:cubicBezTo>
                    <a:cubicBezTo>
                      <a:pt x="202132" y="10724"/>
                      <a:pt x="209332" y="22927"/>
                      <a:pt x="266781" y="0"/>
                    </a:cubicBez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custDash>
                  <a:ds d="300000" sp="450000"/>
                </a:custDash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8" name="Freeform: Shape 37">
                <a:extLst>
                  <a:ext uri="{FF2B5EF4-FFF2-40B4-BE49-F238E27FC236}">
                    <a16:creationId xmlns:a16="http://schemas.microsoft.com/office/drawing/2014/main" id="{E606F6FC-808C-5E28-CCF9-DE0AC87E202D}"/>
                  </a:ext>
                </a:extLst>
              </p:cNvPr>
              <p:cNvSpPr/>
              <p:nvPr/>
            </p:nvSpPr>
            <p:spPr>
              <a:xfrm>
                <a:off x="2402507" y="2174008"/>
                <a:ext cx="266781" cy="66335"/>
              </a:xfrm>
              <a:custGeom>
                <a:avLst/>
                <a:gdLst>
                  <a:gd name="connsiteX0" fmla="*/ 0 w 273261"/>
                  <a:gd name="connsiteY0" fmla="*/ 66336 h 66335"/>
                  <a:gd name="connsiteX1" fmla="*/ 178713 w 273261"/>
                  <a:gd name="connsiteY1" fmla="*/ 3771 h 66335"/>
                  <a:gd name="connsiteX2" fmla="*/ 273261 w 273261"/>
                  <a:gd name="connsiteY2" fmla="*/ 11691 h 6633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73261" h="66335">
                    <a:moveTo>
                      <a:pt x="0" y="66336"/>
                    </a:moveTo>
                    <a:cubicBezTo>
                      <a:pt x="68780" y="56938"/>
                      <a:pt x="136309" y="7712"/>
                      <a:pt x="178713" y="3771"/>
                    </a:cubicBezTo>
                    <a:cubicBezTo>
                      <a:pt x="203345" y="1497"/>
                      <a:pt x="251206" y="-6650"/>
                      <a:pt x="273261" y="11691"/>
                    </a:cubicBez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custDash>
                  <a:ds d="300000" sp="450000"/>
                </a:custDash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39" name="Freeform: Shape 38">
                <a:extLst>
                  <a:ext uri="{FF2B5EF4-FFF2-40B4-BE49-F238E27FC236}">
                    <a16:creationId xmlns:a16="http://schemas.microsoft.com/office/drawing/2014/main" id="{06A6B9D6-6A9D-7BAE-9981-C7D74B04CC68}"/>
                  </a:ext>
                </a:extLst>
              </p:cNvPr>
              <p:cNvSpPr/>
              <p:nvPr/>
            </p:nvSpPr>
            <p:spPr>
              <a:xfrm>
                <a:off x="2402507" y="2085471"/>
                <a:ext cx="119331" cy="8450"/>
              </a:xfrm>
              <a:custGeom>
                <a:avLst/>
                <a:gdLst>
                  <a:gd name="connsiteX0" fmla="*/ 0 w 119331"/>
                  <a:gd name="connsiteY0" fmla="*/ 3676 h 8450"/>
                  <a:gd name="connsiteX1" fmla="*/ 119332 w 119331"/>
                  <a:gd name="connsiteY1" fmla="*/ 0 h 84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9331" h="8450">
                    <a:moveTo>
                      <a:pt x="0" y="3676"/>
                    </a:moveTo>
                    <a:cubicBezTo>
                      <a:pt x="19175" y="14324"/>
                      <a:pt x="106826" y="4472"/>
                      <a:pt x="119332" y="0"/>
                    </a:cubicBez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custDash>
                  <a:ds d="300000" sp="450000"/>
                </a:custDash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40" name="Freeform: Shape 39">
                <a:extLst>
                  <a:ext uri="{FF2B5EF4-FFF2-40B4-BE49-F238E27FC236}">
                    <a16:creationId xmlns:a16="http://schemas.microsoft.com/office/drawing/2014/main" id="{6D8A173D-42D6-4B5C-C8A3-652DE8D9559E}"/>
                  </a:ext>
                </a:extLst>
              </p:cNvPr>
              <p:cNvSpPr/>
              <p:nvPr/>
            </p:nvSpPr>
            <p:spPr>
              <a:xfrm>
                <a:off x="2539119" y="2071062"/>
                <a:ext cx="136649" cy="14409"/>
              </a:xfrm>
              <a:custGeom>
                <a:avLst/>
                <a:gdLst>
                  <a:gd name="connsiteX0" fmla="*/ 0 w 136649"/>
                  <a:gd name="connsiteY0" fmla="*/ 5770 h 14409"/>
                  <a:gd name="connsiteX1" fmla="*/ 136650 w 136649"/>
                  <a:gd name="connsiteY1" fmla="*/ 14410 h 1440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36649" h="14409">
                    <a:moveTo>
                      <a:pt x="0" y="5770"/>
                    </a:moveTo>
                    <a:cubicBezTo>
                      <a:pt x="16522" y="1033"/>
                      <a:pt x="93866" y="-7759"/>
                      <a:pt x="136650" y="14410"/>
                    </a:cubicBez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custDash>
                  <a:ds d="300000" sp="450000"/>
                </a:custDash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123" name="Freeform: Shape 22">
              <a:extLst>
                <a:ext uri="{FF2B5EF4-FFF2-40B4-BE49-F238E27FC236}">
                  <a16:creationId xmlns:a16="http://schemas.microsoft.com/office/drawing/2014/main" id="{C9FACEDC-E756-889A-BF71-B6201021DCA3}"/>
                </a:ext>
              </a:extLst>
            </p:cNvPr>
            <p:cNvSpPr/>
            <p:nvPr/>
          </p:nvSpPr>
          <p:spPr>
            <a:xfrm>
              <a:off x="2633061" y="2279906"/>
              <a:ext cx="165980" cy="102657"/>
            </a:xfrm>
            <a:custGeom>
              <a:avLst/>
              <a:gdLst>
                <a:gd name="connsiteX0" fmla="*/ 0 w 165980"/>
                <a:gd name="connsiteY0" fmla="*/ 0 h 102657"/>
                <a:gd name="connsiteX1" fmla="*/ 0 w 165980"/>
                <a:gd name="connsiteY1" fmla="*/ 38122 h 102657"/>
                <a:gd name="connsiteX2" fmla="*/ 110654 w 165980"/>
                <a:gd name="connsiteY2" fmla="*/ 102658 h 102657"/>
                <a:gd name="connsiteX3" fmla="*/ 165980 w 165980"/>
                <a:gd name="connsiteY3" fmla="*/ 74994 h 10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5980" h="102657">
                  <a:moveTo>
                    <a:pt x="0" y="0"/>
                  </a:moveTo>
                  <a:lnTo>
                    <a:pt x="0" y="38122"/>
                  </a:lnTo>
                  <a:lnTo>
                    <a:pt x="110654" y="102658"/>
                  </a:lnTo>
                  <a:lnTo>
                    <a:pt x="165980" y="74994"/>
                  </a:lnTo>
                </a:path>
              </a:pathLst>
            </a:custGeom>
            <a:noFill/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5" name="Freeform: Shape 24">
              <a:extLst>
                <a:ext uri="{FF2B5EF4-FFF2-40B4-BE49-F238E27FC236}">
                  <a16:creationId xmlns:a16="http://schemas.microsoft.com/office/drawing/2014/main" id="{197B01E2-08D7-F431-BC8B-00FAC240C41C}"/>
                </a:ext>
              </a:extLst>
            </p:cNvPr>
            <p:cNvSpPr/>
            <p:nvPr/>
          </p:nvSpPr>
          <p:spPr>
            <a:xfrm>
              <a:off x="2633061" y="1939950"/>
              <a:ext cx="165980" cy="101445"/>
            </a:xfrm>
            <a:custGeom>
              <a:avLst/>
              <a:gdLst>
                <a:gd name="connsiteX0" fmla="*/ 165980 w 165980"/>
                <a:gd name="connsiteY0" fmla="*/ 36872 h 101445"/>
                <a:gd name="connsiteX1" fmla="*/ 110654 w 165980"/>
                <a:gd name="connsiteY1" fmla="*/ 0 h 101445"/>
                <a:gd name="connsiteX2" fmla="*/ 0 w 165980"/>
                <a:gd name="connsiteY2" fmla="*/ 66127 h 101445"/>
                <a:gd name="connsiteX3" fmla="*/ 0 w 165980"/>
                <a:gd name="connsiteY3" fmla="*/ 101445 h 1014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65980" h="101445">
                  <a:moveTo>
                    <a:pt x="165980" y="36872"/>
                  </a:moveTo>
                  <a:lnTo>
                    <a:pt x="110654" y="0"/>
                  </a:lnTo>
                  <a:lnTo>
                    <a:pt x="0" y="66127"/>
                  </a:lnTo>
                  <a:lnTo>
                    <a:pt x="0" y="101445"/>
                  </a:lnTo>
                </a:path>
              </a:pathLst>
            </a:custGeom>
            <a:noFill/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6" name="Freeform: Shape 26">
              <a:extLst>
                <a:ext uri="{FF2B5EF4-FFF2-40B4-BE49-F238E27FC236}">
                  <a16:creationId xmlns:a16="http://schemas.microsoft.com/office/drawing/2014/main" id="{D1A16741-CEDB-CA68-CD39-198E7D095E15}"/>
                </a:ext>
              </a:extLst>
            </p:cNvPr>
            <p:cNvSpPr/>
            <p:nvPr/>
          </p:nvSpPr>
          <p:spPr>
            <a:xfrm>
              <a:off x="2909695" y="2078267"/>
              <a:ext cx="55326" cy="27663"/>
            </a:xfrm>
            <a:custGeom>
              <a:avLst/>
              <a:gdLst>
                <a:gd name="connsiteX0" fmla="*/ 0 w 55326"/>
                <a:gd name="connsiteY0" fmla="*/ 27663 h 27663"/>
                <a:gd name="connsiteX1" fmla="*/ 55327 w 55326"/>
                <a:gd name="connsiteY1" fmla="*/ 0 h 276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5326" h="27663">
                  <a:moveTo>
                    <a:pt x="0" y="27663"/>
                  </a:moveTo>
                  <a:lnTo>
                    <a:pt x="55327" y="0"/>
                  </a:lnTo>
                </a:path>
              </a:pathLst>
            </a:custGeom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7" name="Freeform: Shape 28">
              <a:extLst>
                <a:ext uri="{FF2B5EF4-FFF2-40B4-BE49-F238E27FC236}">
                  <a16:creationId xmlns:a16="http://schemas.microsoft.com/office/drawing/2014/main" id="{6FA0BE9E-8567-58DA-B969-E0E4B41882E6}"/>
                </a:ext>
              </a:extLst>
            </p:cNvPr>
            <p:cNvSpPr/>
            <p:nvPr/>
          </p:nvSpPr>
          <p:spPr>
            <a:xfrm>
              <a:off x="2909695" y="1973449"/>
              <a:ext cx="3789" cy="67945"/>
            </a:xfrm>
            <a:custGeom>
              <a:avLst/>
              <a:gdLst>
                <a:gd name="connsiteX0" fmla="*/ 0 w 3789"/>
                <a:gd name="connsiteY0" fmla="*/ 67946 h 67945"/>
                <a:gd name="connsiteX1" fmla="*/ 0 w 3789"/>
                <a:gd name="connsiteY1" fmla="*/ 0 h 679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789" h="67945">
                  <a:moveTo>
                    <a:pt x="0" y="67946"/>
                  </a:moveTo>
                  <a:lnTo>
                    <a:pt x="0" y="0"/>
                  </a:lnTo>
                </a:path>
              </a:pathLst>
            </a:custGeom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9" name="Freeform: Shape 29">
              <a:extLst>
                <a:ext uri="{FF2B5EF4-FFF2-40B4-BE49-F238E27FC236}">
                  <a16:creationId xmlns:a16="http://schemas.microsoft.com/office/drawing/2014/main" id="{6DE528E8-B18D-1171-9522-0E2A4614039F}"/>
                </a:ext>
              </a:extLst>
            </p:cNvPr>
            <p:cNvSpPr/>
            <p:nvPr/>
          </p:nvSpPr>
          <p:spPr>
            <a:xfrm>
              <a:off x="2967030" y="2132874"/>
              <a:ext cx="53318" cy="31377"/>
            </a:xfrm>
            <a:custGeom>
              <a:avLst/>
              <a:gdLst>
                <a:gd name="connsiteX0" fmla="*/ 53318 w 53318"/>
                <a:gd name="connsiteY0" fmla="*/ 31377 h 31377"/>
                <a:gd name="connsiteX1" fmla="*/ 0 w 53318"/>
                <a:gd name="connsiteY1" fmla="*/ 0 h 313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3318" h="31377">
                  <a:moveTo>
                    <a:pt x="53318" y="31377"/>
                  </a:moveTo>
                  <a:lnTo>
                    <a:pt x="0" y="0"/>
                  </a:lnTo>
                </a:path>
              </a:pathLst>
            </a:custGeom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0" name="Freeform: Shape 30">
              <a:extLst>
                <a:ext uri="{FF2B5EF4-FFF2-40B4-BE49-F238E27FC236}">
                  <a16:creationId xmlns:a16="http://schemas.microsoft.com/office/drawing/2014/main" id="{409DF68F-3205-EB60-5D84-C2D0C1433A1F}"/>
                </a:ext>
              </a:extLst>
            </p:cNvPr>
            <p:cNvSpPr/>
            <p:nvPr/>
          </p:nvSpPr>
          <p:spPr>
            <a:xfrm>
              <a:off x="2909695" y="2216584"/>
              <a:ext cx="55326" cy="36871"/>
            </a:xfrm>
            <a:custGeom>
              <a:avLst/>
              <a:gdLst>
                <a:gd name="connsiteX0" fmla="*/ 55327 w 55326"/>
                <a:gd name="connsiteY0" fmla="*/ 36872 h 36871"/>
                <a:gd name="connsiteX1" fmla="*/ 0 w 55326"/>
                <a:gd name="connsiteY1" fmla="*/ 0 h 368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5326" h="36871">
                  <a:moveTo>
                    <a:pt x="55327" y="36872"/>
                  </a:moveTo>
                  <a:lnTo>
                    <a:pt x="0" y="0"/>
                  </a:lnTo>
                </a:path>
              </a:pathLst>
            </a:custGeom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1" name="Freeform: Shape 31">
              <a:extLst>
                <a:ext uri="{FF2B5EF4-FFF2-40B4-BE49-F238E27FC236}">
                  <a16:creationId xmlns:a16="http://schemas.microsoft.com/office/drawing/2014/main" id="{96085315-37F7-57B0-4468-A929D71C2028}"/>
                </a:ext>
              </a:extLst>
            </p:cNvPr>
            <p:cNvSpPr/>
            <p:nvPr/>
          </p:nvSpPr>
          <p:spPr>
            <a:xfrm>
              <a:off x="2861189" y="2321174"/>
              <a:ext cx="48505" cy="28534"/>
            </a:xfrm>
            <a:custGeom>
              <a:avLst/>
              <a:gdLst>
                <a:gd name="connsiteX0" fmla="*/ 48506 w 48505"/>
                <a:gd name="connsiteY0" fmla="*/ 28535 h 28534"/>
                <a:gd name="connsiteX1" fmla="*/ 0 w 48505"/>
                <a:gd name="connsiteY1" fmla="*/ 0 h 285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8505" h="28534">
                  <a:moveTo>
                    <a:pt x="48506" y="28535"/>
                  </a:moveTo>
                  <a:lnTo>
                    <a:pt x="0" y="0"/>
                  </a:lnTo>
                </a:path>
              </a:pathLst>
            </a:custGeom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2" name="Freeform: Shape 32">
              <a:extLst>
                <a:ext uri="{FF2B5EF4-FFF2-40B4-BE49-F238E27FC236}">
                  <a16:creationId xmlns:a16="http://schemas.microsoft.com/office/drawing/2014/main" id="{7CB0B669-845D-A470-0F3B-0832D6C57155}"/>
                </a:ext>
              </a:extLst>
            </p:cNvPr>
            <p:cNvSpPr/>
            <p:nvPr/>
          </p:nvSpPr>
          <p:spPr>
            <a:xfrm>
              <a:off x="2861189" y="2321174"/>
              <a:ext cx="48505" cy="28534"/>
            </a:xfrm>
            <a:custGeom>
              <a:avLst/>
              <a:gdLst>
                <a:gd name="connsiteX0" fmla="*/ 48506 w 48505"/>
                <a:gd name="connsiteY0" fmla="*/ 28535 h 28534"/>
                <a:gd name="connsiteX1" fmla="*/ 0 w 48505"/>
                <a:gd name="connsiteY1" fmla="*/ 0 h 285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8505" h="28534">
                  <a:moveTo>
                    <a:pt x="48506" y="28535"/>
                  </a:moveTo>
                  <a:lnTo>
                    <a:pt x="0" y="0"/>
                  </a:lnTo>
                </a:path>
              </a:pathLst>
            </a:custGeom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3" name="Freeform: Shape 33">
              <a:extLst>
                <a:ext uri="{FF2B5EF4-FFF2-40B4-BE49-F238E27FC236}">
                  <a16:creationId xmlns:a16="http://schemas.microsoft.com/office/drawing/2014/main" id="{77FD96D1-681D-61B1-7A83-4A651086E001}"/>
                </a:ext>
              </a:extLst>
            </p:cNvPr>
            <p:cNvSpPr/>
            <p:nvPr/>
          </p:nvSpPr>
          <p:spPr>
            <a:xfrm>
              <a:off x="2861189" y="2321174"/>
              <a:ext cx="48505" cy="28534"/>
            </a:xfrm>
            <a:custGeom>
              <a:avLst/>
              <a:gdLst>
                <a:gd name="connsiteX0" fmla="*/ 48506 w 48505"/>
                <a:gd name="connsiteY0" fmla="*/ 28535 h 28534"/>
                <a:gd name="connsiteX1" fmla="*/ 0 w 48505"/>
                <a:gd name="connsiteY1" fmla="*/ 0 h 285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8505" h="28534">
                  <a:moveTo>
                    <a:pt x="48506" y="28535"/>
                  </a:moveTo>
                  <a:lnTo>
                    <a:pt x="0" y="0"/>
                  </a:lnTo>
                </a:path>
              </a:pathLst>
            </a:custGeom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4" name="Freeform: Shape 34">
              <a:extLst>
                <a:ext uri="{FF2B5EF4-FFF2-40B4-BE49-F238E27FC236}">
                  <a16:creationId xmlns:a16="http://schemas.microsoft.com/office/drawing/2014/main" id="{51AE0E4C-D0A3-1825-8D50-4541A3A000EA}"/>
                </a:ext>
              </a:extLst>
            </p:cNvPr>
            <p:cNvSpPr/>
            <p:nvPr/>
          </p:nvSpPr>
          <p:spPr>
            <a:xfrm>
              <a:off x="2799041" y="1939950"/>
              <a:ext cx="221307" cy="442614"/>
            </a:xfrm>
            <a:custGeom>
              <a:avLst/>
              <a:gdLst>
                <a:gd name="connsiteX0" fmla="*/ 0 w 221307"/>
                <a:gd name="connsiteY0" fmla="*/ 104894 h 442614"/>
                <a:gd name="connsiteX1" fmla="*/ 0 w 221307"/>
                <a:gd name="connsiteY1" fmla="*/ 36872 h 442614"/>
                <a:gd name="connsiteX2" fmla="*/ 55327 w 221307"/>
                <a:gd name="connsiteY2" fmla="*/ 0 h 442614"/>
                <a:gd name="connsiteX3" fmla="*/ 165980 w 221307"/>
                <a:gd name="connsiteY3" fmla="*/ 64535 h 442614"/>
                <a:gd name="connsiteX4" fmla="*/ 165980 w 221307"/>
                <a:gd name="connsiteY4" fmla="*/ 137862 h 442614"/>
                <a:gd name="connsiteX5" fmla="*/ 221307 w 221307"/>
                <a:gd name="connsiteY5" fmla="*/ 165980 h 442614"/>
                <a:gd name="connsiteX6" fmla="*/ 221269 w 221307"/>
                <a:gd name="connsiteY6" fmla="*/ 223694 h 442614"/>
                <a:gd name="connsiteX7" fmla="*/ 221307 w 221307"/>
                <a:gd name="connsiteY7" fmla="*/ 276634 h 442614"/>
                <a:gd name="connsiteX8" fmla="*/ 165980 w 221307"/>
                <a:gd name="connsiteY8" fmla="*/ 313506 h 442614"/>
                <a:gd name="connsiteX9" fmla="*/ 165980 w 221307"/>
                <a:gd name="connsiteY9" fmla="*/ 378079 h 442614"/>
                <a:gd name="connsiteX10" fmla="*/ 55327 w 221307"/>
                <a:gd name="connsiteY10" fmla="*/ 442614 h 442614"/>
                <a:gd name="connsiteX11" fmla="*/ 0 w 221307"/>
                <a:gd name="connsiteY11" fmla="*/ 412980 h 442614"/>
                <a:gd name="connsiteX12" fmla="*/ 0 w 221307"/>
                <a:gd name="connsiteY12" fmla="*/ 342912 h 4426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21307" h="442614">
                  <a:moveTo>
                    <a:pt x="0" y="104894"/>
                  </a:moveTo>
                  <a:lnTo>
                    <a:pt x="0" y="36872"/>
                  </a:lnTo>
                  <a:lnTo>
                    <a:pt x="55327" y="0"/>
                  </a:lnTo>
                  <a:lnTo>
                    <a:pt x="165980" y="64535"/>
                  </a:lnTo>
                  <a:lnTo>
                    <a:pt x="165980" y="137862"/>
                  </a:lnTo>
                  <a:lnTo>
                    <a:pt x="221307" y="165980"/>
                  </a:lnTo>
                  <a:lnTo>
                    <a:pt x="221269" y="223694"/>
                  </a:lnTo>
                  <a:lnTo>
                    <a:pt x="221307" y="276634"/>
                  </a:lnTo>
                  <a:lnTo>
                    <a:pt x="165980" y="313506"/>
                  </a:lnTo>
                  <a:lnTo>
                    <a:pt x="165980" y="378079"/>
                  </a:lnTo>
                  <a:lnTo>
                    <a:pt x="55327" y="442614"/>
                  </a:lnTo>
                  <a:lnTo>
                    <a:pt x="0" y="412980"/>
                  </a:lnTo>
                  <a:lnTo>
                    <a:pt x="0" y="342912"/>
                  </a:lnTo>
                </a:path>
              </a:pathLst>
            </a:custGeom>
            <a:noFill/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43" name="TextBox 142">
            <a:extLst>
              <a:ext uri="{FF2B5EF4-FFF2-40B4-BE49-F238E27FC236}">
                <a16:creationId xmlns:a16="http://schemas.microsoft.com/office/drawing/2014/main" id="{C901F7B4-5E70-86DC-D907-652D5CEA6A07}"/>
              </a:ext>
            </a:extLst>
          </p:cNvPr>
          <p:cNvSpPr txBox="1"/>
          <p:nvPr/>
        </p:nvSpPr>
        <p:spPr>
          <a:xfrm>
            <a:off x="7146921" y="4987973"/>
            <a:ext cx="1335310" cy="523220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sz="1400" b="1" dirty="0">
                <a:solidFill>
                  <a:schemeClr val="accent4"/>
                </a:solidFill>
              </a:rPr>
              <a:t>Bedrock </a:t>
            </a:r>
          </a:p>
          <a:p>
            <a:pPr algn="ctr"/>
            <a:r>
              <a:rPr lang="en-US" sz="1400" b="1" dirty="0">
                <a:solidFill>
                  <a:schemeClr val="accent4"/>
                </a:solidFill>
              </a:rPr>
              <a:t>model</a:t>
            </a:r>
          </a:p>
        </p:txBody>
      </p:sp>
      <p:cxnSp>
        <p:nvCxnSpPr>
          <p:cNvPr id="145" name="Straight Arrow Connector 144">
            <a:extLst>
              <a:ext uri="{FF2B5EF4-FFF2-40B4-BE49-F238E27FC236}">
                <a16:creationId xmlns:a16="http://schemas.microsoft.com/office/drawing/2014/main" id="{B0CEB3BE-7B0F-BF3A-8032-482CBF567AF8}"/>
              </a:ext>
            </a:extLst>
          </p:cNvPr>
          <p:cNvCxnSpPr>
            <a:cxnSpLocks/>
          </p:cNvCxnSpPr>
          <p:nvPr/>
        </p:nvCxnSpPr>
        <p:spPr>
          <a:xfrm flipH="1" flipV="1">
            <a:off x="1638401" y="4935456"/>
            <a:ext cx="251216" cy="6917"/>
          </a:xfrm>
          <a:prstGeom prst="straightConnector1">
            <a:avLst/>
          </a:prstGeom>
          <a:ln w="19050" cap="rnd">
            <a:solidFill>
              <a:schemeClr val="tx1"/>
            </a:solidFill>
            <a:round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Rectangle: Rounded Corners 216">
            <a:extLst>
              <a:ext uri="{FF2B5EF4-FFF2-40B4-BE49-F238E27FC236}">
                <a16:creationId xmlns:a16="http://schemas.microsoft.com/office/drawing/2014/main" id="{F1055E1E-8D65-C837-FAA6-F60225B31B84}"/>
              </a:ext>
            </a:extLst>
          </p:cNvPr>
          <p:cNvSpPr/>
          <p:nvPr/>
        </p:nvSpPr>
        <p:spPr>
          <a:xfrm>
            <a:off x="598421" y="4729183"/>
            <a:ext cx="1043147" cy="425711"/>
          </a:xfrm>
          <a:prstGeom prst="roundRect">
            <a:avLst>
              <a:gd name="adj" fmla="val 50000"/>
            </a:avLst>
          </a:prstGeom>
          <a:solidFill>
            <a:schemeClr val="accent2">
              <a:lumMod val="40000"/>
              <a:lumOff val="60000"/>
            </a:schemeClr>
          </a:solidFill>
          <a:ln w="19050" cap="flat">
            <a:noFill/>
            <a:prstDash val="solid"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1200" b="1" spc="50" dirty="0">
                <a:solidFill>
                  <a:srgbClr val="232F3E"/>
                </a:solidFill>
                <a:latin typeface="Amazon Ember Display"/>
              </a:rPr>
              <a:t>Final response</a:t>
            </a:r>
          </a:p>
        </p:txBody>
      </p:sp>
      <p:sp>
        <p:nvSpPr>
          <p:cNvPr id="144" name="Slide Number Placeholder 4">
            <a:extLst>
              <a:ext uri="{FF2B5EF4-FFF2-40B4-BE49-F238E27FC236}">
                <a16:creationId xmlns:a16="http://schemas.microsoft.com/office/drawing/2014/main" id="{15DD097A-6834-4409-ACD4-5D0E6432B913}"/>
              </a:ext>
            </a:extLst>
          </p:cNvPr>
          <p:cNvSpPr txBox="1">
            <a:spLocks/>
          </p:cNvSpPr>
          <p:nvPr/>
        </p:nvSpPr>
        <p:spPr>
          <a:xfrm>
            <a:off x="8929200" y="62895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9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834CDD4-D76F-4459-B025-0310E913C243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mazon Ember Display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107</a:t>
            </a:fld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mazon Ember Display"/>
              <a:ea typeface="+mn-ea"/>
              <a:cs typeface="+mn-cs"/>
            </a:endParaRPr>
          </a:p>
        </p:txBody>
      </p:sp>
      <p:grpSp>
        <p:nvGrpSpPr>
          <p:cNvPr id="244" name="Group 243">
            <a:extLst>
              <a:ext uri="{FF2B5EF4-FFF2-40B4-BE49-F238E27FC236}">
                <a16:creationId xmlns:a16="http://schemas.microsoft.com/office/drawing/2014/main" id="{002A353D-FFC4-4A4B-80D7-F407D0DCDB40}"/>
              </a:ext>
            </a:extLst>
          </p:cNvPr>
          <p:cNvGrpSpPr/>
          <p:nvPr/>
        </p:nvGrpSpPr>
        <p:grpSpPr>
          <a:xfrm>
            <a:off x="2154206" y="2941344"/>
            <a:ext cx="735662" cy="570615"/>
            <a:chOff x="5610344" y="1866942"/>
            <a:chExt cx="735662" cy="570615"/>
          </a:xfrm>
        </p:grpSpPr>
        <p:grpSp>
          <p:nvGrpSpPr>
            <p:cNvPr id="245" name="Graphic 18">
              <a:extLst>
                <a:ext uri="{FF2B5EF4-FFF2-40B4-BE49-F238E27FC236}">
                  <a16:creationId xmlns:a16="http://schemas.microsoft.com/office/drawing/2014/main" id="{C124EA87-334B-4597-9238-FEC84D4F9BE0}"/>
                </a:ext>
              </a:extLst>
            </p:cNvPr>
            <p:cNvGrpSpPr/>
            <p:nvPr/>
          </p:nvGrpSpPr>
          <p:grpSpPr>
            <a:xfrm>
              <a:off x="5672963" y="1866942"/>
              <a:ext cx="496385" cy="570615"/>
              <a:chOff x="6215194" y="1890080"/>
              <a:chExt cx="496385" cy="570615"/>
            </a:xfrm>
            <a:noFill/>
          </p:grpSpPr>
          <p:sp>
            <p:nvSpPr>
              <p:cNvPr id="261" name="Freeform: Shape 260">
                <a:extLst>
                  <a:ext uri="{FF2B5EF4-FFF2-40B4-BE49-F238E27FC236}">
                    <a16:creationId xmlns:a16="http://schemas.microsoft.com/office/drawing/2014/main" id="{0954AEF1-FE5E-4070-A572-7AADB6A1327C}"/>
                  </a:ext>
                </a:extLst>
              </p:cNvPr>
              <p:cNvSpPr/>
              <p:nvPr/>
            </p:nvSpPr>
            <p:spPr>
              <a:xfrm>
                <a:off x="6640252" y="1933207"/>
                <a:ext cx="4146" cy="87499"/>
              </a:xfrm>
              <a:custGeom>
                <a:avLst/>
                <a:gdLst>
                  <a:gd name="connsiteX0" fmla="*/ 0 w 4146"/>
                  <a:gd name="connsiteY0" fmla="*/ 87500 h 87499"/>
                  <a:gd name="connsiteX1" fmla="*/ 0 w 4146"/>
                  <a:gd name="connsiteY1" fmla="*/ 0 h 87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4146" h="87499">
                    <a:moveTo>
                      <a:pt x="0" y="87500"/>
                    </a:moveTo>
                    <a:lnTo>
                      <a:pt x="0" y="0"/>
                    </a:lnTo>
                  </a:path>
                </a:pathLst>
              </a:custGeom>
              <a:ln w="12700" cap="flat">
                <a:solidFill>
                  <a:srgbClr val="FFFFFF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62" name="Freeform: Shape 261">
                <a:extLst>
                  <a:ext uri="{FF2B5EF4-FFF2-40B4-BE49-F238E27FC236}">
                    <a16:creationId xmlns:a16="http://schemas.microsoft.com/office/drawing/2014/main" id="{D84D17BE-8760-44BA-83CF-8C34244C92C9}"/>
                  </a:ext>
                </a:extLst>
              </p:cNvPr>
              <p:cNvSpPr/>
              <p:nvPr/>
            </p:nvSpPr>
            <p:spPr>
              <a:xfrm>
                <a:off x="6577634" y="2381489"/>
                <a:ext cx="63033" cy="37322"/>
              </a:xfrm>
              <a:custGeom>
                <a:avLst/>
                <a:gdLst>
                  <a:gd name="connsiteX0" fmla="*/ 63033 w 63033"/>
                  <a:gd name="connsiteY0" fmla="*/ 37322 h 37322"/>
                  <a:gd name="connsiteX1" fmla="*/ 0 w 63033"/>
                  <a:gd name="connsiteY1" fmla="*/ 0 h 373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3033" h="37322">
                    <a:moveTo>
                      <a:pt x="63033" y="37322"/>
                    </a:moveTo>
                    <a:lnTo>
                      <a:pt x="0" y="0"/>
                    </a:lnTo>
                  </a:path>
                </a:pathLst>
              </a:custGeom>
              <a:ln w="12700" cap="flat">
                <a:solidFill>
                  <a:srgbClr val="FFFFFF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63" name="Freeform: Shape 262">
                <a:extLst>
                  <a:ext uri="{FF2B5EF4-FFF2-40B4-BE49-F238E27FC236}">
                    <a16:creationId xmlns:a16="http://schemas.microsoft.com/office/drawing/2014/main" id="{0F6AAC47-1A47-4B06-A41B-83BE267D0DBE}"/>
                  </a:ext>
                </a:extLst>
              </p:cNvPr>
              <p:cNvSpPr/>
              <p:nvPr/>
            </p:nvSpPr>
            <p:spPr>
              <a:xfrm>
                <a:off x="6497599" y="2360340"/>
                <a:ext cx="213980" cy="100355"/>
              </a:xfrm>
              <a:custGeom>
                <a:avLst/>
                <a:gdLst>
                  <a:gd name="connsiteX0" fmla="*/ 213981 w 213980"/>
                  <a:gd name="connsiteY0" fmla="*/ 0 h 100355"/>
                  <a:gd name="connsiteX1" fmla="*/ 213981 w 213980"/>
                  <a:gd name="connsiteY1" fmla="*/ 17002 h 100355"/>
                  <a:gd name="connsiteX2" fmla="*/ 71327 w 213980"/>
                  <a:gd name="connsiteY2" fmla="*/ 100355 h 100355"/>
                  <a:gd name="connsiteX3" fmla="*/ 0 w 213980"/>
                  <a:gd name="connsiteY3" fmla="*/ 62204 h 1003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3980" h="100355">
                    <a:moveTo>
                      <a:pt x="213981" y="0"/>
                    </a:moveTo>
                    <a:lnTo>
                      <a:pt x="213981" y="17002"/>
                    </a:lnTo>
                    <a:lnTo>
                      <a:pt x="71327" y="100355"/>
                    </a:lnTo>
                    <a:lnTo>
                      <a:pt x="0" y="62204"/>
                    </a:lnTo>
                  </a:path>
                </a:pathLst>
              </a:custGeom>
              <a:noFill/>
              <a:ln w="12700" cap="flat">
                <a:solidFill>
                  <a:srgbClr val="FFFFFF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64" name="Freeform: Shape 263">
                <a:extLst>
                  <a:ext uri="{FF2B5EF4-FFF2-40B4-BE49-F238E27FC236}">
                    <a16:creationId xmlns:a16="http://schemas.microsoft.com/office/drawing/2014/main" id="{968AD4F0-7089-4E34-9FE7-FC1929EF7064}"/>
                  </a:ext>
                </a:extLst>
              </p:cNvPr>
              <p:cNvSpPr/>
              <p:nvPr/>
            </p:nvSpPr>
            <p:spPr>
              <a:xfrm>
                <a:off x="6497599" y="1890080"/>
                <a:ext cx="213980" cy="129383"/>
              </a:xfrm>
              <a:custGeom>
                <a:avLst/>
                <a:gdLst>
                  <a:gd name="connsiteX0" fmla="*/ 0 w 213980"/>
                  <a:gd name="connsiteY0" fmla="*/ 47275 h 129383"/>
                  <a:gd name="connsiteX1" fmla="*/ 71327 w 213980"/>
                  <a:gd name="connsiteY1" fmla="*/ 0 h 129383"/>
                  <a:gd name="connsiteX2" fmla="*/ 213981 w 213980"/>
                  <a:gd name="connsiteY2" fmla="*/ 82938 h 129383"/>
                  <a:gd name="connsiteX3" fmla="*/ 213981 w 213980"/>
                  <a:gd name="connsiteY3" fmla="*/ 129384 h 1293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3980" h="129383">
                    <a:moveTo>
                      <a:pt x="0" y="47275"/>
                    </a:moveTo>
                    <a:lnTo>
                      <a:pt x="71327" y="0"/>
                    </a:lnTo>
                    <a:lnTo>
                      <a:pt x="213981" y="82938"/>
                    </a:lnTo>
                    <a:lnTo>
                      <a:pt x="213981" y="129384"/>
                    </a:lnTo>
                  </a:path>
                </a:pathLst>
              </a:custGeom>
              <a:noFill/>
              <a:ln w="12700" cap="flat">
                <a:solidFill>
                  <a:srgbClr val="FFFFFF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65" name="Freeform: Shape 264">
                <a:extLst>
                  <a:ext uri="{FF2B5EF4-FFF2-40B4-BE49-F238E27FC236}">
                    <a16:creationId xmlns:a16="http://schemas.microsoft.com/office/drawing/2014/main" id="{702D9A96-E60F-42EF-8E6E-F7DA551AE04F}"/>
                  </a:ext>
                </a:extLst>
              </p:cNvPr>
              <p:cNvSpPr/>
              <p:nvPr/>
            </p:nvSpPr>
            <p:spPr>
              <a:xfrm>
                <a:off x="6286521" y="2068397"/>
                <a:ext cx="71326" cy="35663"/>
              </a:xfrm>
              <a:custGeom>
                <a:avLst/>
                <a:gdLst>
                  <a:gd name="connsiteX0" fmla="*/ 71327 w 71326"/>
                  <a:gd name="connsiteY0" fmla="*/ 35663 h 35663"/>
                  <a:gd name="connsiteX1" fmla="*/ 0 w 71326"/>
                  <a:gd name="connsiteY1" fmla="*/ 0 h 356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71326" h="35663">
                    <a:moveTo>
                      <a:pt x="71327" y="35663"/>
                    </a:moveTo>
                    <a:lnTo>
                      <a:pt x="0" y="0"/>
                    </a:lnTo>
                  </a:path>
                </a:pathLst>
              </a:custGeom>
              <a:ln w="12700" cap="flat">
                <a:solidFill>
                  <a:srgbClr val="FFFFFF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66" name="Freeform: Shape 265">
                <a:extLst>
                  <a:ext uri="{FF2B5EF4-FFF2-40B4-BE49-F238E27FC236}">
                    <a16:creationId xmlns:a16="http://schemas.microsoft.com/office/drawing/2014/main" id="{B4B50C66-E201-4B63-AAD5-6C62E21741CA}"/>
                  </a:ext>
                </a:extLst>
              </p:cNvPr>
              <p:cNvSpPr/>
              <p:nvPr/>
            </p:nvSpPr>
            <p:spPr>
              <a:xfrm>
                <a:off x="6357847" y="1933207"/>
                <a:ext cx="4146" cy="87499"/>
              </a:xfrm>
              <a:custGeom>
                <a:avLst/>
                <a:gdLst>
                  <a:gd name="connsiteX0" fmla="*/ 0 w 4146"/>
                  <a:gd name="connsiteY0" fmla="*/ 87500 h 87499"/>
                  <a:gd name="connsiteX1" fmla="*/ 0 w 4146"/>
                  <a:gd name="connsiteY1" fmla="*/ 0 h 87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4146" h="87499">
                    <a:moveTo>
                      <a:pt x="0" y="87500"/>
                    </a:moveTo>
                    <a:lnTo>
                      <a:pt x="0" y="0"/>
                    </a:lnTo>
                  </a:path>
                </a:pathLst>
              </a:custGeom>
              <a:ln w="12700" cap="flat">
                <a:solidFill>
                  <a:srgbClr val="FFFFFF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67" name="Freeform: Shape 266">
                <a:extLst>
                  <a:ext uri="{FF2B5EF4-FFF2-40B4-BE49-F238E27FC236}">
                    <a16:creationId xmlns:a16="http://schemas.microsoft.com/office/drawing/2014/main" id="{D570591F-AAE0-4821-9DC2-AF8A032BE696}"/>
                  </a:ext>
                </a:extLst>
              </p:cNvPr>
              <p:cNvSpPr/>
              <p:nvPr/>
            </p:nvSpPr>
            <p:spPr>
              <a:xfrm>
                <a:off x="6215194" y="2138894"/>
                <a:ext cx="68838" cy="40225"/>
              </a:xfrm>
              <a:custGeom>
                <a:avLst/>
                <a:gdLst>
                  <a:gd name="connsiteX0" fmla="*/ 0 w 68838"/>
                  <a:gd name="connsiteY0" fmla="*/ 40225 h 40225"/>
                  <a:gd name="connsiteX1" fmla="*/ 68839 w 68838"/>
                  <a:gd name="connsiteY1" fmla="*/ 0 h 402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8838" h="40225">
                    <a:moveTo>
                      <a:pt x="0" y="40225"/>
                    </a:moveTo>
                    <a:lnTo>
                      <a:pt x="68839" y="0"/>
                    </a:lnTo>
                  </a:path>
                </a:pathLst>
              </a:custGeom>
              <a:ln w="12700" cap="flat">
                <a:solidFill>
                  <a:srgbClr val="FFFFFF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68" name="Freeform: Shape 267">
                <a:extLst>
                  <a:ext uri="{FF2B5EF4-FFF2-40B4-BE49-F238E27FC236}">
                    <a16:creationId xmlns:a16="http://schemas.microsoft.com/office/drawing/2014/main" id="{5CFFA334-9968-4752-A7B5-293268F72341}"/>
                  </a:ext>
                </a:extLst>
              </p:cNvPr>
              <p:cNvSpPr/>
              <p:nvPr/>
            </p:nvSpPr>
            <p:spPr>
              <a:xfrm>
                <a:off x="6356189" y="2381489"/>
                <a:ext cx="64277" cy="38151"/>
              </a:xfrm>
              <a:custGeom>
                <a:avLst/>
                <a:gdLst>
                  <a:gd name="connsiteX0" fmla="*/ 0 w 64277"/>
                  <a:gd name="connsiteY0" fmla="*/ 38152 h 38151"/>
                  <a:gd name="connsiteX1" fmla="*/ 64277 w 64277"/>
                  <a:gd name="connsiteY1" fmla="*/ 0 h 381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4277" h="38151">
                    <a:moveTo>
                      <a:pt x="0" y="38152"/>
                    </a:moveTo>
                    <a:lnTo>
                      <a:pt x="64277" y="0"/>
                    </a:lnTo>
                  </a:path>
                </a:pathLst>
              </a:custGeom>
              <a:ln w="12700" cap="flat">
                <a:solidFill>
                  <a:srgbClr val="FFFFFF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69" name="Freeform: Shape 268">
                <a:extLst>
                  <a:ext uri="{FF2B5EF4-FFF2-40B4-BE49-F238E27FC236}">
                    <a16:creationId xmlns:a16="http://schemas.microsoft.com/office/drawing/2014/main" id="{1F8BFA8D-E7B3-45DE-95A3-A8860AB7C68C}"/>
                  </a:ext>
                </a:extLst>
              </p:cNvPr>
              <p:cNvSpPr/>
              <p:nvPr/>
            </p:nvSpPr>
            <p:spPr>
              <a:xfrm>
                <a:off x="6318866" y="2396418"/>
                <a:ext cx="181634" cy="64277"/>
              </a:xfrm>
              <a:custGeom>
                <a:avLst/>
                <a:gdLst>
                  <a:gd name="connsiteX0" fmla="*/ 0 w 181634"/>
                  <a:gd name="connsiteY0" fmla="*/ 0 h 64277"/>
                  <a:gd name="connsiteX1" fmla="*/ 110308 w 181634"/>
                  <a:gd name="connsiteY1" fmla="*/ 64277 h 64277"/>
                  <a:gd name="connsiteX2" fmla="*/ 181635 w 181634"/>
                  <a:gd name="connsiteY2" fmla="*/ 26126 h 642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81634" h="64277">
                    <a:moveTo>
                      <a:pt x="0" y="0"/>
                    </a:moveTo>
                    <a:lnTo>
                      <a:pt x="110308" y="64277"/>
                    </a:lnTo>
                    <a:lnTo>
                      <a:pt x="181635" y="26126"/>
                    </a:lnTo>
                  </a:path>
                </a:pathLst>
              </a:custGeom>
              <a:noFill/>
              <a:ln w="12700" cap="flat">
                <a:solidFill>
                  <a:srgbClr val="FFFFFF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70" name="Freeform: Shape 269">
                <a:extLst>
                  <a:ext uri="{FF2B5EF4-FFF2-40B4-BE49-F238E27FC236}">
                    <a16:creationId xmlns:a16="http://schemas.microsoft.com/office/drawing/2014/main" id="{89C10AD8-A210-433F-AD1F-E5760AC8BD38}"/>
                  </a:ext>
                </a:extLst>
              </p:cNvPr>
              <p:cNvSpPr/>
              <p:nvPr/>
            </p:nvSpPr>
            <p:spPr>
              <a:xfrm>
                <a:off x="6215194" y="1890080"/>
                <a:ext cx="285307" cy="320971"/>
              </a:xfrm>
              <a:custGeom>
                <a:avLst/>
                <a:gdLst>
                  <a:gd name="connsiteX0" fmla="*/ 285308 w 285307"/>
                  <a:gd name="connsiteY0" fmla="*/ 47275 h 320971"/>
                  <a:gd name="connsiteX1" fmla="*/ 213981 w 285307"/>
                  <a:gd name="connsiteY1" fmla="*/ 0 h 320971"/>
                  <a:gd name="connsiteX2" fmla="*/ 71327 w 285307"/>
                  <a:gd name="connsiteY2" fmla="*/ 82938 h 320971"/>
                  <a:gd name="connsiteX3" fmla="*/ 71327 w 285307"/>
                  <a:gd name="connsiteY3" fmla="*/ 177488 h 320971"/>
                  <a:gd name="connsiteX4" fmla="*/ 0 w 285307"/>
                  <a:gd name="connsiteY4" fmla="*/ 213981 h 320971"/>
                  <a:gd name="connsiteX5" fmla="*/ 0 w 285307"/>
                  <a:gd name="connsiteY5" fmla="*/ 288211 h 320971"/>
                  <a:gd name="connsiteX6" fmla="*/ 0 w 285307"/>
                  <a:gd name="connsiteY6" fmla="*/ 320971 h 3209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85307" h="320971">
                    <a:moveTo>
                      <a:pt x="285308" y="47275"/>
                    </a:moveTo>
                    <a:lnTo>
                      <a:pt x="213981" y="0"/>
                    </a:lnTo>
                    <a:lnTo>
                      <a:pt x="71327" y="82938"/>
                    </a:lnTo>
                    <a:lnTo>
                      <a:pt x="71327" y="177488"/>
                    </a:lnTo>
                    <a:lnTo>
                      <a:pt x="0" y="213981"/>
                    </a:lnTo>
                    <a:lnTo>
                      <a:pt x="0" y="288211"/>
                    </a:lnTo>
                    <a:lnTo>
                      <a:pt x="0" y="320971"/>
                    </a:lnTo>
                  </a:path>
                </a:pathLst>
              </a:custGeom>
              <a:noFill/>
              <a:ln w="12700" cap="flat">
                <a:solidFill>
                  <a:srgbClr val="FFFFFF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</p:grpSp>
        <p:grpSp>
          <p:nvGrpSpPr>
            <p:cNvPr id="246" name="Graphic 18">
              <a:extLst>
                <a:ext uri="{FF2B5EF4-FFF2-40B4-BE49-F238E27FC236}">
                  <a16:creationId xmlns:a16="http://schemas.microsoft.com/office/drawing/2014/main" id="{8263B272-E98A-4727-BD2F-66E961D2245E}"/>
                </a:ext>
              </a:extLst>
            </p:cNvPr>
            <p:cNvGrpSpPr/>
            <p:nvPr/>
          </p:nvGrpSpPr>
          <p:grpSpPr>
            <a:xfrm>
              <a:off x="5872840" y="2023728"/>
              <a:ext cx="252965" cy="298130"/>
              <a:chOff x="6415071" y="2046866"/>
              <a:chExt cx="252965" cy="298130"/>
            </a:xfrm>
            <a:noFill/>
          </p:grpSpPr>
          <p:sp>
            <p:nvSpPr>
              <p:cNvPr id="256" name="Freeform: Shape 255">
                <a:extLst>
                  <a:ext uri="{FF2B5EF4-FFF2-40B4-BE49-F238E27FC236}">
                    <a16:creationId xmlns:a16="http://schemas.microsoft.com/office/drawing/2014/main" id="{9991514F-0800-4E10-98B8-698865229B4C}"/>
                  </a:ext>
                </a:extLst>
              </p:cNvPr>
              <p:cNvSpPr/>
              <p:nvPr/>
            </p:nvSpPr>
            <p:spPr>
              <a:xfrm>
                <a:off x="6480181" y="2195707"/>
                <a:ext cx="187855" cy="4146"/>
              </a:xfrm>
              <a:custGeom>
                <a:avLst/>
                <a:gdLst>
                  <a:gd name="connsiteX0" fmla="*/ 0 w 187855"/>
                  <a:gd name="connsiteY0" fmla="*/ 0 h 4146"/>
                  <a:gd name="connsiteX1" fmla="*/ 187855 w 187855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87855" h="4146">
                    <a:moveTo>
                      <a:pt x="0" y="0"/>
                    </a:moveTo>
                    <a:lnTo>
                      <a:pt x="187855" y="0"/>
                    </a:lnTo>
                  </a:path>
                </a:pathLst>
              </a:custGeom>
              <a:ln w="12700" cap="flat">
                <a:solidFill>
                  <a:srgbClr val="01A98D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57" name="Freeform: Shape 256">
                <a:extLst>
                  <a:ext uri="{FF2B5EF4-FFF2-40B4-BE49-F238E27FC236}">
                    <a16:creationId xmlns:a16="http://schemas.microsoft.com/office/drawing/2014/main" id="{F073DA4C-8F20-43EC-AF33-0AD2D7429A12}"/>
                  </a:ext>
                </a:extLst>
              </p:cNvPr>
              <p:cNvSpPr/>
              <p:nvPr/>
            </p:nvSpPr>
            <p:spPr>
              <a:xfrm>
                <a:off x="6480181" y="2073373"/>
                <a:ext cx="93720" cy="245082"/>
              </a:xfrm>
              <a:custGeom>
                <a:avLst/>
                <a:gdLst>
                  <a:gd name="connsiteX0" fmla="*/ 0 w 93720"/>
                  <a:gd name="connsiteY0" fmla="*/ 0 h 245082"/>
                  <a:gd name="connsiteX1" fmla="*/ 93720 w 93720"/>
                  <a:gd name="connsiteY1" fmla="*/ 0 h 245082"/>
                  <a:gd name="connsiteX2" fmla="*/ 93720 w 93720"/>
                  <a:gd name="connsiteY2" fmla="*/ 245083 h 245082"/>
                  <a:gd name="connsiteX3" fmla="*/ 0 w 93720"/>
                  <a:gd name="connsiteY3" fmla="*/ 245083 h 2450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3720" h="245082">
                    <a:moveTo>
                      <a:pt x="0" y="0"/>
                    </a:moveTo>
                    <a:lnTo>
                      <a:pt x="93720" y="0"/>
                    </a:lnTo>
                    <a:lnTo>
                      <a:pt x="93720" y="245083"/>
                    </a:lnTo>
                    <a:lnTo>
                      <a:pt x="0" y="245083"/>
                    </a:lnTo>
                  </a:path>
                </a:pathLst>
              </a:custGeom>
              <a:noFill/>
              <a:ln w="12700" cap="flat">
                <a:solidFill>
                  <a:srgbClr val="01A98D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58" name="Freeform: Shape 257">
                <a:extLst>
                  <a:ext uri="{FF2B5EF4-FFF2-40B4-BE49-F238E27FC236}">
                    <a16:creationId xmlns:a16="http://schemas.microsoft.com/office/drawing/2014/main" id="{BBC996E2-4620-463B-8DF2-E8C8A04347D6}"/>
                  </a:ext>
                </a:extLst>
              </p:cNvPr>
              <p:cNvSpPr/>
              <p:nvPr/>
            </p:nvSpPr>
            <p:spPr>
              <a:xfrm rot="5400000">
                <a:off x="6415071" y="2046866"/>
                <a:ext cx="53080" cy="53080"/>
              </a:xfrm>
              <a:custGeom>
                <a:avLst/>
                <a:gdLst>
                  <a:gd name="connsiteX0" fmla="*/ 0 w 53080"/>
                  <a:gd name="connsiteY0" fmla="*/ 0 h 53080"/>
                  <a:gd name="connsiteX1" fmla="*/ 53080 w 53080"/>
                  <a:gd name="connsiteY1" fmla="*/ 0 h 53080"/>
                  <a:gd name="connsiteX2" fmla="*/ 53080 w 53080"/>
                  <a:gd name="connsiteY2" fmla="*/ 53081 h 53080"/>
                  <a:gd name="connsiteX3" fmla="*/ 0 w 53080"/>
                  <a:gd name="connsiteY3" fmla="*/ 53081 h 530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3080" h="53080">
                    <a:moveTo>
                      <a:pt x="0" y="0"/>
                    </a:moveTo>
                    <a:lnTo>
                      <a:pt x="53080" y="0"/>
                    </a:lnTo>
                    <a:lnTo>
                      <a:pt x="53080" y="53081"/>
                    </a:lnTo>
                    <a:lnTo>
                      <a:pt x="0" y="53081"/>
                    </a:lnTo>
                    <a:close/>
                  </a:path>
                </a:pathLst>
              </a:custGeom>
              <a:noFill/>
              <a:ln w="12700" cap="flat">
                <a:solidFill>
                  <a:srgbClr val="01A98D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59" name="Freeform: Shape 258">
                <a:extLst>
                  <a:ext uri="{FF2B5EF4-FFF2-40B4-BE49-F238E27FC236}">
                    <a16:creationId xmlns:a16="http://schemas.microsoft.com/office/drawing/2014/main" id="{1A991019-ED9D-45FF-8AB2-AD0510DBBAE1}"/>
                  </a:ext>
                </a:extLst>
              </p:cNvPr>
              <p:cNvSpPr/>
              <p:nvPr/>
            </p:nvSpPr>
            <p:spPr>
              <a:xfrm>
                <a:off x="6415490" y="2161702"/>
                <a:ext cx="52665" cy="68424"/>
              </a:xfrm>
              <a:custGeom>
                <a:avLst/>
                <a:gdLst>
                  <a:gd name="connsiteX0" fmla="*/ 0 w 52665"/>
                  <a:gd name="connsiteY0" fmla="*/ 68424 h 68424"/>
                  <a:gd name="connsiteX1" fmla="*/ 0 w 52665"/>
                  <a:gd name="connsiteY1" fmla="*/ 0 h 68424"/>
                  <a:gd name="connsiteX2" fmla="*/ 52666 w 52665"/>
                  <a:gd name="connsiteY2" fmla="*/ 34005 h 684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52665" h="68424">
                    <a:moveTo>
                      <a:pt x="0" y="68424"/>
                    </a:moveTo>
                    <a:lnTo>
                      <a:pt x="0" y="0"/>
                    </a:lnTo>
                    <a:lnTo>
                      <a:pt x="52666" y="34005"/>
                    </a:lnTo>
                    <a:close/>
                  </a:path>
                </a:pathLst>
              </a:custGeom>
              <a:noFill/>
              <a:ln w="12700" cap="flat">
                <a:solidFill>
                  <a:srgbClr val="01A98D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60" name="Freeform: Shape 259">
                <a:extLst>
                  <a:ext uri="{FF2B5EF4-FFF2-40B4-BE49-F238E27FC236}">
                    <a16:creationId xmlns:a16="http://schemas.microsoft.com/office/drawing/2014/main" id="{D9183949-822E-4FFD-9B59-47014F389CA1}"/>
                  </a:ext>
                </a:extLst>
              </p:cNvPr>
              <p:cNvSpPr/>
              <p:nvPr/>
            </p:nvSpPr>
            <p:spPr>
              <a:xfrm>
                <a:off x="6415490" y="2292330"/>
                <a:ext cx="52665" cy="52665"/>
              </a:xfrm>
              <a:custGeom>
                <a:avLst/>
                <a:gdLst>
                  <a:gd name="connsiteX0" fmla="*/ 0 w 52665"/>
                  <a:gd name="connsiteY0" fmla="*/ 30272 h 52665"/>
                  <a:gd name="connsiteX1" fmla="*/ 0 w 52665"/>
                  <a:gd name="connsiteY1" fmla="*/ 22393 h 52665"/>
                  <a:gd name="connsiteX2" fmla="*/ 22393 w 52665"/>
                  <a:gd name="connsiteY2" fmla="*/ 0 h 52665"/>
                  <a:gd name="connsiteX3" fmla="*/ 30272 w 52665"/>
                  <a:gd name="connsiteY3" fmla="*/ 0 h 52665"/>
                  <a:gd name="connsiteX4" fmla="*/ 52666 w 52665"/>
                  <a:gd name="connsiteY4" fmla="*/ 22393 h 52665"/>
                  <a:gd name="connsiteX5" fmla="*/ 52666 w 52665"/>
                  <a:gd name="connsiteY5" fmla="*/ 30272 h 52665"/>
                  <a:gd name="connsiteX6" fmla="*/ 30272 w 52665"/>
                  <a:gd name="connsiteY6" fmla="*/ 52666 h 52665"/>
                  <a:gd name="connsiteX7" fmla="*/ 22393 w 52665"/>
                  <a:gd name="connsiteY7" fmla="*/ 52666 h 52665"/>
                  <a:gd name="connsiteX8" fmla="*/ 0 w 52665"/>
                  <a:gd name="connsiteY8" fmla="*/ 30272 h 526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2665" h="52665">
                    <a:moveTo>
                      <a:pt x="0" y="30272"/>
                    </a:moveTo>
                    <a:lnTo>
                      <a:pt x="0" y="22393"/>
                    </a:lnTo>
                    <a:cubicBezTo>
                      <a:pt x="0" y="9953"/>
                      <a:pt x="9953" y="0"/>
                      <a:pt x="22393" y="0"/>
                    </a:cubicBezTo>
                    <a:lnTo>
                      <a:pt x="30272" y="0"/>
                    </a:lnTo>
                    <a:cubicBezTo>
                      <a:pt x="42713" y="0"/>
                      <a:pt x="52666" y="9953"/>
                      <a:pt x="52666" y="22393"/>
                    </a:cubicBezTo>
                    <a:lnTo>
                      <a:pt x="52666" y="30272"/>
                    </a:lnTo>
                    <a:cubicBezTo>
                      <a:pt x="52666" y="42713"/>
                      <a:pt x="42713" y="52666"/>
                      <a:pt x="30272" y="52666"/>
                    </a:cubicBezTo>
                    <a:lnTo>
                      <a:pt x="22393" y="52666"/>
                    </a:lnTo>
                    <a:cubicBezTo>
                      <a:pt x="9953" y="52666"/>
                      <a:pt x="0" y="42713"/>
                      <a:pt x="0" y="30272"/>
                    </a:cubicBezTo>
                    <a:close/>
                  </a:path>
                </a:pathLst>
              </a:custGeom>
              <a:noFill/>
              <a:ln w="12700" cap="flat">
                <a:solidFill>
                  <a:srgbClr val="01A98D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</p:grpSp>
        <p:grpSp>
          <p:nvGrpSpPr>
            <p:cNvPr id="247" name="Graphic 18">
              <a:extLst>
                <a:ext uri="{FF2B5EF4-FFF2-40B4-BE49-F238E27FC236}">
                  <a16:creationId xmlns:a16="http://schemas.microsoft.com/office/drawing/2014/main" id="{B24CE620-44ED-4598-A574-859AD560074A}"/>
                </a:ext>
              </a:extLst>
            </p:cNvPr>
            <p:cNvGrpSpPr/>
            <p:nvPr/>
          </p:nvGrpSpPr>
          <p:grpSpPr>
            <a:xfrm>
              <a:off x="6154419" y="2027842"/>
              <a:ext cx="191587" cy="274940"/>
              <a:chOff x="6696650" y="2050980"/>
              <a:chExt cx="191587" cy="274940"/>
            </a:xfrm>
            <a:noFill/>
          </p:grpSpPr>
          <p:sp>
            <p:nvSpPr>
              <p:cNvPr id="249" name="Freeform: Shape 248">
                <a:extLst>
                  <a:ext uri="{FF2B5EF4-FFF2-40B4-BE49-F238E27FC236}">
                    <a16:creationId xmlns:a16="http://schemas.microsoft.com/office/drawing/2014/main" id="{7E6FC001-8265-4651-A26F-5888F8F3F1C6}"/>
                  </a:ext>
                </a:extLst>
              </p:cNvPr>
              <p:cNvSpPr/>
              <p:nvPr/>
            </p:nvSpPr>
            <p:spPr>
              <a:xfrm>
                <a:off x="6696650" y="2050980"/>
                <a:ext cx="191587" cy="274940"/>
              </a:xfrm>
              <a:custGeom>
                <a:avLst/>
                <a:gdLst>
                  <a:gd name="connsiteX0" fmla="*/ 0 w 191587"/>
                  <a:gd name="connsiteY0" fmla="*/ 266232 h 274940"/>
                  <a:gd name="connsiteX1" fmla="*/ 0 w 191587"/>
                  <a:gd name="connsiteY1" fmla="*/ 8709 h 274940"/>
                  <a:gd name="connsiteX2" fmla="*/ 8709 w 191587"/>
                  <a:gd name="connsiteY2" fmla="*/ 0 h 274940"/>
                  <a:gd name="connsiteX3" fmla="*/ 127725 w 191587"/>
                  <a:gd name="connsiteY3" fmla="*/ 0 h 274940"/>
                  <a:gd name="connsiteX4" fmla="*/ 191587 w 191587"/>
                  <a:gd name="connsiteY4" fmla="*/ 63862 h 274940"/>
                  <a:gd name="connsiteX5" fmla="*/ 191587 w 191587"/>
                  <a:gd name="connsiteY5" fmla="*/ 266232 h 274940"/>
                  <a:gd name="connsiteX6" fmla="*/ 182879 w 191587"/>
                  <a:gd name="connsiteY6" fmla="*/ 274940 h 274940"/>
                  <a:gd name="connsiteX7" fmla="*/ 8709 w 191587"/>
                  <a:gd name="connsiteY7" fmla="*/ 274940 h 274940"/>
                  <a:gd name="connsiteX8" fmla="*/ 0 w 191587"/>
                  <a:gd name="connsiteY8" fmla="*/ 266232 h 27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91587" h="274940">
                    <a:moveTo>
                      <a:pt x="0" y="266232"/>
                    </a:moveTo>
                    <a:lnTo>
                      <a:pt x="0" y="8709"/>
                    </a:lnTo>
                    <a:cubicBezTo>
                      <a:pt x="0" y="3732"/>
                      <a:pt x="3732" y="0"/>
                      <a:pt x="8709" y="0"/>
                    </a:cubicBezTo>
                    <a:lnTo>
                      <a:pt x="127725" y="0"/>
                    </a:lnTo>
                    <a:lnTo>
                      <a:pt x="191587" y="63862"/>
                    </a:lnTo>
                    <a:lnTo>
                      <a:pt x="191587" y="266232"/>
                    </a:lnTo>
                    <a:cubicBezTo>
                      <a:pt x="191587" y="271208"/>
                      <a:pt x="187855" y="274940"/>
                      <a:pt x="182879" y="274940"/>
                    </a:cubicBezTo>
                    <a:lnTo>
                      <a:pt x="8709" y="274940"/>
                    </a:lnTo>
                    <a:cubicBezTo>
                      <a:pt x="3732" y="274940"/>
                      <a:pt x="0" y="271208"/>
                      <a:pt x="0" y="266232"/>
                    </a:cubicBezTo>
                    <a:close/>
                  </a:path>
                </a:pathLst>
              </a:custGeom>
              <a:noFill/>
              <a:ln w="12700" cap="flat">
                <a:solidFill>
                  <a:srgbClr val="FFFFFF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50" name="Freeform: Shape 249">
                <a:extLst>
                  <a:ext uri="{FF2B5EF4-FFF2-40B4-BE49-F238E27FC236}">
                    <a16:creationId xmlns:a16="http://schemas.microsoft.com/office/drawing/2014/main" id="{120B9D56-A078-4324-A13E-B05C9477CC03}"/>
                  </a:ext>
                </a:extLst>
              </p:cNvPr>
              <p:cNvSpPr/>
              <p:nvPr/>
            </p:nvSpPr>
            <p:spPr>
              <a:xfrm>
                <a:off x="6823961" y="2050980"/>
                <a:ext cx="64277" cy="63862"/>
              </a:xfrm>
              <a:custGeom>
                <a:avLst/>
                <a:gdLst>
                  <a:gd name="connsiteX0" fmla="*/ 0 w 64277"/>
                  <a:gd name="connsiteY0" fmla="*/ 63862 h 63862"/>
                  <a:gd name="connsiteX1" fmla="*/ 64277 w 64277"/>
                  <a:gd name="connsiteY1" fmla="*/ 63862 h 63862"/>
                  <a:gd name="connsiteX2" fmla="*/ 0 w 64277"/>
                  <a:gd name="connsiteY2" fmla="*/ 0 h 638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64277" h="63862">
                    <a:moveTo>
                      <a:pt x="0" y="63862"/>
                    </a:moveTo>
                    <a:lnTo>
                      <a:pt x="64277" y="63862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12700" cap="flat">
                <a:solidFill>
                  <a:srgbClr val="FFFFFF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51" name="Freeform: Shape 250">
                <a:extLst>
                  <a:ext uri="{FF2B5EF4-FFF2-40B4-BE49-F238E27FC236}">
                    <a16:creationId xmlns:a16="http://schemas.microsoft.com/office/drawing/2014/main" id="{5A5AABE8-C38E-46DC-AFEF-FA241566BFB1}"/>
                  </a:ext>
                </a:extLst>
              </p:cNvPr>
              <p:cNvSpPr/>
              <p:nvPr/>
            </p:nvSpPr>
            <p:spPr>
              <a:xfrm>
                <a:off x="6724849" y="2166679"/>
                <a:ext cx="135189" cy="4146"/>
              </a:xfrm>
              <a:custGeom>
                <a:avLst/>
                <a:gdLst>
                  <a:gd name="connsiteX0" fmla="*/ 0 w 135189"/>
                  <a:gd name="connsiteY0" fmla="*/ 0 h 4146"/>
                  <a:gd name="connsiteX1" fmla="*/ 135189 w 135189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35189" h="4146">
                    <a:moveTo>
                      <a:pt x="0" y="0"/>
                    </a:moveTo>
                    <a:lnTo>
                      <a:pt x="135189" y="0"/>
                    </a:lnTo>
                  </a:path>
                </a:pathLst>
              </a:custGeom>
              <a:ln w="12700" cap="flat">
                <a:solidFill>
                  <a:srgbClr val="FFFFFF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52" name="Freeform: Shape 251">
                <a:extLst>
                  <a:ext uri="{FF2B5EF4-FFF2-40B4-BE49-F238E27FC236}">
                    <a16:creationId xmlns:a16="http://schemas.microsoft.com/office/drawing/2014/main" id="{FACC28A0-B813-44E3-BA78-D484CA819AE9}"/>
                  </a:ext>
                </a:extLst>
              </p:cNvPr>
              <p:cNvSpPr/>
              <p:nvPr/>
            </p:nvSpPr>
            <p:spPr>
              <a:xfrm>
                <a:off x="6724849" y="2204001"/>
                <a:ext cx="135189" cy="4146"/>
              </a:xfrm>
              <a:custGeom>
                <a:avLst/>
                <a:gdLst>
                  <a:gd name="connsiteX0" fmla="*/ 0 w 135189"/>
                  <a:gd name="connsiteY0" fmla="*/ 0 h 4146"/>
                  <a:gd name="connsiteX1" fmla="*/ 135189 w 135189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35189" h="4146">
                    <a:moveTo>
                      <a:pt x="0" y="0"/>
                    </a:moveTo>
                    <a:lnTo>
                      <a:pt x="135189" y="0"/>
                    </a:lnTo>
                  </a:path>
                </a:pathLst>
              </a:custGeom>
              <a:ln w="12700" cap="flat">
                <a:solidFill>
                  <a:srgbClr val="FFFFFF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53" name="Freeform: Shape 252">
                <a:extLst>
                  <a:ext uri="{FF2B5EF4-FFF2-40B4-BE49-F238E27FC236}">
                    <a16:creationId xmlns:a16="http://schemas.microsoft.com/office/drawing/2014/main" id="{0C0DD5BC-3428-41F6-A110-9E926E57BA80}"/>
                  </a:ext>
                </a:extLst>
              </p:cNvPr>
              <p:cNvSpPr/>
              <p:nvPr/>
            </p:nvSpPr>
            <p:spPr>
              <a:xfrm>
                <a:off x="6724849" y="2241323"/>
                <a:ext cx="135189" cy="4146"/>
              </a:xfrm>
              <a:custGeom>
                <a:avLst/>
                <a:gdLst>
                  <a:gd name="connsiteX0" fmla="*/ 0 w 135189"/>
                  <a:gd name="connsiteY0" fmla="*/ 0 h 4146"/>
                  <a:gd name="connsiteX1" fmla="*/ 135189 w 135189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35189" h="4146">
                    <a:moveTo>
                      <a:pt x="0" y="0"/>
                    </a:moveTo>
                    <a:lnTo>
                      <a:pt x="135189" y="0"/>
                    </a:lnTo>
                  </a:path>
                </a:pathLst>
              </a:custGeom>
              <a:ln w="12700" cap="flat">
                <a:solidFill>
                  <a:srgbClr val="FFFFFF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54" name="Freeform: Shape 253">
                <a:extLst>
                  <a:ext uri="{FF2B5EF4-FFF2-40B4-BE49-F238E27FC236}">
                    <a16:creationId xmlns:a16="http://schemas.microsoft.com/office/drawing/2014/main" id="{B3209CFC-FAF7-49B7-9A0A-0B847C41EFE9}"/>
                  </a:ext>
                </a:extLst>
              </p:cNvPr>
              <p:cNvSpPr/>
              <p:nvPr/>
            </p:nvSpPr>
            <p:spPr>
              <a:xfrm>
                <a:off x="6724849" y="2279060"/>
                <a:ext cx="135189" cy="4146"/>
              </a:xfrm>
              <a:custGeom>
                <a:avLst/>
                <a:gdLst>
                  <a:gd name="connsiteX0" fmla="*/ 0 w 135189"/>
                  <a:gd name="connsiteY0" fmla="*/ 0 h 4146"/>
                  <a:gd name="connsiteX1" fmla="*/ 135189 w 135189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35189" h="4146">
                    <a:moveTo>
                      <a:pt x="0" y="0"/>
                    </a:moveTo>
                    <a:lnTo>
                      <a:pt x="135189" y="0"/>
                    </a:lnTo>
                  </a:path>
                </a:pathLst>
              </a:custGeom>
              <a:ln w="12700" cap="flat">
                <a:solidFill>
                  <a:srgbClr val="FFFFFF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55" name="Freeform: Shape 254">
                <a:extLst>
                  <a:ext uri="{FF2B5EF4-FFF2-40B4-BE49-F238E27FC236}">
                    <a16:creationId xmlns:a16="http://schemas.microsoft.com/office/drawing/2014/main" id="{16543630-BB6F-47EA-9936-3ADD2083A68F}"/>
                  </a:ext>
                </a:extLst>
              </p:cNvPr>
              <p:cNvSpPr/>
              <p:nvPr/>
            </p:nvSpPr>
            <p:spPr>
              <a:xfrm>
                <a:off x="6724849" y="2128942"/>
                <a:ext cx="76303" cy="4146"/>
              </a:xfrm>
              <a:custGeom>
                <a:avLst/>
                <a:gdLst>
                  <a:gd name="connsiteX0" fmla="*/ 0 w 76303"/>
                  <a:gd name="connsiteY0" fmla="*/ 0 h 4146"/>
                  <a:gd name="connsiteX1" fmla="*/ 76303 w 76303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76303" h="4146">
                    <a:moveTo>
                      <a:pt x="0" y="0"/>
                    </a:moveTo>
                    <a:lnTo>
                      <a:pt x="76303" y="0"/>
                    </a:lnTo>
                  </a:path>
                </a:pathLst>
              </a:custGeom>
              <a:ln w="12700" cap="flat">
                <a:solidFill>
                  <a:srgbClr val="FFFFFF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</p:grpSp>
        <p:sp>
          <p:nvSpPr>
            <p:cNvPr id="248" name="Freeform: Shape 247">
              <a:extLst>
                <a:ext uri="{FF2B5EF4-FFF2-40B4-BE49-F238E27FC236}">
                  <a16:creationId xmlns:a16="http://schemas.microsoft.com/office/drawing/2014/main" id="{46D29CA2-845D-4A68-B319-D2357435595F}"/>
                </a:ext>
              </a:extLst>
            </p:cNvPr>
            <p:cNvSpPr/>
            <p:nvPr/>
          </p:nvSpPr>
          <p:spPr>
            <a:xfrm>
              <a:off x="5610344" y="2221088"/>
              <a:ext cx="179561" cy="161314"/>
            </a:xfrm>
            <a:custGeom>
              <a:avLst/>
              <a:gdLst>
                <a:gd name="connsiteX0" fmla="*/ 95794 w 179561"/>
                <a:gd name="connsiteY0" fmla="*/ 99111 h 161314"/>
                <a:gd name="connsiteX1" fmla="*/ 29028 w 179561"/>
                <a:gd name="connsiteY1" fmla="*/ 154680 h 161314"/>
                <a:gd name="connsiteX2" fmla="*/ 0 w 179561"/>
                <a:gd name="connsiteY2" fmla="*/ 119846 h 161314"/>
                <a:gd name="connsiteX3" fmla="*/ 66765 w 179561"/>
                <a:gd name="connsiteY3" fmla="*/ 64277 h 161314"/>
                <a:gd name="connsiteX4" fmla="*/ 8294 w 179561"/>
                <a:gd name="connsiteY4" fmla="*/ 38981 h 161314"/>
                <a:gd name="connsiteX5" fmla="*/ 179561 w 179561"/>
                <a:gd name="connsiteY5" fmla="*/ 0 h 161314"/>
                <a:gd name="connsiteX6" fmla="*/ 109893 w 179561"/>
                <a:gd name="connsiteY6" fmla="*/ 161315 h 161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9561" h="161314">
                  <a:moveTo>
                    <a:pt x="95794" y="99111"/>
                  </a:moveTo>
                  <a:lnTo>
                    <a:pt x="29028" y="154680"/>
                  </a:lnTo>
                  <a:lnTo>
                    <a:pt x="0" y="119846"/>
                  </a:lnTo>
                  <a:lnTo>
                    <a:pt x="66765" y="64277"/>
                  </a:lnTo>
                  <a:lnTo>
                    <a:pt x="8294" y="38981"/>
                  </a:lnTo>
                  <a:lnTo>
                    <a:pt x="179561" y="0"/>
                  </a:lnTo>
                  <a:lnTo>
                    <a:pt x="109893" y="161315"/>
                  </a:lnTo>
                  <a:close/>
                </a:path>
              </a:pathLst>
            </a:custGeom>
            <a:noFill/>
            <a:ln w="12700" cap="flat">
              <a:solidFill>
                <a:srgbClr val="01A98D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mazon Ember"/>
              </a:endParaRPr>
            </a:p>
          </p:txBody>
        </p:sp>
      </p:grp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942EDEA3-665C-0FC6-0AD4-DA77812D884B}"/>
              </a:ext>
            </a:extLst>
          </p:cNvPr>
          <p:cNvCxnSpPr>
            <a:cxnSpLocks/>
          </p:cNvCxnSpPr>
          <p:nvPr/>
        </p:nvCxnSpPr>
        <p:spPr>
          <a:xfrm>
            <a:off x="3425153" y="1884684"/>
            <a:ext cx="1169596" cy="0"/>
          </a:xfrm>
          <a:prstGeom prst="line">
            <a:avLst/>
          </a:prstGeom>
          <a:ln w="19050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B75B259D-CB56-D67B-2A8B-E8A6973A8D24}"/>
              </a:ext>
            </a:extLst>
          </p:cNvPr>
          <p:cNvCxnSpPr>
            <a:cxnSpLocks/>
          </p:cNvCxnSpPr>
          <p:nvPr/>
        </p:nvCxnSpPr>
        <p:spPr>
          <a:xfrm>
            <a:off x="3425153" y="2425908"/>
            <a:ext cx="1169596" cy="0"/>
          </a:xfrm>
          <a:prstGeom prst="line">
            <a:avLst/>
          </a:prstGeom>
          <a:ln w="19050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60213FBA-904F-B7DE-3ABD-608E53DFDB08}"/>
              </a:ext>
            </a:extLst>
          </p:cNvPr>
          <p:cNvCxnSpPr>
            <a:cxnSpLocks/>
          </p:cNvCxnSpPr>
          <p:nvPr/>
        </p:nvCxnSpPr>
        <p:spPr>
          <a:xfrm>
            <a:off x="3425153" y="2817346"/>
            <a:ext cx="1169596" cy="0"/>
          </a:xfrm>
          <a:prstGeom prst="line">
            <a:avLst/>
          </a:prstGeom>
          <a:ln w="19050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6A7E4E21-56FA-20C8-D617-DDC65EA9AA2A}"/>
              </a:ext>
            </a:extLst>
          </p:cNvPr>
          <p:cNvCxnSpPr>
            <a:cxnSpLocks/>
          </p:cNvCxnSpPr>
          <p:nvPr/>
        </p:nvCxnSpPr>
        <p:spPr>
          <a:xfrm>
            <a:off x="3425153" y="3186253"/>
            <a:ext cx="1169596" cy="0"/>
          </a:xfrm>
          <a:prstGeom prst="line">
            <a:avLst/>
          </a:prstGeom>
          <a:ln w="19050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ZoneTexte 24">
            <a:extLst>
              <a:ext uri="{FF2B5EF4-FFF2-40B4-BE49-F238E27FC236}">
                <a16:creationId xmlns:a16="http://schemas.microsoft.com/office/drawing/2014/main" id="{41601D49-281F-06C3-E436-C0C59DF2B9A8}"/>
              </a:ext>
            </a:extLst>
          </p:cNvPr>
          <p:cNvSpPr txBox="1"/>
          <p:nvPr/>
        </p:nvSpPr>
        <p:spPr>
          <a:xfrm>
            <a:off x="7324745" y="2085715"/>
            <a:ext cx="834258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dirty="0">
                <a:solidFill>
                  <a:schemeClr val="bg1"/>
                </a:solidFill>
              </a:rPr>
              <a:t>Step 1</a:t>
            </a:r>
          </a:p>
          <a:p>
            <a:pPr algn="ctr"/>
            <a:endParaRPr lang="en-US" sz="1800" dirty="0">
              <a:solidFill>
                <a:schemeClr val="bg1"/>
              </a:solidFill>
            </a:endParaRPr>
          </a:p>
          <a:p>
            <a:pPr algn="ctr"/>
            <a:r>
              <a:rPr lang="en-US" sz="1800" dirty="0">
                <a:solidFill>
                  <a:schemeClr val="bg1"/>
                </a:solidFill>
              </a:rPr>
              <a:t>Step 2</a:t>
            </a:r>
          </a:p>
          <a:p>
            <a:pPr algn="ctr"/>
            <a:endParaRPr lang="en-US" sz="1800" dirty="0">
              <a:solidFill>
                <a:schemeClr val="bg1"/>
              </a:solidFill>
            </a:endParaRPr>
          </a:p>
          <a:p>
            <a:pPr algn="ctr"/>
            <a:r>
              <a:rPr lang="en-US" sz="1800" dirty="0">
                <a:solidFill>
                  <a:schemeClr val="bg1"/>
                </a:solidFill>
              </a:rPr>
              <a:t>…</a:t>
            </a:r>
          </a:p>
          <a:p>
            <a:pPr algn="ctr"/>
            <a:endParaRPr lang="en-US" sz="1800" dirty="0">
              <a:solidFill>
                <a:schemeClr val="bg1"/>
              </a:solidFill>
            </a:endParaRPr>
          </a:p>
          <a:p>
            <a:pPr algn="ctr"/>
            <a:r>
              <a:rPr lang="en-US" sz="1800" dirty="0">
                <a:solidFill>
                  <a:schemeClr val="bg1"/>
                </a:solidFill>
              </a:rPr>
              <a:t>Step n</a:t>
            </a:r>
          </a:p>
        </p:txBody>
      </p:sp>
      <p:sp>
        <p:nvSpPr>
          <p:cNvPr id="21" name="Slide Number Placeholder 20">
            <a:extLst>
              <a:ext uri="{FF2B5EF4-FFF2-40B4-BE49-F238E27FC236}">
                <a16:creationId xmlns:a16="http://schemas.microsoft.com/office/drawing/2014/main" id="{CE1C29B7-478F-309C-85EA-EED5B3279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9499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9" grpId="0"/>
      <p:bldP spid="136" grpId="0"/>
      <p:bldP spid="150" grpId="0" animBg="1"/>
      <p:bldP spid="153" grpId="0"/>
      <p:bldP spid="195" grpId="0" animBg="1"/>
      <p:bldP spid="205" grpId="0" animBg="1"/>
      <p:bldP spid="208" grpId="0" animBg="1"/>
      <p:bldP spid="214" grpId="0" animBg="1"/>
      <p:bldP spid="18" grpId="0" animBg="1"/>
      <p:bldP spid="35" grpId="0" animBg="1"/>
      <p:bldP spid="44" grpId="0" animBg="1"/>
      <p:bldP spid="3" grpId="0" animBg="1"/>
      <p:bldP spid="118" grpId="0"/>
      <p:bldP spid="143" grpId="0"/>
      <p:bldP spid="147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B6EAE-3420-649B-BEBD-6102A34B5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7F4EE-8694-85DE-9E23-19D54AF3FF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1104" y="1110725"/>
            <a:ext cx="11582400" cy="1135117"/>
          </a:xfrm>
        </p:spPr>
        <p:txBody>
          <a:bodyPr/>
          <a:lstStyle/>
          <a:p>
            <a:r>
              <a:rPr lang="en-US" i="1" dirty="0">
                <a:solidFill>
                  <a:schemeClr val="accent2">
                    <a:lumMod val="75000"/>
                  </a:schemeClr>
                </a:solidFill>
              </a:rPr>
              <a:t>leads to challenges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009C3D5C-488C-4171-B37C-E04D3ACB219E}"/>
              </a:ext>
            </a:extLst>
          </p:cNvPr>
          <p:cNvSpPr txBox="1"/>
          <p:nvPr/>
        </p:nvSpPr>
        <p:spPr>
          <a:xfrm>
            <a:off x="1015405" y="2474893"/>
            <a:ext cx="2270588" cy="954107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sz="2800" dirty="0">
                <a:solidFill>
                  <a:schemeClr val="accent4"/>
                </a:solidFill>
              </a:rPr>
              <a:t>Coding gets complicated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921664C0-2E24-C32F-5926-A465560820A1}"/>
              </a:ext>
            </a:extLst>
          </p:cNvPr>
          <p:cNvSpPr txBox="1"/>
          <p:nvPr/>
        </p:nvSpPr>
        <p:spPr>
          <a:xfrm>
            <a:off x="601312" y="4518838"/>
            <a:ext cx="3285664" cy="923330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marL="407988" lvl="1" indent="-179388">
              <a:buFont typeface="Arial" panose="020B0604020202020204" pitchFamily="34" charset="0"/>
              <a:buChar char="•"/>
            </a:pPr>
            <a:r>
              <a:rPr lang="en-US" dirty="0"/>
              <a:t>Complex prompts to limit hallucinations</a:t>
            </a:r>
          </a:p>
          <a:p>
            <a:pPr marL="407988" lvl="1" indent="-179388">
              <a:buFont typeface="Arial" panose="020B0604020202020204" pitchFamily="34" charset="0"/>
              <a:buChar char="•"/>
            </a:pPr>
            <a:r>
              <a:rPr lang="en-US" dirty="0"/>
              <a:t>Fragile, hard to maintain</a:t>
            </a:r>
          </a:p>
        </p:txBody>
      </p:sp>
      <p:pic>
        <p:nvPicPr>
          <p:cNvPr id="12" name="Picture 6">
            <a:extLst>
              <a:ext uri="{FF2B5EF4-FFF2-40B4-BE49-F238E27FC236}">
                <a16:creationId xmlns:a16="http://schemas.microsoft.com/office/drawing/2014/main" id="{608D2CAE-4572-596B-F8F1-07D6F9C66C9D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64981" y="3180734"/>
            <a:ext cx="1325964" cy="1325964"/>
          </a:xfrm>
          <a:prstGeom prst="rect">
            <a:avLst/>
          </a:prstGeom>
        </p:spPr>
      </p:pic>
      <p:sp>
        <p:nvSpPr>
          <p:cNvPr id="13" name="TextBox 7">
            <a:extLst>
              <a:ext uri="{FF2B5EF4-FFF2-40B4-BE49-F238E27FC236}">
                <a16:creationId xmlns:a16="http://schemas.microsoft.com/office/drawing/2014/main" id="{49EB90D7-B26F-F4C6-2748-1162052CB42C}"/>
              </a:ext>
            </a:extLst>
          </p:cNvPr>
          <p:cNvSpPr txBox="1"/>
          <p:nvPr/>
        </p:nvSpPr>
        <p:spPr>
          <a:xfrm>
            <a:off x="4692669" y="2474893"/>
            <a:ext cx="2270588" cy="954107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sz="2800" dirty="0">
                <a:solidFill>
                  <a:schemeClr val="accent4"/>
                </a:solidFill>
              </a:rPr>
              <a:t>Agent gets confused</a:t>
            </a:r>
          </a:p>
        </p:txBody>
      </p:sp>
      <p:sp>
        <p:nvSpPr>
          <p:cNvPr id="14" name="TextBox 8">
            <a:extLst>
              <a:ext uri="{FF2B5EF4-FFF2-40B4-BE49-F238E27FC236}">
                <a16:creationId xmlns:a16="http://schemas.microsoft.com/office/drawing/2014/main" id="{2830D699-7F7C-6F7F-1849-1628CDC02E9F}"/>
              </a:ext>
            </a:extLst>
          </p:cNvPr>
          <p:cNvSpPr txBox="1"/>
          <p:nvPr/>
        </p:nvSpPr>
        <p:spPr>
          <a:xfrm>
            <a:off x="4353323" y="4518837"/>
            <a:ext cx="3173026" cy="923330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marL="407988" lvl="1" indent="-179388">
              <a:buFont typeface="Arial" panose="020B0604020202020204" pitchFamily="34" charset="0"/>
              <a:buChar char="•"/>
            </a:pPr>
            <a:r>
              <a:rPr lang="en-US" dirty="0"/>
              <a:t>Calling wrong tools</a:t>
            </a:r>
          </a:p>
          <a:p>
            <a:pPr marL="407988" lvl="1" indent="-179388">
              <a:buFont typeface="Arial" panose="020B0604020202020204" pitchFamily="34" charset="0"/>
              <a:buChar char="•"/>
            </a:pPr>
            <a:r>
              <a:rPr lang="en-US" dirty="0"/>
              <a:t>Passing wrong arguments</a:t>
            </a:r>
          </a:p>
          <a:p>
            <a:pPr marL="407988" lvl="1" indent="-179388">
              <a:buFont typeface="Arial" panose="020B0604020202020204" pitchFamily="34" charset="0"/>
              <a:buChar char="•"/>
            </a:pPr>
            <a:r>
              <a:rPr lang="en-US" dirty="0"/>
              <a:t>Inconsistent responses</a:t>
            </a:r>
          </a:p>
        </p:txBody>
      </p:sp>
      <p:sp>
        <p:nvSpPr>
          <p:cNvPr id="20" name="TextBox 10">
            <a:extLst>
              <a:ext uri="{FF2B5EF4-FFF2-40B4-BE49-F238E27FC236}">
                <a16:creationId xmlns:a16="http://schemas.microsoft.com/office/drawing/2014/main" id="{F0B027F1-2C85-1D62-3568-A22F97339B37}"/>
              </a:ext>
            </a:extLst>
          </p:cNvPr>
          <p:cNvSpPr txBox="1"/>
          <p:nvPr/>
        </p:nvSpPr>
        <p:spPr>
          <a:xfrm>
            <a:off x="7890581" y="2474893"/>
            <a:ext cx="3279787" cy="954107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algn="ctr"/>
            <a:r>
              <a:rPr lang="en-US" sz="2800" dirty="0">
                <a:solidFill>
                  <a:schemeClr val="accent4"/>
                </a:solidFill>
              </a:rPr>
              <a:t>Agent gets slower and more expensive</a:t>
            </a:r>
          </a:p>
        </p:txBody>
      </p:sp>
      <p:sp>
        <p:nvSpPr>
          <p:cNvPr id="21" name="TextBox 11">
            <a:extLst>
              <a:ext uri="{FF2B5EF4-FFF2-40B4-BE49-F238E27FC236}">
                <a16:creationId xmlns:a16="http://schemas.microsoft.com/office/drawing/2014/main" id="{9D19671F-01F1-95F8-9B01-EC3DBE29D1F8}"/>
              </a:ext>
            </a:extLst>
          </p:cNvPr>
          <p:cNvSpPr txBox="1"/>
          <p:nvPr/>
        </p:nvSpPr>
        <p:spPr>
          <a:xfrm>
            <a:off x="8127790" y="4518838"/>
            <a:ext cx="3042578" cy="923330"/>
          </a:xfrm>
          <a:prstGeom prst="rect">
            <a:avLst/>
          </a:prstGeom>
          <a:noFill/>
        </p:spPr>
        <p:txBody>
          <a:bodyPr wrap="square" lIns="0" rIns="0" rtlCol="0">
            <a:spAutoFit/>
          </a:bodyPr>
          <a:lstStyle/>
          <a:p>
            <a:pPr marL="407988" lvl="1" indent="-179388">
              <a:buFont typeface="Arial" panose="020B0604020202020204" pitchFamily="34" charset="0"/>
              <a:buChar char="•"/>
            </a:pPr>
            <a:r>
              <a:rPr lang="en-US" dirty="0"/>
              <a:t>Frontier models needed</a:t>
            </a:r>
          </a:p>
          <a:p>
            <a:pPr marL="407988" lvl="1" indent="-179388">
              <a:buFont typeface="Arial" panose="020B0604020202020204" pitchFamily="34" charset="0"/>
              <a:buChar char="•"/>
            </a:pPr>
            <a:r>
              <a:rPr lang="en-US" dirty="0"/>
              <a:t>Prompt sizes grow</a:t>
            </a:r>
          </a:p>
          <a:p>
            <a:pPr marL="407988" lvl="1" indent="-179388">
              <a:buFont typeface="Arial" panose="020B0604020202020204" pitchFamily="34" charset="0"/>
              <a:buChar char="•"/>
            </a:pPr>
            <a:r>
              <a:rPr lang="en-US" dirty="0"/>
              <a:t>Agents retry steps</a:t>
            </a:r>
          </a:p>
        </p:txBody>
      </p:sp>
      <p:pic>
        <p:nvPicPr>
          <p:cNvPr id="22" name="Picture 14">
            <a:extLst>
              <a:ext uri="{FF2B5EF4-FFF2-40B4-BE49-F238E27FC236}">
                <a16:creationId xmlns:a16="http://schemas.microsoft.com/office/drawing/2014/main" id="{907FC65E-61A9-C67F-056B-C7ABEB602E7A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487717" y="3180733"/>
            <a:ext cx="1325964" cy="1325964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5B53CB0E-CC09-3147-8441-FE5F1E2F7751}"/>
              </a:ext>
            </a:extLst>
          </p:cNvPr>
          <p:cNvSpPr txBox="1">
            <a:spLocks/>
          </p:cNvSpPr>
          <p:nvPr/>
        </p:nvSpPr>
        <p:spPr>
          <a:xfrm>
            <a:off x="451104" y="372402"/>
            <a:ext cx="11558016" cy="11415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Single Agent with many tools/actions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8EC0BF-07F8-0045-22AC-212AA0BEB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108</a:t>
            </a:fld>
            <a:endParaRPr lang="en-US"/>
          </a:p>
        </p:txBody>
      </p:sp>
      <p:pic>
        <p:nvPicPr>
          <p:cNvPr id="8" name="Graphic 7" descr="Dollar with solid fill">
            <a:extLst>
              <a:ext uri="{FF2B5EF4-FFF2-40B4-BE49-F238E27FC236}">
                <a16:creationId xmlns:a16="http://schemas.microsoft.com/office/drawing/2014/main" id="{2F13290F-60C6-53A8-D4B6-4ABFEF8B678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088120" y="3472875"/>
            <a:ext cx="828040" cy="828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3611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13" grpId="0"/>
      <p:bldP spid="14" grpId="0"/>
      <p:bldP spid="20" grpId="0"/>
      <p:bldP spid="21" grpId="0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8D1E7-EE84-C41D-3616-F16CA7B0D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61DCA8E-A603-4E7F-7DC3-009423AC7DAF}"/>
              </a:ext>
            </a:extLst>
          </p:cNvPr>
          <p:cNvSpPr txBox="1">
            <a:spLocks/>
          </p:cNvSpPr>
          <p:nvPr/>
        </p:nvSpPr>
        <p:spPr>
          <a:xfrm>
            <a:off x="603504" y="524802"/>
            <a:ext cx="11558016" cy="11415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Multi-Agent Workflow -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Orchestrator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+mn-lt"/>
            </a:endParaRPr>
          </a:p>
        </p:txBody>
      </p:sp>
      <p:grpSp>
        <p:nvGrpSpPr>
          <p:cNvPr id="7" name="Group 2">
            <a:extLst>
              <a:ext uri="{FF2B5EF4-FFF2-40B4-BE49-F238E27FC236}">
                <a16:creationId xmlns:a16="http://schemas.microsoft.com/office/drawing/2014/main" id="{9B47EAD5-CECC-D6EE-B6F8-30BF1255C7EC}"/>
              </a:ext>
            </a:extLst>
          </p:cNvPr>
          <p:cNvGrpSpPr/>
          <p:nvPr/>
        </p:nvGrpSpPr>
        <p:grpSpPr>
          <a:xfrm>
            <a:off x="4986483" y="3256660"/>
            <a:ext cx="1109517" cy="955888"/>
            <a:chOff x="5610344" y="1866942"/>
            <a:chExt cx="735662" cy="570615"/>
          </a:xfrm>
        </p:grpSpPr>
        <p:grpSp>
          <p:nvGrpSpPr>
            <p:cNvPr id="12" name="Graphic 18">
              <a:extLst>
                <a:ext uri="{FF2B5EF4-FFF2-40B4-BE49-F238E27FC236}">
                  <a16:creationId xmlns:a16="http://schemas.microsoft.com/office/drawing/2014/main" id="{5A426DEA-4647-668F-F33E-F93DE1972693}"/>
                </a:ext>
              </a:extLst>
            </p:cNvPr>
            <p:cNvGrpSpPr/>
            <p:nvPr/>
          </p:nvGrpSpPr>
          <p:grpSpPr>
            <a:xfrm>
              <a:off x="5672963" y="1866942"/>
              <a:ext cx="496385" cy="570615"/>
              <a:chOff x="6215194" y="1890080"/>
              <a:chExt cx="496385" cy="570615"/>
            </a:xfrm>
            <a:noFill/>
          </p:grpSpPr>
          <p:sp>
            <p:nvSpPr>
              <p:cNvPr id="178" name="Freeform: Shape 260">
                <a:extLst>
                  <a:ext uri="{FF2B5EF4-FFF2-40B4-BE49-F238E27FC236}">
                    <a16:creationId xmlns:a16="http://schemas.microsoft.com/office/drawing/2014/main" id="{393988FE-08B3-4B6A-3981-E6AA1D34A01D}"/>
                  </a:ext>
                </a:extLst>
              </p:cNvPr>
              <p:cNvSpPr/>
              <p:nvPr/>
            </p:nvSpPr>
            <p:spPr>
              <a:xfrm>
                <a:off x="6640252" y="1933207"/>
                <a:ext cx="4146" cy="87499"/>
              </a:xfrm>
              <a:custGeom>
                <a:avLst/>
                <a:gdLst>
                  <a:gd name="connsiteX0" fmla="*/ 0 w 4146"/>
                  <a:gd name="connsiteY0" fmla="*/ 87500 h 87499"/>
                  <a:gd name="connsiteX1" fmla="*/ 0 w 4146"/>
                  <a:gd name="connsiteY1" fmla="*/ 0 h 87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4146" h="87499">
                    <a:moveTo>
                      <a:pt x="0" y="87500"/>
                    </a:moveTo>
                    <a:lnTo>
                      <a:pt x="0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179" name="Freeform: Shape 261">
                <a:extLst>
                  <a:ext uri="{FF2B5EF4-FFF2-40B4-BE49-F238E27FC236}">
                    <a16:creationId xmlns:a16="http://schemas.microsoft.com/office/drawing/2014/main" id="{A56C0156-AF12-27EC-A6DB-59B53AD6FC88}"/>
                  </a:ext>
                </a:extLst>
              </p:cNvPr>
              <p:cNvSpPr/>
              <p:nvPr/>
            </p:nvSpPr>
            <p:spPr>
              <a:xfrm>
                <a:off x="6577634" y="2381489"/>
                <a:ext cx="63033" cy="37322"/>
              </a:xfrm>
              <a:custGeom>
                <a:avLst/>
                <a:gdLst>
                  <a:gd name="connsiteX0" fmla="*/ 63033 w 63033"/>
                  <a:gd name="connsiteY0" fmla="*/ 37322 h 37322"/>
                  <a:gd name="connsiteX1" fmla="*/ 0 w 63033"/>
                  <a:gd name="connsiteY1" fmla="*/ 0 h 373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3033" h="37322">
                    <a:moveTo>
                      <a:pt x="63033" y="37322"/>
                    </a:moveTo>
                    <a:lnTo>
                      <a:pt x="0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180" name="Freeform: Shape 262">
                <a:extLst>
                  <a:ext uri="{FF2B5EF4-FFF2-40B4-BE49-F238E27FC236}">
                    <a16:creationId xmlns:a16="http://schemas.microsoft.com/office/drawing/2014/main" id="{37893E31-9AFD-1B7A-9A89-22E1CD2E55B6}"/>
                  </a:ext>
                </a:extLst>
              </p:cNvPr>
              <p:cNvSpPr/>
              <p:nvPr/>
            </p:nvSpPr>
            <p:spPr>
              <a:xfrm>
                <a:off x="6497599" y="2360340"/>
                <a:ext cx="213980" cy="100355"/>
              </a:xfrm>
              <a:custGeom>
                <a:avLst/>
                <a:gdLst>
                  <a:gd name="connsiteX0" fmla="*/ 213981 w 213980"/>
                  <a:gd name="connsiteY0" fmla="*/ 0 h 100355"/>
                  <a:gd name="connsiteX1" fmla="*/ 213981 w 213980"/>
                  <a:gd name="connsiteY1" fmla="*/ 17002 h 100355"/>
                  <a:gd name="connsiteX2" fmla="*/ 71327 w 213980"/>
                  <a:gd name="connsiteY2" fmla="*/ 100355 h 100355"/>
                  <a:gd name="connsiteX3" fmla="*/ 0 w 213980"/>
                  <a:gd name="connsiteY3" fmla="*/ 62204 h 1003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3980" h="100355">
                    <a:moveTo>
                      <a:pt x="213981" y="0"/>
                    </a:moveTo>
                    <a:lnTo>
                      <a:pt x="213981" y="17002"/>
                    </a:lnTo>
                    <a:lnTo>
                      <a:pt x="71327" y="100355"/>
                    </a:lnTo>
                    <a:lnTo>
                      <a:pt x="0" y="62204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181" name="Freeform: Shape 263">
                <a:extLst>
                  <a:ext uri="{FF2B5EF4-FFF2-40B4-BE49-F238E27FC236}">
                    <a16:creationId xmlns:a16="http://schemas.microsoft.com/office/drawing/2014/main" id="{FB9BCA9D-689D-756B-0DF7-AC3DDEC6D24D}"/>
                  </a:ext>
                </a:extLst>
              </p:cNvPr>
              <p:cNvSpPr/>
              <p:nvPr/>
            </p:nvSpPr>
            <p:spPr>
              <a:xfrm>
                <a:off x="6497599" y="1890080"/>
                <a:ext cx="213980" cy="129383"/>
              </a:xfrm>
              <a:custGeom>
                <a:avLst/>
                <a:gdLst>
                  <a:gd name="connsiteX0" fmla="*/ 0 w 213980"/>
                  <a:gd name="connsiteY0" fmla="*/ 47275 h 129383"/>
                  <a:gd name="connsiteX1" fmla="*/ 71327 w 213980"/>
                  <a:gd name="connsiteY1" fmla="*/ 0 h 129383"/>
                  <a:gd name="connsiteX2" fmla="*/ 213981 w 213980"/>
                  <a:gd name="connsiteY2" fmla="*/ 82938 h 129383"/>
                  <a:gd name="connsiteX3" fmla="*/ 213981 w 213980"/>
                  <a:gd name="connsiteY3" fmla="*/ 129384 h 1293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3980" h="129383">
                    <a:moveTo>
                      <a:pt x="0" y="47275"/>
                    </a:moveTo>
                    <a:lnTo>
                      <a:pt x="71327" y="0"/>
                    </a:lnTo>
                    <a:lnTo>
                      <a:pt x="213981" y="82938"/>
                    </a:lnTo>
                    <a:lnTo>
                      <a:pt x="213981" y="129384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182" name="Freeform: Shape 264">
                <a:extLst>
                  <a:ext uri="{FF2B5EF4-FFF2-40B4-BE49-F238E27FC236}">
                    <a16:creationId xmlns:a16="http://schemas.microsoft.com/office/drawing/2014/main" id="{DDBC52FD-9C08-8BE7-3E28-2B7ED2A5E6DD}"/>
                  </a:ext>
                </a:extLst>
              </p:cNvPr>
              <p:cNvSpPr/>
              <p:nvPr/>
            </p:nvSpPr>
            <p:spPr>
              <a:xfrm>
                <a:off x="6286521" y="2068397"/>
                <a:ext cx="71326" cy="35663"/>
              </a:xfrm>
              <a:custGeom>
                <a:avLst/>
                <a:gdLst>
                  <a:gd name="connsiteX0" fmla="*/ 71327 w 71326"/>
                  <a:gd name="connsiteY0" fmla="*/ 35663 h 35663"/>
                  <a:gd name="connsiteX1" fmla="*/ 0 w 71326"/>
                  <a:gd name="connsiteY1" fmla="*/ 0 h 356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71326" h="35663">
                    <a:moveTo>
                      <a:pt x="71327" y="35663"/>
                    </a:moveTo>
                    <a:lnTo>
                      <a:pt x="0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183" name="Freeform: Shape 265">
                <a:extLst>
                  <a:ext uri="{FF2B5EF4-FFF2-40B4-BE49-F238E27FC236}">
                    <a16:creationId xmlns:a16="http://schemas.microsoft.com/office/drawing/2014/main" id="{B35ADCFE-942C-DC95-EAAC-02DD5DD1ABBC}"/>
                  </a:ext>
                </a:extLst>
              </p:cNvPr>
              <p:cNvSpPr/>
              <p:nvPr/>
            </p:nvSpPr>
            <p:spPr>
              <a:xfrm>
                <a:off x="6357847" y="1933207"/>
                <a:ext cx="4146" cy="87499"/>
              </a:xfrm>
              <a:custGeom>
                <a:avLst/>
                <a:gdLst>
                  <a:gd name="connsiteX0" fmla="*/ 0 w 4146"/>
                  <a:gd name="connsiteY0" fmla="*/ 87500 h 87499"/>
                  <a:gd name="connsiteX1" fmla="*/ 0 w 4146"/>
                  <a:gd name="connsiteY1" fmla="*/ 0 h 87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4146" h="87499">
                    <a:moveTo>
                      <a:pt x="0" y="87500"/>
                    </a:moveTo>
                    <a:lnTo>
                      <a:pt x="0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184" name="Freeform: Shape 266">
                <a:extLst>
                  <a:ext uri="{FF2B5EF4-FFF2-40B4-BE49-F238E27FC236}">
                    <a16:creationId xmlns:a16="http://schemas.microsoft.com/office/drawing/2014/main" id="{968B4FE0-A8E7-1098-A46F-4EE8643D0B00}"/>
                  </a:ext>
                </a:extLst>
              </p:cNvPr>
              <p:cNvSpPr/>
              <p:nvPr/>
            </p:nvSpPr>
            <p:spPr>
              <a:xfrm>
                <a:off x="6215194" y="2138894"/>
                <a:ext cx="68838" cy="40225"/>
              </a:xfrm>
              <a:custGeom>
                <a:avLst/>
                <a:gdLst>
                  <a:gd name="connsiteX0" fmla="*/ 0 w 68838"/>
                  <a:gd name="connsiteY0" fmla="*/ 40225 h 40225"/>
                  <a:gd name="connsiteX1" fmla="*/ 68839 w 68838"/>
                  <a:gd name="connsiteY1" fmla="*/ 0 h 402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8838" h="40225">
                    <a:moveTo>
                      <a:pt x="0" y="40225"/>
                    </a:moveTo>
                    <a:lnTo>
                      <a:pt x="68839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185" name="Freeform: Shape 267">
                <a:extLst>
                  <a:ext uri="{FF2B5EF4-FFF2-40B4-BE49-F238E27FC236}">
                    <a16:creationId xmlns:a16="http://schemas.microsoft.com/office/drawing/2014/main" id="{1172860A-9B58-F962-12BA-46776D05A0FF}"/>
                  </a:ext>
                </a:extLst>
              </p:cNvPr>
              <p:cNvSpPr/>
              <p:nvPr/>
            </p:nvSpPr>
            <p:spPr>
              <a:xfrm>
                <a:off x="6356189" y="2381489"/>
                <a:ext cx="64277" cy="38151"/>
              </a:xfrm>
              <a:custGeom>
                <a:avLst/>
                <a:gdLst>
                  <a:gd name="connsiteX0" fmla="*/ 0 w 64277"/>
                  <a:gd name="connsiteY0" fmla="*/ 38152 h 38151"/>
                  <a:gd name="connsiteX1" fmla="*/ 64277 w 64277"/>
                  <a:gd name="connsiteY1" fmla="*/ 0 h 381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4277" h="38151">
                    <a:moveTo>
                      <a:pt x="0" y="38152"/>
                    </a:moveTo>
                    <a:lnTo>
                      <a:pt x="64277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186" name="Freeform: Shape 268">
                <a:extLst>
                  <a:ext uri="{FF2B5EF4-FFF2-40B4-BE49-F238E27FC236}">
                    <a16:creationId xmlns:a16="http://schemas.microsoft.com/office/drawing/2014/main" id="{06539E0B-6CBB-50B1-90A8-EADAA5174BEF}"/>
                  </a:ext>
                </a:extLst>
              </p:cNvPr>
              <p:cNvSpPr/>
              <p:nvPr/>
            </p:nvSpPr>
            <p:spPr>
              <a:xfrm>
                <a:off x="6318866" y="2396418"/>
                <a:ext cx="181634" cy="64277"/>
              </a:xfrm>
              <a:custGeom>
                <a:avLst/>
                <a:gdLst>
                  <a:gd name="connsiteX0" fmla="*/ 0 w 181634"/>
                  <a:gd name="connsiteY0" fmla="*/ 0 h 64277"/>
                  <a:gd name="connsiteX1" fmla="*/ 110308 w 181634"/>
                  <a:gd name="connsiteY1" fmla="*/ 64277 h 64277"/>
                  <a:gd name="connsiteX2" fmla="*/ 181635 w 181634"/>
                  <a:gd name="connsiteY2" fmla="*/ 26126 h 642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81634" h="64277">
                    <a:moveTo>
                      <a:pt x="0" y="0"/>
                    </a:moveTo>
                    <a:lnTo>
                      <a:pt x="110308" y="64277"/>
                    </a:lnTo>
                    <a:lnTo>
                      <a:pt x="181635" y="26126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187" name="Freeform: Shape 269">
                <a:extLst>
                  <a:ext uri="{FF2B5EF4-FFF2-40B4-BE49-F238E27FC236}">
                    <a16:creationId xmlns:a16="http://schemas.microsoft.com/office/drawing/2014/main" id="{1CEF24C1-A9F5-1E57-2CDA-CCA3F5F6D30C}"/>
                  </a:ext>
                </a:extLst>
              </p:cNvPr>
              <p:cNvSpPr/>
              <p:nvPr/>
            </p:nvSpPr>
            <p:spPr>
              <a:xfrm>
                <a:off x="6215194" y="1890080"/>
                <a:ext cx="285307" cy="320971"/>
              </a:xfrm>
              <a:custGeom>
                <a:avLst/>
                <a:gdLst>
                  <a:gd name="connsiteX0" fmla="*/ 285308 w 285307"/>
                  <a:gd name="connsiteY0" fmla="*/ 47275 h 320971"/>
                  <a:gd name="connsiteX1" fmla="*/ 213981 w 285307"/>
                  <a:gd name="connsiteY1" fmla="*/ 0 h 320971"/>
                  <a:gd name="connsiteX2" fmla="*/ 71327 w 285307"/>
                  <a:gd name="connsiteY2" fmla="*/ 82938 h 320971"/>
                  <a:gd name="connsiteX3" fmla="*/ 71327 w 285307"/>
                  <a:gd name="connsiteY3" fmla="*/ 177488 h 320971"/>
                  <a:gd name="connsiteX4" fmla="*/ 0 w 285307"/>
                  <a:gd name="connsiteY4" fmla="*/ 213981 h 320971"/>
                  <a:gd name="connsiteX5" fmla="*/ 0 w 285307"/>
                  <a:gd name="connsiteY5" fmla="*/ 288211 h 320971"/>
                  <a:gd name="connsiteX6" fmla="*/ 0 w 285307"/>
                  <a:gd name="connsiteY6" fmla="*/ 320971 h 3209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85307" h="320971">
                    <a:moveTo>
                      <a:pt x="285308" y="47275"/>
                    </a:moveTo>
                    <a:lnTo>
                      <a:pt x="213981" y="0"/>
                    </a:lnTo>
                    <a:lnTo>
                      <a:pt x="71327" y="82938"/>
                    </a:lnTo>
                    <a:lnTo>
                      <a:pt x="71327" y="177488"/>
                    </a:lnTo>
                    <a:lnTo>
                      <a:pt x="0" y="213981"/>
                    </a:lnTo>
                    <a:lnTo>
                      <a:pt x="0" y="288211"/>
                    </a:lnTo>
                    <a:lnTo>
                      <a:pt x="0" y="320971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</p:grpSp>
        <p:grpSp>
          <p:nvGrpSpPr>
            <p:cNvPr id="13" name="Graphic 18">
              <a:extLst>
                <a:ext uri="{FF2B5EF4-FFF2-40B4-BE49-F238E27FC236}">
                  <a16:creationId xmlns:a16="http://schemas.microsoft.com/office/drawing/2014/main" id="{21B1BB6B-8BDA-78D8-4FCB-61F37DF4CED2}"/>
                </a:ext>
              </a:extLst>
            </p:cNvPr>
            <p:cNvGrpSpPr/>
            <p:nvPr/>
          </p:nvGrpSpPr>
          <p:grpSpPr>
            <a:xfrm>
              <a:off x="5872840" y="2023728"/>
              <a:ext cx="252965" cy="298129"/>
              <a:chOff x="6415071" y="2046866"/>
              <a:chExt cx="252965" cy="298129"/>
            </a:xfrm>
            <a:noFill/>
          </p:grpSpPr>
          <p:sp>
            <p:nvSpPr>
              <p:cNvPr id="173" name="Freeform: Shape 255">
                <a:extLst>
                  <a:ext uri="{FF2B5EF4-FFF2-40B4-BE49-F238E27FC236}">
                    <a16:creationId xmlns:a16="http://schemas.microsoft.com/office/drawing/2014/main" id="{0C58D24A-0A39-ABD9-5ED9-C966F96767BD}"/>
                  </a:ext>
                </a:extLst>
              </p:cNvPr>
              <p:cNvSpPr/>
              <p:nvPr/>
            </p:nvSpPr>
            <p:spPr>
              <a:xfrm>
                <a:off x="6480181" y="2195707"/>
                <a:ext cx="187855" cy="4146"/>
              </a:xfrm>
              <a:custGeom>
                <a:avLst/>
                <a:gdLst>
                  <a:gd name="connsiteX0" fmla="*/ 0 w 187855"/>
                  <a:gd name="connsiteY0" fmla="*/ 0 h 4146"/>
                  <a:gd name="connsiteX1" fmla="*/ 187855 w 187855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87855" h="4146">
                    <a:moveTo>
                      <a:pt x="0" y="0"/>
                    </a:moveTo>
                    <a:lnTo>
                      <a:pt x="187855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174" name="Freeform: Shape 256">
                <a:extLst>
                  <a:ext uri="{FF2B5EF4-FFF2-40B4-BE49-F238E27FC236}">
                    <a16:creationId xmlns:a16="http://schemas.microsoft.com/office/drawing/2014/main" id="{BDFBC7E5-C07D-3EA6-DF6C-1221D1595DDC}"/>
                  </a:ext>
                </a:extLst>
              </p:cNvPr>
              <p:cNvSpPr/>
              <p:nvPr/>
            </p:nvSpPr>
            <p:spPr>
              <a:xfrm>
                <a:off x="6480181" y="2073373"/>
                <a:ext cx="93720" cy="245082"/>
              </a:xfrm>
              <a:custGeom>
                <a:avLst/>
                <a:gdLst>
                  <a:gd name="connsiteX0" fmla="*/ 0 w 93720"/>
                  <a:gd name="connsiteY0" fmla="*/ 0 h 245082"/>
                  <a:gd name="connsiteX1" fmla="*/ 93720 w 93720"/>
                  <a:gd name="connsiteY1" fmla="*/ 0 h 245082"/>
                  <a:gd name="connsiteX2" fmla="*/ 93720 w 93720"/>
                  <a:gd name="connsiteY2" fmla="*/ 245083 h 245082"/>
                  <a:gd name="connsiteX3" fmla="*/ 0 w 93720"/>
                  <a:gd name="connsiteY3" fmla="*/ 245083 h 2450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3720" h="245082">
                    <a:moveTo>
                      <a:pt x="0" y="0"/>
                    </a:moveTo>
                    <a:lnTo>
                      <a:pt x="93720" y="0"/>
                    </a:lnTo>
                    <a:lnTo>
                      <a:pt x="93720" y="245083"/>
                    </a:lnTo>
                    <a:lnTo>
                      <a:pt x="0" y="245083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175" name="Freeform: Shape 257">
                <a:extLst>
                  <a:ext uri="{FF2B5EF4-FFF2-40B4-BE49-F238E27FC236}">
                    <a16:creationId xmlns:a16="http://schemas.microsoft.com/office/drawing/2014/main" id="{8E34384F-7C1F-89D2-85BA-1B63F87E1ED4}"/>
                  </a:ext>
                </a:extLst>
              </p:cNvPr>
              <p:cNvSpPr/>
              <p:nvPr/>
            </p:nvSpPr>
            <p:spPr>
              <a:xfrm rot="5400000">
                <a:off x="6415071" y="2046866"/>
                <a:ext cx="53080" cy="53080"/>
              </a:xfrm>
              <a:custGeom>
                <a:avLst/>
                <a:gdLst>
                  <a:gd name="connsiteX0" fmla="*/ 0 w 53080"/>
                  <a:gd name="connsiteY0" fmla="*/ 0 h 53080"/>
                  <a:gd name="connsiteX1" fmla="*/ 53080 w 53080"/>
                  <a:gd name="connsiteY1" fmla="*/ 0 h 53080"/>
                  <a:gd name="connsiteX2" fmla="*/ 53080 w 53080"/>
                  <a:gd name="connsiteY2" fmla="*/ 53081 h 53080"/>
                  <a:gd name="connsiteX3" fmla="*/ 0 w 53080"/>
                  <a:gd name="connsiteY3" fmla="*/ 53081 h 530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3080" h="53080">
                    <a:moveTo>
                      <a:pt x="0" y="0"/>
                    </a:moveTo>
                    <a:lnTo>
                      <a:pt x="53080" y="0"/>
                    </a:lnTo>
                    <a:lnTo>
                      <a:pt x="53080" y="53081"/>
                    </a:lnTo>
                    <a:lnTo>
                      <a:pt x="0" y="53081"/>
                    </a:ln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176" name="Freeform: Shape 258">
                <a:extLst>
                  <a:ext uri="{FF2B5EF4-FFF2-40B4-BE49-F238E27FC236}">
                    <a16:creationId xmlns:a16="http://schemas.microsoft.com/office/drawing/2014/main" id="{323C2043-FF32-BE58-968D-63FC85B71143}"/>
                  </a:ext>
                </a:extLst>
              </p:cNvPr>
              <p:cNvSpPr/>
              <p:nvPr/>
            </p:nvSpPr>
            <p:spPr>
              <a:xfrm>
                <a:off x="6415490" y="2161702"/>
                <a:ext cx="52665" cy="68424"/>
              </a:xfrm>
              <a:custGeom>
                <a:avLst/>
                <a:gdLst>
                  <a:gd name="connsiteX0" fmla="*/ 0 w 52665"/>
                  <a:gd name="connsiteY0" fmla="*/ 68424 h 68424"/>
                  <a:gd name="connsiteX1" fmla="*/ 0 w 52665"/>
                  <a:gd name="connsiteY1" fmla="*/ 0 h 68424"/>
                  <a:gd name="connsiteX2" fmla="*/ 52666 w 52665"/>
                  <a:gd name="connsiteY2" fmla="*/ 34005 h 684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52665" h="68424">
                    <a:moveTo>
                      <a:pt x="0" y="68424"/>
                    </a:moveTo>
                    <a:lnTo>
                      <a:pt x="0" y="0"/>
                    </a:lnTo>
                    <a:lnTo>
                      <a:pt x="52666" y="34005"/>
                    </a:ln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177" name="Freeform: Shape 259">
                <a:extLst>
                  <a:ext uri="{FF2B5EF4-FFF2-40B4-BE49-F238E27FC236}">
                    <a16:creationId xmlns:a16="http://schemas.microsoft.com/office/drawing/2014/main" id="{14E2E5D3-ABA9-63DD-97A9-4CCE8DD69A1D}"/>
                  </a:ext>
                </a:extLst>
              </p:cNvPr>
              <p:cNvSpPr/>
              <p:nvPr/>
            </p:nvSpPr>
            <p:spPr>
              <a:xfrm>
                <a:off x="6415490" y="2292330"/>
                <a:ext cx="52665" cy="52665"/>
              </a:xfrm>
              <a:custGeom>
                <a:avLst/>
                <a:gdLst>
                  <a:gd name="connsiteX0" fmla="*/ 0 w 52665"/>
                  <a:gd name="connsiteY0" fmla="*/ 30272 h 52665"/>
                  <a:gd name="connsiteX1" fmla="*/ 0 w 52665"/>
                  <a:gd name="connsiteY1" fmla="*/ 22393 h 52665"/>
                  <a:gd name="connsiteX2" fmla="*/ 22393 w 52665"/>
                  <a:gd name="connsiteY2" fmla="*/ 0 h 52665"/>
                  <a:gd name="connsiteX3" fmla="*/ 30272 w 52665"/>
                  <a:gd name="connsiteY3" fmla="*/ 0 h 52665"/>
                  <a:gd name="connsiteX4" fmla="*/ 52666 w 52665"/>
                  <a:gd name="connsiteY4" fmla="*/ 22393 h 52665"/>
                  <a:gd name="connsiteX5" fmla="*/ 52666 w 52665"/>
                  <a:gd name="connsiteY5" fmla="*/ 30272 h 52665"/>
                  <a:gd name="connsiteX6" fmla="*/ 30272 w 52665"/>
                  <a:gd name="connsiteY6" fmla="*/ 52666 h 52665"/>
                  <a:gd name="connsiteX7" fmla="*/ 22393 w 52665"/>
                  <a:gd name="connsiteY7" fmla="*/ 52666 h 52665"/>
                  <a:gd name="connsiteX8" fmla="*/ 0 w 52665"/>
                  <a:gd name="connsiteY8" fmla="*/ 30272 h 526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2665" h="52665">
                    <a:moveTo>
                      <a:pt x="0" y="30272"/>
                    </a:moveTo>
                    <a:lnTo>
                      <a:pt x="0" y="22393"/>
                    </a:lnTo>
                    <a:cubicBezTo>
                      <a:pt x="0" y="9953"/>
                      <a:pt x="9953" y="0"/>
                      <a:pt x="22393" y="0"/>
                    </a:cubicBezTo>
                    <a:lnTo>
                      <a:pt x="30272" y="0"/>
                    </a:lnTo>
                    <a:cubicBezTo>
                      <a:pt x="42713" y="0"/>
                      <a:pt x="52666" y="9953"/>
                      <a:pt x="52666" y="22393"/>
                    </a:cubicBezTo>
                    <a:lnTo>
                      <a:pt x="52666" y="30272"/>
                    </a:lnTo>
                    <a:cubicBezTo>
                      <a:pt x="52666" y="42713"/>
                      <a:pt x="42713" y="52666"/>
                      <a:pt x="30272" y="52666"/>
                    </a:cubicBezTo>
                    <a:lnTo>
                      <a:pt x="22393" y="52666"/>
                    </a:lnTo>
                    <a:cubicBezTo>
                      <a:pt x="9953" y="52666"/>
                      <a:pt x="0" y="42713"/>
                      <a:pt x="0" y="30272"/>
                    </a:cubicBez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</p:grpSp>
        <p:grpSp>
          <p:nvGrpSpPr>
            <p:cNvPr id="14" name="Graphic 18">
              <a:extLst>
                <a:ext uri="{FF2B5EF4-FFF2-40B4-BE49-F238E27FC236}">
                  <a16:creationId xmlns:a16="http://schemas.microsoft.com/office/drawing/2014/main" id="{8A0FD155-1CEF-1BB9-8B99-E3A9596A6D77}"/>
                </a:ext>
              </a:extLst>
            </p:cNvPr>
            <p:cNvGrpSpPr/>
            <p:nvPr/>
          </p:nvGrpSpPr>
          <p:grpSpPr>
            <a:xfrm>
              <a:off x="6154419" y="2027842"/>
              <a:ext cx="191587" cy="274940"/>
              <a:chOff x="6696650" y="2050980"/>
              <a:chExt cx="191587" cy="274940"/>
            </a:xfrm>
            <a:noFill/>
          </p:grpSpPr>
          <p:sp>
            <p:nvSpPr>
              <p:cNvPr id="20" name="Freeform: Shape 248">
                <a:extLst>
                  <a:ext uri="{FF2B5EF4-FFF2-40B4-BE49-F238E27FC236}">
                    <a16:creationId xmlns:a16="http://schemas.microsoft.com/office/drawing/2014/main" id="{729B2312-F27C-A632-CCDB-9F90169920D9}"/>
                  </a:ext>
                </a:extLst>
              </p:cNvPr>
              <p:cNvSpPr/>
              <p:nvPr/>
            </p:nvSpPr>
            <p:spPr>
              <a:xfrm>
                <a:off x="6696650" y="2050980"/>
                <a:ext cx="191587" cy="274940"/>
              </a:xfrm>
              <a:custGeom>
                <a:avLst/>
                <a:gdLst>
                  <a:gd name="connsiteX0" fmla="*/ 0 w 191587"/>
                  <a:gd name="connsiteY0" fmla="*/ 266232 h 274940"/>
                  <a:gd name="connsiteX1" fmla="*/ 0 w 191587"/>
                  <a:gd name="connsiteY1" fmla="*/ 8709 h 274940"/>
                  <a:gd name="connsiteX2" fmla="*/ 8709 w 191587"/>
                  <a:gd name="connsiteY2" fmla="*/ 0 h 274940"/>
                  <a:gd name="connsiteX3" fmla="*/ 127725 w 191587"/>
                  <a:gd name="connsiteY3" fmla="*/ 0 h 274940"/>
                  <a:gd name="connsiteX4" fmla="*/ 191587 w 191587"/>
                  <a:gd name="connsiteY4" fmla="*/ 63862 h 274940"/>
                  <a:gd name="connsiteX5" fmla="*/ 191587 w 191587"/>
                  <a:gd name="connsiteY5" fmla="*/ 266232 h 274940"/>
                  <a:gd name="connsiteX6" fmla="*/ 182879 w 191587"/>
                  <a:gd name="connsiteY6" fmla="*/ 274940 h 274940"/>
                  <a:gd name="connsiteX7" fmla="*/ 8709 w 191587"/>
                  <a:gd name="connsiteY7" fmla="*/ 274940 h 274940"/>
                  <a:gd name="connsiteX8" fmla="*/ 0 w 191587"/>
                  <a:gd name="connsiteY8" fmla="*/ 266232 h 27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91587" h="274940">
                    <a:moveTo>
                      <a:pt x="0" y="266232"/>
                    </a:moveTo>
                    <a:lnTo>
                      <a:pt x="0" y="8709"/>
                    </a:lnTo>
                    <a:cubicBezTo>
                      <a:pt x="0" y="3732"/>
                      <a:pt x="3732" y="0"/>
                      <a:pt x="8709" y="0"/>
                    </a:cubicBezTo>
                    <a:lnTo>
                      <a:pt x="127725" y="0"/>
                    </a:lnTo>
                    <a:lnTo>
                      <a:pt x="191587" y="63862"/>
                    </a:lnTo>
                    <a:lnTo>
                      <a:pt x="191587" y="266232"/>
                    </a:lnTo>
                    <a:cubicBezTo>
                      <a:pt x="191587" y="271208"/>
                      <a:pt x="187855" y="274940"/>
                      <a:pt x="182879" y="274940"/>
                    </a:cubicBezTo>
                    <a:lnTo>
                      <a:pt x="8709" y="274940"/>
                    </a:lnTo>
                    <a:cubicBezTo>
                      <a:pt x="3732" y="274940"/>
                      <a:pt x="0" y="271208"/>
                      <a:pt x="0" y="266232"/>
                    </a:cubicBez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1" name="Freeform: Shape 249">
                <a:extLst>
                  <a:ext uri="{FF2B5EF4-FFF2-40B4-BE49-F238E27FC236}">
                    <a16:creationId xmlns:a16="http://schemas.microsoft.com/office/drawing/2014/main" id="{D8899620-31E5-1EAF-4C63-4C2899DA5332}"/>
                  </a:ext>
                </a:extLst>
              </p:cNvPr>
              <p:cNvSpPr/>
              <p:nvPr/>
            </p:nvSpPr>
            <p:spPr>
              <a:xfrm>
                <a:off x="6823961" y="2050980"/>
                <a:ext cx="64277" cy="63862"/>
              </a:xfrm>
              <a:custGeom>
                <a:avLst/>
                <a:gdLst>
                  <a:gd name="connsiteX0" fmla="*/ 0 w 64277"/>
                  <a:gd name="connsiteY0" fmla="*/ 63862 h 63862"/>
                  <a:gd name="connsiteX1" fmla="*/ 64277 w 64277"/>
                  <a:gd name="connsiteY1" fmla="*/ 63862 h 63862"/>
                  <a:gd name="connsiteX2" fmla="*/ 0 w 64277"/>
                  <a:gd name="connsiteY2" fmla="*/ 0 h 638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64277" h="63862">
                    <a:moveTo>
                      <a:pt x="0" y="63862"/>
                    </a:moveTo>
                    <a:lnTo>
                      <a:pt x="64277" y="63862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2" name="Freeform: Shape 250">
                <a:extLst>
                  <a:ext uri="{FF2B5EF4-FFF2-40B4-BE49-F238E27FC236}">
                    <a16:creationId xmlns:a16="http://schemas.microsoft.com/office/drawing/2014/main" id="{DA6BFBD7-CF0D-ED20-97E7-CFF99EF81CD3}"/>
                  </a:ext>
                </a:extLst>
              </p:cNvPr>
              <p:cNvSpPr/>
              <p:nvPr/>
            </p:nvSpPr>
            <p:spPr>
              <a:xfrm>
                <a:off x="6724849" y="2166679"/>
                <a:ext cx="135189" cy="4146"/>
              </a:xfrm>
              <a:custGeom>
                <a:avLst/>
                <a:gdLst>
                  <a:gd name="connsiteX0" fmla="*/ 0 w 135189"/>
                  <a:gd name="connsiteY0" fmla="*/ 0 h 4146"/>
                  <a:gd name="connsiteX1" fmla="*/ 135189 w 135189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35189" h="4146">
                    <a:moveTo>
                      <a:pt x="0" y="0"/>
                    </a:moveTo>
                    <a:lnTo>
                      <a:pt x="135189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169" name="Freeform: Shape 251">
                <a:extLst>
                  <a:ext uri="{FF2B5EF4-FFF2-40B4-BE49-F238E27FC236}">
                    <a16:creationId xmlns:a16="http://schemas.microsoft.com/office/drawing/2014/main" id="{FBE32A7C-B829-30BD-255F-8C2A18F567CB}"/>
                  </a:ext>
                </a:extLst>
              </p:cNvPr>
              <p:cNvSpPr/>
              <p:nvPr/>
            </p:nvSpPr>
            <p:spPr>
              <a:xfrm>
                <a:off x="6724849" y="2204001"/>
                <a:ext cx="135189" cy="4146"/>
              </a:xfrm>
              <a:custGeom>
                <a:avLst/>
                <a:gdLst>
                  <a:gd name="connsiteX0" fmla="*/ 0 w 135189"/>
                  <a:gd name="connsiteY0" fmla="*/ 0 h 4146"/>
                  <a:gd name="connsiteX1" fmla="*/ 135189 w 135189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35189" h="4146">
                    <a:moveTo>
                      <a:pt x="0" y="0"/>
                    </a:moveTo>
                    <a:lnTo>
                      <a:pt x="135189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170" name="Freeform: Shape 252">
                <a:extLst>
                  <a:ext uri="{FF2B5EF4-FFF2-40B4-BE49-F238E27FC236}">
                    <a16:creationId xmlns:a16="http://schemas.microsoft.com/office/drawing/2014/main" id="{27A22F93-CAFE-DEB5-BAE9-780BED8AFC99}"/>
                  </a:ext>
                </a:extLst>
              </p:cNvPr>
              <p:cNvSpPr/>
              <p:nvPr/>
            </p:nvSpPr>
            <p:spPr>
              <a:xfrm>
                <a:off x="6724849" y="2241323"/>
                <a:ext cx="135189" cy="4146"/>
              </a:xfrm>
              <a:custGeom>
                <a:avLst/>
                <a:gdLst>
                  <a:gd name="connsiteX0" fmla="*/ 0 w 135189"/>
                  <a:gd name="connsiteY0" fmla="*/ 0 h 4146"/>
                  <a:gd name="connsiteX1" fmla="*/ 135189 w 135189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35189" h="4146">
                    <a:moveTo>
                      <a:pt x="0" y="0"/>
                    </a:moveTo>
                    <a:lnTo>
                      <a:pt x="135189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171" name="Freeform: Shape 253">
                <a:extLst>
                  <a:ext uri="{FF2B5EF4-FFF2-40B4-BE49-F238E27FC236}">
                    <a16:creationId xmlns:a16="http://schemas.microsoft.com/office/drawing/2014/main" id="{EEFA7012-4A72-5506-371D-F8A3713AE919}"/>
                  </a:ext>
                </a:extLst>
              </p:cNvPr>
              <p:cNvSpPr/>
              <p:nvPr/>
            </p:nvSpPr>
            <p:spPr>
              <a:xfrm>
                <a:off x="6724849" y="2279060"/>
                <a:ext cx="135189" cy="4146"/>
              </a:xfrm>
              <a:custGeom>
                <a:avLst/>
                <a:gdLst>
                  <a:gd name="connsiteX0" fmla="*/ 0 w 135189"/>
                  <a:gd name="connsiteY0" fmla="*/ 0 h 4146"/>
                  <a:gd name="connsiteX1" fmla="*/ 135189 w 135189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35189" h="4146">
                    <a:moveTo>
                      <a:pt x="0" y="0"/>
                    </a:moveTo>
                    <a:lnTo>
                      <a:pt x="135189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172" name="Freeform: Shape 254">
                <a:extLst>
                  <a:ext uri="{FF2B5EF4-FFF2-40B4-BE49-F238E27FC236}">
                    <a16:creationId xmlns:a16="http://schemas.microsoft.com/office/drawing/2014/main" id="{75C76A9A-D268-9D23-F224-A74803741207}"/>
                  </a:ext>
                </a:extLst>
              </p:cNvPr>
              <p:cNvSpPr/>
              <p:nvPr/>
            </p:nvSpPr>
            <p:spPr>
              <a:xfrm>
                <a:off x="6724849" y="2128942"/>
                <a:ext cx="76303" cy="4146"/>
              </a:xfrm>
              <a:custGeom>
                <a:avLst/>
                <a:gdLst>
                  <a:gd name="connsiteX0" fmla="*/ 0 w 76303"/>
                  <a:gd name="connsiteY0" fmla="*/ 0 h 4146"/>
                  <a:gd name="connsiteX1" fmla="*/ 76303 w 76303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76303" h="4146">
                    <a:moveTo>
                      <a:pt x="0" y="0"/>
                    </a:moveTo>
                    <a:lnTo>
                      <a:pt x="76303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</p:grpSp>
        <p:sp>
          <p:nvSpPr>
            <p:cNvPr id="15" name="Freeform: Shape 247">
              <a:extLst>
                <a:ext uri="{FF2B5EF4-FFF2-40B4-BE49-F238E27FC236}">
                  <a16:creationId xmlns:a16="http://schemas.microsoft.com/office/drawing/2014/main" id="{A8310506-4EE8-92ED-32F9-A2BAA2F652E7}"/>
                </a:ext>
              </a:extLst>
            </p:cNvPr>
            <p:cNvSpPr/>
            <p:nvPr/>
          </p:nvSpPr>
          <p:spPr>
            <a:xfrm>
              <a:off x="5610344" y="2221088"/>
              <a:ext cx="179561" cy="161314"/>
            </a:xfrm>
            <a:custGeom>
              <a:avLst/>
              <a:gdLst>
                <a:gd name="connsiteX0" fmla="*/ 95794 w 179561"/>
                <a:gd name="connsiteY0" fmla="*/ 99111 h 161314"/>
                <a:gd name="connsiteX1" fmla="*/ 29028 w 179561"/>
                <a:gd name="connsiteY1" fmla="*/ 154680 h 161314"/>
                <a:gd name="connsiteX2" fmla="*/ 0 w 179561"/>
                <a:gd name="connsiteY2" fmla="*/ 119846 h 161314"/>
                <a:gd name="connsiteX3" fmla="*/ 66765 w 179561"/>
                <a:gd name="connsiteY3" fmla="*/ 64277 h 161314"/>
                <a:gd name="connsiteX4" fmla="*/ 8294 w 179561"/>
                <a:gd name="connsiteY4" fmla="*/ 38981 h 161314"/>
                <a:gd name="connsiteX5" fmla="*/ 179561 w 179561"/>
                <a:gd name="connsiteY5" fmla="*/ 0 h 161314"/>
                <a:gd name="connsiteX6" fmla="*/ 109893 w 179561"/>
                <a:gd name="connsiteY6" fmla="*/ 161315 h 161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9561" h="161314">
                  <a:moveTo>
                    <a:pt x="95794" y="99111"/>
                  </a:moveTo>
                  <a:lnTo>
                    <a:pt x="29028" y="154680"/>
                  </a:lnTo>
                  <a:lnTo>
                    <a:pt x="0" y="119846"/>
                  </a:lnTo>
                  <a:lnTo>
                    <a:pt x="66765" y="64277"/>
                  </a:lnTo>
                  <a:lnTo>
                    <a:pt x="8294" y="38981"/>
                  </a:lnTo>
                  <a:lnTo>
                    <a:pt x="179561" y="0"/>
                  </a:lnTo>
                  <a:lnTo>
                    <a:pt x="109893" y="161315"/>
                  </a:lnTo>
                  <a:close/>
                </a:path>
              </a:pathLst>
            </a:custGeom>
            <a:noFill/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mazon Ember"/>
              </a:endParaRPr>
            </a:p>
          </p:txBody>
        </p:sp>
      </p:grpSp>
      <p:grpSp>
        <p:nvGrpSpPr>
          <p:cNvPr id="188" name="Group 2">
            <a:extLst>
              <a:ext uri="{FF2B5EF4-FFF2-40B4-BE49-F238E27FC236}">
                <a16:creationId xmlns:a16="http://schemas.microsoft.com/office/drawing/2014/main" id="{5E735664-1F5E-52A7-0888-F2062578E4FD}"/>
              </a:ext>
            </a:extLst>
          </p:cNvPr>
          <p:cNvGrpSpPr/>
          <p:nvPr/>
        </p:nvGrpSpPr>
        <p:grpSpPr>
          <a:xfrm>
            <a:off x="7863148" y="1836318"/>
            <a:ext cx="1109517" cy="955888"/>
            <a:chOff x="5610344" y="1866942"/>
            <a:chExt cx="735662" cy="570615"/>
          </a:xfrm>
        </p:grpSpPr>
        <p:grpSp>
          <p:nvGrpSpPr>
            <p:cNvPr id="189" name="Graphic 18">
              <a:extLst>
                <a:ext uri="{FF2B5EF4-FFF2-40B4-BE49-F238E27FC236}">
                  <a16:creationId xmlns:a16="http://schemas.microsoft.com/office/drawing/2014/main" id="{7538E0A9-719A-A74F-0F10-E07F1B44BD3F}"/>
                </a:ext>
              </a:extLst>
            </p:cNvPr>
            <p:cNvGrpSpPr/>
            <p:nvPr/>
          </p:nvGrpSpPr>
          <p:grpSpPr>
            <a:xfrm>
              <a:off x="5672963" y="1866942"/>
              <a:ext cx="496385" cy="570615"/>
              <a:chOff x="6215194" y="1890080"/>
              <a:chExt cx="496385" cy="570615"/>
            </a:xfrm>
            <a:noFill/>
          </p:grpSpPr>
          <p:sp>
            <p:nvSpPr>
              <p:cNvPr id="205" name="Freeform: Shape 260">
                <a:extLst>
                  <a:ext uri="{FF2B5EF4-FFF2-40B4-BE49-F238E27FC236}">
                    <a16:creationId xmlns:a16="http://schemas.microsoft.com/office/drawing/2014/main" id="{042148D1-9989-4704-C279-DE1B8F09818A}"/>
                  </a:ext>
                </a:extLst>
              </p:cNvPr>
              <p:cNvSpPr/>
              <p:nvPr/>
            </p:nvSpPr>
            <p:spPr>
              <a:xfrm>
                <a:off x="6640252" y="1933207"/>
                <a:ext cx="4146" cy="87499"/>
              </a:xfrm>
              <a:custGeom>
                <a:avLst/>
                <a:gdLst>
                  <a:gd name="connsiteX0" fmla="*/ 0 w 4146"/>
                  <a:gd name="connsiteY0" fmla="*/ 87500 h 87499"/>
                  <a:gd name="connsiteX1" fmla="*/ 0 w 4146"/>
                  <a:gd name="connsiteY1" fmla="*/ 0 h 87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4146" h="87499">
                    <a:moveTo>
                      <a:pt x="0" y="87500"/>
                    </a:moveTo>
                    <a:lnTo>
                      <a:pt x="0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06" name="Freeform: Shape 261">
                <a:extLst>
                  <a:ext uri="{FF2B5EF4-FFF2-40B4-BE49-F238E27FC236}">
                    <a16:creationId xmlns:a16="http://schemas.microsoft.com/office/drawing/2014/main" id="{7EC3405E-10BC-1CFE-09B2-CDB7A566F259}"/>
                  </a:ext>
                </a:extLst>
              </p:cNvPr>
              <p:cNvSpPr/>
              <p:nvPr/>
            </p:nvSpPr>
            <p:spPr>
              <a:xfrm>
                <a:off x="6577634" y="2381489"/>
                <a:ext cx="63033" cy="37322"/>
              </a:xfrm>
              <a:custGeom>
                <a:avLst/>
                <a:gdLst>
                  <a:gd name="connsiteX0" fmla="*/ 63033 w 63033"/>
                  <a:gd name="connsiteY0" fmla="*/ 37322 h 37322"/>
                  <a:gd name="connsiteX1" fmla="*/ 0 w 63033"/>
                  <a:gd name="connsiteY1" fmla="*/ 0 h 373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3033" h="37322">
                    <a:moveTo>
                      <a:pt x="63033" y="37322"/>
                    </a:moveTo>
                    <a:lnTo>
                      <a:pt x="0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07" name="Freeform: Shape 262">
                <a:extLst>
                  <a:ext uri="{FF2B5EF4-FFF2-40B4-BE49-F238E27FC236}">
                    <a16:creationId xmlns:a16="http://schemas.microsoft.com/office/drawing/2014/main" id="{05D969C4-30B1-D4A2-6A8A-2FF04488F01C}"/>
                  </a:ext>
                </a:extLst>
              </p:cNvPr>
              <p:cNvSpPr/>
              <p:nvPr/>
            </p:nvSpPr>
            <p:spPr>
              <a:xfrm>
                <a:off x="6497599" y="2360340"/>
                <a:ext cx="213980" cy="100355"/>
              </a:xfrm>
              <a:custGeom>
                <a:avLst/>
                <a:gdLst>
                  <a:gd name="connsiteX0" fmla="*/ 213981 w 213980"/>
                  <a:gd name="connsiteY0" fmla="*/ 0 h 100355"/>
                  <a:gd name="connsiteX1" fmla="*/ 213981 w 213980"/>
                  <a:gd name="connsiteY1" fmla="*/ 17002 h 100355"/>
                  <a:gd name="connsiteX2" fmla="*/ 71327 w 213980"/>
                  <a:gd name="connsiteY2" fmla="*/ 100355 h 100355"/>
                  <a:gd name="connsiteX3" fmla="*/ 0 w 213980"/>
                  <a:gd name="connsiteY3" fmla="*/ 62204 h 1003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3980" h="100355">
                    <a:moveTo>
                      <a:pt x="213981" y="0"/>
                    </a:moveTo>
                    <a:lnTo>
                      <a:pt x="213981" y="17002"/>
                    </a:lnTo>
                    <a:lnTo>
                      <a:pt x="71327" y="100355"/>
                    </a:lnTo>
                    <a:lnTo>
                      <a:pt x="0" y="62204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08" name="Freeform: Shape 263">
                <a:extLst>
                  <a:ext uri="{FF2B5EF4-FFF2-40B4-BE49-F238E27FC236}">
                    <a16:creationId xmlns:a16="http://schemas.microsoft.com/office/drawing/2014/main" id="{2E9D818F-7FDD-0184-70A4-726B191D9937}"/>
                  </a:ext>
                </a:extLst>
              </p:cNvPr>
              <p:cNvSpPr/>
              <p:nvPr/>
            </p:nvSpPr>
            <p:spPr>
              <a:xfrm>
                <a:off x="6497599" y="1890080"/>
                <a:ext cx="213980" cy="129383"/>
              </a:xfrm>
              <a:custGeom>
                <a:avLst/>
                <a:gdLst>
                  <a:gd name="connsiteX0" fmla="*/ 0 w 213980"/>
                  <a:gd name="connsiteY0" fmla="*/ 47275 h 129383"/>
                  <a:gd name="connsiteX1" fmla="*/ 71327 w 213980"/>
                  <a:gd name="connsiteY1" fmla="*/ 0 h 129383"/>
                  <a:gd name="connsiteX2" fmla="*/ 213981 w 213980"/>
                  <a:gd name="connsiteY2" fmla="*/ 82938 h 129383"/>
                  <a:gd name="connsiteX3" fmla="*/ 213981 w 213980"/>
                  <a:gd name="connsiteY3" fmla="*/ 129384 h 1293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3980" h="129383">
                    <a:moveTo>
                      <a:pt x="0" y="47275"/>
                    </a:moveTo>
                    <a:lnTo>
                      <a:pt x="71327" y="0"/>
                    </a:lnTo>
                    <a:lnTo>
                      <a:pt x="213981" y="82938"/>
                    </a:lnTo>
                    <a:lnTo>
                      <a:pt x="213981" y="129384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09" name="Freeform: Shape 264">
                <a:extLst>
                  <a:ext uri="{FF2B5EF4-FFF2-40B4-BE49-F238E27FC236}">
                    <a16:creationId xmlns:a16="http://schemas.microsoft.com/office/drawing/2014/main" id="{F27C489F-9C23-836A-E34C-46230AF17948}"/>
                  </a:ext>
                </a:extLst>
              </p:cNvPr>
              <p:cNvSpPr/>
              <p:nvPr/>
            </p:nvSpPr>
            <p:spPr>
              <a:xfrm>
                <a:off x="6286521" y="2068397"/>
                <a:ext cx="71326" cy="35663"/>
              </a:xfrm>
              <a:custGeom>
                <a:avLst/>
                <a:gdLst>
                  <a:gd name="connsiteX0" fmla="*/ 71327 w 71326"/>
                  <a:gd name="connsiteY0" fmla="*/ 35663 h 35663"/>
                  <a:gd name="connsiteX1" fmla="*/ 0 w 71326"/>
                  <a:gd name="connsiteY1" fmla="*/ 0 h 356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71326" h="35663">
                    <a:moveTo>
                      <a:pt x="71327" y="35663"/>
                    </a:moveTo>
                    <a:lnTo>
                      <a:pt x="0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10" name="Freeform: Shape 265">
                <a:extLst>
                  <a:ext uri="{FF2B5EF4-FFF2-40B4-BE49-F238E27FC236}">
                    <a16:creationId xmlns:a16="http://schemas.microsoft.com/office/drawing/2014/main" id="{25F82F0B-906D-E223-5E0D-F6158CE10744}"/>
                  </a:ext>
                </a:extLst>
              </p:cNvPr>
              <p:cNvSpPr/>
              <p:nvPr/>
            </p:nvSpPr>
            <p:spPr>
              <a:xfrm>
                <a:off x="6357847" y="1933207"/>
                <a:ext cx="4146" cy="87499"/>
              </a:xfrm>
              <a:custGeom>
                <a:avLst/>
                <a:gdLst>
                  <a:gd name="connsiteX0" fmla="*/ 0 w 4146"/>
                  <a:gd name="connsiteY0" fmla="*/ 87500 h 87499"/>
                  <a:gd name="connsiteX1" fmla="*/ 0 w 4146"/>
                  <a:gd name="connsiteY1" fmla="*/ 0 h 87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4146" h="87499">
                    <a:moveTo>
                      <a:pt x="0" y="87500"/>
                    </a:moveTo>
                    <a:lnTo>
                      <a:pt x="0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11" name="Freeform: Shape 266">
                <a:extLst>
                  <a:ext uri="{FF2B5EF4-FFF2-40B4-BE49-F238E27FC236}">
                    <a16:creationId xmlns:a16="http://schemas.microsoft.com/office/drawing/2014/main" id="{CC527F38-E370-6295-E7E7-47B918E8290B}"/>
                  </a:ext>
                </a:extLst>
              </p:cNvPr>
              <p:cNvSpPr/>
              <p:nvPr/>
            </p:nvSpPr>
            <p:spPr>
              <a:xfrm>
                <a:off x="6215194" y="2138894"/>
                <a:ext cx="68838" cy="40225"/>
              </a:xfrm>
              <a:custGeom>
                <a:avLst/>
                <a:gdLst>
                  <a:gd name="connsiteX0" fmla="*/ 0 w 68838"/>
                  <a:gd name="connsiteY0" fmla="*/ 40225 h 40225"/>
                  <a:gd name="connsiteX1" fmla="*/ 68839 w 68838"/>
                  <a:gd name="connsiteY1" fmla="*/ 0 h 402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8838" h="40225">
                    <a:moveTo>
                      <a:pt x="0" y="40225"/>
                    </a:moveTo>
                    <a:lnTo>
                      <a:pt x="68839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12" name="Freeform: Shape 267">
                <a:extLst>
                  <a:ext uri="{FF2B5EF4-FFF2-40B4-BE49-F238E27FC236}">
                    <a16:creationId xmlns:a16="http://schemas.microsoft.com/office/drawing/2014/main" id="{F2AD138B-7496-D59E-4A9F-BA77D5A6EF8D}"/>
                  </a:ext>
                </a:extLst>
              </p:cNvPr>
              <p:cNvSpPr/>
              <p:nvPr/>
            </p:nvSpPr>
            <p:spPr>
              <a:xfrm>
                <a:off x="6356189" y="2381489"/>
                <a:ext cx="64277" cy="38151"/>
              </a:xfrm>
              <a:custGeom>
                <a:avLst/>
                <a:gdLst>
                  <a:gd name="connsiteX0" fmla="*/ 0 w 64277"/>
                  <a:gd name="connsiteY0" fmla="*/ 38152 h 38151"/>
                  <a:gd name="connsiteX1" fmla="*/ 64277 w 64277"/>
                  <a:gd name="connsiteY1" fmla="*/ 0 h 381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4277" h="38151">
                    <a:moveTo>
                      <a:pt x="0" y="38152"/>
                    </a:moveTo>
                    <a:lnTo>
                      <a:pt x="64277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13" name="Freeform: Shape 268">
                <a:extLst>
                  <a:ext uri="{FF2B5EF4-FFF2-40B4-BE49-F238E27FC236}">
                    <a16:creationId xmlns:a16="http://schemas.microsoft.com/office/drawing/2014/main" id="{A6FA1A13-8663-8889-BF2B-17679AEEB238}"/>
                  </a:ext>
                </a:extLst>
              </p:cNvPr>
              <p:cNvSpPr/>
              <p:nvPr/>
            </p:nvSpPr>
            <p:spPr>
              <a:xfrm>
                <a:off x="6318866" y="2396418"/>
                <a:ext cx="181634" cy="64277"/>
              </a:xfrm>
              <a:custGeom>
                <a:avLst/>
                <a:gdLst>
                  <a:gd name="connsiteX0" fmla="*/ 0 w 181634"/>
                  <a:gd name="connsiteY0" fmla="*/ 0 h 64277"/>
                  <a:gd name="connsiteX1" fmla="*/ 110308 w 181634"/>
                  <a:gd name="connsiteY1" fmla="*/ 64277 h 64277"/>
                  <a:gd name="connsiteX2" fmla="*/ 181635 w 181634"/>
                  <a:gd name="connsiteY2" fmla="*/ 26126 h 642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81634" h="64277">
                    <a:moveTo>
                      <a:pt x="0" y="0"/>
                    </a:moveTo>
                    <a:lnTo>
                      <a:pt x="110308" y="64277"/>
                    </a:lnTo>
                    <a:lnTo>
                      <a:pt x="181635" y="26126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14" name="Freeform: Shape 269">
                <a:extLst>
                  <a:ext uri="{FF2B5EF4-FFF2-40B4-BE49-F238E27FC236}">
                    <a16:creationId xmlns:a16="http://schemas.microsoft.com/office/drawing/2014/main" id="{3E71A9C2-6ACA-F65D-6FA8-AB5A9BBB112F}"/>
                  </a:ext>
                </a:extLst>
              </p:cNvPr>
              <p:cNvSpPr/>
              <p:nvPr/>
            </p:nvSpPr>
            <p:spPr>
              <a:xfrm>
                <a:off x="6215194" y="1890080"/>
                <a:ext cx="285307" cy="320971"/>
              </a:xfrm>
              <a:custGeom>
                <a:avLst/>
                <a:gdLst>
                  <a:gd name="connsiteX0" fmla="*/ 285308 w 285307"/>
                  <a:gd name="connsiteY0" fmla="*/ 47275 h 320971"/>
                  <a:gd name="connsiteX1" fmla="*/ 213981 w 285307"/>
                  <a:gd name="connsiteY1" fmla="*/ 0 h 320971"/>
                  <a:gd name="connsiteX2" fmla="*/ 71327 w 285307"/>
                  <a:gd name="connsiteY2" fmla="*/ 82938 h 320971"/>
                  <a:gd name="connsiteX3" fmla="*/ 71327 w 285307"/>
                  <a:gd name="connsiteY3" fmla="*/ 177488 h 320971"/>
                  <a:gd name="connsiteX4" fmla="*/ 0 w 285307"/>
                  <a:gd name="connsiteY4" fmla="*/ 213981 h 320971"/>
                  <a:gd name="connsiteX5" fmla="*/ 0 w 285307"/>
                  <a:gd name="connsiteY5" fmla="*/ 288211 h 320971"/>
                  <a:gd name="connsiteX6" fmla="*/ 0 w 285307"/>
                  <a:gd name="connsiteY6" fmla="*/ 320971 h 3209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85307" h="320971">
                    <a:moveTo>
                      <a:pt x="285308" y="47275"/>
                    </a:moveTo>
                    <a:lnTo>
                      <a:pt x="213981" y="0"/>
                    </a:lnTo>
                    <a:lnTo>
                      <a:pt x="71327" y="82938"/>
                    </a:lnTo>
                    <a:lnTo>
                      <a:pt x="71327" y="177488"/>
                    </a:lnTo>
                    <a:lnTo>
                      <a:pt x="0" y="213981"/>
                    </a:lnTo>
                    <a:lnTo>
                      <a:pt x="0" y="288211"/>
                    </a:lnTo>
                    <a:lnTo>
                      <a:pt x="0" y="320971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</p:grpSp>
        <p:grpSp>
          <p:nvGrpSpPr>
            <p:cNvPr id="190" name="Graphic 18">
              <a:extLst>
                <a:ext uri="{FF2B5EF4-FFF2-40B4-BE49-F238E27FC236}">
                  <a16:creationId xmlns:a16="http://schemas.microsoft.com/office/drawing/2014/main" id="{3CDC89E6-8FD9-809C-E339-780B563594C5}"/>
                </a:ext>
              </a:extLst>
            </p:cNvPr>
            <p:cNvGrpSpPr/>
            <p:nvPr/>
          </p:nvGrpSpPr>
          <p:grpSpPr>
            <a:xfrm>
              <a:off x="5872840" y="2023728"/>
              <a:ext cx="252965" cy="298130"/>
              <a:chOff x="6415071" y="2046866"/>
              <a:chExt cx="252965" cy="298130"/>
            </a:xfrm>
            <a:noFill/>
          </p:grpSpPr>
          <p:sp>
            <p:nvSpPr>
              <p:cNvPr id="200" name="Freeform: Shape 255">
                <a:extLst>
                  <a:ext uri="{FF2B5EF4-FFF2-40B4-BE49-F238E27FC236}">
                    <a16:creationId xmlns:a16="http://schemas.microsoft.com/office/drawing/2014/main" id="{D08AB128-9335-4F10-4D76-FBD7D6BC0B70}"/>
                  </a:ext>
                </a:extLst>
              </p:cNvPr>
              <p:cNvSpPr/>
              <p:nvPr/>
            </p:nvSpPr>
            <p:spPr>
              <a:xfrm>
                <a:off x="6480181" y="2195707"/>
                <a:ext cx="187855" cy="4146"/>
              </a:xfrm>
              <a:custGeom>
                <a:avLst/>
                <a:gdLst>
                  <a:gd name="connsiteX0" fmla="*/ 0 w 187855"/>
                  <a:gd name="connsiteY0" fmla="*/ 0 h 4146"/>
                  <a:gd name="connsiteX1" fmla="*/ 187855 w 187855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87855" h="4146">
                    <a:moveTo>
                      <a:pt x="0" y="0"/>
                    </a:moveTo>
                    <a:lnTo>
                      <a:pt x="187855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01" name="Freeform: Shape 256">
                <a:extLst>
                  <a:ext uri="{FF2B5EF4-FFF2-40B4-BE49-F238E27FC236}">
                    <a16:creationId xmlns:a16="http://schemas.microsoft.com/office/drawing/2014/main" id="{238DD93D-0A4F-37F7-B406-D439DF7DD118}"/>
                  </a:ext>
                </a:extLst>
              </p:cNvPr>
              <p:cNvSpPr/>
              <p:nvPr/>
            </p:nvSpPr>
            <p:spPr>
              <a:xfrm>
                <a:off x="6480181" y="2073373"/>
                <a:ext cx="93720" cy="245082"/>
              </a:xfrm>
              <a:custGeom>
                <a:avLst/>
                <a:gdLst>
                  <a:gd name="connsiteX0" fmla="*/ 0 w 93720"/>
                  <a:gd name="connsiteY0" fmla="*/ 0 h 245082"/>
                  <a:gd name="connsiteX1" fmla="*/ 93720 w 93720"/>
                  <a:gd name="connsiteY1" fmla="*/ 0 h 245082"/>
                  <a:gd name="connsiteX2" fmla="*/ 93720 w 93720"/>
                  <a:gd name="connsiteY2" fmla="*/ 245083 h 245082"/>
                  <a:gd name="connsiteX3" fmla="*/ 0 w 93720"/>
                  <a:gd name="connsiteY3" fmla="*/ 245083 h 2450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3720" h="245082">
                    <a:moveTo>
                      <a:pt x="0" y="0"/>
                    </a:moveTo>
                    <a:lnTo>
                      <a:pt x="93720" y="0"/>
                    </a:lnTo>
                    <a:lnTo>
                      <a:pt x="93720" y="245083"/>
                    </a:lnTo>
                    <a:lnTo>
                      <a:pt x="0" y="245083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02" name="Freeform: Shape 257">
                <a:extLst>
                  <a:ext uri="{FF2B5EF4-FFF2-40B4-BE49-F238E27FC236}">
                    <a16:creationId xmlns:a16="http://schemas.microsoft.com/office/drawing/2014/main" id="{03942F43-0CAC-B6F9-BD79-36228AB90EAB}"/>
                  </a:ext>
                </a:extLst>
              </p:cNvPr>
              <p:cNvSpPr/>
              <p:nvPr/>
            </p:nvSpPr>
            <p:spPr>
              <a:xfrm rot="5400000">
                <a:off x="6415071" y="2046866"/>
                <a:ext cx="53080" cy="53080"/>
              </a:xfrm>
              <a:custGeom>
                <a:avLst/>
                <a:gdLst>
                  <a:gd name="connsiteX0" fmla="*/ 0 w 53080"/>
                  <a:gd name="connsiteY0" fmla="*/ 0 h 53080"/>
                  <a:gd name="connsiteX1" fmla="*/ 53080 w 53080"/>
                  <a:gd name="connsiteY1" fmla="*/ 0 h 53080"/>
                  <a:gd name="connsiteX2" fmla="*/ 53080 w 53080"/>
                  <a:gd name="connsiteY2" fmla="*/ 53081 h 53080"/>
                  <a:gd name="connsiteX3" fmla="*/ 0 w 53080"/>
                  <a:gd name="connsiteY3" fmla="*/ 53081 h 530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3080" h="53080">
                    <a:moveTo>
                      <a:pt x="0" y="0"/>
                    </a:moveTo>
                    <a:lnTo>
                      <a:pt x="53080" y="0"/>
                    </a:lnTo>
                    <a:lnTo>
                      <a:pt x="53080" y="53081"/>
                    </a:lnTo>
                    <a:lnTo>
                      <a:pt x="0" y="53081"/>
                    </a:ln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03" name="Freeform: Shape 258">
                <a:extLst>
                  <a:ext uri="{FF2B5EF4-FFF2-40B4-BE49-F238E27FC236}">
                    <a16:creationId xmlns:a16="http://schemas.microsoft.com/office/drawing/2014/main" id="{68CA4CD8-F604-647D-0DD8-BEA317F316E0}"/>
                  </a:ext>
                </a:extLst>
              </p:cNvPr>
              <p:cNvSpPr/>
              <p:nvPr/>
            </p:nvSpPr>
            <p:spPr>
              <a:xfrm>
                <a:off x="6415490" y="2161702"/>
                <a:ext cx="52665" cy="68424"/>
              </a:xfrm>
              <a:custGeom>
                <a:avLst/>
                <a:gdLst>
                  <a:gd name="connsiteX0" fmla="*/ 0 w 52665"/>
                  <a:gd name="connsiteY0" fmla="*/ 68424 h 68424"/>
                  <a:gd name="connsiteX1" fmla="*/ 0 w 52665"/>
                  <a:gd name="connsiteY1" fmla="*/ 0 h 68424"/>
                  <a:gd name="connsiteX2" fmla="*/ 52666 w 52665"/>
                  <a:gd name="connsiteY2" fmla="*/ 34005 h 684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52665" h="68424">
                    <a:moveTo>
                      <a:pt x="0" y="68424"/>
                    </a:moveTo>
                    <a:lnTo>
                      <a:pt x="0" y="0"/>
                    </a:lnTo>
                    <a:lnTo>
                      <a:pt x="52666" y="34005"/>
                    </a:ln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04" name="Freeform: Shape 259">
                <a:extLst>
                  <a:ext uri="{FF2B5EF4-FFF2-40B4-BE49-F238E27FC236}">
                    <a16:creationId xmlns:a16="http://schemas.microsoft.com/office/drawing/2014/main" id="{40C26C3C-B705-D7C6-1501-6F7331B47BDA}"/>
                  </a:ext>
                </a:extLst>
              </p:cNvPr>
              <p:cNvSpPr/>
              <p:nvPr/>
            </p:nvSpPr>
            <p:spPr>
              <a:xfrm>
                <a:off x="6415490" y="2292330"/>
                <a:ext cx="52665" cy="52665"/>
              </a:xfrm>
              <a:custGeom>
                <a:avLst/>
                <a:gdLst>
                  <a:gd name="connsiteX0" fmla="*/ 0 w 52665"/>
                  <a:gd name="connsiteY0" fmla="*/ 30272 h 52665"/>
                  <a:gd name="connsiteX1" fmla="*/ 0 w 52665"/>
                  <a:gd name="connsiteY1" fmla="*/ 22393 h 52665"/>
                  <a:gd name="connsiteX2" fmla="*/ 22393 w 52665"/>
                  <a:gd name="connsiteY2" fmla="*/ 0 h 52665"/>
                  <a:gd name="connsiteX3" fmla="*/ 30272 w 52665"/>
                  <a:gd name="connsiteY3" fmla="*/ 0 h 52665"/>
                  <a:gd name="connsiteX4" fmla="*/ 52666 w 52665"/>
                  <a:gd name="connsiteY4" fmla="*/ 22393 h 52665"/>
                  <a:gd name="connsiteX5" fmla="*/ 52666 w 52665"/>
                  <a:gd name="connsiteY5" fmla="*/ 30272 h 52665"/>
                  <a:gd name="connsiteX6" fmla="*/ 30272 w 52665"/>
                  <a:gd name="connsiteY6" fmla="*/ 52666 h 52665"/>
                  <a:gd name="connsiteX7" fmla="*/ 22393 w 52665"/>
                  <a:gd name="connsiteY7" fmla="*/ 52666 h 52665"/>
                  <a:gd name="connsiteX8" fmla="*/ 0 w 52665"/>
                  <a:gd name="connsiteY8" fmla="*/ 30272 h 526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2665" h="52665">
                    <a:moveTo>
                      <a:pt x="0" y="30272"/>
                    </a:moveTo>
                    <a:lnTo>
                      <a:pt x="0" y="22393"/>
                    </a:lnTo>
                    <a:cubicBezTo>
                      <a:pt x="0" y="9953"/>
                      <a:pt x="9953" y="0"/>
                      <a:pt x="22393" y="0"/>
                    </a:cubicBezTo>
                    <a:lnTo>
                      <a:pt x="30272" y="0"/>
                    </a:lnTo>
                    <a:cubicBezTo>
                      <a:pt x="42713" y="0"/>
                      <a:pt x="52666" y="9953"/>
                      <a:pt x="52666" y="22393"/>
                    </a:cubicBezTo>
                    <a:lnTo>
                      <a:pt x="52666" y="30272"/>
                    </a:lnTo>
                    <a:cubicBezTo>
                      <a:pt x="52666" y="42713"/>
                      <a:pt x="42713" y="52666"/>
                      <a:pt x="30272" y="52666"/>
                    </a:cubicBezTo>
                    <a:lnTo>
                      <a:pt x="22393" y="52666"/>
                    </a:lnTo>
                    <a:cubicBezTo>
                      <a:pt x="9953" y="52666"/>
                      <a:pt x="0" y="42713"/>
                      <a:pt x="0" y="30272"/>
                    </a:cubicBez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</p:grpSp>
        <p:grpSp>
          <p:nvGrpSpPr>
            <p:cNvPr id="191" name="Graphic 18">
              <a:extLst>
                <a:ext uri="{FF2B5EF4-FFF2-40B4-BE49-F238E27FC236}">
                  <a16:creationId xmlns:a16="http://schemas.microsoft.com/office/drawing/2014/main" id="{1EA1625C-AAA2-C21C-A9E9-AA7877AA42E2}"/>
                </a:ext>
              </a:extLst>
            </p:cNvPr>
            <p:cNvGrpSpPr/>
            <p:nvPr/>
          </p:nvGrpSpPr>
          <p:grpSpPr>
            <a:xfrm>
              <a:off x="6154419" y="2027842"/>
              <a:ext cx="191587" cy="274940"/>
              <a:chOff x="6696650" y="2050980"/>
              <a:chExt cx="191587" cy="274940"/>
            </a:xfrm>
            <a:noFill/>
          </p:grpSpPr>
          <p:sp>
            <p:nvSpPr>
              <p:cNvPr id="193" name="Freeform: Shape 248">
                <a:extLst>
                  <a:ext uri="{FF2B5EF4-FFF2-40B4-BE49-F238E27FC236}">
                    <a16:creationId xmlns:a16="http://schemas.microsoft.com/office/drawing/2014/main" id="{08EFE6CF-0124-2BB4-1DF2-FEF3F63D5F6B}"/>
                  </a:ext>
                </a:extLst>
              </p:cNvPr>
              <p:cNvSpPr/>
              <p:nvPr/>
            </p:nvSpPr>
            <p:spPr>
              <a:xfrm>
                <a:off x="6696650" y="2050980"/>
                <a:ext cx="191587" cy="274940"/>
              </a:xfrm>
              <a:custGeom>
                <a:avLst/>
                <a:gdLst>
                  <a:gd name="connsiteX0" fmla="*/ 0 w 191587"/>
                  <a:gd name="connsiteY0" fmla="*/ 266232 h 274940"/>
                  <a:gd name="connsiteX1" fmla="*/ 0 w 191587"/>
                  <a:gd name="connsiteY1" fmla="*/ 8709 h 274940"/>
                  <a:gd name="connsiteX2" fmla="*/ 8709 w 191587"/>
                  <a:gd name="connsiteY2" fmla="*/ 0 h 274940"/>
                  <a:gd name="connsiteX3" fmla="*/ 127725 w 191587"/>
                  <a:gd name="connsiteY3" fmla="*/ 0 h 274940"/>
                  <a:gd name="connsiteX4" fmla="*/ 191587 w 191587"/>
                  <a:gd name="connsiteY4" fmla="*/ 63862 h 274940"/>
                  <a:gd name="connsiteX5" fmla="*/ 191587 w 191587"/>
                  <a:gd name="connsiteY5" fmla="*/ 266232 h 274940"/>
                  <a:gd name="connsiteX6" fmla="*/ 182879 w 191587"/>
                  <a:gd name="connsiteY6" fmla="*/ 274940 h 274940"/>
                  <a:gd name="connsiteX7" fmla="*/ 8709 w 191587"/>
                  <a:gd name="connsiteY7" fmla="*/ 274940 h 274940"/>
                  <a:gd name="connsiteX8" fmla="*/ 0 w 191587"/>
                  <a:gd name="connsiteY8" fmla="*/ 266232 h 27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91587" h="274940">
                    <a:moveTo>
                      <a:pt x="0" y="266232"/>
                    </a:moveTo>
                    <a:lnTo>
                      <a:pt x="0" y="8709"/>
                    </a:lnTo>
                    <a:cubicBezTo>
                      <a:pt x="0" y="3732"/>
                      <a:pt x="3732" y="0"/>
                      <a:pt x="8709" y="0"/>
                    </a:cubicBezTo>
                    <a:lnTo>
                      <a:pt x="127725" y="0"/>
                    </a:lnTo>
                    <a:lnTo>
                      <a:pt x="191587" y="63862"/>
                    </a:lnTo>
                    <a:lnTo>
                      <a:pt x="191587" y="266232"/>
                    </a:lnTo>
                    <a:cubicBezTo>
                      <a:pt x="191587" y="271208"/>
                      <a:pt x="187855" y="274940"/>
                      <a:pt x="182879" y="274940"/>
                    </a:cubicBezTo>
                    <a:lnTo>
                      <a:pt x="8709" y="274940"/>
                    </a:lnTo>
                    <a:cubicBezTo>
                      <a:pt x="3732" y="274940"/>
                      <a:pt x="0" y="271208"/>
                      <a:pt x="0" y="266232"/>
                    </a:cubicBez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194" name="Freeform: Shape 249">
                <a:extLst>
                  <a:ext uri="{FF2B5EF4-FFF2-40B4-BE49-F238E27FC236}">
                    <a16:creationId xmlns:a16="http://schemas.microsoft.com/office/drawing/2014/main" id="{CF46525E-B699-4D77-8E75-0CE7B17DA680}"/>
                  </a:ext>
                </a:extLst>
              </p:cNvPr>
              <p:cNvSpPr/>
              <p:nvPr/>
            </p:nvSpPr>
            <p:spPr>
              <a:xfrm>
                <a:off x="6823961" y="2050980"/>
                <a:ext cx="64277" cy="63862"/>
              </a:xfrm>
              <a:custGeom>
                <a:avLst/>
                <a:gdLst>
                  <a:gd name="connsiteX0" fmla="*/ 0 w 64277"/>
                  <a:gd name="connsiteY0" fmla="*/ 63862 h 63862"/>
                  <a:gd name="connsiteX1" fmla="*/ 64277 w 64277"/>
                  <a:gd name="connsiteY1" fmla="*/ 63862 h 63862"/>
                  <a:gd name="connsiteX2" fmla="*/ 0 w 64277"/>
                  <a:gd name="connsiteY2" fmla="*/ 0 h 638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64277" h="63862">
                    <a:moveTo>
                      <a:pt x="0" y="63862"/>
                    </a:moveTo>
                    <a:lnTo>
                      <a:pt x="64277" y="63862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195" name="Freeform: Shape 250">
                <a:extLst>
                  <a:ext uri="{FF2B5EF4-FFF2-40B4-BE49-F238E27FC236}">
                    <a16:creationId xmlns:a16="http://schemas.microsoft.com/office/drawing/2014/main" id="{7E63A015-DC61-7D44-BF08-49A1A77E15B4}"/>
                  </a:ext>
                </a:extLst>
              </p:cNvPr>
              <p:cNvSpPr/>
              <p:nvPr/>
            </p:nvSpPr>
            <p:spPr>
              <a:xfrm>
                <a:off x="6724849" y="2166679"/>
                <a:ext cx="135189" cy="4146"/>
              </a:xfrm>
              <a:custGeom>
                <a:avLst/>
                <a:gdLst>
                  <a:gd name="connsiteX0" fmla="*/ 0 w 135189"/>
                  <a:gd name="connsiteY0" fmla="*/ 0 h 4146"/>
                  <a:gd name="connsiteX1" fmla="*/ 135189 w 135189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35189" h="4146">
                    <a:moveTo>
                      <a:pt x="0" y="0"/>
                    </a:moveTo>
                    <a:lnTo>
                      <a:pt x="135189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196" name="Freeform: Shape 251">
                <a:extLst>
                  <a:ext uri="{FF2B5EF4-FFF2-40B4-BE49-F238E27FC236}">
                    <a16:creationId xmlns:a16="http://schemas.microsoft.com/office/drawing/2014/main" id="{74D09339-C85D-88B1-71A0-1599DCD1CC2B}"/>
                  </a:ext>
                </a:extLst>
              </p:cNvPr>
              <p:cNvSpPr/>
              <p:nvPr/>
            </p:nvSpPr>
            <p:spPr>
              <a:xfrm>
                <a:off x="6724849" y="2204001"/>
                <a:ext cx="135189" cy="4146"/>
              </a:xfrm>
              <a:custGeom>
                <a:avLst/>
                <a:gdLst>
                  <a:gd name="connsiteX0" fmla="*/ 0 w 135189"/>
                  <a:gd name="connsiteY0" fmla="*/ 0 h 4146"/>
                  <a:gd name="connsiteX1" fmla="*/ 135189 w 135189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35189" h="4146">
                    <a:moveTo>
                      <a:pt x="0" y="0"/>
                    </a:moveTo>
                    <a:lnTo>
                      <a:pt x="135189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197" name="Freeform: Shape 252">
                <a:extLst>
                  <a:ext uri="{FF2B5EF4-FFF2-40B4-BE49-F238E27FC236}">
                    <a16:creationId xmlns:a16="http://schemas.microsoft.com/office/drawing/2014/main" id="{6B316A8C-2EEF-4A29-0744-382EECC48266}"/>
                  </a:ext>
                </a:extLst>
              </p:cNvPr>
              <p:cNvSpPr/>
              <p:nvPr/>
            </p:nvSpPr>
            <p:spPr>
              <a:xfrm>
                <a:off x="6724849" y="2241323"/>
                <a:ext cx="135189" cy="4146"/>
              </a:xfrm>
              <a:custGeom>
                <a:avLst/>
                <a:gdLst>
                  <a:gd name="connsiteX0" fmla="*/ 0 w 135189"/>
                  <a:gd name="connsiteY0" fmla="*/ 0 h 4146"/>
                  <a:gd name="connsiteX1" fmla="*/ 135189 w 135189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35189" h="4146">
                    <a:moveTo>
                      <a:pt x="0" y="0"/>
                    </a:moveTo>
                    <a:lnTo>
                      <a:pt x="135189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198" name="Freeform: Shape 253">
                <a:extLst>
                  <a:ext uri="{FF2B5EF4-FFF2-40B4-BE49-F238E27FC236}">
                    <a16:creationId xmlns:a16="http://schemas.microsoft.com/office/drawing/2014/main" id="{6D486CC0-38B2-2538-3996-4B5B7C5A9686}"/>
                  </a:ext>
                </a:extLst>
              </p:cNvPr>
              <p:cNvSpPr/>
              <p:nvPr/>
            </p:nvSpPr>
            <p:spPr>
              <a:xfrm>
                <a:off x="6724849" y="2279060"/>
                <a:ext cx="135189" cy="4146"/>
              </a:xfrm>
              <a:custGeom>
                <a:avLst/>
                <a:gdLst>
                  <a:gd name="connsiteX0" fmla="*/ 0 w 135189"/>
                  <a:gd name="connsiteY0" fmla="*/ 0 h 4146"/>
                  <a:gd name="connsiteX1" fmla="*/ 135189 w 135189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35189" h="4146">
                    <a:moveTo>
                      <a:pt x="0" y="0"/>
                    </a:moveTo>
                    <a:lnTo>
                      <a:pt x="135189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199" name="Freeform: Shape 254">
                <a:extLst>
                  <a:ext uri="{FF2B5EF4-FFF2-40B4-BE49-F238E27FC236}">
                    <a16:creationId xmlns:a16="http://schemas.microsoft.com/office/drawing/2014/main" id="{6C780820-916A-15DD-88A3-3A2497763028}"/>
                  </a:ext>
                </a:extLst>
              </p:cNvPr>
              <p:cNvSpPr/>
              <p:nvPr/>
            </p:nvSpPr>
            <p:spPr>
              <a:xfrm>
                <a:off x="6724849" y="2128942"/>
                <a:ext cx="76303" cy="4146"/>
              </a:xfrm>
              <a:custGeom>
                <a:avLst/>
                <a:gdLst>
                  <a:gd name="connsiteX0" fmla="*/ 0 w 76303"/>
                  <a:gd name="connsiteY0" fmla="*/ 0 h 4146"/>
                  <a:gd name="connsiteX1" fmla="*/ 76303 w 76303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76303" h="4146">
                    <a:moveTo>
                      <a:pt x="0" y="0"/>
                    </a:moveTo>
                    <a:lnTo>
                      <a:pt x="76303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</p:grpSp>
        <p:sp>
          <p:nvSpPr>
            <p:cNvPr id="192" name="Freeform: Shape 247">
              <a:extLst>
                <a:ext uri="{FF2B5EF4-FFF2-40B4-BE49-F238E27FC236}">
                  <a16:creationId xmlns:a16="http://schemas.microsoft.com/office/drawing/2014/main" id="{79AFED94-DA35-2D4B-4836-C744368FA0A9}"/>
                </a:ext>
              </a:extLst>
            </p:cNvPr>
            <p:cNvSpPr/>
            <p:nvPr/>
          </p:nvSpPr>
          <p:spPr>
            <a:xfrm>
              <a:off x="5610344" y="2221088"/>
              <a:ext cx="179561" cy="161314"/>
            </a:xfrm>
            <a:custGeom>
              <a:avLst/>
              <a:gdLst>
                <a:gd name="connsiteX0" fmla="*/ 95794 w 179561"/>
                <a:gd name="connsiteY0" fmla="*/ 99111 h 161314"/>
                <a:gd name="connsiteX1" fmla="*/ 29028 w 179561"/>
                <a:gd name="connsiteY1" fmla="*/ 154680 h 161314"/>
                <a:gd name="connsiteX2" fmla="*/ 0 w 179561"/>
                <a:gd name="connsiteY2" fmla="*/ 119846 h 161314"/>
                <a:gd name="connsiteX3" fmla="*/ 66765 w 179561"/>
                <a:gd name="connsiteY3" fmla="*/ 64277 h 161314"/>
                <a:gd name="connsiteX4" fmla="*/ 8294 w 179561"/>
                <a:gd name="connsiteY4" fmla="*/ 38981 h 161314"/>
                <a:gd name="connsiteX5" fmla="*/ 179561 w 179561"/>
                <a:gd name="connsiteY5" fmla="*/ 0 h 161314"/>
                <a:gd name="connsiteX6" fmla="*/ 109893 w 179561"/>
                <a:gd name="connsiteY6" fmla="*/ 161315 h 161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9561" h="161314">
                  <a:moveTo>
                    <a:pt x="95794" y="99111"/>
                  </a:moveTo>
                  <a:lnTo>
                    <a:pt x="29028" y="154680"/>
                  </a:lnTo>
                  <a:lnTo>
                    <a:pt x="0" y="119846"/>
                  </a:lnTo>
                  <a:lnTo>
                    <a:pt x="66765" y="64277"/>
                  </a:lnTo>
                  <a:lnTo>
                    <a:pt x="8294" y="38981"/>
                  </a:lnTo>
                  <a:lnTo>
                    <a:pt x="179561" y="0"/>
                  </a:lnTo>
                  <a:lnTo>
                    <a:pt x="109893" y="161315"/>
                  </a:lnTo>
                  <a:close/>
                </a:path>
              </a:pathLst>
            </a:custGeom>
            <a:noFill/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mazon Ember"/>
              </a:endParaRPr>
            </a:p>
          </p:txBody>
        </p:sp>
      </p:grpSp>
      <p:grpSp>
        <p:nvGrpSpPr>
          <p:cNvPr id="215" name="Group 2">
            <a:extLst>
              <a:ext uri="{FF2B5EF4-FFF2-40B4-BE49-F238E27FC236}">
                <a16:creationId xmlns:a16="http://schemas.microsoft.com/office/drawing/2014/main" id="{AF2CAEAC-CD27-B1E3-0D7E-DB01D6C4411E}"/>
              </a:ext>
            </a:extLst>
          </p:cNvPr>
          <p:cNvGrpSpPr/>
          <p:nvPr/>
        </p:nvGrpSpPr>
        <p:grpSpPr>
          <a:xfrm>
            <a:off x="7863148" y="3271249"/>
            <a:ext cx="1109517" cy="955888"/>
            <a:chOff x="5610344" y="1866942"/>
            <a:chExt cx="735662" cy="570615"/>
          </a:xfrm>
        </p:grpSpPr>
        <p:grpSp>
          <p:nvGrpSpPr>
            <p:cNvPr id="216" name="Graphic 18">
              <a:extLst>
                <a:ext uri="{FF2B5EF4-FFF2-40B4-BE49-F238E27FC236}">
                  <a16:creationId xmlns:a16="http://schemas.microsoft.com/office/drawing/2014/main" id="{7CE7DF84-2729-59B0-EEB2-31981D833E24}"/>
                </a:ext>
              </a:extLst>
            </p:cNvPr>
            <p:cNvGrpSpPr/>
            <p:nvPr/>
          </p:nvGrpSpPr>
          <p:grpSpPr>
            <a:xfrm>
              <a:off x="5672963" y="1866942"/>
              <a:ext cx="496385" cy="570615"/>
              <a:chOff x="6215194" y="1890080"/>
              <a:chExt cx="496385" cy="570615"/>
            </a:xfrm>
            <a:noFill/>
          </p:grpSpPr>
          <p:sp>
            <p:nvSpPr>
              <p:cNvPr id="232" name="Freeform: Shape 260">
                <a:extLst>
                  <a:ext uri="{FF2B5EF4-FFF2-40B4-BE49-F238E27FC236}">
                    <a16:creationId xmlns:a16="http://schemas.microsoft.com/office/drawing/2014/main" id="{D491D1B5-C6B5-36E0-FA39-92E2B10A4CAC}"/>
                  </a:ext>
                </a:extLst>
              </p:cNvPr>
              <p:cNvSpPr/>
              <p:nvPr/>
            </p:nvSpPr>
            <p:spPr>
              <a:xfrm>
                <a:off x="6640252" y="1933207"/>
                <a:ext cx="4146" cy="87499"/>
              </a:xfrm>
              <a:custGeom>
                <a:avLst/>
                <a:gdLst>
                  <a:gd name="connsiteX0" fmla="*/ 0 w 4146"/>
                  <a:gd name="connsiteY0" fmla="*/ 87500 h 87499"/>
                  <a:gd name="connsiteX1" fmla="*/ 0 w 4146"/>
                  <a:gd name="connsiteY1" fmla="*/ 0 h 87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4146" h="87499">
                    <a:moveTo>
                      <a:pt x="0" y="87500"/>
                    </a:moveTo>
                    <a:lnTo>
                      <a:pt x="0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33" name="Freeform: Shape 261">
                <a:extLst>
                  <a:ext uri="{FF2B5EF4-FFF2-40B4-BE49-F238E27FC236}">
                    <a16:creationId xmlns:a16="http://schemas.microsoft.com/office/drawing/2014/main" id="{7A1ED2C0-32D0-F875-9602-66DC4C56B9DE}"/>
                  </a:ext>
                </a:extLst>
              </p:cNvPr>
              <p:cNvSpPr/>
              <p:nvPr/>
            </p:nvSpPr>
            <p:spPr>
              <a:xfrm>
                <a:off x="6577634" y="2381489"/>
                <a:ext cx="63033" cy="37322"/>
              </a:xfrm>
              <a:custGeom>
                <a:avLst/>
                <a:gdLst>
                  <a:gd name="connsiteX0" fmla="*/ 63033 w 63033"/>
                  <a:gd name="connsiteY0" fmla="*/ 37322 h 37322"/>
                  <a:gd name="connsiteX1" fmla="*/ 0 w 63033"/>
                  <a:gd name="connsiteY1" fmla="*/ 0 h 373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3033" h="37322">
                    <a:moveTo>
                      <a:pt x="63033" y="37322"/>
                    </a:moveTo>
                    <a:lnTo>
                      <a:pt x="0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34" name="Freeform: Shape 262">
                <a:extLst>
                  <a:ext uri="{FF2B5EF4-FFF2-40B4-BE49-F238E27FC236}">
                    <a16:creationId xmlns:a16="http://schemas.microsoft.com/office/drawing/2014/main" id="{A82AE3AE-3B7F-5565-9F33-C3F5E0A262E8}"/>
                  </a:ext>
                </a:extLst>
              </p:cNvPr>
              <p:cNvSpPr/>
              <p:nvPr/>
            </p:nvSpPr>
            <p:spPr>
              <a:xfrm>
                <a:off x="6497599" y="2360340"/>
                <a:ext cx="213980" cy="100355"/>
              </a:xfrm>
              <a:custGeom>
                <a:avLst/>
                <a:gdLst>
                  <a:gd name="connsiteX0" fmla="*/ 213981 w 213980"/>
                  <a:gd name="connsiteY0" fmla="*/ 0 h 100355"/>
                  <a:gd name="connsiteX1" fmla="*/ 213981 w 213980"/>
                  <a:gd name="connsiteY1" fmla="*/ 17002 h 100355"/>
                  <a:gd name="connsiteX2" fmla="*/ 71327 w 213980"/>
                  <a:gd name="connsiteY2" fmla="*/ 100355 h 100355"/>
                  <a:gd name="connsiteX3" fmla="*/ 0 w 213980"/>
                  <a:gd name="connsiteY3" fmla="*/ 62204 h 1003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3980" h="100355">
                    <a:moveTo>
                      <a:pt x="213981" y="0"/>
                    </a:moveTo>
                    <a:lnTo>
                      <a:pt x="213981" y="17002"/>
                    </a:lnTo>
                    <a:lnTo>
                      <a:pt x="71327" y="100355"/>
                    </a:lnTo>
                    <a:lnTo>
                      <a:pt x="0" y="62204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35" name="Freeform: Shape 263">
                <a:extLst>
                  <a:ext uri="{FF2B5EF4-FFF2-40B4-BE49-F238E27FC236}">
                    <a16:creationId xmlns:a16="http://schemas.microsoft.com/office/drawing/2014/main" id="{6F5F555A-95A5-CFB4-F2BE-89BAC6B9BF90}"/>
                  </a:ext>
                </a:extLst>
              </p:cNvPr>
              <p:cNvSpPr/>
              <p:nvPr/>
            </p:nvSpPr>
            <p:spPr>
              <a:xfrm>
                <a:off x="6497599" y="1890080"/>
                <a:ext cx="213980" cy="129383"/>
              </a:xfrm>
              <a:custGeom>
                <a:avLst/>
                <a:gdLst>
                  <a:gd name="connsiteX0" fmla="*/ 0 w 213980"/>
                  <a:gd name="connsiteY0" fmla="*/ 47275 h 129383"/>
                  <a:gd name="connsiteX1" fmla="*/ 71327 w 213980"/>
                  <a:gd name="connsiteY1" fmla="*/ 0 h 129383"/>
                  <a:gd name="connsiteX2" fmla="*/ 213981 w 213980"/>
                  <a:gd name="connsiteY2" fmla="*/ 82938 h 129383"/>
                  <a:gd name="connsiteX3" fmla="*/ 213981 w 213980"/>
                  <a:gd name="connsiteY3" fmla="*/ 129384 h 1293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3980" h="129383">
                    <a:moveTo>
                      <a:pt x="0" y="47275"/>
                    </a:moveTo>
                    <a:lnTo>
                      <a:pt x="71327" y="0"/>
                    </a:lnTo>
                    <a:lnTo>
                      <a:pt x="213981" y="82938"/>
                    </a:lnTo>
                    <a:lnTo>
                      <a:pt x="213981" y="129384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36" name="Freeform: Shape 264">
                <a:extLst>
                  <a:ext uri="{FF2B5EF4-FFF2-40B4-BE49-F238E27FC236}">
                    <a16:creationId xmlns:a16="http://schemas.microsoft.com/office/drawing/2014/main" id="{59CA5E41-D5BA-6014-F785-9A089E8F1165}"/>
                  </a:ext>
                </a:extLst>
              </p:cNvPr>
              <p:cNvSpPr/>
              <p:nvPr/>
            </p:nvSpPr>
            <p:spPr>
              <a:xfrm>
                <a:off x="6286521" y="2068397"/>
                <a:ext cx="71326" cy="35663"/>
              </a:xfrm>
              <a:custGeom>
                <a:avLst/>
                <a:gdLst>
                  <a:gd name="connsiteX0" fmla="*/ 71327 w 71326"/>
                  <a:gd name="connsiteY0" fmla="*/ 35663 h 35663"/>
                  <a:gd name="connsiteX1" fmla="*/ 0 w 71326"/>
                  <a:gd name="connsiteY1" fmla="*/ 0 h 356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71326" h="35663">
                    <a:moveTo>
                      <a:pt x="71327" y="35663"/>
                    </a:moveTo>
                    <a:lnTo>
                      <a:pt x="0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37" name="Freeform: Shape 265">
                <a:extLst>
                  <a:ext uri="{FF2B5EF4-FFF2-40B4-BE49-F238E27FC236}">
                    <a16:creationId xmlns:a16="http://schemas.microsoft.com/office/drawing/2014/main" id="{23EC2D97-5E5C-6667-C12E-A0E221537BE1}"/>
                  </a:ext>
                </a:extLst>
              </p:cNvPr>
              <p:cNvSpPr/>
              <p:nvPr/>
            </p:nvSpPr>
            <p:spPr>
              <a:xfrm>
                <a:off x="6357847" y="1933207"/>
                <a:ext cx="4146" cy="87499"/>
              </a:xfrm>
              <a:custGeom>
                <a:avLst/>
                <a:gdLst>
                  <a:gd name="connsiteX0" fmla="*/ 0 w 4146"/>
                  <a:gd name="connsiteY0" fmla="*/ 87500 h 87499"/>
                  <a:gd name="connsiteX1" fmla="*/ 0 w 4146"/>
                  <a:gd name="connsiteY1" fmla="*/ 0 h 87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4146" h="87499">
                    <a:moveTo>
                      <a:pt x="0" y="87500"/>
                    </a:moveTo>
                    <a:lnTo>
                      <a:pt x="0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38" name="Freeform: Shape 266">
                <a:extLst>
                  <a:ext uri="{FF2B5EF4-FFF2-40B4-BE49-F238E27FC236}">
                    <a16:creationId xmlns:a16="http://schemas.microsoft.com/office/drawing/2014/main" id="{CE665B4E-AE4B-782D-DD31-0B42D0BAEF73}"/>
                  </a:ext>
                </a:extLst>
              </p:cNvPr>
              <p:cNvSpPr/>
              <p:nvPr/>
            </p:nvSpPr>
            <p:spPr>
              <a:xfrm>
                <a:off x="6215194" y="2138894"/>
                <a:ext cx="68838" cy="40225"/>
              </a:xfrm>
              <a:custGeom>
                <a:avLst/>
                <a:gdLst>
                  <a:gd name="connsiteX0" fmla="*/ 0 w 68838"/>
                  <a:gd name="connsiteY0" fmla="*/ 40225 h 40225"/>
                  <a:gd name="connsiteX1" fmla="*/ 68839 w 68838"/>
                  <a:gd name="connsiteY1" fmla="*/ 0 h 402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8838" h="40225">
                    <a:moveTo>
                      <a:pt x="0" y="40225"/>
                    </a:moveTo>
                    <a:lnTo>
                      <a:pt x="68839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39" name="Freeform: Shape 267">
                <a:extLst>
                  <a:ext uri="{FF2B5EF4-FFF2-40B4-BE49-F238E27FC236}">
                    <a16:creationId xmlns:a16="http://schemas.microsoft.com/office/drawing/2014/main" id="{42D70266-CEE6-CB82-D1CB-DA951C0145C1}"/>
                  </a:ext>
                </a:extLst>
              </p:cNvPr>
              <p:cNvSpPr/>
              <p:nvPr/>
            </p:nvSpPr>
            <p:spPr>
              <a:xfrm>
                <a:off x="6356189" y="2381489"/>
                <a:ext cx="64277" cy="38151"/>
              </a:xfrm>
              <a:custGeom>
                <a:avLst/>
                <a:gdLst>
                  <a:gd name="connsiteX0" fmla="*/ 0 w 64277"/>
                  <a:gd name="connsiteY0" fmla="*/ 38152 h 38151"/>
                  <a:gd name="connsiteX1" fmla="*/ 64277 w 64277"/>
                  <a:gd name="connsiteY1" fmla="*/ 0 h 381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4277" h="38151">
                    <a:moveTo>
                      <a:pt x="0" y="38152"/>
                    </a:moveTo>
                    <a:lnTo>
                      <a:pt x="64277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40" name="Freeform: Shape 268">
                <a:extLst>
                  <a:ext uri="{FF2B5EF4-FFF2-40B4-BE49-F238E27FC236}">
                    <a16:creationId xmlns:a16="http://schemas.microsoft.com/office/drawing/2014/main" id="{EC37B605-4B57-7C0E-F052-C4E4D58656AD}"/>
                  </a:ext>
                </a:extLst>
              </p:cNvPr>
              <p:cNvSpPr/>
              <p:nvPr/>
            </p:nvSpPr>
            <p:spPr>
              <a:xfrm>
                <a:off x="6318866" y="2396418"/>
                <a:ext cx="181634" cy="64277"/>
              </a:xfrm>
              <a:custGeom>
                <a:avLst/>
                <a:gdLst>
                  <a:gd name="connsiteX0" fmla="*/ 0 w 181634"/>
                  <a:gd name="connsiteY0" fmla="*/ 0 h 64277"/>
                  <a:gd name="connsiteX1" fmla="*/ 110308 w 181634"/>
                  <a:gd name="connsiteY1" fmla="*/ 64277 h 64277"/>
                  <a:gd name="connsiteX2" fmla="*/ 181635 w 181634"/>
                  <a:gd name="connsiteY2" fmla="*/ 26126 h 642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81634" h="64277">
                    <a:moveTo>
                      <a:pt x="0" y="0"/>
                    </a:moveTo>
                    <a:lnTo>
                      <a:pt x="110308" y="64277"/>
                    </a:lnTo>
                    <a:lnTo>
                      <a:pt x="181635" y="26126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41" name="Freeform: Shape 269">
                <a:extLst>
                  <a:ext uri="{FF2B5EF4-FFF2-40B4-BE49-F238E27FC236}">
                    <a16:creationId xmlns:a16="http://schemas.microsoft.com/office/drawing/2014/main" id="{F7118C62-83F9-A0A4-C07D-A900C94555C1}"/>
                  </a:ext>
                </a:extLst>
              </p:cNvPr>
              <p:cNvSpPr/>
              <p:nvPr/>
            </p:nvSpPr>
            <p:spPr>
              <a:xfrm>
                <a:off x="6215194" y="1890080"/>
                <a:ext cx="285307" cy="320971"/>
              </a:xfrm>
              <a:custGeom>
                <a:avLst/>
                <a:gdLst>
                  <a:gd name="connsiteX0" fmla="*/ 285308 w 285307"/>
                  <a:gd name="connsiteY0" fmla="*/ 47275 h 320971"/>
                  <a:gd name="connsiteX1" fmla="*/ 213981 w 285307"/>
                  <a:gd name="connsiteY1" fmla="*/ 0 h 320971"/>
                  <a:gd name="connsiteX2" fmla="*/ 71327 w 285307"/>
                  <a:gd name="connsiteY2" fmla="*/ 82938 h 320971"/>
                  <a:gd name="connsiteX3" fmla="*/ 71327 w 285307"/>
                  <a:gd name="connsiteY3" fmla="*/ 177488 h 320971"/>
                  <a:gd name="connsiteX4" fmla="*/ 0 w 285307"/>
                  <a:gd name="connsiteY4" fmla="*/ 213981 h 320971"/>
                  <a:gd name="connsiteX5" fmla="*/ 0 w 285307"/>
                  <a:gd name="connsiteY5" fmla="*/ 288211 h 320971"/>
                  <a:gd name="connsiteX6" fmla="*/ 0 w 285307"/>
                  <a:gd name="connsiteY6" fmla="*/ 320971 h 3209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85307" h="320971">
                    <a:moveTo>
                      <a:pt x="285308" y="47275"/>
                    </a:moveTo>
                    <a:lnTo>
                      <a:pt x="213981" y="0"/>
                    </a:lnTo>
                    <a:lnTo>
                      <a:pt x="71327" y="82938"/>
                    </a:lnTo>
                    <a:lnTo>
                      <a:pt x="71327" y="177488"/>
                    </a:lnTo>
                    <a:lnTo>
                      <a:pt x="0" y="213981"/>
                    </a:lnTo>
                    <a:lnTo>
                      <a:pt x="0" y="288211"/>
                    </a:lnTo>
                    <a:lnTo>
                      <a:pt x="0" y="320971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</p:grpSp>
        <p:grpSp>
          <p:nvGrpSpPr>
            <p:cNvPr id="217" name="Graphic 18">
              <a:extLst>
                <a:ext uri="{FF2B5EF4-FFF2-40B4-BE49-F238E27FC236}">
                  <a16:creationId xmlns:a16="http://schemas.microsoft.com/office/drawing/2014/main" id="{37B3F377-D4AC-1D96-7F5D-C514EB04B154}"/>
                </a:ext>
              </a:extLst>
            </p:cNvPr>
            <p:cNvGrpSpPr/>
            <p:nvPr/>
          </p:nvGrpSpPr>
          <p:grpSpPr>
            <a:xfrm>
              <a:off x="5872840" y="2023728"/>
              <a:ext cx="252965" cy="298130"/>
              <a:chOff x="6415071" y="2046866"/>
              <a:chExt cx="252965" cy="298130"/>
            </a:xfrm>
            <a:noFill/>
          </p:grpSpPr>
          <p:sp>
            <p:nvSpPr>
              <p:cNvPr id="227" name="Freeform: Shape 255">
                <a:extLst>
                  <a:ext uri="{FF2B5EF4-FFF2-40B4-BE49-F238E27FC236}">
                    <a16:creationId xmlns:a16="http://schemas.microsoft.com/office/drawing/2014/main" id="{586A6E5F-2C1C-2DDA-C320-3B7F74217B6F}"/>
                  </a:ext>
                </a:extLst>
              </p:cNvPr>
              <p:cNvSpPr/>
              <p:nvPr/>
            </p:nvSpPr>
            <p:spPr>
              <a:xfrm>
                <a:off x="6480181" y="2195707"/>
                <a:ext cx="187855" cy="4146"/>
              </a:xfrm>
              <a:custGeom>
                <a:avLst/>
                <a:gdLst>
                  <a:gd name="connsiteX0" fmla="*/ 0 w 187855"/>
                  <a:gd name="connsiteY0" fmla="*/ 0 h 4146"/>
                  <a:gd name="connsiteX1" fmla="*/ 187855 w 187855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87855" h="4146">
                    <a:moveTo>
                      <a:pt x="0" y="0"/>
                    </a:moveTo>
                    <a:lnTo>
                      <a:pt x="187855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28" name="Freeform: Shape 256">
                <a:extLst>
                  <a:ext uri="{FF2B5EF4-FFF2-40B4-BE49-F238E27FC236}">
                    <a16:creationId xmlns:a16="http://schemas.microsoft.com/office/drawing/2014/main" id="{5EB0416B-D4FD-DF6C-4CE7-823559482540}"/>
                  </a:ext>
                </a:extLst>
              </p:cNvPr>
              <p:cNvSpPr/>
              <p:nvPr/>
            </p:nvSpPr>
            <p:spPr>
              <a:xfrm>
                <a:off x="6480181" y="2073373"/>
                <a:ext cx="93720" cy="245082"/>
              </a:xfrm>
              <a:custGeom>
                <a:avLst/>
                <a:gdLst>
                  <a:gd name="connsiteX0" fmla="*/ 0 w 93720"/>
                  <a:gd name="connsiteY0" fmla="*/ 0 h 245082"/>
                  <a:gd name="connsiteX1" fmla="*/ 93720 w 93720"/>
                  <a:gd name="connsiteY1" fmla="*/ 0 h 245082"/>
                  <a:gd name="connsiteX2" fmla="*/ 93720 w 93720"/>
                  <a:gd name="connsiteY2" fmla="*/ 245083 h 245082"/>
                  <a:gd name="connsiteX3" fmla="*/ 0 w 93720"/>
                  <a:gd name="connsiteY3" fmla="*/ 245083 h 2450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3720" h="245082">
                    <a:moveTo>
                      <a:pt x="0" y="0"/>
                    </a:moveTo>
                    <a:lnTo>
                      <a:pt x="93720" y="0"/>
                    </a:lnTo>
                    <a:lnTo>
                      <a:pt x="93720" y="245083"/>
                    </a:lnTo>
                    <a:lnTo>
                      <a:pt x="0" y="245083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29" name="Freeform: Shape 257">
                <a:extLst>
                  <a:ext uri="{FF2B5EF4-FFF2-40B4-BE49-F238E27FC236}">
                    <a16:creationId xmlns:a16="http://schemas.microsoft.com/office/drawing/2014/main" id="{6321D77B-4427-5A25-76DC-EB0ACDD69D64}"/>
                  </a:ext>
                </a:extLst>
              </p:cNvPr>
              <p:cNvSpPr/>
              <p:nvPr/>
            </p:nvSpPr>
            <p:spPr>
              <a:xfrm rot="5400000">
                <a:off x="6415071" y="2046866"/>
                <a:ext cx="53080" cy="53080"/>
              </a:xfrm>
              <a:custGeom>
                <a:avLst/>
                <a:gdLst>
                  <a:gd name="connsiteX0" fmla="*/ 0 w 53080"/>
                  <a:gd name="connsiteY0" fmla="*/ 0 h 53080"/>
                  <a:gd name="connsiteX1" fmla="*/ 53080 w 53080"/>
                  <a:gd name="connsiteY1" fmla="*/ 0 h 53080"/>
                  <a:gd name="connsiteX2" fmla="*/ 53080 w 53080"/>
                  <a:gd name="connsiteY2" fmla="*/ 53081 h 53080"/>
                  <a:gd name="connsiteX3" fmla="*/ 0 w 53080"/>
                  <a:gd name="connsiteY3" fmla="*/ 53081 h 530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3080" h="53080">
                    <a:moveTo>
                      <a:pt x="0" y="0"/>
                    </a:moveTo>
                    <a:lnTo>
                      <a:pt x="53080" y="0"/>
                    </a:lnTo>
                    <a:lnTo>
                      <a:pt x="53080" y="53081"/>
                    </a:lnTo>
                    <a:lnTo>
                      <a:pt x="0" y="53081"/>
                    </a:ln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30" name="Freeform: Shape 258">
                <a:extLst>
                  <a:ext uri="{FF2B5EF4-FFF2-40B4-BE49-F238E27FC236}">
                    <a16:creationId xmlns:a16="http://schemas.microsoft.com/office/drawing/2014/main" id="{32788926-88D9-698A-251E-05ED194704F7}"/>
                  </a:ext>
                </a:extLst>
              </p:cNvPr>
              <p:cNvSpPr/>
              <p:nvPr/>
            </p:nvSpPr>
            <p:spPr>
              <a:xfrm>
                <a:off x="6415490" y="2161702"/>
                <a:ext cx="52665" cy="68424"/>
              </a:xfrm>
              <a:custGeom>
                <a:avLst/>
                <a:gdLst>
                  <a:gd name="connsiteX0" fmla="*/ 0 w 52665"/>
                  <a:gd name="connsiteY0" fmla="*/ 68424 h 68424"/>
                  <a:gd name="connsiteX1" fmla="*/ 0 w 52665"/>
                  <a:gd name="connsiteY1" fmla="*/ 0 h 68424"/>
                  <a:gd name="connsiteX2" fmla="*/ 52666 w 52665"/>
                  <a:gd name="connsiteY2" fmla="*/ 34005 h 684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52665" h="68424">
                    <a:moveTo>
                      <a:pt x="0" y="68424"/>
                    </a:moveTo>
                    <a:lnTo>
                      <a:pt x="0" y="0"/>
                    </a:lnTo>
                    <a:lnTo>
                      <a:pt x="52666" y="34005"/>
                    </a:ln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31" name="Freeform: Shape 259">
                <a:extLst>
                  <a:ext uri="{FF2B5EF4-FFF2-40B4-BE49-F238E27FC236}">
                    <a16:creationId xmlns:a16="http://schemas.microsoft.com/office/drawing/2014/main" id="{95DE5480-CB70-37EF-2403-D917C3C7F884}"/>
                  </a:ext>
                </a:extLst>
              </p:cNvPr>
              <p:cNvSpPr/>
              <p:nvPr/>
            </p:nvSpPr>
            <p:spPr>
              <a:xfrm>
                <a:off x="6415490" y="2292330"/>
                <a:ext cx="52665" cy="52665"/>
              </a:xfrm>
              <a:custGeom>
                <a:avLst/>
                <a:gdLst>
                  <a:gd name="connsiteX0" fmla="*/ 0 w 52665"/>
                  <a:gd name="connsiteY0" fmla="*/ 30272 h 52665"/>
                  <a:gd name="connsiteX1" fmla="*/ 0 w 52665"/>
                  <a:gd name="connsiteY1" fmla="*/ 22393 h 52665"/>
                  <a:gd name="connsiteX2" fmla="*/ 22393 w 52665"/>
                  <a:gd name="connsiteY2" fmla="*/ 0 h 52665"/>
                  <a:gd name="connsiteX3" fmla="*/ 30272 w 52665"/>
                  <a:gd name="connsiteY3" fmla="*/ 0 h 52665"/>
                  <a:gd name="connsiteX4" fmla="*/ 52666 w 52665"/>
                  <a:gd name="connsiteY4" fmla="*/ 22393 h 52665"/>
                  <a:gd name="connsiteX5" fmla="*/ 52666 w 52665"/>
                  <a:gd name="connsiteY5" fmla="*/ 30272 h 52665"/>
                  <a:gd name="connsiteX6" fmla="*/ 30272 w 52665"/>
                  <a:gd name="connsiteY6" fmla="*/ 52666 h 52665"/>
                  <a:gd name="connsiteX7" fmla="*/ 22393 w 52665"/>
                  <a:gd name="connsiteY7" fmla="*/ 52666 h 52665"/>
                  <a:gd name="connsiteX8" fmla="*/ 0 w 52665"/>
                  <a:gd name="connsiteY8" fmla="*/ 30272 h 526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2665" h="52665">
                    <a:moveTo>
                      <a:pt x="0" y="30272"/>
                    </a:moveTo>
                    <a:lnTo>
                      <a:pt x="0" y="22393"/>
                    </a:lnTo>
                    <a:cubicBezTo>
                      <a:pt x="0" y="9953"/>
                      <a:pt x="9953" y="0"/>
                      <a:pt x="22393" y="0"/>
                    </a:cubicBezTo>
                    <a:lnTo>
                      <a:pt x="30272" y="0"/>
                    </a:lnTo>
                    <a:cubicBezTo>
                      <a:pt x="42713" y="0"/>
                      <a:pt x="52666" y="9953"/>
                      <a:pt x="52666" y="22393"/>
                    </a:cubicBezTo>
                    <a:lnTo>
                      <a:pt x="52666" y="30272"/>
                    </a:lnTo>
                    <a:cubicBezTo>
                      <a:pt x="52666" y="42713"/>
                      <a:pt x="42713" y="52666"/>
                      <a:pt x="30272" y="52666"/>
                    </a:cubicBezTo>
                    <a:lnTo>
                      <a:pt x="22393" y="52666"/>
                    </a:lnTo>
                    <a:cubicBezTo>
                      <a:pt x="9953" y="52666"/>
                      <a:pt x="0" y="42713"/>
                      <a:pt x="0" y="30272"/>
                    </a:cubicBez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</p:grpSp>
        <p:grpSp>
          <p:nvGrpSpPr>
            <p:cNvPr id="218" name="Graphic 18">
              <a:extLst>
                <a:ext uri="{FF2B5EF4-FFF2-40B4-BE49-F238E27FC236}">
                  <a16:creationId xmlns:a16="http://schemas.microsoft.com/office/drawing/2014/main" id="{A65BC838-09F7-80CB-5786-59BC725C3C3F}"/>
                </a:ext>
              </a:extLst>
            </p:cNvPr>
            <p:cNvGrpSpPr/>
            <p:nvPr/>
          </p:nvGrpSpPr>
          <p:grpSpPr>
            <a:xfrm>
              <a:off x="6154419" y="2027842"/>
              <a:ext cx="191587" cy="274940"/>
              <a:chOff x="6696650" y="2050980"/>
              <a:chExt cx="191587" cy="274940"/>
            </a:xfrm>
            <a:noFill/>
          </p:grpSpPr>
          <p:sp>
            <p:nvSpPr>
              <p:cNvPr id="220" name="Freeform: Shape 248">
                <a:extLst>
                  <a:ext uri="{FF2B5EF4-FFF2-40B4-BE49-F238E27FC236}">
                    <a16:creationId xmlns:a16="http://schemas.microsoft.com/office/drawing/2014/main" id="{CD13ED72-89E4-36ED-8F8C-8C051E6C8BB4}"/>
                  </a:ext>
                </a:extLst>
              </p:cNvPr>
              <p:cNvSpPr/>
              <p:nvPr/>
            </p:nvSpPr>
            <p:spPr>
              <a:xfrm>
                <a:off x="6696650" y="2050980"/>
                <a:ext cx="191587" cy="274940"/>
              </a:xfrm>
              <a:custGeom>
                <a:avLst/>
                <a:gdLst>
                  <a:gd name="connsiteX0" fmla="*/ 0 w 191587"/>
                  <a:gd name="connsiteY0" fmla="*/ 266232 h 274940"/>
                  <a:gd name="connsiteX1" fmla="*/ 0 w 191587"/>
                  <a:gd name="connsiteY1" fmla="*/ 8709 h 274940"/>
                  <a:gd name="connsiteX2" fmla="*/ 8709 w 191587"/>
                  <a:gd name="connsiteY2" fmla="*/ 0 h 274940"/>
                  <a:gd name="connsiteX3" fmla="*/ 127725 w 191587"/>
                  <a:gd name="connsiteY3" fmla="*/ 0 h 274940"/>
                  <a:gd name="connsiteX4" fmla="*/ 191587 w 191587"/>
                  <a:gd name="connsiteY4" fmla="*/ 63862 h 274940"/>
                  <a:gd name="connsiteX5" fmla="*/ 191587 w 191587"/>
                  <a:gd name="connsiteY5" fmla="*/ 266232 h 274940"/>
                  <a:gd name="connsiteX6" fmla="*/ 182879 w 191587"/>
                  <a:gd name="connsiteY6" fmla="*/ 274940 h 274940"/>
                  <a:gd name="connsiteX7" fmla="*/ 8709 w 191587"/>
                  <a:gd name="connsiteY7" fmla="*/ 274940 h 274940"/>
                  <a:gd name="connsiteX8" fmla="*/ 0 w 191587"/>
                  <a:gd name="connsiteY8" fmla="*/ 266232 h 27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91587" h="274940">
                    <a:moveTo>
                      <a:pt x="0" y="266232"/>
                    </a:moveTo>
                    <a:lnTo>
                      <a:pt x="0" y="8709"/>
                    </a:lnTo>
                    <a:cubicBezTo>
                      <a:pt x="0" y="3732"/>
                      <a:pt x="3732" y="0"/>
                      <a:pt x="8709" y="0"/>
                    </a:cubicBezTo>
                    <a:lnTo>
                      <a:pt x="127725" y="0"/>
                    </a:lnTo>
                    <a:lnTo>
                      <a:pt x="191587" y="63862"/>
                    </a:lnTo>
                    <a:lnTo>
                      <a:pt x="191587" y="266232"/>
                    </a:lnTo>
                    <a:cubicBezTo>
                      <a:pt x="191587" y="271208"/>
                      <a:pt x="187855" y="274940"/>
                      <a:pt x="182879" y="274940"/>
                    </a:cubicBezTo>
                    <a:lnTo>
                      <a:pt x="8709" y="274940"/>
                    </a:lnTo>
                    <a:cubicBezTo>
                      <a:pt x="3732" y="274940"/>
                      <a:pt x="0" y="271208"/>
                      <a:pt x="0" y="266232"/>
                    </a:cubicBez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21" name="Freeform: Shape 249">
                <a:extLst>
                  <a:ext uri="{FF2B5EF4-FFF2-40B4-BE49-F238E27FC236}">
                    <a16:creationId xmlns:a16="http://schemas.microsoft.com/office/drawing/2014/main" id="{1C377FED-F138-ED43-6A37-F115BAD5E604}"/>
                  </a:ext>
                </a:extLst>
              </p:cNvPr>
              <p:cNvSpPr/>
              <p:nvPr/>
            </p:nvSpPr>
            <p:spPr>
              <a:xfrm>
                <a:off x="6823961" y="2050980"/>
                <a:ext cx="64277" cy="63862"/>
              </a:xfrm>
              <a:custGeom>
                <a:avLst/>
                <a:gdLst>
                  <a:gd name="connsiteX0" fmla="*/ 0 w 64277"/>
                  <a:gd name="connsiteY0" fmla="*/ 63862 h 63862"/>
                  <a:gd name="connsiteX1" fmla="*/ 64277 w 64277"/>
                  <a:gd name="connsiteY1" fmla="*/ 63862 h 63862"/>
                  <a:gd name="connsiteX2" fmla="*/ 0 w 64277"/>
                  <a:gd name="connsiteY2" fmla="*/ 0 h 638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64277" h="63862">
                    <a:moveTo>
                      <a:pt x="0" y="63862"/>
                    </a:moveTo>
                    <a:lnTo>
                      <a:pt x="64277" y="63862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22" name="Freeform: Shape 250">
                <a:extLst>
                  <a:ext uri="{FF2B5EF4-FFF2-40B4-BE49-F238E27FC236}">
                    <a16:creationId xmlns:a16="http://schemas.microsoft.com/office/drawing/2014/main" id="{826FA28B-B3E6-5A7E-77EF-7900294F4F1F}"/>
                  </a:ext>
                </a:extLst>
              </p:cNvPr>
              <p:cNvSpPr/>
              <p:nvPr/>
            </p:nvSpPr>
            <p:spPr>
              <a:xfrm>
                <a:off x="6724849" y="2166679"/>
                <a:ext cx="135189" cy="4146"/>
              </a:xfrm>
              <a:custGeom>
                <a:avLst/>
                <a:gdLst>
                  <a:gd name="connsiteX0" fmla="*/ 0 w 135189"/>
                  <a:gd name="connsiteY0" fmla="*/ 0 h 4146"/>
                  <a:gd name="connsiteX1" fmla="*/ 135189 w 135189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35189" h="4146">
                    <a:moveTo>
                      <a:pt x="0" y="0"/>
                    </a:moveTo>
                    <a:lnTo>
                      <a:pt x="135189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23" name="Freeform: Shape 251">
                <a:extLst>
                  <a:ext uri="{FF2B5EF4-FFF2-40B4-BE49-F238E27FC236}">
                    <a16:creationId xmlns:a16="http://schemas.microsoft.com/office/drawing/2014/main" id="{493BF866-7746-B425-6A29-4AEBAAB96690}"/>
                  </a:ext>
                </a:extLst>
              </p:cNvPr>
              <p:cNvSpPr/>
              <p:nvPr/>
            </p:nvSpPr>
            <p:spPr>
              <a:xfrm>
                <a:off x="6724849" y="2204001"/>
                <a:ext cx="135189" cy="4146"/>
              </a:xfrm>
              <a:custGeom>
                <a:avLst/>
                <a:gdLst>
                  <a:gd name="connsiteX0" fmla="*/ 0 w 135189"/>
                  <a:gd name="connsiteY0" fmla="*/ 0 h 4146"/>
                  <a:gd name="connsiteX1" fmla="*/ 135189 w 135189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35189" h="4146">
                    <a:moveTo>
                      <a:pt x="0" y="0"/>
                    </a:moveTo>
                    <a:lnTo>
                      <a:pt x="135189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24" name="Freeform: Shape 252">
                <a:extLst>
                  <a:ext uri="{FF2B5EF4-FFF2-40B4-BE49-F238E27FC236}">
                    <a16:creationId xmlns:a16="http://schemas.microsoft.com/office/drawing/2014/main" id="{5050246B-C4B9-7B91-2805-87DC14B14B1F}"/>
                  </a:ext>
                </a:extLst>
              </p:cNvPr>
              <p:cNvSpPr/>
              <p:nvPr/>
            </p:nvSpPr>
            <p:spPr>
              <a:xfrm>
                <a:off x="6724849" y="2241323"/>
                <a:ext cx="135189" cy="4146"/>
              </a:xfrm>
              <a:custGeom>
                <a:avLst/>
                <a:gdLst>
                  <a:gd name="connsiteX0" fmla="*/ 0 w 135189"/>
                  <a:gd name="connsiteY0" fmla="*/ 0 h 4146"/>
                  <a:gd name="connsiteX1" fmla="*/ 135189 w 135189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35189" h="4146">
                    <a:moveTo>
                      <a:pt x="0" y="0"/>
                    </a:moveTo>
                    <a:lnTo>
                      <a:pt x="135189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25" name="Freeform: Shape 253">
                <a:extLst>
                  <a:ext uri="{FF2B5EF4-FFF2-40B4-BE49-F238E27FC236}">
                    <a16:creationId xmlns:a16="http://schemas.microsoft.com/office/drawing/2014/main" id="{C7085528-6CD9-28AF-B3F3-9C2BF1C8C866}"/>
                  </a:ext>
                </a:extLst>
              </p:cNvPr>
              <p:cNvSpPr/>
              <p:nvPr/>
            </p:nvSpPr>
            <p:spPr>
              <a:xfrm>
                <a:off x="6724849" y="2279060"/>
                <a:ext cx="135189" cy="4146"/>
              </a:xfrm>
              <a:custGeom>
                <a:avLst/>
                <a:gdLst>
                  <a:gd name="connsiteX0" fmla="*/ 0 w 135189"/>
                  <a:gd name="connsiteY0" fmla="*/ 0 h 4146"/>
                  <a:gd name="connsiteX1" fmla="*/ 135189 w 135189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35189" h="4146">
                    <a:moveTo>
                      <a:pt x="0" y="0"/>
                    </a:moveTo>
                    <a:lnTo>
                      <a:pt x="135189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26" name="Freeform: Shape 254">
                <a:extLst>
                  <a:ext uri="{FF2B5EF4-FFF2-40B4-BE49-F238E27FC236}">
                    <a16:creationId xmlns:a16="http://schemas.microsoft.com/office/drawing/2014/main" id="{E4D78103-B7AF-1091-0DD9-E3707C842E28}"/>
                  </a:ext>
                </a:extLst>
              </p:cNvPr>
              <p:cNvSpPr/>
              <p:nvPr/>
            </p:nvSpPr>
            <p:spPr>
              <a:xfrm>
                <a:off x="6724849" y="2128942"/>
                <a:ext cx="76303" cy="4146"/>
              </a:xfrm>
              <a:custGeom>
                <a:avLst/>
                <a:gdLst>
                  <a:gd name="connsiteX0" fmla="*/ 0 w 76303"/>
                  <a:gd name="connsiteY0" fmla="*/ 0 h 4146"/>
                  <a:gd name="connsiteX1" fmla="*/ 76303 w 76303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76303" h="4146">
                    <a:moveTo>
                      <a:pt x="0" y="0"/>
                    </a:moveTo>
                    <a:lnTo>
                      <a:pt x="76303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</p:grpSp>
        <p:sp>
          <p:nvSpPr>
            <p:cNvPr id="219" name="Freeform: Shape 247">
              <a:extLst>
                <a:ext uri="{FF2B5EF4-FFF2-40B4-BE49-F238E27FC236}">
                  <a16:creationId xmlns:a16="http://schemas.microsoft.com/office/drawing/2014/main" id="{D2E80A39-02F5-694E-88B7-5CB3AA0E5399}"/>
                </a:ext>
              </a:extLst>
            </p:cNvPr>
            <p:cNvSpPr/>
            <p:nvPr/>
          </p:nvSpPr>
          <p:spPr>
            <a:xfrm>
              <a:off x="5610344" y="2221088"/>
              <a:ext cx="179561" cy="161314"/>
            </a:xfrm>
            <a:custGeom>
              <a:avLst/>
              <a:gdLst>
                <a:gd name="connsiteX0" fmla="*/ 95794 w 179561"/>
                <a:gd name="connsiteY0" fmla="*/ 99111 h 161314"/>
                <a:gd name="connsiteX1" fmla="*/ 29028 w 179561"/>
                <a:gd name="connsiteY1" fmla="*/ 154680 h 161314"/>
                <a:gd name="connsiteX2" fmla="*/ 0 w 179561"/>
                <a:gd name="connsiteY2" fmla="*/ 119846 h 161314"/>
                <a:gd name="connsiteX3" fmla="*/ 66765 w 179561"/>
                <a:gd name="connsiteY3" fmla="*/ 64277 h 161314"/>
                <a:gd name="connsiteX4" fmla="*/ 8294 w 179561"/>
                <a:gd name="connsiteY4" fmla="*/ 38981 h 161314"/>
                <a:gd name="connsiteX5" fmla="*/ 179561 w 179561"/>
                <a:gd name="connsiteY5" fmla="*/ 0 h 161314"/>
                <a:gd name="connsiteX6" fmla="*/ 109893 w 179561"/>
                <a:gd name="connsiteY6" fmla="*/ 161315 h 161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9561" h="161314">
                  <a:moveTo>
                    <a:pt x="95794" y="99111"/>
                  </a:moveTo>
                  <a:lnTo>
                    <a:pt x="29028" y="154680"/>
                  </a:lnTo>
                  <a:lnTo>
                    <a:pt x="0" y="119846"/>
                  </a:lnTo>
                  <a:lnTo>
                    <a:pt x="66765" y="64277"/>
                  </a:lnTo>
                  <a:lnTo>
                    <a:pt x="8294" y="38981"/>
                  </a:lnTo>
                  <a:lnTo>
                    <a:pt x="179561" y="0"/>
                  </a:lnTo>
                  <a:lnTo>
                    <a:pt x="109893" y="161315"/>
                  </a:lnTo>
                  <a:close/>
                </a:path>
              </a:pathLst>
            </a:custGeom>
            <a:noFill/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mazon Ember"/>
              </a:endParaRPr>
            </a:p>
          </p:txBody>
        </p:sp>
      </p:grpSp>
      <p:grpSp>
        <p:nvGrpSpPr>
          <p:cNvPr id="242" name="Group 2">
            <a:extLst>
              <a:ext uri="{FF2B5EF4-FFF2-40B4-BE49-F238E27FC236}">
                <a16:creationId xmlns:a16="http://schemas.microsoft.com/office/drawing/2014/main" id="{FD3CCBC5-B635-3167-E175-3C069D306CE4}"/>
              </a:ext>
            </a:extLst>
          </p:cNvPr>
          <p:cNvGrpSpPr/>
          <p:nvPr/>
        </p:nvGrpSpPr>
        <p:grpSpPr>
          <a:xfrm>
            <a:off x="7863148" y="4706180"/>
            <a:ext cx="1109517" cy="955888"/>
            <a:chOff x="5610344" y="1866942"/>
            <a:chExt cx="735662" cy="570615"/>
          </a:xfrm>
        </p:grpSpPr>
        <p:grpSp>
          <p:nvGrpSpPr>
            <p:cNvPr id="243" name="Graphic 18">
              <a:extLst>
                <a:ext uri="{FF2B5EF4-FFF2-40B4-BE49-F238E27FC236}">
                  <a16:creationId xmlns:a16="http://schemas.microsoft.com/office/drawing/2014/main" id="{7F596259-3F20-8551-38E4-954F44C60981}"/>
                </a:ext>
              </a:extLst>
            </p:cNvPr>
            <p:cNvGrpSpPr/>
            <p:nvPr/>
          </p:nvGrpSpPr>
          <p:grpSpPr>
            <a:xfrm>
              <a:off x="5672963" y="1866942"/>
              <a:ext cx="496385" cy="570615"/>
              <a:chOff x="6215194" y="1890080"/>
              <a:chExt cx="496385" cy="570615"/>
            </a:xfrm>
            <a:noFill/>
          </p:grpSpPr>
          <p:sp>
            <p:nvSpPr>
              <p:cNvPr id="259" name="Freeform: Shape 260">
                <a:extLst>
                  <a:ext uri="{FF2B5EF4-FFF2-40B4-BE49-F238E27FC236}">
                    <a16:creationId xmlns:a16="http://schemas.microsoft.com/office/drawing/2014/main" id="{5E325D5E-27CA-0942-DE93-C95340EC3389}"/>
                  </a:ext>
                </a:extLst>
              </p:cNvPr>
              <p:cNvSpPr/>
              <p:nvPr/>
            </p:nvSpPr>
            <p:spPr>
              <a:xfrm>
                <a:off x="6640252" y="1933207"/>
                <a:ext cx="4146" cy="87499"/>
              </a:xfrm>
              <a:custGeom>
                <a:avLst/>
                <a:gdLst>
                  <a:gd name="connsiteX0" fmla="*/ 0 w 4146"/>
                  <a:gd name="connsiteY0" fmla="*/ 87500 h 87499"/>
                  <a:gd name="connsiteX1" fmla="*/ 0 w 4146"/>
                  <a:gd name="connsiteY1" fmla="*/ 0 h 87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4146" h="87499">
                    <a:moveTo>
                      <a:pt x="0" y="87500"/>
                    </a:moveTo>
                    <a:lnTo>
                      <a:pt x="0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60" name="Freeform: Shape 261">
                <a:extLst>
                  <a:ext uri="{FF2B5EF4-FFF2-40B4-BE49-F238E27FC236}">
                    <a16:creationId xmlns:a16="http://schemas.microsoft.com/office/drawing/2014/main" id="{DAE6083D-958A-985D-543A-0D67B8809DF1}"/>
                  </a:ext>
                </a:extLst>
              </p:cNvPr>
              <p:cNvSpPr/>
              <p:nvPr/>
            </p:nvSpPr>
            <p:spPr>
              <a:xfrm>
                <a:off x="6577634" y="2381489"/>
                <a:ext cx="63033" cy="37322"/>
              </a:xfrm>
              <a:custGeom>
                <a:avLst/>
                <a:gdLst>
                  <a:gd name="connsiteX0" fmla="*/ 63033 w 63033"/>
                  <a:gd name="connsiteY0" fmla="*/ 37322 h 37322"/>
                  <a:gd name="connsiteX1" fmla="*/ 0 w 63033"/>
                  <a:gd name="connsiteY1" fmla="*/ 0 h 373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3033" h="37322">
                    <a:moveTo>
                      <a:pt x="63033" y="37322"/>
                    </a:moveTo>
                    <a:lnTo>
                      <a:pt x="0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61" name="Freeform: Shape 262">
                <a:extLst>
                  <a:ext uri="{FF2B5EF4-FFF2-40B4-BE49-F238E27FC236}">
                    <a16:creationId xmlns:a16="http://schemas.microsoft.com/office/drawing/2014/main" id="{BEB388BC-1892-A02A-15DD-6481D380ADC3}"/>
                  </a:ext>
                </a:extLst>
              </p:cNvPr>
              <p:cNvSpPr/>
              <p:nvPr/>
            </p:nvSpPr>
            <p:spPr>
              <a:xfrm>
                <a:off x="6497599" y="2360340"/>
                <a:ext cx="213980" cy="100355"/>
              </a:xfrm>
              <a:custGeom>
                <a:avLst/>
                <a:gdLst>
                  <a:gd name="connsiteX0" fmla="*/ 213981 w 213980"/>
                  <a:gd name="connsiteY0" fmla="*/ 0 h 100355"/>
                  <a:gd name="connsiteX1" fmla="*/ 213981 w 213980"/>
                  <a:gd name="connsiteY1" fmla="*/ 17002 h 100355"/>
                  <a:gd name="connsiteX2" fmla="*/ 71327 w 213980"/>
                  <a:gd name="connsiteY2" fmla="*/ 100355 h 100355"/>
                  <a:gd name="connsiteX3" fmla="*/ 0 w 213980"/>
                  <a:gd name="connsiteY3" fmla="*/ 62204 h 1003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3980" h="100355">
                    <a:moveTo>
                      <a:pt x="213981" y="0"/>
                    </a:moveTo>
                    <a:lnTo>
                      <a:pt x="213981" y="17002"/>
                    </a:lnTo>
                    <a:lnTo>
                      <a:pt x="71327" y="100355"/>
                    </a:lnTo>
                    <a:lnTo>
                      <a:pt x="0" y="62204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62" name="Freeform: Shape 263">
                <a:extLst>
                  <a:ext uri="{FF2B5EF4-FFF2-40B4-BE49-F238E27FC236}">
                    <a16:creationId xmlns:a16="http://schemas.microsoft.com/office/drawing/2014/main" id="{CA426C0B-FFA2-E8D1-7891-530ADE18AB20}"/>
                  </a:ext>
                </a:extLst>
              </p:cNvPr>
              <p:cNvSpPr/>
              <p:nvPr/>
            </p:nvSpPr>
            <p:spPr>
              <a:xfrm>
                <a:off x="6497599" y="1890080"/>
                <a:ext cx="213980" cy="129383"/>
              </a:xfrm>
              <a:custGeom>
                <a:avLst/>
                <a:gdLst>
                  <a:gd name="connsiteX0" fmla="*/ 0 w 213980"/>
                  <a:gd name="connsiteY0" fmla="*/ 47275 h 129383"/>
                  <a:gd name="connsiteX1" fmla="*/ 71327 w 213980"/>
                  <a:gd name="connsiteY1" fmla="*/ 0 h 129383"/>
                  <a:gd name="connsiteX2" fmla="*/ 213981 w 213980"/>
                  <a:gd name="connsiteY2" fmla="*/ 82938 h 129383"/>
                  <a:gd name="connsiteX3" fmla="*/ 213981 w 213980"/>
                  <a:gd name="connsiteY3" fmla="*/ 129384 h 1293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3980" h="129383">
                    <a:moveTo>
                      <a:pt x="0" y="47275"/>
                    </a:moveTo>
                    <a:lnTo>
                      <a:pt x="71327" y="0"/>
                    </a:lnTo>
                    <a:lnTo>
                      <a:pt x="213981" y="82938"/>
                    </a:lnTo>
                    <a:lnTo>
                      <a:pt x="213981" y="129384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63" name="Freeform: Shape 264">
                <a:extLst>
                  <a:ext uri="{FF2B5EF4-FFF2-40B4-BE49-F238E27FC236}">
                    <a16:creationId xmlns:a16="http://schemas.microsoft.com/office/drawing/2014/main" id="{3DFDBF5D-B2FE-B9A8-F56C-185E84CAB940}"/>
                  </a:ext>
                </a:extLst>
              </p:cNvPr>
              <p:cNvSpPr/>
              <p:nvPr/>
            </p:nvSpPr>
            <p:spPr>
              <a:xfrm>
                <a:off x="6286521" y="2068397"/>
                <a:ext cx="71326" cy="35663"/>
              </a:xfrm>
              <a:custGeom>
                <a:avLst/>
                <a:gdLst>
                  <a:gd name="connsiteX0" fmla="*/ 71327 w 71326"/>
                  <a:gd name="connsiteY0" fmla="*/ 35663 h 35663"/>
                  <a:gd name="connsiteX1" fmla="*/ 0 w 71326"/>
                  <a:gd name="connsiteY1" fmla="*/ 0 h 356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71326" h="35663">
                    <a:moveTo>
                      <a:pt x="71327" y="35663"/>
                    </a:moveTo>
                    <a:lnTo>
                      <a:pt x="0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64" name="Freeform: Shape 265">
                <a:extLst>
                  <a:ext uri="{FF2B5EF4-FFF2-40B4-BE49-F238E27FC236}">
                    <a16:creationId xmlns:a16="http://schemas.microsoft.com/office/drawing/2014/main" id="{FF1AF7C5-7CDA-5188-72CC-13A1D0C23C2C}"/>
                  </a:ext>
                </a:extLst>
              </p:cNvPr>
              <p:cNvSpPr/>
              <p:nvPr/>
            </p:nvSpPr>
            <p:spPr>
              <a:xfrm>
                <a:off x="6357847" y="1933207"/>
                <a:ext cx="4146" cy="87499"/>
              </a:xfrm>
              <a:custGeom>
                <a:avLst/>
                <a:gdLst>
                  <a:gd name="connsiteX0" fmla="*/ 0 w 4146"/>
                  <a:gd name="connsiteY0" fmla="*/ 87500 h 87499"/>
                  <a:gd name="connsiteX1" fmla="*/ 0 w 4146"/>
                  <a:gd name="connsiteY1" fmla="*/ 0 h 87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4146" h="87499">
                    <a:moveTo>
                      <a:pt x="0" y="87500"/>
                    </a:moveTo>
                    <a:lnTo>
                      <a:pt x="0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65" name="Freeform: Shape 266">
                <a:extLst>
                  <a:ext uri="{FF2B5EF4-FFF2-40B4-BE49-F238E27FC236}">
                    <a16:creationId xmlns:a16="http://schemas.microsoft.com/office/drawing/2014/main" id="{5FFCB965-240B-2595-9C5C-9BFB0DCAFEEC}"/>
                  </a:ext>
                </a:extLst>
              </p:cNvPr>
              <p:cNvSpPr/>
              <p:nvPr/>
            </p:nvSpPr>
            <p:spPr>
              <a:xfrm>
                <a:off x="6215194" y="2138894"/>
                <a:ext cx="68838" cy="40225"/>
              </a:xfrm>
              <a:custGeom>
                <a:avLst/>
                <a:gdLst>
                  <a:gd name="connsiteX0" fmla="*/ 0 w 68838"/>
                  <a:gd name="connsiteY0" fmla="*/ 40225 h 40225"/>
                  <a:gd name="connsiteX1" fmla="*/ 68839 w 68838"/>
                  <a:gd name="connsiteY1" fmla="*/ 0 h 402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8838" h="40225">
                    <a:moveTo>
                      <a:pt x="0" y="40225"/>
                    </a:moveTo>
                    <a:lnTo>
                      <a:pt x="68839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66" name="Freeform: Shape 267">
                <a:extLst>
                  <a:ext uri="{FF2B5EF4-FFF2-40B4-BE49-F238E27FC236}">
                    <a16:creationId xmlns:a16="http://schemas.microsoft.com/office/drawing/2014/main" id="{67D842D4-5820-EAD9-CEFB-6B342B595EA9}"/>
                  </a:ext>
                </a:extLst>
              </p:cNvPr>
              <p:cNvSpPr/>
              <p:nvPr/>
            </p:nvSpPr>
            <p:spPr>
              <a:xfrm>
                <a:off x="6356189" y="2381489"/>
                <a:ext cx="64277" cy="38151"/>
              </a:xfrm>
              <a:custGeom>
                <a:avLst/>
                <a:gdLst>
                  <a:gd name="connsiteX0" fmla="*/ 0 w 64277"/>
                  <a:gd name="connsiteY0" fmla="*/ 38152 h 38151"/>
                  <a:gd name="connsiteX1" fmla="*/ 64277 w 64277"/>
                  <a:gd name="connsiteY1" fmla="*/ 0 h 381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4277" h="38151">
                    <a:moveTo>
                      <a:pt x="0" y="38152"/>
                    </a:moveTo>
                    <a:lnTo>
                      <a:pt x="64277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67" name="Freeform: Shape 268">
                <a:extLst>
                  <a:ext uri="{FF2B5EF4-FFF2-40B4-BE49-F238E27FC236}">
                    <a16:creationId xmlns:a16="http://schemas.microsoft.com/office/drawing/2014/main" id="{5F79FC6D-BE8E-4899-9261-6A55BE86A149}"/>
                  </a:ext>
                </a:extLst>
              </p:cNvPr>
              <p:cNvSpPr/>
              <p:nvPr/>
            </p:nvSpPr>
            <p:spPr>
              <a:xfrm>
                <a:off x="6318866" y="2396418"/>
                <a:ext cx="181634" cy="64277"/>
              </a:xfrm>
              <a:custGeom>
                <a:avLst/>
                <a:gdLst>
                  <a:gd name="connsiteX0" fmla="*/ 0 w 181634"/>
                  <a:gd name="connsiteY0" fmla="*/ 0 h 64277"/>
                  <a:gd name="connsiteX1" fmla="*/ 110308 w 181634"/>
                  <a:gd name="connsiteY1" fmla="*/ 64277 h 64277"/>
                  <a:gd name="connsiteX2" fmla="*/ 181635 w 181634"/>
                  <a:gd name="connsiteY2" fmla="*/ 26126 h 642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81634" h="64277">
                    <a:moveTo>
                      <a:pt x="0" y="0"/>
                    </a:moveTo>
                    <a:lnTo>
                      <a:pt x="110308" y="64277"/>
                    </a:lnTo>
                    <a:lnTo>
                      <a:pt x="181635" y="26126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68" name="Freeform: Shape 269">
                <a:extLst>
                  <a:ext uri="{FF2B5EF4-FFF2-40B4-BE49-F238E27FC236}">
                    <a16:creationId xmlns:a16="http://schemas.microsoft.com/office/drawing/2014/main" id="{3B04C629-49C1-8012-259C-FA74D16FC3DB}"/>
                  </a:ext>
                </a:extLst>
              </p:cNvPr>
              <p:cNvSpPr/>
              <p:nvPr/>
            </p:nvSpPr>
            <p:spPr>
              <a:xfrm>
                <a:off x="6215194" y="1890080"/>
                <a:ext cx="285307" cy="320971"/>
              </a:xfrm>
              <a:custGeom>
                <a:avLst/>
                <a:gdLst>
                  <a:gd name="connsiteX0" fmla="*/ 285308 w 285307"/>
                  <a:gd name="connsiteY0" fmla="*/ 47275 h 320971"/>
                  <a:gd name="connsiteX1" fmla="*/ 213981 w 285307"/>
                  <a:gd name="connsiteY1" fmla="*/ 0 h 320971"/>
                  <a:gd name="connsiteX2" fmla="*/ 71327 w 285307"/>
                  <a:gd name="connsiteY2" fmla="*/ 82938 h 320971"/>
                  <a:gd name="connsiteX3" fmla="*/ 71327 w 285307"/>
                  <a:gd name="connsiteY3" fmla="*/ 177488 h 320971"/>
                  <a:gd name="connsiteX4" fmla="*/ 0 w 285307"/>
                  <a:gd name="connsiteY4" fmla="*/ 213981 h 320971"/>
                  <a:gd name="connsiteX5" fmla="*/ 0 w 285307"/>
                  <a:gd name="connsiteY5" fmla="*/ 288211 h 320971"/>
                  <a:gd name="connsiteX6" fmla="*/ 0 w 285307"/>
                  <a:gd name="connsiteY6" fmla="*/ 320971 h 3209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85307" h="320971">
                    <a:moveTo>
                      <a:pt x="285308" y="47275"/>
                    </a:moveTo>
                    <a:lnTo>
                      <a:pt x="213981" y="0"/>
                    </a:lnTo>
                    <a:lnTo>
                      <a:pt x="71327" y="82938"/>
                    </a:lnTo>
                    <a:lnTo>
                      <a:pt x="71327" y="177488"/>
                    </a:lnTo>
                    <a:lnTo>
                      <a:pt x="0" y="213981"/>
                    </a:lnTo>
                    <a:lnTo>
                      <a:pt x="0" y="288211"/>
                    </a:lnTo>
                    <a:lnTo>
                      <a:pt x="0" y="320971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</p:grpSp>
        <p:grpSp>
          <p:nvGrpSpPr>
            <p:cNvPr id="244" name="Graphic 18">
              <a:extLst>
                <a:ext uri="{FF2B5EF4-FFF2-40B4-BE49-F238E27FC236}">
                  <a16:creationId xmlns:a16="http://schemas.microsoft.com/office/drawing/2014/main" id="{E63DAB71-EE91-1DF7-837F-7E84B532178A}"/>
                </a:ext>
              </a:extLst>
            </p:cNvPr>
            <p:cNvGrpSpPr/>
            <p:nvPr/>
          </p:nvGrpSpPr>
          <p:grpSpPr>
            <a:xfrm>
              <a:off x="5872840" y="2023728"/>
              <a:ext cx="252965" cy="298130"/>
              <a:chOff x="6415071" y="2046866"/>
              <a:chExt cx="252965" cy="298130"/>
            </a:xfrm>
            <a:noFill/>
          </p:grpSpPr>
          <p:sp>
            <p:nvSpPr>
              <p:cNvPr id="254" name="Freeform: Shape 255">
                <a:extLst>
                  <a:ext uri="{FF2B5EF4-FFF2-40B4-BE49-F238E27FC236}">
                    <a16:creationId xmlns:a16="http://schemas.microsoft.com/office/drawing/2014/main" id="{53296ABE-45D0-67E7-847F-507C272D7475}"/>
                  </a:ext>
                </a:extLst>
              </p:cNvPr>
              <p:cNvSpPr/>
              <p:nvPr/>
            </p:nvSpPr>
            <p:spPr>
              <a:xfrm>
                <a:off x="6480181" y="2195707"/>
                <a:ext cx="187855" cy="4146"/>
              </a:xfrm>
              <a:custGeom>
                <a:avLst/>
                <a:gdLst>
                  <a:gd name="connsiteX0" fmla="*/ 0 w 187855"/>
                  <a:gd name="connsiteY0" fmla="*/ 0 h 4146"/>
                  <a:gd name="connsiteX1" fmla="*/ 187855 w 187855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87855" h="4146">
                    <a:moveTo>
                      <a:pt x="0" y="0"/>
                    </a:moveTo>
                    <a:lnTo>
                      <a:pt x="187855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55" name="Freeform: Shape 256">
                <a:extLst>
                  <a:ext uri="{FF2B5EF4-FFF2-40B4-BE49-F238E27FC236}">
                    <a16:creationId xmlns:a16="http://schemas.microsoft.com/office/drawing/2014/main" id="{976058DD-DD20-57B6-9B6A-8F16B7A366E8}"/>
                  </a:ext>
                </a:extLst>
              </p:cNvPr>
              <p:cNvSpPr/>
              <p:nvPr/>
            </p:nvSpPr>
            <p:spPr>
              <a:xfrm>
                <a:off x="6480181" y="2073373"/>
                <a:ext cx="93720" cy="245082"/>
              </a:xfrm>
              <a:custGeom>
                <a:avLst/>
                <a:gdLst>
                  <a:gd name="connsiteX0" fmla="*/ 0 w 93720"/>
                  <a:gd name="connsiteY0" fmla="*/ 0 h 245082"/>
                  <a:gd name="connsiteX1" fmla="*/ 93720 w 93720"/>
                  <a:gd name="connsiteY1" fmla="*/ 0 h 245082"/>
                  <a:gd name="connsiteX2" fmla="*/ 93720 w 93720"/>
                  <a:gd name="connsiteY2" fmla="*/ 245083 h 245082"/>
                  <a:gd name="connsiteX3" fmla="*/ 0 w 93720"/>
                  <a:gd name="connsiteY3" fmla="*/ 245083 h 2450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3720" h="245082">
                    <a:moveTo>
                      <a:pt x="0" y="0"/>
                    </a:moveTo>
                    <a:lnTo>
                      <a:pt x="93720" y="0"/>
                    </a:lnTo>
                    <a:lnTo>
                      <a:pt x="93720" y="245083"/>
                    </a:lnTo>
                    <a:lnTo>
                      <a:pt x="0" y="245083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56" name="Freeform: Shape 257">
                <a:extLst>
                  <a:ext uri="{FF2B5EF4-FFF2-40B4-BE49-F238E27FC236}">
                    <a16:creationId xmlns:a16="http://schemas.microsoft.com/office/drawing/2014/main" id="{87DE1D9C-BC87-BC4C-58D0-5A26F33F0CE3}"/>
                  </a:ext>
                </a:extLst>
              </p:cNvPr>
              <p:cNvSpPr/>
              <p:nvPr/>
            </p:nvSpPr>
            <p:spPr>
              <a:xfrm rot="5400000">
                <a:off x="6415071" y="2046866"/>
                <a:ext cx="53080" cy="53080"/>
              </a:xfrm>
              <a:custGeom>
                <a:avLst/>
                <a:gdLst>
                  <a:gd name="connsiteX0" fmla="*/ 0 w 53080"/>
                  <a:gd name="connsiteY0" fmla="*/ 0 h 53080"/>
                  <a:gd name="connsiteX1" fmla="*/ 53080 w 53080"/>
                  <a:gd name="connsiteY1" fmla="*/ 0 h 53080"/>
                  <a:gd name="connsiteX2" fmla="*/ 53080 w 53080"/>
                  <a:gd name="connsiteY2" fmla="*/ 53081 h 53080"/>
                  <a:gd name="connsiteX3" fmla="*/ 0 w 53080"/>
                  <a:gd name="connsiteY3" fmla="*/ 53081 h 530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3080" h="53080">
                    <a:moveTo>
                      <a:pt x="0" y="0"/>
                    </a:moveTo>
                    <a:lnTo>
                      <a:pt x="53080" y="0"/>
                    </a:lnTo>
                    <a:lnTo>
                      <a:pt x="53080" y="53081"/>
                    </a:lnTo>
                    <a:lnTo>
                      <a:pt x="0" y="53081"/>
                    </a:ln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57" name="Freeform: Shape 258">
                <a:extLst>
                  <a:ext uri="{FF2B5EF4-FFF2-40B4-BE49-F238E27FC236}">
                    <a16:creationId xmlns:a16="http://schemas.microsoft.com/office/drawing/2014/main" id="{9B1FC39D-98A8-1DD3-B698-1B9E82FB7A5E}"/>
                  </a:ext>
                </a:extLst>
              </p:cNvPr>
              <p:cNvSpPr/>
              <p:nvPr/>
            </p:nvSpPr>
            <p:spPr>
              <a:xfrm>
                <a:off x="6415490" y="2161702"/>
                <a:ext cx="52665" cy="68424"/>
              </a:xfrm>
              <a:custGeom>
                <a:avLst/>
                <a:gdLst>
                  <a:gd name="connsiteX0" fmla="*/ 0 w 52665"/>
                  <a:gd name="connsiteY0" fmla="*/ 68424 h 68424"/>
                  <a:gd name="connsiteX1" fmla="*/ 0 w 52665"/>
                  <a:gd name="connsiteY1" fmla="*/ 0 h 68424"/>
                  <a:gd name="connsiteX2" fmla="*/ 52666 w 52665"/>
                  <a:gd name="connsiteY2" fmla="*/ 34005 h 684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52665" h="68424">
                    <a:moveTo>
                      <a:pt x="0" y="68424"/>
                    </a:moveTo>
                    <a:lnTo>
                      <a:pt x="0" y="0"/>
                    </a:lnTo>
                    <a:lnTo>
                      <a:pt x="52666" y="34005"/>
                    </a:ln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58" name="Freeform: Shape 259">
                <a:extLst>
                  <a:ext uri="{FF2B5EF4-FFF2-40B4-BE49-F238E27FC236}">
                    <a16:creationId xmlns:a16="http://schemas.microsoft.com/office/drawing/2014/main" id="{AE0D1E90-96FE-65B4-F2A8-5F03E6C08463}"/>
                  </a:ext>
                </a:extLst>
              </p:cNvPr>
              <p:cNvSpPr/>
              <p:nvPr/>
            </p:nvSpPr>
            <p:spPr>
              <a:xfrm>
                <a:off x="6415490" y="2292330"/>
                <a:ext cx="52665" cy="52665"/>
              </a:xfrm>
              <a:custGeom>
                <a:avLst/>
                <a:gdLst>
                  <a:gd name="connsiteX0" fmla="*/ 0 w 52665"/>
                  <a:gd name="connsiteY0" fmla="*/ 30272 h 52665"/>
                  <a:gd name="connsiteX1" fmla="*/ 0 w 52665"/>
                  <a:gd name="connsiteY1" fmla="*/ 22393 h 52665"/>
                  <a:gd name="connsiteX2" fmla="*/ 22393 w 52665"/>
                  <a:gd name="connsiteY2" fmla="*/ 0 h 52665"/>
                  <a:gd name="connsiteX3" fmla="*/ 30272 w 52665"/>
                  <a:gd name="connsiteY3" fmla="*/ 0 h 52665"/>
                  <a:gd name="connsiteX4" fmla="*/ 52666 w 52665"/>
                  <a:gd name="connsiteY4" fmla="*/ 22393 h 52665"/>
                  <a:gd name="connsiteX5" fmla="*/ 52666 w 52665"/>
                  <a:gd name="connsiteY5" fmla="*/ 30272 h 52665"/>
                  <a:gd name="connsiteX6" fmla="*/ 30272 w 52665"/>
                  <a:gd name="connsiteY6" fmla="*/ 52666 h 52665"/>
                  <a:gd name="connsiteX7" fmla="*/ 22393 w 52665"/>
                  <a:gd name="connsiteY7" fmla="*/ 52666 h 52665"/>
                  <a:gd name="connsiteX8" fmla="*/ 0 w 52665"/>
                  <a:gd name="connsiteY8" fmla="*/ 30272 h 526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2665" h="52665">
                    <a:moveTo>
                      <a:pt x="0" y="30272"/>
                    </a:moveTo>
                    <a:lnTo>
                      <a:pt x="0" y="22393"/>
                    </a:lnTo>
                    <a:cubicBezTo>
                      <a:pt x="0" y="9953"/>
                      <a:pt x="9953" y="0"/>
                      <a:pt x="22393" y="0"/>
                    </a:cubicBezTo>
                    <a:lnTo>
                      <a:pt x="30272" y="0"/>
                    </a:lnTo>
                    <a:cubicBezTo>
                      <a:pt x="42713" y="0"/>
                      <a:pt x="52666" y="9953"/>
                      <a:pt x="52666" y="22393"/>
                    </a:cubicBezTo>
                    <a:lnTo>
                      <a:pt x="52666" y="30272"/>
                    </a:lnTo>
                    <a:cubicBezTo>
                      <a:pt x="52666" y="42713"/>
                      <a:pt x="42713" y="52666"/>
                      <a:pt x="30272" y="52666"/>
                    </a:cubicBezTo>
                    <a:lnTo>
                      <a:pt x="22393" y="52666"/>
                    </a:lnTo>
                    <a:cubicBezTo>
                      <a:pt x="9953" y="52666"/>
                      <a:pt x="0" y="42713"/>
                      <a:pt x="0" y="30272"/>
                    </a:cubicBez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</p:grpSp>
        <p:grpSp>
          <p:nvGrpSpPr>
            <p:cNvPr id="245" name="Graphic 18">
              <a:extLst>
                <a:ext uri="{FF2B5EF4-FFF2-40B4-BE49-F238E27FC236}">
                  <a16:creationId xmlns:a16="http://schemas.microsoft.com/office/drawing/2014/main" id="{6DE1D88C-C546-DF70-B66F-036D6C7F4C3F}"/>
                </a:ext>
              </a:extLst>
            </p:cNvPr>
            <p:cNvGrpSpPr/>
            <p:nvPr/>
          </p:nvGrpSpPr>
          <p:grpSpPr>
            <a:xfrm>
              <a:off x="6154419" y="2027842"/>
              <a:ext cx="191587" cy="274940"/>
              <a:chOff x="6696650" y="2050980"/>
              <a:chExt cx="191587" cy="274940"/>
            </a:xfrm>
            <a:noFill/>
          </p:grpSpPr>
          <p:sp>
            <p:nvSpPr>
              <p:cNvPr id="247" name="Freeform: Shape 248">
                <a:extLst>
                  <a:ext uri="{FF2B5EF4-FFF2-40B4-BE49-F238E27FC236}">
                    <a16:creationId xmlns:a16="http://schemas.microsoft.com/office/drawing/2014/main" id="{7643A4F7-A9EB-EC7A-5EB6-4AEA50B44F46}"/>
                  </a:ext>
                </a:extLst>
              </p:cNvPr>
              <p:cNvSpPr/>
              <p:nvPr/>
            </p:nvSpPr>
            <p:spPr>
              <a:xfrm>
                <a:off x="6696650" y="2050980"/>
                <a:ext cx="191587" cy="274940"/>
              </a:xfrm>
              <a:custGeom>
                <a:avLst/>
                <a:gdLst>
                  <a:gd name="connsiteX0" fmla="*/ 0 w 191587"/>
                  <a:gd name="connsiteY0" fmla="*/ 266232 h 274940"/>
                  <a:gd name="connsiteX1" fmla="*/ 0 w 191587"/>
                  <a:gd name="connsiteY1" fmla="*/ 8709 h 274940"/>
                  <a:gd name="connsiteX2" fmla="*/ 8709 w 191587"/>
                  <a:gd name="connsiteY2" fmla="*/ 0 h 274940"/>
                  <a:gd name="connsiteX3" fmla="*/ 127725 w 191587"/>
                  <a:gd name="connsiteY3" fmla="*/ 0 h 274940"/>
                  <a:gd name="connsiteX4" fmla="*/ 191587 w 191587"/>
                  <a:gd name="connsiteY4" fmla="*/ 63862 h 274940"/>
                  <a:gd name="connsiteX5" fmla="*/ 191587 w 191587"/>
                  <a:gd name="connsiteY5" fmla="*/ 266232 h 274940"/>
                  <a:gd name="connsiteX6" fmla="*/ 182879 w 191587"/>
                  <a:gd name="connsiteY6" fmla="*/ 274940 h 274940"/>
                  <a:gd name="connsiteX7" fmla="*/ 8709 w 191587"/>
                  <a:gd name="connsiteY7" fmla="*/ 274940 h 274940"/>
                  <a:gd name="connsiteX8" fmla="*/ 0 w 191587"/>
                  <a:gd name="connsiteY8" fmla="*/ 266232 h 27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91587" h="274940">
                    <a:moveTo>
                      <a:pt x="0" y="266232"/>
                    </a:moveTo>
                    <a:lnTo>
                      <a:pt x="0" y="8709"/>
                    </a:lnTo>
                    <a:cubicBezTo>
                      <a:pt x="0" y="3732"/>
                      <a:pt x="3732" y="0"/>
                      <a:pt x="8709" y="0"/>
                    </a:cubicBezTo>
                    <a:lnTo>
                      <a:pt x="127725" y="0"/>
                    </a:lnTo>
                    <a:lnTo>
                      <a:pt x="191587" y="63862"/>
                    </a:lnTo>
                    <a:lnTo>
                      <a:pt x="191587" y="266232"/>
                    </a:lnTo>
                    <a:cubicBezTo>
                      <a:pt x="191587" y="271208"/>
                      <a:pt x="187855" y="274940"/>
                      <a:pt x="182879" y="274940"/>
                    </a:cubicBezTo>
                    <a:lnTo>
                      <a:pt x="8709" y="274940"/>
                    </a:lnTo>
                    <a:cubicBezTo>
                      <a:pt x="3732" y="274940"/>
                      <a:pt x="0" y="271208"/>
                      <a:pt x="0" y="266232"/>
                    </a:cubicBez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48" name="Freeform: Shape 249">
                <a:extLst>
                  <a:ext uri="{FF2B5EF4-FFF2-40B4-BE49-F238E27FC236}">
                    <a16:creationId xmlns:a16="http://schemas.microsoft.com/office/drawing/2014/main" id="{80CDD39D-F821-AE00-98F3-A1EF9B65F17E}"/>
                  </a:ext>
                </a:extLst>
              </p:cNvPr>
              <p:cNvSpPr/>
              <p:nvPr/>
            </p:nvSpPr>
            <p:spPr>
              <a:xfrm>
                <a:off x="6823961" y="2050980"/>
                <a:ext cx="64277" cy="63862"/>
              </a:xfrm>
              <a:custGeom>
                <a:avLst/>
                <a:gdLst>
                  <a:gd name="connsiteX0" fmla="*/ 0 w 64277"/>
                  <a:gd name="connsiteY0" fmla="*/ 63862 h 63862"/>
                  <a:gd name="connsiteX1" fmla="*/ 64277 w 64277"/>
                  <a:gd name="connsiteY1" fmla="*/ 63862 h 63862"/>
                  <a:gd name="connsiteX2" fmla="*/ 0 w 64277"/>
                  <a:gd name="connsiteY2" fmla="*/ 0 h 638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64277" h="63862">
                    <a:moveTo>
                      <a:pt x="0" y="63862"/>
                    </a:moveTo>
                    <a:lnTo>
                      <a:pt x="64277" y="63862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49" name="Freeform: Shape 250">
                <a:extLst>
                  <a:ext uri="{FF2B5EF4-FFF2-40B4-BE49-F238E27FC236}">
                    <a16:creationId xmlns:a16="http://schemas.microsoft.com/office/drawing/2014/main" id="{FCC1C463-1223-A1B3-7D57-646DAE15988E}"/>
                  </a:ext>
                </a:extLst>
              </p:cNvPr>
              <p:cNvSpPr/>
              <p:nvPr/>
            </p:nvSpPr>
            <p:spPr>
              <a:xfrm>
                <a:off x="6724849" y="2166679"/>
                <a:ext cx="135189" cy="4146"/>
              </a:xfrm>
              <a:custGeom>
                <a:avLst/>
                <a:gdLst>
                  <a:gd name="connsiteX0" fmla="*/ 0 w 135189"/>
                  <a:gd name="connsiteY0" fmla="*/ 0 h 4146"/>
                  <a:gd name="connsiteX1" fmla="*/ 135189 w 135189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35189" h="4146">
                    <a:moveTo>
                      <a:pt x="0" y="0"/>
                    </a:moveTo>
                    <a:lnTo>
                      <a:pt x="135189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50" name="Freeform: Shape 251">
                <a:extLst>
                  <a:ext uri="{FF2B5EF4-FFF2-40B4-BE49-F238E27FC236}">
                    <a16:creationId xmlns:a16="http://schemas.microsoft.com/office/drawing/2014/main" id="{846FFF3B-76BD-8F8F-DC84-5175A72C65B9}"/>
                  </a:ext>
                </a:extLst>
              </p:cNvPr>
              <p:cNvSpPr/>
              <p:nvPr/>
            </p:nvSpPr>
            <p:spPr>
              <a:xfrm>
                <a:off x="6724849" y="2204001"/>
                <a:ext cx="135189" cy="4146"/>
              </a:xfrm>
              <a:custGeom>
                <a:avLst/>
                <a:gdLst>
                  <a:gd name="connsiteX0" fmla="*/ 0 w 135189"/>
                  <a:gd name="connsiteY0" fmla="*/ 0 h 4146"/>
                  <a:gd name="connsiteX1" fmla="*/ 135189 w 135189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35189" h="4146">
                    <a:moveTo>
                      <a:pt x="0" y="0"/>
                    </a:moveTo>
                    <a:lnTo>
                      <a:pt x="135189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51" name="Freeform: Shape 252">
                <a:extLst>
                  <a:ext uri="{FF2B5EF4-FFF2-40B4-BE49-F238E27FC236}">
                    <a16:creationId xmlns:a16="http://schemas.microsoft.com/office/drawing/2014/main" id="{559F99AC-2443-ECDA-BA09-BB59E252D06A}"/>
                  </a:ext>
                </a:extLst>
              </p:cNvPr>
              <p:cNvSpPr/>
              <p:nvPr/>
            </p:nvSpPr>
            <p:spPr>
              <a:xfrm>
                <a:off x="6724849" y="2241323"/>
                <a:ext cx="135189" cy="4146"/>
              </a:xfrm>
              <a:custGeom>
                <a:avLst/>
                <a:gdLst>
                  <a:gd name="connsiteX0" fmla="*/ 0 w 135189"/>
                  <a:gd name="connsiteY0" fmla="*/ 0 h 4146"/>
                  <a:gd name="connsiteX1" fmla="*/ 135189 w 135189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35189" h="4146">
                    <a:moveTo>
                      <a:pt x="0" y="0"/>
                    </a:moveTo>
                    <a:lnTo>
                      <a:pt x="135189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52" name="Freeform: Shape 253">
                <a:extLst>
                  <a:ext uri="{FF2B5EF4-FFF2-40B4-BE49-F238E27FC236}">
                    <a16:creationId xmlns:a16="http://schemas.microsoft.com/office/drawing/2014/main" id="{360FF2F9-0799-C43C-81CC-226AC35F8844}"/>
                  </a:ext>
                </a:extLst>
              </p:cNvPr>
              <p:cNvSpPr/>
              <p:nvPr/>
            </p:nvSpPr>
            <p:spPr>
              <a:xfrm>
                <a:off x="6724849" y="2279060"/>
                <a:ext cx="135189" cy="4146"/>
              </a:xfrm>
              <a:custGeom>
                <a:avLst/>
                <a:gdLst>
                  <a:gd name="connsiteX0" fmla="*/ 0 w 135189"/>
                  <a:gd name="connsiteY0" fmla="*/ 0 h 4146"/>
                  <a:gd name="connsiteX1" fmla="*/ 135189 w 135189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35189" h="4146">
                    <a:moveTo>
                      <a:pt x="0" y="0"/>
                    </a:moveTo>
                    <a:lnTo>
                      <a:pt x="135189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253" name="Freeform: Shape 254">
                <a:extLst>
                  <a:ext uri="{FF2B5EF4-FFF2-40B4-BE49-F238E27FC236}">
                    <a16:creationId xmlns:a16="http://schemas.microsoft.com/office/drawing/2014/main" id="{7F4F4B33-E610-A7C9-F8AE-9FC78A443EE1}"/>
                  </a:ext>
                </a:extLst>
              </p:cNvPr>
              <p:cNvSpPr/>
              <p:nvPr/>
            </p:nvSpPr>
            <p:spPr>
              <a:xfrm>
                <a:off x="6724849" y="2128942"/>
                <a:ext cx="76303" cy="4146"/>
              </a:xfrm>
              <a:custGeom>
                <a:avLst/>
                <a:gdLst>
                  <a:gd name="connsiteX0" fmla="*/ 0 w 76303"/>
                  <a:gd name="connsiteY0" fmla="*/ 0 h 4146"/>
                  <a:gd name="connsiteX1" fmla="*/ 76303 w 76303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76303" h="4146">
                    <a:moveTo>
                      <a:pt x="0" y="0"/>
                    </a:moveTo>
                    <a:lnTo>
                      <a:pt x="76303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</p:grpSp>
        <p:sp>
          <p:nvSpPr>
            <p:cNvPr id="246" name="Freeform: Shape 247">
              <a:extLst>
                <a:ext uri="{FF2B5EF4-FFF2-40B4-BE49-F238E27FC236}">
                  <a16:creationId xmlns:a16="http://schemas.microsoft.com/office/drawing/2014/main" id="{06F83521-BC43-02C8-745F-686C45650858}"/>
                </a:ext>
              </a:extLst>
            </p:cNvPr>
            <p:cNvSpPr/>
            <p:nvPr/>
          </p:nvSpPr>
          <p:spPr>
            <a:xfrm>
              <a:off x="5610344" y="2221088"/>
              <a:ext cx="179561" cy="161314"/>
            </a:xfrm>
            <a:custGeom>
              <a:avLst/>
              <a:gdLst>
                <a:gd name="connsiteX0" fmla="*/ 95794 w 179561"/>
                <a:gd name="connsiteY0" fmla="*/ 99111 h 161314"/>
                <a:gd name="connsiteX1" fmla="*/ 29028 w 179561"/>
                <a:gd name="connsiteY1" fmla="*/ 154680 h 161314"/>
                <a:gd name="connsiteX2" fmla="*/ 0 w 179561"/>
                <a:gd name="connsiteY2" fmla="*/ 119846 h 161314"/>
                <a:gd name="connsiteX3" fmla="*/ 66765 w 179561"/>
                <a:gd name="connsiteY3" fmla="*/ 64277 h 161314"/>
                <a:gd name="connsiteX4" fmla="*/ 8294 w 179561"/>
                <a:gd name="connsiteY4" fmla="*/ 38981 h 161314"/>
                <a:gd name="connsiteX5" fmla="*/ 179561 w 179561"/>
                <a:gd name="connsiteY5" fmla="*/ 0 h 161314"/>
                <a:gd name="connsiteX6" fmla="*/ 109893 w 179561"/>
                <a:gd name="connsiteY6" fmla="*/ 161315 h 161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9561" h="161314">
                  <a:moveTo>
                    <a:pt x="95794" y="99111"/>
                  </a:moveTo>
                  <a:lnTo>
                    <a:pt x="29028" y="154680"/>
                  </a:lnTo>
                  <a:lnTo>
                    <a:pt x="0" y="119846"/>
                  </a:lnTo>
                  <a:lnTo>
                    <a:pt x="66765" y="64277"/>
                  </a:lnTo>
                  <a:lnTo>
                    <a:pt x="8294" y="38981"/>
                  </a:lnTo>
                  <a:lnTo>
                    <a:pt x="179561" y="0"/>
                  </a:lnTo>
                  <a:lnTo>
                    <a:pt x="109893" y="161315"/>
                  </a:lnTo>
                  <a:close/>
                </a:path>
              </a:pathLst>
            </a:custGeom>
            <a:noFill/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mazon Ember"/>
              </a:endParaRPr>
            </a:p>
          </p:txBody>
        </p:sp>
      </p:grpSp>
      <p:sp>
        <p:nvSpPr>
          <p:cNvPr id="297" name="TextBox 296">
            <a:extLst>
              <a:ext uri="{FF2B5EF4-FFF2-40B4-BE49-F238E27FC236}">
                <a16:creationId xmlns:a16="http://schemas.microsoft.com/office/drawing/2014/main" id="{32227B77-8D82-ADA2-7700-B1C25C887580}"/>
              </a:ext>
            </a:extLst>
          </p:cNvPr>
          <p:cNvSpPr txBox="1"/>
          <p:nvPr/>
        </p:nvSpPr>
        <p:spPr>
          <a:xfrm>
            <a:off x="4797561" y="4359978"/>
            <a:ext cx="1496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Master Agent</a:t>
            </a:r>
          </a:p>
        </p:txBody>
      </p:sp>
      <p:sp>
        <p:nvSpPr>
          <p:cNvPr id="298" name="TextBox 297">
            <a:extLst>
              <a:ext uri="{FF2B5EF4-FFF2-40B4-BE49-F238E27FC236}">
                <a16:creationId xmlns:a16="http://schemas.microsoft.com/office/drawing/2014/main" id="{3E3922A4-6169-0092-E598-68172E887ECB}"/>
              </a:ext>
            </a:extLst>
          </p:cNvPr>
          <p:cNvSpPr txBox="1"/>
          <p:nvPr/>
        </p:nvSpPr>
        <p:spPr>
          <a:xfrm>
            <a:off x="7863148" y="2747083"/>
            <a:ext cx="10667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SubAgent</a:t>
            </a:r>
            <a:r>
              <a:rPr lang="en-US" sz="1400" dirty="0"/>
              <a:t> 1</a:t>
            </a:r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8E8AEAF0-28E1-A818-1479-6DFC88E867EC}"/>
              </a:ext>
            </a:extLst>
          </p:cNvPr>
          <p:cNvSpPr txBox="1"/>
          <p:nvPr/>
        </p:nvSpPr>
        <p:spPr>
          <a:xfrm>
            <a:off x="7863148" y="5652395"/>
            <a:ext cx="10667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err="1"/>
              <a:t>SubAgent</a:t>
            </a:r>
            <a:r>
              <a:rPr lang="en-US" sz="1400" dirty="0"/>
              <a:t> 3</a:t>
            </a:r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D2E9F981-91B8-535B-A7F7-13DE766E2957}"/>
              </a:ext>
            </a:extLst>
          </p:cNvPr>
          <p:cNvSpPr txBox="1"/>
          <p:nvPr/>
        </p:nvSpPr>
        <p:spPr>
          <a:xfrm>
            <a:off x="4341474" y="4761812"/>
            <a:ext cx="24484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chemeClr val="accent6">
                    <a:lumMod val="75000"/>
                  </a:schemeClr>
                </a:solidFill>
              </a:rPr>
              <a:t>Synthesizer/Reasoning</a:t>
            </a:r>
          </a:p>
        </p:txBody>
      </p:sp>
      <p:cxnSp>
        <p:nvCxnSpPr>
          <p:cNvPr id="303" name="Straight Arrow Connector 302">
            <a:extLst>
              <a:ext uri="{FF2B5EF4-FFF2-40B4-BE49-F238E27FC236}">
                <a16:creationId xmlns:a16="http://schemas.microsoft.com/office/drawing/2014/main" id="{2EF634CF-BE8D-5C3F-4AC9-5BD40F44D04C}"/>
              </a:ext>
            </a:extLst>
          </p:cNvPr>
          <p:cNvCxnSpPr>
            <a:cxnSpLocks/>
          </p:cNvCxnSpPr>
          <p:nvPr/>
        </p:nvCxnSpPr>
        <p:spPr>
          <a:xfrm flipH="1">
            <a:off x="6193584" y="2578243"/>
            <a:ext cx="1472682" cy="8740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4" name="Straight Arrow Connector 303">
            <a:extLst>
              <a:ext uri="{FF2B5EF4-FFF2-40B4-BE49-F238E27FC236}">
                <a16:creationId xmlns:a16="http://schemas.microsoft.com/office/drawing/2014/main" id="{A67DD83D-EFE9-C24B-8DBF-7B62A00269EF}"/>
              </a:ext>
            </a:extLst>
          </p:cNvPr>
          <p:cNvCxnSpPr>
            <a:cxnSpLocks/>
          </p:cNvCxnSpPr>
          <p:nvPr/>
        </p:nvCxnSpPr>
        <p:spPr>
          <a:xfrm flipH="1">
            <a:off x="6193584" y="3761584"/>
            <a:ext cx="157670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08" name="Straight Arrow Connector 307">
            <a:extLst>
              <a:ext uri="{FF2B5EF4-FFF2-40B4-BE49-F238E27FC236}">
                <a16:creationId xmlns:a16="http://schemas.microsoft.com/office/drawing/2014/main" id="{12B7A145-1BB7-040D-947A-62397B2991EC}"/>
              </a:ext>
            </a:extLst>
          </p:cNvPr>
          <p:cNvCxnSpPr>
            <a:cxnSpLocks/>
          </p:cNvCxnSpPr>
          <p:nvPr/>
        </p:nvCxnSpPr>
        <p:spPr>
          <a:xfrm flipH="1" flipV="1">
            <a:off x="6214761" y="4142810"/>
            <a:ext cx="1379787" cy="88279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0" name="TextBox 309">
            <a:extLst>
              <a:ext uri="{FF2B5EF4-FFF2-40B4-BE49-F238E27FC236}">
                <a16:creationId xmlns:a16="http://schemas.microsoft.com/office/drawing/2014/main" id="{26F185CD-D7FB-D8F1-AA07-EE47DFC8DF7A}"/>
              </a:ext>
            </a:extLst>
          </p:cNvPr>
          <p:cNvSpPr txBox="1"/>
          <p:nvPr/>
        </p:nvSpPr>
        <p:spPr>
          <a:xfrm>
            <a:off x="7863148" y="4197525"/>
            <a:ext cx="10667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SubAgent</a:t>
            </a:r>
            <a:r>
              <a:rPr lang="en-US" sz="1400" dirty="0"/>
              <a:t> 2</a:t>
            </a:r>
          </a:p>
        </p:txBody>
      </p:sp>
      <p:pic>
        <p:nvPicPr>
          <p:cNvPr id="311" name="Graphique 2" descr="Profil femelle avec un remplissage uni">
            <a:extLst>
              <a:ext uri="{FF2B5EF4-FFF2-40B4-BE49-F238E27FC236}">
                <a16:creationId xmlns:a16="http://schemas.microsoft.com/office/drawing/2014/main" id="{C6054D4A-5ED7-E46D-717E-4B210EDE86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61708" y="3311108"/>
            <a:ext cx="914400" cy="914400"/>
          </a:xfrm>
          <a:prstGeom prst="rect">
            <a:avLst/>
          </a:prstGeom>
        </p:spPr>
      </p:pic>
      <p:cxnSp>
        <p:nvCxnSpPr>
          <p:cNvPr id="313" name="Straight Arrow Connector 312">
            <a:extLst>
              <a:ext uri="{FF2B5EF4-FFF2-40B4-BE49-F238E27FC236}">
                <a16:creationId xmlns:a16="http://schemas.microsoft.com/office/drawing/2014/main" id="{2AD1DBF3-689A-DD62-49FB-07A3212D8F49}"/>
              </a:ext>
            </a:extLst>
          </p:cNvPr>
          <p:cNvCxnSpPr/>
          <p:nvPr/>
        </p:nvCxnSpPr>
        <p:spPr>
          <a:xfrm>
            <a:off x="3573878" y="3761584"/>
            <a:ext cx="132383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4" name="TextBox 313">
            <a:extLst>
              <a:ext uri="{FF2B5EF4-FFF2-40B4-BE49-F238E27FC236}">
                <a16:creationId xmlns:a16="http://schemas.microsoft.com/office/drawing/2014/main" id="{48F4E173-B8E3-B445-03BB-06F0AD4EC687}"/>
              </a:ext>
            </a:extLst>
          </p:cNvPr>
          <p:cNvSpPr txBox="1"/>
          <p:nvPr/>
        </p:nvSpPr>
        <p:spPr>
          <a:xfrm>
            <a:off x="3844463" y="3392252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</a:t>
            </a:r>
          </a:p>
        </p:txBody>
      </p:sp>
      <p:cxnSp>
        <p:nvCxnSpPr>
          <p:cNvPr id="315" name="Straight Arrow Connector 314">
            <a:extLst>
              <a:ext uri="{FF2B5EF4-FFF2-40B4-BE49-F238E27FC236}">
                <a16:creationId xmlns:a16="http://schemas.microsoft.com/office/drawing/2014/main" id="{BA187F23-D3C4-5EE5-E16B-A538B7CA9340}"/>
              </a:ext>
            </a:extLst>
          </p:cNvPr>
          <p:cNvCxnSpPr>
            <a:cxnSpLocks/>
          </p:cNvCxnSpPr>
          <p:nvPr/>
        </p:nvCxnSpPr>
        <p:spPr>
          <a:xfrm flipH="1">
            <a:off x="3531241" y="3957028"/>
            <a:ext cx="135277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18" name="TextBox 317">
            <a:extLst>
              <a:ext uri="{FF2B5EF4-FFF2-40B4-BE49-F238E27FC236}">
                <a16:creationId xmlns:a16="http://schemas.microsoft.com/office/drawing/2014/main" id="{0BF3ACFE-D4D7-423A-3F22-E0AA230BB20D}"/>
              </a:ext>
            </a:extLst>
          </p:cNvPr>
          <p:cNvSpPr txBox="1"/>
          <p:nvPr/>
        </p:nvSpPr>
        <p:spPr>
          <a:xfrm>
            <a:off x="3786302" y="3949952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</a:t>
            </a:r>
          </a:p>
        </p:txBody>
      </p:sp>
      <p:sp>
        <p:nvSpPr>
          <p:cNvPr id="319" name="Slide Number Placeholder 318">
            <a:extLst>
              <a:ext uri="{FF2B5EF4-FFF2-40B4-BE49-F238E27FC236}">
                <a16:creationId xmlns:a16="http://schemas.microsoft.com/office/drawing/2014/main" id="{CA01BB49-CFD6-128F-C461-9DF24018A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698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292018-2E8B-96BD-3446-5931ADD69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11645FC2-755F-8F8B-3D66-EEC2B3690C6F}"/>
              </a:ext>
            </a:extLst>
          </p:cNvPr>
          <p:cNvSpPr txBox="1">
            <a:spLocks/>
          </p:cNvSpPr>
          <p:nvPr/>
        </p:nvSpPr>
        <p:spPr>
          <a:xfrm>
            <a:off x="603504" y="524802"/>
            <a:ext cx="11558016" cy="11415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Multi-Agent Workflow -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Router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+mn-lt"/>
            </a:endParaRPr>
          </a:p>
        </p:txBody>
      </p:sp>
      <p:grpSp>
        <p:nvGrpSpPr>
          <p:cNvPr id="296" name="Group 2">
            <a:extLst>
              <a:ext uri="{FF2B5EF4-FFF2-40B4-BE49-F238E27FC236}">
                <a16:creationId xmlns:a16="http://schemas.microsoft.com/office/drawing/2014/main" id="{001DD655-A77D-37D7-207F-5A1DC25175FC}"/>
              </a:ext>
            </a:extLst>
          </p:cNvPr>
          <p:cNvGrpSpPr/>
          <p:nvPr/>
        </p:nvGrpSpPr>
        <p:grpSpPr>
          <a:xfrm>
            <a:off x="4986483" y="3256660"/>
            <a:ext cx="1109517" cy="955888"/>
            <a:chOff x="5610344" y="1866942"/>
            <a:chExt cx="735662" cy="570615"/>
          </a:xfrm>
        </p:grpSpPr>
        <p:grpSp>
          <p:nvGrpSpPr>
            <p:cNvPr id="299" name="Graphic 18">
              <a:extLst>
                <a:ext uri="{FF2B5EF4-FFF2-40B4-BE49-F238E27FC236}">
                  <a16:creationId xmlns:a16="http://schemas.microsoft.com/office/drawing/2014/main" id="{80A6864E-352F-DC6C-B8E1-19FC7FD84206}"/>
                </a:ext>
              </a:extLst>
            </p:cNvPr>
            <p:cNvGrpSpPr/>
            <p:nvPr/>
          </p:nvGrpSpPr>
          <p:grpSpPr>
            <a:xfrm>
              <a:off x="5672963" y="1866942"/>
              <a:ext cx="496385" cy="570615"/>
              <a:chOff x="6215194" y="1890080"/>
              <a:chExt cx="496385" cy="570615"/>
            </a:xfrm>
            <a:noFill/>
          </p:grpSpPr>
          <p:sp>
            <p:nvSpPr>
              <p:cNvPr id="321" name="Freeform: Shape 260">
                <a:extLst>
                  <a:ext uri="{FF2B5EF4-FFF2-40B4-BE49-F238E27FC236}">
                    <a16:creationId xmlns:a16="http://schemas.microsoft.com/office/drawing/2014/main" id="{CD2D4CCB-F182-DB6C-D305-B3AD5966EE94}"/>
                  </a:ext>
                </a:extLst>
              </p:cNvPr>
              <p:cNvSpPr/>
              <p:nvPr/>
            </p:nvSpPr>
            <p:spPr>
              <a:xfrm>
                <a:off x="6640252" y="1933207"/>
                <a:ext cx="4146" cy="87499"/>
              </a:xfrm>
              <a:custGeom>
                <a:avLst/>
                <a:gdLst>
                  <a:gd name="connsiteX0" fmla="*/ 0 w 4146"/>
                  <a:gd name="connsiteY0" fmla="*/ 87500 h 87499"/>
                  <a:gd name="connsiteX1" fmla="*/ 0 w 4146"/>
                  <a:gd name="connsiteY1" fmla="*/ 0 h 87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4146" h="87499">
                    <a:moveTo>
                      <a:pt x="0" y="87500"/>
                    </a:moveTo>
                    <a:lnTo>
                      <a:pt x="0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22" name="Freeform: Shape 261">
                <a:extLst>
                  <a:ext uri="{FF2B5EF4-FFF2-40B4-BE49-F238E27FC236}">
                    <a16:creationId xmlns:a16="http://schemas.microsoft.com/office/drawing/2014/main" id="{C16701D3-8398-87B9-8B58-1890AA05F54E}"/>
                  </a:ext>
                </a:extLst>
              </p:cNvPr>
              <p:cNvSpPr/>
              <p:nvPr/>
            </p:nvSpPr>
            <p:spPr>
              <a:xfrm>
                <a:off x="6577634" y="2381489"/>
                <a:ext cx="63033" cy="37322"/>
              </a:xfrm>
              <a:custGeom>
                <a:avLst/>
                <a:gdLst>
                  <a:gd name="connsiteX0" fmla="*/ 63033 w 63033"/>
                  <a:gd name="connsiteY0" fmla="*/ 37322 h 37322"/>
                  <a:gd name="connsiteX1" fmla="*/ 0 w 63033"/>
                  <a:gd name="connsiteY1" fmla="*/ 0 h 373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3033" h="37322">
                    <a:moveTo>
                      <a:pt x="63033" y="37322"/>
                    </a:moveTo>
                    <a:lnTo>
                      <a:pt x="0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23" name="Freeform: Shape 262">
                <a:extLst>
                  <a:ext uri="{FF2B5EF4-FFF2-40B4-BE49-F238E27FC236}">
                    <a16:creationId xmlns:a16="http://schemas.microsoft.com/office/drawing/2014/main" id="{BCBEE300-53F0-AF71-881B-DCC1D1BF3992}"/>
                  </a:ext>
                </a:extLst>
              </p:cNvPr>
              <p:cNvSpPr/>
              <p:nvPr/>
            </p:nvSpPr>
            <p:spPr>
              <a:xfrm>
                <a:off x="6497599" y="2360340"/>
                <a:ext cx="213980" cy="100355"/>
              </a:xfrm>
              <a:custGeom>
                <a:avLst/>
                <a:gdLst>
                  <a:gd name="connsiteX0" fmla="*/ 213981 w 213980"/>
                  <a:gd name="connsiteY0" fmla="*/ 0 h 100355"/>
                  <a:gd name="connsiteX1" fmla="*/ 213981 w 213980"/>
                  <a:gd name="connsiteY1" fmla="*/ 17002 h 100355"/>
                  <a:gd name="connsiteX2" fmla="*/ 71327 w 213980"/>
                  <a:gd name="connsiteY2" fmla="*/ 100355 h 100355"/>
                  <a:gd name="connsiteX3" fmla="*/ 0 w 213980"/>
                  <a:gd name="connsiteY3" fmla="*/ 62204 h 1003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3980" h="100355">
                    <a:moveTo>
                      <a:pt x="213981" y="0"/>
                    </a:moveTo>
                    <a:lnTo>
                      <a:pt x="213981" y="17002"/>
                    </a:lnTo>
                    <a:lnTo>
                      <a:pt x="71327" y="100355"/>
                    </a:lnTo>
                    <a:lnTo>
                      <a:pt x="0" y="62204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24" name="Freeform: Shape 263">
                <a:extLst>
                  <a:ext uri="{FF2B5EF4-FFF2-40B4-BE49-F238E27FC236}">
                    <a16:creationId xmlns:a16="http://schemas.microsoft.com/office/drawing/2014/main" id="{0315CDB5-254F-675B-6C47-7EF93F0DE439}"/>
                  </a:ext>
                </a:extLst>
              </p:cNvPr>
              <p:cNvSpPr/>
              <p:nvPr/>
            </p:nvSpPr>
            <p:spPr>
              <a:xfrm>
                <a:off x="6497599" y="1890080"/>
                <a:ext cx="213980" cy="129383"/>
              </a:xfrm>
              <a:custGeom>
                <a:avLst/>
                <a:gdLst>
                  <a:gd name="connsiteX0" fmla="*/ 0 w 213980"/>
                  <a:gd name="connsiteY0" fmla="*/ 47275 h 129383"/>
                  <a:gd name="connsiteX1" fmla="*/ 71327 w 213980"/>
                  <a:gd name="connsiteY1" fmla="*/ 0 h 129383"/>
                  <a:gd name="connsiteX2" fmla="*/ 213981 w 213980"/>
                  <a:gd name="connsiteY2" fmla="*/ 82938 h 129383"/>
                  <a:gd name="connsiteX3" fmla="*/ 213981 w 213980"/>
                  <a:gd name="connsiteY3" fmla="*/ 129384 h 1293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3980" h="129383">
                    <a:moveTo>
                      <a:pt x="0" y="47275"/>
                    </a:moveTo>
                    <a:lnTo>
                      <a:pt x="71327" y="0"/>
                    </a:lnTo>
                    <a:lnTo>
                      <a:pt x="213981" y="82938"/>
                    </a:lnTo>
                    <a:lnTo>
                      <a:pt x="213981" y="129384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25" name="Freeform: Shape 264">
                <a:extLst>
                  <a:ext uri="{FF2B5EF4-FFF2-40B4-BE49-F238E27FC236}">
                    <a16:creationId xmlns:a16="http://schemas.microsoft.com/office/drawing/2014/main" id="{190ECC13-68AD-EAD8-1210-22FF13B51FCD}"/>
                  </a:ext>
                </a:extLst>
              </p:cNvPr>
              <p:cNvSpPr/>
              <p:nvPr/>
            </p:nvSpPr>
            <p:spPr>
              <a:xfrm>
                <a:off x="6286521" y="2068397"/>
                <a:ext cx="71326" cy="35663"/>
              </a:xfrm>
              <a:custGeom>
                <a:avLst/>
                <a:gdLst>
                  <a:gd name="connsiteX0" fmla="*/ 71327 w 71326"/>
                  <a:gd name="connsiteY0" fmla="*/ 35663 h 35663"/>
                  <a:gd name="connsiteX1" fmla="*/ 0 w 71326"/>
                  <a:gd name="connsiteY1" fmla="*/ 0 h 356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71326" h="35663">
                    <a:moveTo>
                      <a:pt x="71327" y="35663"/>
                    </a:moveTo>
                    <a:lnTo>
                      <a:pt x="0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26" name="Freeform: Shape 265">
                <a:extLst>
                  <a:ext uri="{FF2B5EF4-FFF2-40B4-BE49-F238E27FC236}">
                    <a16:creationId xmlns:a16="http://schemas.microsoft.com/office/drawing/2014/main" id="{B1F7BFFF-8B01-7EF8-4E6E-94F2ED0F2887}"/>
                  </a:ext>
                </a:extLst>
              </p:cNvPr>
              <p:cNvSpPr/>
              <p:nvPr/>
            </p:nvSpPr>
            <p:spPr>
              <a:xfrm>
                <a:off x="6357847" y="1933207"/>
                <a:ext cx="4146" cy="87499"/>
              </a:xfrm>
              <a:custGeom>
                <a:avLst/>
                <a:gdLst>
                  <a:gd name="connsiteX0" fmla="*/ 0 w 4146"/>
                  <a:gd name="connsiteY0" fmla="*/ 87500 h 87499"/>
                  <a:gd name="connsiteX1" fmla="*/ 0 w 4146"/>
                  <a:gd name="connsiteY1" fmla="*/ 0 h 87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4146" h="87499">
                    <a:moveTo>
                      <a:pt x="0" y="87500"/>
                    </a:moveTo>
                    <a:lnTo>
                      <a:pt x="0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27" name="Freeform: Shape 266">
                <a:extLst>
                  <a:ext uri="{FF2B5EF4-FFF2-40B4-BE49-F238E27FC236}">
                    <a16:creationId xmlns:a16="http://schemas.microsoft.com/office/drawing/2014/main" id="{1423C933-5977-CEA5-11C0-148BBDD4839F}"/>
                  </a:ext>
                </a:extLst>
              </p:cNvPr>
              <p:cNvSpPr/>
              <p:nvPr/>
            </p:nvSpPr>
            <p:spPr>
              <a:xfrm>
                <a:off x="6215194" y="2138894"/>
                <a:ext cx="68838" cy="40225"/>
              </a:xfrm>
              <a:custGeom>
                <a:avLst/>
                <a:gdLst>
                  <a:gd name="connsiteX0" fmla="*/ 0 w 68838"/>
                  <a:gd name="connsiteY0" fmla="*/ 40225 h 40225"/>
                  <a:gd name="connsiteX1" fmla="*/ 68839 w 68838"/>
                  <a:gd name="connsiteY1" fmla="*/ 0 h 402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8838" h="40225">
                    <a:moveTo>
                      <a:pt x="0" y="40225"/>
                    </a:moveTo>
                    <a:lnTo>
                      <a:pt x="68839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28" name="Freeform: Shape 267">
                <a:extLst>
                  <a:ext uri="{FF2B5EF4-FFF2-40B4-BE49-F238E27FC236}">
                    <a16:creationId xmlns:a16="http://schemas.microsoft.com/office/drawing/2014/main" id="{A38CC1AA-6E2F-ABF1-FC2D-B6E676457D6D}"/>
                  </a:ext>
                </a:extLst>
              </p:cNvPr>
              <p:cNvSpPr/>
              <p:nvPr/>
            </p:nvSpPr>
            <p:spPr>
              <a:xfrm>
                <a:off x="6356189" y="2381489"/>
                <a:ext cx="64277" cy="38151"/>
              </a:xfrm>
              <a:custGeom>
                <a:avLst/>
                <a:gdLst>
                  <a:gd name="connsiteX0" fmla="*/ 0 w 64277"/>
                  <a:gd name="connsiteY0" fmla="*/ 38152 h 38151"/>
                  <a:gd name="connsiteX1" fmla="*/ 64277 w 64277"/>
                  <a:gd name="connsiteY1" fmla="*/ 0 h 381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4277" h="38151">
                    <a:moveTo>
                      <a:pt x="0" y="38152"/>
                    </a:moveTo>
                    <a:lnTo>
                      <a:pt x="64277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29" name="Freeform: Shape 268">
                <a:extLst>
                  <a:ext uri="{FF2B5EF4-FFF2-40B4-BE49-F238E27FC236}">
                    <a16:creationId xmlns:a16="http://schemas.microsoft.com/office/drawing/2014/main" id="{9B9CBCC0-0740-246F-9D28-B539F32454C6}"/>
                  </a:ext>
                </a:extLst>
              </p:cNvPr>
              <p:cNvSpPr/>
              <p:nvPr/>
            </p:nvSpPr>
            <p:spPr>
              <a:xfrm>
                <a:off x="6318866" y="2396418"/>
                <a:ext cx="181634" cy="64277"/>
              </a:xfrm>
              <a:custGeom>
                <a:avLst/>
                <a:gdLst>
                  <a:gd name="connsiteX0" fmla="*/ 0 w 181634"/>
                  <a:gd name="connsiteY0" fmla="*/ 0 h 64277"/>
                  <a:gd name="connsiteX1" fmla="*/ 110308 w 181634"/>
                  <a:gd name="connsiteY1" fmla="*/ 64277 h 64277"/>
                  <a:gd name="connsiteX2" fmla="*/ 181635 w 181634"/>
                  <a:gd name="connsiteY2" fmla="*/ 26126 h 642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81634" h="64277">
                    <a:moveTo>
                      <a:pt x="0" y="0"/>
                    </a:moveTo>
                    <a:lnTo>
                      <a:pt x="110308" y="64277"/>
                    </a:lnTo>
                    <a:lnTo>
                      <a:pt x="181635" y="26126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30" name="Freeform: Shape 269">
                <a:extLst>
                  <a:ext uri="{FF2B5EF4-FFF2-40B4-BE49-F238E27FC236}">
                    <a16:creationId xmlns:a16="http://schemas.microsoft.com/office/drawing/2014/main" id="{87B2A59B-5C57-0EEF-F383-985C3FB9E5D3}"/>
                  </a:ext>
                </a:extLst>
              </p:cNvPr>
              <p:cNvSpPr/>
              <p:nvPr/>
            </p:nvSpPr>
            <p:spPr>
              <a:xfrm>
                <a:off x="6215194" y="1890080"/>
                <a:ext cx="285307" cy="320971"/>
              </a:xfrm>
              <a:custGeom>
                <a:avLst/>
                <a:gdLst>
                  <a:gd name="connsiteX0" fmla="*/ 285308 w 285307"/>
                  <a:gd name="connsiteY0" fmla="*/ 47275 h 320971"/>
                  <a:gd name="connsiteX1" fmla="*/ 213981 w 285307"/>
                  <a:gd name="connsiteY1" fmla="*/ 0 h 320971"/>
                  <a:gd name="connsiteX2" fmla="*/ 71327 w 285307"/>
                  <a:gd name="connsiteY2" fmla="*/ 82938 h 320971"/>
                  <a:gd name="connsiteX3" fmla="*/ 71327 w 285307"/>
                  <a:gd name="connsiteY3" fmla="*/ 177488 h 320971"/>
                  <a:gd name="connsiteX4" fmla="*/ 0 w 285307"/>
                  <a:gd name="connsiteY4" fmla="*/ 213981 h 320971"/>
                  <a:gd name="connsiteX5" fmla="*/ 0 w 285307"/>
                  <a:gd name="connsiteY5" fmla="*/ 288211 h 320971"/>
                  <a:gd name="connsiteX6" fmla="*/ 0 w 285307"/>
                  <a:gd name="connsiteY6" fmla="*/ 320971 h 3209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85307" h="320971">
                    <a:moveTo>
                      <a:pt x="285308" y="47275"/>
                    </a:moveTo>
                    <a:lnTo>
                      <a:pt x="213981" y="0"/>
                    </a:lnTo>
                    <a:lnTo>
                      <a:pt x="71327" y="82938"/>
                    </a:lnTo>
                    <a:lnTo>
                      <a:pt x="71327" y="177488"/>
                    </a:lnTo>
                    <a:lnTo>
                      <a:pt x="0" y="213981"/>
                    </a:lnTo>
                    <a:lnTo>
                      <a:pt x="0" y="288211"/>
                    </a:lnTo>
                    <a:lnTo>
                      <a:pt x="0" y="320971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</p:grpSp>
        <p:grpSp>
          <p:nvGrpSpPr>
            <p:cNvPr id="302" name="Graphic 18">
              <a:extLst>
                <a:ext uri="{FF2B5EF4-FFF2-40B4-BE49-F238E27FC236}">
                  <a16:creationId xmlns:a16="http://schemas.microsoft.com/office/drawing/2014/main" id="{8DBA189F-067E-009D-A0CC-520004FF68F7}"/>
                </a:ext>
              </a:extLst>
            </p:cNvPr>
            <p:cNvGrpSpPr/>
            <p:nvPr/>
          </p:nvGrpSpPr>
          <p:grpSpPr>
            <a:xfrm>
              <a:off x="5872840" y="2023728"/>
              <a:ext cx="252965" cy="298129"/>
              <a:chOff x="6415071" y="2046866"/>
              <a:chExt cx="252965" cy="298129"/>
            </a:xfrm>
            <a:noFill/>
          </p:grpSpPr>
          <p:sp>
            <p:nvSpPr>
              <p:cNvPr id="316" name="Freeform: Shape 255">
                <a:extLst>
                  <a:ext uri="{FF2B5EF4-FFF2-40B4-BE49-F238E27FC236}">
                    <a16:creationId xmlns:a16="http://schemas.microsoft.com/office/drawing/2014/main" id="{F64320AC-9C33-CD9E-84CE-A5235AF8198A}"/>
                  </a:ext>
                </a:extLst>
              </p:cNvPr>
              <p:cNvSpPr/>
              <p:nvPr/>
            </p:nvSpPr>
            <p:spPr>
              <a:xfrm>
                <a:off x="6480181" y="2195707"/>
                <a:ext cx="187855" cy="4146"/>
              </a:xfrm>
              <a:custGeom>
                <a:avLst/>
                <a:gdLst>
                  <a:gd name="connsiteX0" fmla="*/ 0 w 187855"/>
                  <a:gd name="connsiteY0" fmla="*/ 0 h 4146"/>
                  <a:gd name="connsiteX1" fmla="*/ 187855 w 187855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87855" h="4146">
                    <a:moveTo>
                      <a:pt x="0" y="0"/>
                    </a:moveTo>
                    <a:lnTo>
                      <a:pt x="187855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17" name="Freeform: Shape 256">
                <a:extLst>
                  <a:ext uri="{FF2B5EF4-FFF2-40B4-BE49-F238E27FC236}">
                    <a16:creationId xmlns:a16="http://schemas.microsoft.com/office/drawing/2014/main" id="{009687F0-44D6-EF97-FE93-8EA7D5C2D05C}"/>
                  </a:ext>
                </a:extLst>
              </p:cNvPr>
              <p:cNvSpPr/>
              <p:nvPr/>
            </p:nvSpPr>
            <p:spPr>
              <a:xfrm>
                <a:off x="6480181" y="2073373"/>
                <a:ext cx="93720" cy="245082"/>
              </a:xfrm>
              <a:custGeom>
                <a:avLst/>
                <a:gdLst>
                  <a:gd name="connsiteX0" fmla="*/ 0 w 93720"/>
                  <a:gd name="connsiteY0" fmla="*/ 0 h 245082"/>
                  <a:gd name="connsiteX1" fmla="*/ 93720 w 93720"/>
                  <a:gd name="connsiteY1" fmla="*/ 0 h 245082"/>
                  <a:gd name="connsiteX2" fmla="*/ 93720 w 93720"/>
                  <a:gd name="connsiteY2" fmla="*/ 245083 h 245082"/>
                  <a:gd name="connsiteX3" fmla="*/ 0 w 93720"/>
                  <a:gd name="connsiteY3" fmla="*/ 245083 h 2450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3720" h="245082">
                    <a:moveTo>
                      <a:pt x="0" y="0"/>
                    </a:moveTo>
                    <a:lnTo>
                      <a:pt x="93720" y="0"/>
                    </a:lnTo>
                    <a:lnTo>
                      <a:pt x="93720" y="245083"/>
                    </a:lnTo>
                    <a:lnTo>
                      <a:pt x="0" y="245083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18" name="Freeform: Shape 257">
                <a:extLst>
                  <a:ext uri="{FF2B5EF4-FFF2-40B4-BE49-F238E27FC236}">
                    <a16:creationId xmlns:a16="http://schemas.microsoft.com/office/drawing/2014/main" id="{B6EDF1E5-6BD8-0F68-3BA2-A76C0CDBA257}"/>
                  </a:ext>
                </a:extLst>
              </p:cNvPr>
              <p:cNvSpPr/>
              <p:nvPr/>
            </p:nvSpPr>
            <p:spPr>
              <a:xfrm rot="5400000">
                <a:off x="6415071" y="2046866"/>
                <a:ext cx="53080" cy="53080"/>
              </a:xfrm>
              <a:custGeom>
                <a:avLst/>
                <a:gdLst>
                  <a:gd name="connsiteX0" fmla="*/ 0 w 53080"/>
                  <a:gd name="connsiteY0" fmla="*/ 0 h 53080"/>
                  <a:gd name="connsiteX1" fmla="*/ 53080 w 53080"/>
                  <a:gd name="connsiteY1" fmla="*/ 0 h 53080"/>
                  <a:gd name="connsiteX2" fmla="*/ 53080 w 53080"/>
                  <a:gd name="connsiteY2" fmla="*/ 53081 h 53080"/>
                  <a:gd name="connsiteX3" fmla="*/ 0 w 53080"/>
                  <a:gd name="connsiteY3" fmla="*/ 53081 h 530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3080" h="53080">
                    <a:moveTo>
                      <a:pt x="0" y="0"/>
                    </a:moveTo>
                    <a:lnTo>
                      <a:pt x="53080" y="0"/>
                    </a:lnTo>
                    <a:lnTo>
                      <a:pt x="53080" y="53081"/>
                    </a:lnTo>
                    <a:lnTo>
                      <a:pt x="0" y="53081"/>
                    </a:ln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19" name="Freeform: Shape 258">
                <a:extLst>
                  <a:ext uri="{FF2B5EF4-FFF2-40B4-BE49-F238E27FC236}">
                    <a16:creationId xmlns:a16="http://schemas.microsoft.com/office/drawing/2014/main" id="{293A52E2-E879-A074-3367-7179BFDE09C0}"/>
                  </a:ext>
                </a:extLst>
              </p:cNvPr>
              <p:cNvSpPr/>
              <p:nvPr/>
            </p:nvSpPr>
            <p:spPr>
              <a:xfrm>
                <a:off x="6415490" y="2161702"/>
                <a:ext cx="52665" cy="68424"/>
              </a:xfrm>
              <a:custGeom>
                <a:avLst/>
                <a:gdLst>
                  <a:gd name="connsiteX0" fmla="*/ 0 w 52665"/>
                  <a:gd name="connsiteY0" fmla="*/ 68424 h 68424"/>
                  <a:gd name="connsiteX1" fmla="*/ 0 w 52665"/>
                  <a:gd name="connsiteY1" fmla="*/ 0 h 68424"/>
                  <a:gd name="connsiteX2" fmla="*/ 52666 w 52665"/>
                  <a:gd name="connsiteY2" fmla="*/ 34005 h 684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52665" h="68424">
                    <a:moveTo>
                      <a:pt x="0" y="68424"/>
                    </a:moveTo>
                    <a:lnTo>
                      <a:pt x="0" y="0"/>
                    </a:lnTo>
                    <a:lnTo>
                      <a:pt x="52666" y="34005"/>
                    </a:ln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20" name="Freeform: Shape 259">
                <a:extLst>
                  <a:ext uri="{FF2B5EF4-FFF2-40B4-BE49-F238E27FC236}">
                    <a16:creationId xmlns:a16="http://schemas.microsoft.com/office/drawing/2014/main" id="{23BE8D47-90A0-5355-BB44-CA61F9C1FAED}"/>
                  </a:ext>
                </a:extLst>
              </p:cNvPr>
              <p:cNvSpPr/>
              <p:nvPr/>
            </p:nvSpPr>
            <p:spPr>
              <a:xfrm>
                <a:off x="6415490" y="2292330"/>
                <a:ext cx="52665" cy="52665"/>
              </a:xfrm>
              <a:custGeom>
                <a:avLst/>
                <a:gdLst>
                  <a:gd name="connsiteX0" fmla="*/ 0 w 52665"/>
                  <a:gd name="connsiteY0" fmla="*/ 30272 h 52665"/>
                  <a:gd name="connsiteX1" fmla="*/ 0 w 52665"/>
                  <a:gd name="connsiteY1" fmla="*/ 22393 h 52665"/>
                  <a:gd name="connsiteX2" fmla="*/ 22393 w 52665"/>
                  <a:gd name="connsiteY2" fmla="*/ 0 h 52665"/>
                  <a:gd name="connsiteX3" fmla="*/ 30272 w 52665"/>
                  <a:gd name="connsiteY3" fmla="*/ 0 h 52665"/>
                  <a:gd name="connsiteX4" fmla="*/ 52666 w 52665"/>
                  <a:gd name="connsiteY4" fmla="*/ 22393 h 52665"/>
                  <a:gd name="connsiteX5" fmla="*/ 52666 w 52665"/>
                  <a:gd name="connsiteY5" fmla="*/ 30272 h 52665"/>
                  <a:gd name="connsiteX6" fmla="*/ 30272 w 52665"/>
                  <a:gd name="connsiteY6" fmla="*/ 52666 h 52665"/>
                  <a:gd name="connsiteX7" fmla="*/ 22393 w 52665"/>
                  <a:gd name="connsiteY7" fmla="*/ 52666 h 52665"/>
                  <a:gd name="connsiteX8" fmla="*/ 0 w 52665"/>
                  <a:gd name="connsiteY8" fmla="*/ 30272 h 526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2665" h="52665">
                    <a:moveTo>
                      <a:pt x="0" y="30272"/>
                    </a:moveTo>
                    <a:lnTo>
                      <a:pt x="0" y="22393"/>
                    </a:lnTo>
                    <a:cubicBezTo>
                      <a:pt x="0" y="9953"/>
                      <a:pt x="9953" y="0"/>
                      <a:pt x="22393" y="0"/>
                    </a:cubicBezTo>
                    <a:lnTo>
                      <a:pt x="30272" y="0"/>
                    </a:lnTo>
                    <a:cubicBezTo>
                      <a:pt x="42713" y="0"/>
                      <a:pt x="52666" y="9953"/>
                      <a:pt x="52666" y="22393"/>
                    </a:cubicBezTo>
                    <a:lnTo>
                      <a:pt x="52666" y="30272"/>
                    </a:lnTo>
                    <a:cubicBezTo>
                      <a:pt x="52666" y="42713"/>
                      <a:pt x="42713" y="52666"/>
                      <a:pt x="30272" y="52666"/>
                    </a:cubicBezTo>
                    <a:lnTo>
                      <a:pt x="22393" y="52666"/>
                    </a:lnTo>
                    <a:cubicBezTo>
                      <a:pt x="9953" y="52666"/>
                      <a:pt x="0" y="42713"/>
                      <a:pt x="0" y="30272"/>
                    </a:cubicBez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</p:grpSp>
        <p:grpSp>
          <p:nvGrpSpPr>
            <p:cNvPr id="305" name="Graphic 18">
              <a:extLst>
                <a:ext uri="{FF2B5EF4-FFF2-40B4-BE49-F238E27FC236}">
                  <a16:creationId xmlns:a16="http://schemas.microsoft.com/office/drawing/2014/main" id="{FD15AC15-17AA-BF36-DD9D-7E871F80530C}"/>
                </a:ext>
              </a:extLst>
            </p:cNvPr>
            <p:cNvGrpSpPr/>
            <p:nvPr/>
          </p:nvGrpSpPr>
          <p:grpSpPr>
            <a:xfrm>
              <a:off x="6154419" y="2027842"/>
              <a:ext cx="191587" cy="274940"/>
              <a:chOff x="6696650" y="2050980"/>
              <a:chExt cx="191587" cy="274940"/>
            </a:xfrm>
            <a:noFill/>
          </p:grpSpPr>
          <p:sp>
            <p:nvSpPr>
              <p:cNvPr id="307" name="Freeform: Shape 248">
                <a:extLst>
                  <a:ext uri="{FF2B5EF4-FFF2-40B4-BE49-F238E27FC236}">
                    <a16:creationId xmlns:a16="http://schemas.microsoft.com/office/drawing/2014/main" id="{5DE554CC-D39B-43D3-D934-0F9251B8E0B5}"/>
                  </a:ext>
                </a:extLst>
              </p:cNvPr>
              <p:cNvSpPr/>
              <p:nvPr/>
            </p:nvSpPr>
            <p:spPr>
              <a:xfrm>
                <a:off x="6696650" y="2050980"/>
                <a:ext cx="191587" cy="274940"/>
              </a:xfrm>
              <a:custGeom>
                <a:avLst/>
                <a:gdLst>
                  <a:gd name="connsiteX0" fmla="*/ 0 w 191587"/>
                  <a:gd name="connsiteY0" fmla="*/ 266232 h 274940"/>
                  <a:gd name="connsiteX1" fmla="*/ 0 w 191587"/>
                  <a:gd name="connsiteY1" fmla="*/ 8709 h 274940"/>
                  <a:gd name="connsiteX2" fmla="*/ 8709 w 191587"/>
                  <a:gd name="connsiteY2" fmla="*/ 0 h 274940"/>
                  <a:gd name="connsiteX3" fmla="*/ 127725 w 191587"/>
                  <a:gd name="connsiteY3" fmla="*/ 0 h 274940"/>
                  <a:gd name="connsiteX4" fmla="*/ 191587 w 191587"/>
                  <a:gd name="connsiteY4" fmla="*/ 63862 h 274940"/>
                  <a:gd name="connsiteX5" fmla="*/ 191587 w 191587"/>
                  <a:gd name="connsiteY5" fmla="*/ 266232 h 274940"/>
                  <a:gd name="connsiteX6" fmla="*/ 182879 w 191587"/>
                  <a:gd name="connsiteY6" fmla="*/ 274940 h 274940"/>
                  <a:gd name="connsiteX7" fmla="*/ 8709 w 191587"/>
                  <a:gd name="connsiteY7" fmla="*/ 274940 h 274940"/>
                  <a:gd name="connsiteX8" fmla="*/ 0 w 191587"/>
                  <a:gd name="connsiteY8" fmla="*/ 266232 h 27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91587" h="274940">
                    <a:moveTo>
                      <a:pt x="0" y="266232"/>
                    </a:moveTo>
                    <a:lnTo>
                      <a:pt x="0" y="8709"/>
                    </a:lnTo>
                    <a:cubicBezTo>
                      <a:pt x="0" y="3732"/>
                      <a:pt x="3732" y="0"/>
                      <a:pt x="8709" y="0"/>
                    </a:cubicBezTo>
                    <a:lnTo>
                      <a:pt x="127725" y="0"/>
                    </a:lnTo>
                    <a:lnTo>
                      <a:pt x="191587" y="63862"/>
                    </a:lnTo>
                    <a:lnTo>
                      <a:pt x="191587" y="266232"/>
                    </a:lnTo>
                    <a:cubicBezTo>
                      <a:pt x="191587" y="271208"/>
                      <a:pt x="187855" y="274940"/>
                      <a:pt x="182879" y="274940"/>
                    </a:cubicBezTo>
                    <a:lnTo>
                      <a:pt x="8709" y="274940"/>
                    </a:lnTo>
                    <a:cubicBezTo>
                      <a:pt x="3732" y="274940"/>
                      <a:pt x="0" y="271208"/>
                      <a:pt x="0" y="266232"/>
                    </a:cubicBez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09" name="Freeform: Shape 249">
                <a:extLst>
                  <a:ext uri="{FF2B5EF4-FFF2-40B4-BE49-F238E27FC236}">
                    <a16:creationId xmlns:a16="http://schemas.microsoft.com/office/drawing/2014/main" id="{D861C200-B9C2-704F-FDFB-F9587DDD2934}"/>
                  </a:ext>
                </a:extLst>
              </p:cNvPr>
              <p:cNvSpPr/>
              <p:nvPr/>
            </p:nvSpPr>
            <p:spPr>
              <a:xfrm>
                <a:off x="6823961" y="2050980"/>
                <a:ext cx="64277" cy="63862"/>
              </a:xfrm>
              <a:custGeom>
                <a:avLst/>
                <a:gdLst>
                  <a:gd name="connsiteX0" fmla="*/ 0 w 64277"/>
                  <a:gd name="connsiteY0" fmla="*/ 63862 h 63862"/>
                  <a:gd name="connsiteX1" fmla="*/ 64277 w 64277"/>
                  <a:gd name="connsiteY1" fmla="*/ 63862 h 63862"/>
                  <a:gd name="connsiteX2" fmla="*/ 0 w 64277"/>
                  <a:gd name="connsiteY2" fmla="*/ 0 h 638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64277" h="63862">
                    <a:moveTo>
                      <a:pt x="0" y="63862"/>
                    </a:moveTo>
                    <a:lnTo>
                      <a:pt x="64277" y="63862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11" name="Freeform: Shape 250">
                <a:extLst>
                  <a:ext uri="{FF2B5EF4-FFF2-40B4-BE49-F238E27FC236}">
                    <a16:creationId xmlns:a16="http://schemas.microsoft.com/office/drawing/2014/main" id="{B2F05CE4-BBB8-808B-90EA-ECDE3F20DC7C}"/>
                  </a:ext>
                </a:extLst>
              </p:cNvPr>
              <p:cNvSpPr/>
              <p:nvPr/>
            </p:nvSpPr>
            <p:spPr>
              <a:xfrm>
                <a:off x="6724849" y="2166679"/>
                <a:ext cx="135189" cy="4146"/>
              </a:xfrm>
              <a:custGeom>
                <a:avLst/>
                <a:gdLst>
                  <a:gd name="connsiteX0" fmla="*/ 0 w 135189"/>
                  <a:gd name="connsiteY0" fmla="*/ 0 h 4146"/>
                  <a:gd name="connsiteX1" fmla="*/ 135189 w 135189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35189" h="4146">
                    <a:moveTo>
                      <a:pt x="0" y="0"/>
                    </a:moveTo>
                    <a:lnTo>
                      <a:pt x="135189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12" name="Freeform: Shape 251">
                <a:extLst>
                  <a:ext uri="{FF2B5EF4-FFF2-40B4-BE49-F238E27FC236}">
                    <a16:creationId xmlns:a16="http://schemas.microsoft.com/office/drawing/2014/main" id="{DE459F48-C744-0243-C396-023DA3898ED1}"/>
                  </a:ext>
                </a:extLst>
              </p:cNvPr>
              <p:cNvSpPr/>
              <p:nvPr/>
            </p:nvSpPr>
            <p:spPr>
              <a:xfrm>
                <a:off x="6724849" y="2204001"/>
                <a:ext cx="135189" cy="4146"/>
              </a:xfrm>
              <a:custGeom>
                <a:avLst/>
                <a:gdLst>
                  <a:gd name="connsiteX0" fmla="*/ 0 w 135189"/>
                  <a:gd name="connsiteY0" fmla="*/ 0 h 4146"/>
                  <a:gd name="connsiteX1" fmla="*/ 135189 w 135189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35189" h="4146">
                    <a:moveTo>
                      <a:pt x="0" y="0"/>
                    </a:moveTo>
                    <a:lnTo>
                      <a:pt x="135189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13" name="Freeform: Shape 252">
                <a:extLst>
                  <a:ext uri="{FF2B5EF4-FFF2-40B4-BE49-F238E27FC236}">
                    <a16:creationId xmlns:a16="http://schemas.microsoft.com/office/drawing/2014/main" id="{F368AA1C-9F38-1F2C-8527-9E9D7780E4EC}"/>
                  </a:ext>
                </a:extLst>
              </p:cNvPr>
              <p:cNvSpPr/>
              <p:nvPr/>
            </p:nvSpPr>
            <p:spPr>
              <a:xfrm>
                <a:off x="6724849" y="2241323"/>
                <a:ext cx="135189" cy="4146"/>
              </a:xfrm>
              <a:custGeom>
                <a:avLst/>
                <a:gdLst>
                  <a:gd name="connsiteX0" fmla="*/ 0 w 135189"/>
                  <a:gd name="connsiteY0" fmla="*/ 0 h 4146"/>
                  <a:gd name="connsiteX1" fmla="*/ 135189 w 135189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35189" h="4146">
                    <a:moveTo>
                      <a:pt x="0" y="0"/>
                    </a:moveTo>
                    <a:lnTo>
                      <a:pt x="135189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14" name="Freeform: Shape 253">
                <a:extLst>
                  <a:ext uri="{FF2B5EF4-FFF2-40B4-BE49-F238E27FC236}">
                    <a16:creationId xmlns:a16="http://schemas.microsoft.com/office/drawing/2014/main" id="{E7F2448A-DD45-C760-E626-77A768B65626}"/>
                  </a:ext>
                </a:extLst>
              </p:cNvPr>
              <p:cNvSpPr/>
              <p:nvPr/>
            </p:nvSpPr>
            <p:spPr>
              <a:xfrm>
                <a:off x="6724849" y="2279060"/>
                <a:ext cx="135189" cy="4146"/>
              </a:xfrm>
              <a:custGeom>
                <a:avLst/>
                <a:gdLst>
                  <a:gd name="connsiteX0" fmla="*/ 0 w 135189"/>
                  <a:gd name="connsiteY0" fmla="*/ 0 h 4146"/>
                  <a:gd name="connsiteX1" fmla="*/ 135189 w 135189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35189" h="4146">
                    <a:moveTo>
                      <a:pt x="0" y="0"/>
                    </a:moveTo>
                    <a:lnTo>
                      <a:pt x="135189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15" name="Freeform: Shape 254">
                <a:extLst>
                  <a:ext uri="{FF2B5EF4-FFF2-40B4-BE49-F238E27FC236}">
                    <a16:creationId xmlns:a16="http://schemas.microsoft.com/office/drawing/2014/main" id="{08D40CC8-3659-4320-290E-C22D15AC8C28}"/>
                  </a:ext>
                </a:extLst>
              </p:cNvPr>
              <p:cNvSpPr/>
              <p:nvPr/>
            </p:nvSpPr>
            <p:spPr>
              <a:xfrm>
                <a:off x="6724849" y="2128942"/>
                <a:ext cx="76303" cy="4146"/>
              </a:xfrm>
              <a:custGeom>
                <a:avLst/>
                <a:gdLst>
                  <a:gd name="connsiteX0" fmla="*/ 0 w 76303"/>
                  <a:gd name="connsiteY0" fmla="*/ 0 h 4146"/>
                  <a:gd name="connsiteX1" fmla="*/ 76303 w 76303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76303" h="4146">
                    <a:moveTo>
                      <a:pt x="0" y="0"/>
                    </a:moveTo>
                    <a:lnTo>
                      <a:pt x="76303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</p:grpSp>
        <p:sp>
          <p:nvSpPr>
            <p:cNvPr id="306" name="Freeform: Shape 247">
              <a:extLst>
                <a:ext uri="{FF2B5EF4-FFF2-40B4-BE49-F238E27FC236}">
                  <a16:creationId xmlns:a16="http://schemas.microsoft.com/office/drawing/2014/main" id="{3A9A8A14-62E0-91BA-0462-1E396B1AAE52}"/>
                </a:ext>
              </a:extLst>
            </p:cNvPr>
            <p:cNvSpPr/>
            <p:nvPr/>
          </p:nvSpPr>
          <p:spPr>
            <a:xfrm>
              <a:off x="5610344" y="2221088"/>
              <a:ext cx="179561" cy="161314"/>
            </a:xfrm>
            <a:custGeom>
              <a:avLst/>
              <a:gdLst>
                <a:gd name="connsiteX0" fmla="*/ 95794 w 179561"/>
                <a:gd name="connsiteY0" fmla="*/ 99111 h 161314"/>
                <a:gd name="connsiteX1" fmla="*/ 29028 w 179561"/>
                <a:gd name="connsiteY1" fmla="*/ 154680 h 161314"/>
                <a:gd name="connsiteX2" fmla="*/ 0 w 179561"/>
                <a:gd name="connsiteY2" fmla="*/ 119846 h 161314"/>
                <a:gd name="connsiteX3" fmla="*/ 66765 w 179561"/>
                <a:gd name="connsiteY3" fmla="*/ 64277 h 161314"/>
                <a:gd name="connsiteX4" fmla="*/ 8294 w 179561"/>
                <a:gd name="connsiteY4" fmla="*/ 38981 h 161314"/>
                <a:gd name="connsiteX5" fmla="*/ 179561 w 179561"/>
                <a:gd name="connsiteY5" fmla="*/ 0 h 161314"/>
                <a:gd name="connsiteX6" fmla="*/ 109893 w 179561"/>
                <a:gd name="connsiteY6" fmla="*/ 161315 h 161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9561" h="161314">
                  <a:moveTo>
                    <a:pt x="95794" y="99111"/>
                  </a:moveTo>
                  <a:lnTo>
                    <a:pt x="29028" y="154680"/>
                  </a:lnTo>
                  <a:lnTo>
                    <a:pt x="0" y="119846"/>
                  </a:lnTo>
                  <a:lnTo>
                    <a:pt x="66765" y="64277"/>
                  </a:lnTo>
                  <a:lnTo>
                    <a:pt x="8294" y="38981"/>
                  </a:lnTo>
                  <a:lnTo>
                    <a:pt x="179561" y="0"/>
                  </a:lnTo>
                  <a:lnTo>
                    <a:pt x="109893" y="161315"/>
                  </a:lnTo>
                  <a:close/>
                </a:path>
              </a:pathLst>
            </a:custGeom>
            <a:noFill/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mazon Ember"/>
              </a:endParaRPr>
            </a:p>
          </p:txBody>
        </p:sp>
      </p:grpSp>
      <p:grpSp>
        <p:nvGrpSpPr>
          <p:cNvPr id="331" name="Group 2">
            <a:extLst>
              <a:ext uri="{FF2B5EF4-FFF2-40B4-BE49-F238E27FC236}">
                <a16:creationId xmlns:a16="http://schemas.microsoft.com/office/drawing/2014/main" id="{3D5E7D5D-6218-C206-F91F-472B5D922FA8}"/>
              </a:ext>
            </a:extLst>
          </p:cNvPr>
          <p:cNvGrpSpPr/>
          <p:nvPr/>
        </p:nvGrpSpPr>
        <p:grpSpPr>
          <a:xfrm>
            <a:off x="7863148" y="1836318"/>
            <a:ext cx="1109517" cy="955888"/>
            <a:chOff x="5610344" y="1866942"/>
            <a:chExt cx="735662" cy="570615"/>
          </a:xfrm>
        </p:grpSpPr>
        <p:grpSp>
          <p:nvGrpSpPr>
            <p:cNvPr id="332" name="Graphic 18">
              <a:extLst>
                <a:ext uri="{FF2B5EF4-FFF2-40B4-BE49-F238E27FC236}">
                  <a16:creationId xmlns:a16="http://schemas.microsoft.com/office/drawing/2014/main" id="{048B4E09-C17C-FE28-6958-0FE9DCCFF908}"/>
                </a:ext>
              </a:extLst>
            </p:cNvPr>
            <p:cNvGrpSpPr/>
            <p:nvPr/>
          </p:nvGrpSpPr>
          <p:grpSpPr>
            <a:xfrm>
              <a:off x="5672963" y="1866942"/>
              <a:ext cx="496385" cy="570615"/>
              <a:chOff x="6215194" y="1890080"/>
              <a:chExt cx="496385" cy="570615"/>
            </a:xfrm>
            <a:noFill/>
          </p:grpSpPr>
          <p:sp>
            <p:nvSpPr>
              <p:cNvPr id="348" name="Freeform: Shape 260">
                <a:extLst>
                  <a:ext uri="{FF2B5EF4-FFF2-40B4-BE49-F238E27FC236}">
                    <a16:creationId xmlns:a16="http://schemas.microsoft.com/office/drawing/2014/main" id="{505DC5AE-EA06-5180-E99B-4F9788A82531}"/>
                  </a:ext>
                </a:extLst>
              </p:cNvPr>
              <p:cNvSpPr/>
              <p:nvPr/>
            </p:nvSpPr>
            <p:spPr>
              <a:xfrm>
                <a:off x="6640252" y="1933207"/>
                <a:ext cx="4146" cy="87499"/>
              </a:xfrm>
              <a:custGeom>
                <a:avLst/>
                <a:gdLst>
                  <a:gd name="connsiteX0" fmla="*/ 0 w 4146"/>
                  <a:gd name="connsiteY0" fmla="*/ 87500 h 87499"/>
                  <a:gd name="connsiteX1" fmla="*/ 0 w 4146"/>
                  <a:gd name="connsiteY1" fmla="*/ 0 h 87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4146" h="87499">
                    <a:moveTo>
                      <a:pt x="0" y="87500"/>
                    </a:moveTo>
                    <a:lnTo>
                      <a:pt x="0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49" name="Freeform: Shape 261">
                <a:extLst>
                  <a:ext uri="{FF2B5EF4-FFF2-40B4-BE49-F238E27FC236}">
                    <a16:creationId xmlns:a16="http://schemas.microsoft.com/office/drawing/2014/main" id="{F16FA9CE-848A-1E93-20DC-1FF5DE70E011}"/>
                  </a:ext>
                </a:extLst>
              </p:cNvPr>
              <p:cNvSpPr/>
              <p:nvPr/>
            </p:nvSpPr>
            <p:spPr>
              <a:xfrm>
                <a:off x="6577634" y="2381489"/>
                <a:ext cx="63033" cy="37322"/>
              </a:xfrm>
              <a:custGeom>
                <a:avLst/>
                <a:gdLst>
                  <a:gd name="connsiteX0" fmla="*/ 63033 w 63033"/>
                  <a:gd name="connsiteY0" fmla="*/ 37322 h 37322"/>
                  <a:gd name="connsiteX1" fmla="*/ 0 w 63033"/>
                  <a:gd name="connsiteY1" fmla="*/ 0 h 373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3033" h="37322">
                    <a:moveTo>
                      <a:pt x="63033" y="37322"/>
                    </a:moveTo>
                    <a:lnTo>
                      <a:pt x="0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50" name="Freeform: Shape 262">
                <a:extLst>
                  <a:ext uri="{FF2B5EF4-FFF2-40B4-BE49-F238E27FC236}">
                    <a16:creationId xmlns:a16="http://schemas.microsoft.com/office/drawing/2014/main" id="{25ABE98A-2231-33FF-B296-774607C35272}"/>
                  </a:ext>
                </a:extLst>
              </p:cNvPr>
              <p:cNvSpPr/>
              <p:nvPr/>
            </p:nvSpPr>
            <p:spPr>
              <a:xfrm>
                <a:off x="6497599" y="2360340"/>
                <a:ext cx="213980" cy="100355"/>
              </a:xfrm>
              <a:custGeom>
                <a:avLst/>
                <a:gdLst>
                  <a:gd name="connsiteX0" fmla="*/ 213981 w 213980"/>
                  <a:gd name="connsiteY0" fmla="*/ 0 h 100355"/>
                  <a:gd name="connsiteX1" fmla="*/ 213981 w 213980"/>
                  <a:gd name="connsiteY1" fmla="*/ 17002 h 100355"/>
                  <a:gd name="connsiteX2" fmla="*/ 71327 w 213980"/>
                  <a:gd name="connsiteY2" fmla="*/ 100355 h 100355"/>
                  <a:gd name="connsiteX3" fmla="*/ 0 w 213980"/>
                  <a:gd name="connsiteY3" fmla="*/ 62204 h 1003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3980" h="100355">
                    <a:moveTo>
                      <a:pt x="213981" y="0"/>
                    </a:moveTo>
                    <a:lnTo>
                      <a:pt x="213981" y="17002"/>
                    </a:lnTo>
                    <a:lnTo>
                      <a:pt x="71327" y="100355"/>
                    </a:lnTo>
                    <a:lnTo>
                      <a:pt x="0" y="62204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51" name="Freeform: Shape 263">
                <a:extLst>
                  <a:ext uri="{FF2B5EF4-FFF2-40B4-BE49-F238E27FC236}">
                    <a16:creationId xmlns:a16="http://schemas.microsoft.com/office/drawing/2014/main" id="{562FF211-A24D-6270-5921-855784AEE722}"/>
                  </a:ext>
                </a:extLst>
              </p:cNvPr>
              <p:cNvSpPr/>
              <p:nvPr/>
            </p:nvSpPr>
            <p:spPr>
              <a:xfrm>
                <a:off x="6497599" y="1890080"/>
                <a:ext cx="213980" cy="129383"/>
              </a:xfrm>
              <a:custGeom>
                <a:avLst/>
                <a:gdLst>
                  <a:gd name="connsiteX0" fmla="*/ 0 w 213980"/>
                  <a:gd name="connsiteY0" fmla="*/ 47275 h 129383"/>
                  <a:gd name="connsiteX1" fmla="*/ 71327 w 213980"/>
                  <a:gd name="connsiteY1" fmla="*/ 0 h 129383"/>
                  <a:gd name="connsiteX2" fmla="*/ 213981 w 213980"/>
                  <a:gd name="connsiteY2" fmla="*/ 82938 h 129383"/>
                  <a:gd name="connsiteX3" fmla="*/ 213981 w 213980"/>
                  <a:gd name="connsiteY3" fmla="*/ 129384 h 1293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3980" h="129383">
                    <a:moveTo>
                      <a:pt x="0" y="47275"/>
                    </a:moveTo>
                    <a:lnTo>
                      <a:pt x="71327" y="0"/>
                    </a:lnTo>
                    <a:lnTo>
                      <a:pt x="213981" y="82938"/>
                    </a:lnTo>
                    <a:lnTo>
                      <a:pt x="213981" y="129384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52" name="Freeform: Shape 264">
                <a:extLst>
                  <a:ext uri="{FF2B5EF4-FFF2-40B4-BE49-F238E27FC236}">
                    <a16:creationId xmlns:a16="http://schemas.microsoft.com/office/drawing/2014/main" id="{7108EB0B-D27F-6BCA-39C9-DA2601110A59}"/>
                  </a:ext>
                </a:extLst>
              </p:cNvPr>
              <p:cNvSpPr/>
              <p:nvPr/>
            </p:nvSpPr>
            <p:spPr>
              <a:xfrm>
                <a:off x="6286521" y="2068397"/>
                <a:ext cx="71326" cy="35663"/>
              </a:xfrm>
              <a:custGeom>
                <a:avLst/>
                <a:gdLst>
                  <a:gd name="connsiteX0" fmla="*/ 71327 w 71326"/>
                  <a:gd name="connsiteY0" fmla="*/ 35663 h 35663"/>
                  <a:gd name="connsiteX1" fmla="*/ 0 w 71326"/>
                  <a:gd name="connsiteY1" fmla="*/ 0 h 356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71326" h="35663">
                    <a:moveTo>
                      <a:pt x="71327" y="35663"/>
                    </a:moveTo>
                    <a:lnTo>
                      <a:pt x="0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53" name="Freeform: Shape 265">
                <a:extLst>
                  <a:ext uri="{FF2B5EF4-FFF2-40B4-BE49-F238E27FC236}">
                    <a16:creationId xmlns:a16="http://schemas.microsoft.com/office/drawing/2014/main" id="{DEA20D66-56D6-43A4-484B-8357420038A5}"/>
                  </a:ext>
                </a:extLst>
              </p:cNvPr>
              <p:cNvSpPr/>
              <p:nvPr/>
            </p:nvSpPr>
            <p:spPr>
              <a:xfrm>
                <a:off x="6357847" y="1933207"/>
                <a:ext cx="4146" cy="87499"/>
              </a:xfrm>
              <a:custGeom>
                <a:avLst/>
                <a:gdLst>
                  <a:gd name="connsiteX0" fmla="*/ 0 w 4146"/>
                  <a:gd name="connsiteY0" fmla="*/ 87500 h 87499"/>
                  <a:gd name="connsiteX1" fmla="*/ 0 w 4146"/>
                  <a:gd name="connsiteY1" fmla="*/ 0 h 87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4146" h="87499">
                    <a:moveTo>
                      <a:pt x="0" y="87500"/>
                    </a:moveTo>
                    <a:lnTo>
                      <a:pt x="0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54" name="Freeform: Shape 266">
                <a:extLst>
                  <a:ext uri="{FF2B5EF4-FFF2-40B4-BE49-F238E27FC236}">
                    <a16:creationId xmlns:a16="http://schemas.microsoft.com/office/drawing/2014/main" id="{C4AE698E-175A-2E9C-03BB-74833795C843}"/>
                  </a:ext>
                </a:extLst>
              </p:cNvPr>
              <p:cNvSpPr/>
              <p:nvPr/>
            </p:nvSpPr>
            <p:spPr>
              <a:xfrm>
                <a:off x="6215194" y="2138894"/>
                <a:ext cx="68838" cy="40225"/>
              </a:xfrm>
              <a:custGeom>
                <a:avLst/>
                <a:gdLst>
                  <a:gd name="connsiteX0" fmla="*/ 0 w 68838"/>
                  <a:gd name="connsiteY0" fmla="*/ 40225 h 40225"/>
                  <a:gd name="connsiteX1" fmla="*/ 68839 w 68838"/>
                  <a:gd name="connsiteY1" fmla="*/ 0 h 402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8838" h="40225">
                    <a:moveTo>
                      <a:pt x="0" y="40225"/>
                    </a:moveTo>
                    <a:lnTo>
                      <a:pt x="68839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55" name="Freeform: Shape 267">
                <a:extLst>
                  <a:ext uri="{FF2B5EF4-FFF2-40B4-BE49-F238E27FC236}">
                    <a16:creationId xmlns:a16="http://schemas.microsoft.com/office/drawing/2014/main" id="{C33215F8-E7A4-1068-C148-123BB19D6553}"/>
                  </a:ext>
                </a:extLst>
              </p:cNvPr>
              <p:cNvSpPr/>
              <p:nvPr/>
            </p:nvSpPr>
            <p:spPr>
              <a:xfrm>
                <a:off x="6356189" y="2381489"/>
                <a:ext cx="64277" cy="38151"/>
              </a:xfrm>
              <a:custGeom>
                <a:avLst/>
                <a:gdLst>
                  <a:gd name="connsiteX0" fmla="*/ 0 w 64277"/>
                  <a:gd name="connsiteY0" fmla="*/ 38152 h 38151"/>
                  <a:gd name="connsiteX1" fmla="*/ 64277 w 64277"/>
                  <a:gd name="connsiteY1" fmla="*/ 0 h 381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4277" h="38151">
                    <a:moveTo>
                      <a:pt x="0" y="38152"/>
                    </a:moveTo>
                    <a:lnTo>
                      <a:pt x="64277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56" name="Freeform: Shape 268">
                <a:extLst>
                  <a:ext uri="{FF2B5EF4-FFF2-40B4-BE49-F238E27FC236}">
                    <a16:creationId xmlns:a16="http://schemas.microsoft.com/office/drawing/2014/main" id="{EA84398D-2370-B90B-859C-49DF89F0384F}"/>
                  </a:ext>
                </a:extLst>
              </p:cNvPr>
              <p:cNvSpPr/>
              <p:nvPr/>
            </p:nvSpPr>
            <p:spPr>
              <a:xfrm>
                <a:off x="6318866" y="2396418"/>
                <a:ext cx="181634" cy="64277"/>
              </a:xfrm>
              <a:custGeom>
                <a:avLst/>
                <a:gdLst>
                  <a:gd name="connsiteX0" fmla="*/ 0 w 181634"/>
                  <a:gd name="connsiteY0" fmla="*/ 0 h 64277"/>
                  <a:gd name="connsiteX1" fmla="*/ 110308 w 181634"/>
                  <a:gd name="connsiteY1" fmla="*/ 64277 h 64277"/>
                  <a:gd name="connsiteX2" fmla="*/ 181635 w 181634"/>
                  <a:gd name="connsiteY2" fmla="*/ 26126 h 642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81634" h="64277">
                    <a:moveTo>
                      <a:pt x="0" y="0"/>
                    </a:moveTo>
                    <a:lnTo>
                      <a:pt x="110308" y="64277"/>
                    </a:lnTo>
                    <a:lnTo>
                      <a:pt x="181635" y="26126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57" name="Freeform: Shape 269">
                <a:extLst>
                  <a:ext uri="{FF2B5EF4-FFF2-40B4-BE49-F238E27FC236}">
                    <a16:creationId xmlns:a16="http://schemas.microsoft.com/office/drawing/2014/main" id="{4D379619-0E8C-A505-D293-AF11CDD7BC62}"/>
                  </a:ext>
                </a:extLst>
              </p:cNvPr>
              <p:cNvSpPr/>
              <p:nvPr/>
            </p:nvSpPr>
            <p:spPr>
              <a:xfrm>
                <a:off x="6215194" y="1890080"/>
                <a:ext cx="285307" cy="320971"/>
              </a:xfrm>
              <a:custGeom>
                <a:avLst/>
                <a:gdLst>
                  <a:gd name="connsiteX0" fmla="*/ 285308 w 285307"/>
                  <a:gd name="connsiteY0" fmla="*/ 47275 h 320971"/>
                  <a:gd name="connsiteX1" fmla="*/ 213981 w 285307"/>
                  <a:gd name="connsiteY1" fmla="*/ 0 h 320971"/>
                  <a:gd name="connsiteX2" fmla="*/ 71327 w 285307"/>
                  <a:gd name="connsiteY2" fmla="*/ 82938 h 320971"/>
                  <a:gd name="connsiteX3" fmla="*/ 71327 w 285307"/>
                  <a:gd name="connsiteY3" fmla="*/ 177488 h 320971"/>
                  <a:gd name="connsiteX4" fmla="*/ 0 w 285307"/>
                  <a:gd name="connsiteY4" fmla="*/ 213981 h 320971"/>
                  <a:gd name="connsiteX5" fmla="*/ 0 w 285307"/>
                  <a:gd name="connsiteY5" fmla="*/ 288211 h 320971"/>
                  <a:gd name="connsiteX6" fmla="*/ 0 w 285307"/>
                  <a:gd name="connsiteY6" fmla="*/ 320971 h 3209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85307" h="320971">
                    <a:moveTo>
                      <a:pt x="285308" y="47275"/>
                    </a:moveTo>
                    <a:lnTo>
                      <a:pt x="213981" y="0"/>
                    </a:lnTo>
                    <a:lnTo>
                      <a:pt x="71327" y="82938"/>
                    </a:lnTo>
                    <a:lnTo>
                      <a:pt x="71327" y="177488"/>
                    </a:lnTo>
                    <a:lnTo>
                      <a:pt x="0" y="213981"/>
                    </a:lnTo>
                    <a:lnTo>
                      <a:pt x="0" y="288211"/>
                    </a:lnTo>
                    <a:lnTo>
                      <a:pt x="0" y="320971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</p:grpSp>
        <p:grpSp>
          <p:nvGrpSpPr>
            <p:cNvPr id="333" name="Graphic 18">
              <a:extLst>
                <a:ext uri="{FF2B5EF4-FFF2-40B4-BE49-F238E27FC236}">
                  <a16:creationId xmlns:a16="http://schemas.microsoft.com/office/drawing/2014/main" id="{7B26364E-E656-3624-D816-BD6F52646C97}"/>
                </a:ext>
              </a:extLst>
            </p:cNvPr>
            <p:cNvGrpSpPr/>
            <p:nvPr/>
          </p:nvGrpSpPr>
          <p:grpSpPr>
            <a:xfrm>
              <a:off x="5872840" y="2023728"/>
              <a:ext cx="252965" cy="298130"/>
              <a:chOff x="6415071" y="2046866"/>
              <a:chExt cx="252965" cy="298130"/>
            </a:xfrm>
            <a:noFill/>
          </p:grpSpPr>
          <p:sp>
            <p:nvSpPr>
              <p:cNvPr id="343" name="Freeform: Shape 255">
                <a:extLst>
                  <a:ext uri="{FF2B5EF4-FFF2-40B4-BE49-F238E27FC236}">
                    <a16:creationId xmlns:a16="http://schemas.microsoft.com/office/drawing/2014/main" id="{7C594D06-1988-19CD-A3CC-B2533ECF039D}"/>
                  </a:ext>
                </a:extLst>
              </p:cNvPr>
              <p:cNvSpPr/>
              <p:nvPr/>
            </p:nvSpPr>
            <p:spPr>
              <a:xfrm>
                <a:off x="6480181" y="2195707"/>
                <a:ext cx="187855" cy="4146"/>
              </a:xfrm>
              <a:custGeom>
                <a:avLst/>
                <a:gdLst>
                  <a:gd name="connsiteX0" fmla="*/ 0 w 187855"/>
                  <a:gd name="connsiteY0" fmla="*/ 0 h 4146"/>
                  <a:gd name="connsiteX1" fmla="*/ 187855 w 187855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87855" h="4146">
                    <a:moveTo>
                      <a:pt x="0" y="0"/>
                    </a:moveTo>
                    <a:lnTo>
                      <a:pt x="187855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44" name="Freeform: Shape 256">
                <a:extLst>
                  <a:ext uri="{FF2B5EF4-FFF2-40B4-BE49-F238E27FC236}">
                    <a16:creationId xmlns:a16="http://schemas.microsoft.com/office/drawing/2014/main" id="{C137343C-862B-BCF8-B85F-0AA4F39114B5}"/>
                  </a:ext>
                </a:extLst>
              </p:cNvPr>
              <p:cNvSpPr/>
              <p:nvPr/>
            </p:nvSpPr>
            <p:spPr>
              <a:xfrm>
                <a:off x="6480181" y="2073373"/>
                <a:ext cx="93720" cy="245082"/>
              </a:xfrm>
              <a:custGeom>
                <a:avLst/>
                <a:gdLst>
                  <a:gd name="connsiteX0" fmla="*/ 0 w 93720"/>
                  <a:gd name="connsiteY0" fmla="*/ 0 h 245082"/>
                  <a:gd name="connsiteX1" fmla="*/ 93720 w 93720"/>
                  <a:gd name="connsiteY1" fmla="*/ 0 h 245082"/>
                  <a:gd name="connsiteX2" fmla="*/ 93720 w 93720"/>
                  <a:gd name="connsiteY2" fmla="*/ 245083 h 245082"/>
                  <a:gd name="connsiteX3" fmla="*/ 0 w 93720"/>
                  <a:gd name="connsiteY3" fmla="*/ 245083 h 2450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3720" h="245082">
                    <a:moveTo>
                      <a:pt x="0" y="0"/>
                    </a:moveTo>
                    <a:lnTo>
                      <a:pt x="93720" y="0"/>
                    </a:lnTo>
                    <a:lnTo>
                      <a:pt x="93720" y="245083"/>
                    </a:lnTo>
                    <a:lnTo>
                      <a:pt x="0" y="245083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45" name="Freeform: Shape 257">
                <a:extLst>
                  <a:ext uri="{FF2B5EF4-FFF2-40B4-BE49-F238E27FC236}">
                    <a16:creationId xmlns:a16="http://schemas.microsoft.com/office/drawing/2014/main" id="{673A79F3-42BA-73CB-CE88-E4B6309431F2}"/>
                  </a:ext>
                </a:extLst>
              </p:cNvPr>
              <p:cNvSpPr/>
              <p:nvPr/>
            </p:nvSpPr>
            <p:spPr>
              <a:xfrm rot="5400000">
                <a:off x="6415071" y="2046866"/>
                <a:ext cx="53080" cy="53080"/>
              </a:xfrm>
              <a:custGeom>
                <a:avLst/>
                <a:gdLst>
                  <a:gd name="connsiteX0" fmla="*/ 0 w 53080"/>
                  <a:gd name="connsiteY0" fmla="*/ 0 h 53080"/>
                  <a:gd name="connsiteX1" fmla="*/ 53080 w 53080"/>
                  <a:gd name="connsiteY1" fmla="*/ 0 h 53080"/>
                  <a:gd name="connsiteX2" fmla="*/ 53080 w 53080"/>
                  <a:gd name="connsiteY2" fmla="*/ 53081 h 53080"/>
                  <a:gd name="connsiteX3" fmla="*/ 0 w 53080"/>
                  <a:gd name="connsiteY3" fmla="*/ 53081 h 530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3080" h="53080">
                    <a:moveTo>
                      <a:pt x="0" y="0"/>
                    </a:moveTo>
                    <a:lnTo>
                      <a:pt x="53080" y="0"/>
                    </a:lnTo>
                    <a:lnTo>
                      <a:pt x="53080" y="53081"/>
                    </a:lnTo>
                    <a:lnTo>
                      <a:pt x="0" y="53081"/>
                    </a:ln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46" name="Freeform: Shape 258">
                <a:extLst>
                  <a:ext uri="{FF2B5EF4-FFF2-40B4-BE49-F238E27FC236}">
                    <a16:creationId xmlns:a16="http://schemas.microsoft.com/office/drawing/2014/main" id="{B1200D1E-BCBF-E1D6-0F32-B17EBAEA03F8}"/>
                  </a:ext>
                </a:extLst>
              </p:cNvPr>
              <p:cNvSpPr/>
              <p:nvPr/>
            </p:nvSpPr>
            <p:spPr>
              <a:xfrm>
                <a:off x="6415490" y="2161702"/>
                <a:ext cx="52665" cy="68424"/>
              </a:xfrm>
              <a:custGeom>
                <a:avLst/>
                <a:gdLst>
                  <a:gd name="connsiteX0" fmla="*/ 0 w 52665"/>
                  <a:gd name="connsiteY0" fmla="*/ 68424 h 68424"/>
                  <a:gd name="connsiteX1" fmla="*/ 0 w 52665"/>
                  <a:gd name="connsiteY1" fmla="*/ 0 h 68424"/>
                  <a:gd name="connsiteX2" fmla="*/ 52666 w 52665"/>
                  <a:gd name="connsiteY2" fmla="*/ 34005 h 684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52665" h="68424">
                    <a:moveTo>
                      <a:pt x="0" y="68424"/>
                    </a:moveTo>
                    <a:lnTo>
                      <a:pt x="0" y="0"/>
                    </a:lnTo>
                    <a:lnTo>
                      <a:pt x="52666" y="34005"/>
                    </a:ln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47" name="Freeform: Shape 259">
                <a:extLst>
                  <a:ext uri="{FF2B5EF4-FFF2-40B4-BE49-F238E27FC236}">
                    <a16:creationId xmlns:a16="http://schemas.microsoft.com/office/drawing/2014/main" id="{8C07415A-651F-95BD-0144-4C97B66BE72B}"/>
                  </a:ext>
                </a:extLst>
              </p:cNvPr>
              <p:cNvSpPr/>
              <p:nvPr/>
            </p:nvSpPr>
            <p:spPr>
              <a:xfrm>
                <a:off x="6415490" y="2292330"/>
                <a:ext cx="52665" cy="52665"/>
              </a:xfrm>
              <a:custGeom>
                <a:avLst/>
                <a:gdLst>
                  <a:gd name="connsiteX0" fmla="*/ 0 w 52665"/>
                  <a:gd name="connsiteY0" fmla="*/ 30272 h 52665"/>
                  <a:gd name="connsiteX1" fmla="*/ 0 w 52665"/>
                  <a:gd name="connsiteY1" fmla="*/ 22393 h 52665"/>
                  <a:gd name="connsiteX2" fmla="*/ 22393 w 52665"/>
                  <a:gd name="connsiteY2" fmla="*/ 0 h 52665"/>
                  <a:gd name="connsiteX3" fmla="*/ 30272 w 52665"/>
                  <a:gd name="connsiteY3" fmla="*/ 0 h 52665"/>
                  <a:gd name="connsiteX4" fmla="*/ 52666 w 52665"/>
                  <a:gd name="connsiteY4" fmla="*/ 22393 h 52665"/>
                  <a:gd name="connsiteX5" fmla="*/ 52666 w 52665"/>
                  <a:gd name="connsiteY5" fmla="*/ 30272 h 52665"/>
                  <a:gd name="connsiteX6" fmla="*/ 30272 w 52665"/>
                  <a:gd name="connsiteY6" fmla="*/ 52666 h 52665"/>
                  <a:gd name="connsiteX7" fmla="*/ 22393 w 52665"/>
                  <a:gd name="connsiteY7" fmla="*/ 52666 h 52665"/>
                  <a:gd name="connsiteX8" fmla="*/ 0 w 52665"/>
                  <a:gd name="connsiteY8" fmla="*/ 30272 h 526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2665" h="52665">
                    <a:moveTo>
                      <a:pt x="0" y="30272"/>
                    </a:moveTo>
                    <a:lnTo>
                      <a:pt x="0" y="22393"/>
                    </a:lnTo>
                    <a:cubicBezTo>
                      <a:pt x="0" y="9953"/>
                      <a:pt x="9953" y="0"/>
                      <a:pt x="22393" y="0"/>
                    </a:cubicBezTo>
                    <a:lnTo>
                      <a:pt x="30272" y="0"/>
                    </a:lnTo>
                    <a:cubicBezTo>
                      <a:pt x="42713" y="0"/>
                      <a:pt x="52666" y="9953"/>
                      <a:pt x="52666" y="22393"/>
                    </a:cubicBezTo>
                    <a:lnTo>
                      <a:pt x="52666" y="30272"/>
                    </a:lnTo>
                    <a:cubicBezTo>
                      <a:pt x="52666" y="42713"/>
                      <a:pt x="42713" y="52666"/>
                      <a:pt x="30272" y="52666"/>
                    </a:cubicBezTo>
                    <a:lnTo>
                      <a:pt x="22393" y="52666"/>
                    </a:lnTo>
                    <a:cubicBezTo>
                      <a:pt x="9953" y="52666"/>
                      <a:pt x="0" y="42713"/>
                      <a:pt x="0" y="30272"/>
                    </a:cubicBez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</p:grpSp>
        <p:grpSp>
          <p:nvGrpSpPr>
            <p:cNvPr id="334" name="Graphic 18">
              <a:extLst>
                <a:ext uri="{FF2B5EF4-FFF2-40B4-BE49-F238E27FC236}">
                  <a16:creationId xmlns:a16="http://schemas.microsoft.com/office/drawing/2014/main" id="{9F075099-EF52-2FC2-B239-369F249344BD}"/>
                </a:ext>
              </a:extLst>
            </p:cNvPr>
            <p:cNvGrpSpPr/>
            <p:nvPr/>
          </p:nvGrpSpPr>
          <p:grpSpPr>
            <a:xfrm>
              <a:off x="6154419" y="2027842"/>
              <a:ext cx="191587" cy="274940"/>
              <a:chOff x="6696650" y="2050980"/>
              <a:chExt cx="191587" cy="274940"/>
            </a:xfrm>
            <a:noFill/>
          </p:grpSpPr>
          <p:sp>
            <p:nvSpPr>
              <p:cNvPr id="336" name="Freeform: Shape 248">
                <a:extLst>
                  <a:ext uri="{FF2B5EF4-FFF2-40B4-BE49-F238E27FC236}">
                    <a16:creationId xmlns:a16="http://schemas.microsoft.com/office/drawing/2014/main" id="{BE810150-08AC-8B81-0F52-B806B80E8667}"/>
                  </a:ext>
                </a:extLst>
              </p:cNvPr>
              <p:cNvSpPr/>
              <p:nvPr/>
            </p:nvSpPr>
            <p:spPr>
              <a:xfrm>
                <a:off x="6696650" y="2050980"/>
                <a:ext cx="191587" cy="274940"/>
              </a:xfrm>
              <a:custGeom>
                <a:avLst/>
                <a:gdLst>
                  <a:gd name="connsiteX0" fmla="*/ 0 w 191587"/>
                  <a:gd name="connsiteY0" fmla="*/ 266232 h 274940"/>
                  <a:gd name="connsiteX1" fmla="*/ 0 w 191587"/>
                  <a:gd name="connsiteY1" fmla="*/ 8709 h 274940"/>
                  <a:gd name="connsiteX2" fmla="*/ 8709 w 191587"/>
                  <a:gd name="connsiteY2" fmla="*/ 0 h 274940"/>
                  <a:gd name="connsiteX3" fmla="*/ 127725 w 191587"/>
                  <a:gd name="connsiteY3" fmla="*/ 0 h 274940"/>
                  <a:gd name="connsiteX4" fmla="*/ 191587 w 191587"/>
                  <a:gd name="connsiteY4" fmla="*/ 63862 h 274940"/>
                  <a:gd name="connsiteX5" fmla="*/ 191587 w 191587"/>
                  <a:gd name="connsiteY5" fmla="*/ 266232 h 274940"/>
                  <a:gd name="connsiteX6" fmla="*/ 182879 w 191587"/>
                  <a:gd name="connsiteY6" fmla="*/ 274940 h 274940"/>
                  <a:gd name="connsiteX7" fmla="*/ 8709 w 191587"/>
                  <a:gd name="connsiteY7" fmla="*/ 274940 h 274940"/>
                  <a:gd name="connsiteX8" fmla="*/ 0 w 191587"/>
                  <a:gd name="connsiteY8" fmla="*/ 266232 h 27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91587" h="274940">
                    <a:moveTo>
                      <a:pt x="0" y="266232"/>
                    </a:moveTo>
                    <a:lnTo>
                      <a:pt x="0" y="8709"/>
                    </a:lnTo>
                    <a:cubicBezTo>
                      <a:pt x="0" y="3732"/>
                      <a:pt x="3732" y="0"/>
                      <a:pt x="8709" y="0"/>
                    </a:cubicBezTo>
                    <a:lnTo>
                      <a:pt x="127725" y="0"/>
                    </a:lnTo>
                    <a:lnTo>
                      <a:pt x="191587" y="63862"/>
                    </a:lnTo>
                    <a:lnTo>
                      <a:pt x="191587" y="266232"/>
                    </a:lnTo>
                    <a:cubicBezTo>
                      <a:pt x="191587" y="271208"/>
                      <a:pt x="187855" y="274940"/>
                      <a:pt x="182879" y="274940"/>
                    </a:cubicBezTo>
                    <a:lnTo>
                      <a:pt x="8709" y="274940"/>
                    </a:lnTo>
                    <a:cubicBezTo>
                      <a:pt x="3732" y="274940"/>
                      <a:pt x="0" y="271208"/>
                      <a:pt x="0" y="266232"/>
                    </a:cubicBez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37" name="Freeform: Shape 249">
                <a:extLst>
                  <a:ext uri="{FF2B5EF4-FFF2-40B4-BE49-F238E27FC236}">
                    <a16:creationId xmlns:a16="http://schemas.microsoft.com/office/drawing/2014/main" id="{5356A60D-14CC-BE8A-6B38-14B969813A15}"/>
                  </a:ext>
                </a:extLst>
              </p:cNvPr>
              <p:cNvSpPr/>
              <p:nvPr/>
            </p:nvSpPr>
            <p:spPr>
              <a:xfrm>
                <a:off x="6823961" y="2050980"/>
                <a:ext cx="64277" cy="63862"/>
              </a:xfrm>
              <a:custGeom>
                <a:avLst/>
                <a:gdLst>
                  <a:gd name="connsiteX0" fmla="*/ 0 w 64277"/>
                  <a:gd name="connsiteY0" fmla="*/ 63862 h 63862"/>
                  <a:gd name="connsiteX1" fmla="*/ 64277 w 64277"/>
                  <a:gd name="connsiteY1" fmla="*/ 63862 h 63862"/>
                  <a:gd name="connsiteX2" fmla="*/ 0 w 64277"/>
                  <a:gd name="connsiteY2" fmla="*/ 0 h 638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64277" h="63862">
                    <a:moveTo>
                      <a:pt x="0" y="63862"/>
                    </a:moveTo>
                    <a:lnTo>
                      <a:pt x="64277" y="63862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38" name="Freeform: Shape 250">
                <a:extLst>
                  <a:ext uri="{FF2B5EF4-FFF2-40B4-BE49-F238E27FC236}">
                    <a16:creationId xmlns:a16="http://schemas.microsoft.com/office/drawing/2014/main" id="{8E3B62F6-7B9A-2F73-CE82-D095BF3E7BD9}"/>
                  </a:ext>
                </a:extLst>
              </p:cNvPr>
              <p:cNvSpPr/>
              <p:nvPr/>
            </p:nvSpPr>
            <p:spPr>
              <a:xfrm>
                <a:off x="6724849" y="2166679"/>
                <a:ext cx="135189" cy="4146"/>
              </a:xfrm>
              <a:custGeom>
                <a:avLst/>
                <a:gdLst>
                  <a:gd name="connsiteX0" fmla="*/ 0 w 135189"/>
                  <a:gd name="connsiteY0" fmla="*/ 0 h 4146"/>
                  <a:gd name="connsiteX1" fmla="*/ 135189 w 135189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35189" h="4146">
                    <a:moveTo>
                      <a:pt x="0" y="0"/>
                    </a:moveTo>
                    <a:lnTo>
                      <a:pt x="135189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39" name="Freeform: Shape 251">
                <a:extLst>
                  <a:ext uri="{FF2B5EF4-FFF2-40B4-BE49-F238E27FC236}">
                    <a16:creationId xmlns:a16="http://schemas.microsoft.com/office/drawing/2014/main" id="{9B53251B-61F3-1B0A-879F-BBFDDEA8B816}"/>
                  </a:ext>
                </a:extLst>
              </p:cNvPr>
              <p:cNvSpPr/>
              <p:nvPr/>
            </p:nvSpPr>
            <p:spPr>
              <a:xfrm>
                <a:off x="6724849" y="2204001"/>
                <a:ext cx="135189" cy="4146"/>
              </a:xfrm>
              <a:custGeom>
                <a:avLst/>
                <a:gdLst>
                  <a:gd name="connsiteX0" fmla="*/ 0 w 135189"/>
                  <a:gd name="connsiteY0" fmla="*/ 0 h 4146"/>
                  <a:gd name="connsiteX1" fmla="*/ 135189 w 135189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35189" h="4146">
                    <a:moveTo>
                      <a:pt x="0" y="0"/>
                    </a:moveTo>
                    <a:lnTo>
                      <a:pt x="135189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40" name="Freeform: Shape 252">
                <a:extLst>
                  <a:ext uri="{FF2B5EF4-FFF2-40B4-BE49-F238E27FC236}">
                    <a16:creationId xmlns:a16="http://schemas.microsoft.com/office/drawing/2014/main" id="{F883A82B-6665-771F-CF35-AE5390E06979}"/>
                  </a:ext>
                </a:extLst>
              </p:cNvPr>
              <p:cNvSpPr/>
              <p:nvPr/>
            </p:nvSpPr>
            <p:spPr>
              <a:xfrm>
                <a:off x="6724849" y="2241323"/>
                <a:ext cx="135189" cy="4146"/>
              </a:xfrm>
              <a:custGeom>
                <a:avLst/>
                <a:gdLst>
                  <a:gd name="connsiteX0" fmla="*/ 0 w 135189"/>
                  <a:gd name="connsiteY0" fmla="*/ 0 h 4146"/>
                  <a:gd name="connsiteX1" fmla="*/ 135189 w 135189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35189" h="4146">
                    <a:moveTo>
                      <a:pt x="0" y="0"/>
                    </a:moveTo>
                    <a:lnTo>
                      <a:pt x="135189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41" name="Freeform: Shape 253">
                <a:extLst>
                  <a:ext uri="{FF2B5EF4-FFF2-40B4-BE49-F238E27FC236}">
                    <a16:creationId xmlns:a16="http://schemas.microsoft.com/office/drawing/2014/main" id="{4BED4B61-E2F0-84DB-733E-AD79ED90B388}"/>
                  </a:ext>
                </a:extLst>
              </p:cNvPr>
              <p:cNvSpPr/>
              <p:nvPr/>
            </p:nvSpPr>
            <p:spPr>
              <a:xfrm>
                <a:off x="6724849" y="2279060"/>
                <a:ext cx="135189" cy="4146"/>
              </a:xfrm>
              <a:custGeom>
                <a:avLst/>
                <a:gdLst>
                  <a:gd name="connsiteX0" fmla="*/ 0 w 135189"/>
                  <a:gd name="connsiteY0" fmla="*/ 0 h 4146"/>
                  <a:gd name="connsiteX1" fmla="*/ 135189 w 135189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35189" h="4146">
                    <a:moveTo>
                      <a:pt x="0" y="0"/>
                    </a:moveTo>
                    <a:lnTo>
                      <a:pt x="135189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42" name="Freeform: Shape 254">
                <a:extLst>
                  <a:ext uri="{FF2B5EF4-FFF2-40B4-BE49-F238E27FC236}">
                    <a16:creationId xmlns:a16="http://schemas.microsoft.com/office/drawing/2014/main" id="{E5679C30-06B1-B58F-D318-A22CA9679F72}"/>
                  </a:ext>
                </a:extLst>
              </p:cNvPr>
              <p:cNvSpPr/>
              <p:nvPr/>
            </p:nvSpPr>
            <p:spPr>
              <a:xfrm>
                <a:off x="6724849" y="2128942"/>
                <a:ext cx="76303" cy="4146"/>
              </a:xfrm>
              <a:custGeom>
                <a:avLst/>
                <a:gdLst>
                  <a:gd name="connsiteX0" fmla="*/ 0 w 76303"/>
                  <a:gd name="connsiteY0" fmla="*/ 0 h 4146"/>
                  <a:gd name="connsiteX1" fmla="*/ 76303 w 76303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76303" h="4146">
                    <a:moveTo>
                      <a:pt x="0" y="0"/>
                    </a:moveTo>
                    <a:lnTo>
                      <a:pt x="76303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</p:grpSp>
        <p:sp>
          <p:nvSpPr>
            <p:cNvPr id="335" name="Freeform: Shape 247">
              <a:extLst>
                <a:ext uri="{FF2B5EF4-FFF2-40B4-BE49-F238E27FC236}">
                  <a16:creationId xmlns:a16="http://schemas.microsoft.com/office/drawing/2014/main" id="{800A81E6-501F-4D92-31E1-62A4672C3A73}"/>
                </a:ext>
              </a:extLst>
            </p:cNvPr>
            <p:cNvSpPr/>
            <p:nvPr/>
          </p:nvSpPr>
          <p:spPr>
            <a:xfrm>
              <a:off x="5610344" y="2221088"/>
              <a:ext cx="179561" cy="161314"/>
            </a:xfrm>
            <a:custGeom>
              <a:avLst/>
              <a:gdLst>
                <a:gd name="connsiteX0" fmla="*/ 95794 w 179561"/>
                <a:gd name="connsiteY0" fmla="*/ 99111 h 161314"/>
                <a:gd name="connsiteX1" fmla="*/ 29028 w 179561"/>
                <a:gd name="connsiteY1" fmla="*/ 154680 h 161314"/>
                <a:gd name="connsiteX2" fmla="*/ 0 w 179561"/>
                <a:gd name="connsiteY2" fmla="*/ 119846 h 161314"/>
                <a:gd name="connsiteX3" fmla="*/ 66765 w 179561"/>
                <a:gd name="connsiteY3" fmla="*/ 64277 h 161314"/>
                <a:gd name="connsiteX4" fmla="*/ 8294 w 179561"/>
                <a:gd name="connsiteY4" fmla="*/ 38981 h 161314"/>
                <a:gd name="connsiteX5" fmla="*/ 179561 w 179561"/>
                <a:gd name="connsiteY5" fmla="*/ 0 h 161314"/>
                <a:gd name="connsiteX6" fmla="*/ 109893 w 179561"/>
                <a:gd name="connsiteY6" fmla="*/ 161315 h 161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9561" h="161314">
                  <a:moveTo>
                    <a:pt x="95794" y="99111"/>
                  </a:moveTo>
                  <a:lnTo>
                    <a:pt x="29028" y="154680"/>
                  </a:lnTo>
                  <a:lnTo>
                    <a:pt x="0" y="119846"/>
                  </a:lnTo>
                  <a:lnTo>
                    <a:pt x="66765" y="64277"/>
                  </a:lnTo>
                  <a:lnTo>
                    <a:pt x="8294" y="38981"/>
                  </a:lnTo>
                  <a:lnTo>
                    <a:pt x="179561" y="0"/>
                  </a:lnTo>
                  <a:lnTo>
                    <a:pt x="109893" y="161315"/>
                  </a:lnTo>
                  <a:close/>
                </a:path>
              </a:pathLst>
            </a:custGeom>
            <a:noFill/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mazon Ember"/>
              </a:endParaRPr>
            </a:p>
          </p:txBody>
        </p:sp>
      </p:grpSp>
      <p:grpSp>
        <p:nvGrpSpPr>
          <p:cNvPr id="358" name="Group 2">
            <a:extLst>
              <a:ext uri="{FF2B5EF4-FFF2-40B4-BE49-F238E27FC236}">
                <a16:creationId xmlns:a16="http://schemas.microsoft.com/office/drawing/2014/main" id="{7432D5B1-B21D-246B-8E0A-4D06DE568E91}"/>
              </a:ext>
            </a:extLst>
          </p:cNvPr>
          <p:cNvGrpSpPr/>
          <p:nvPr/>
        </p:nvGrpSpPr>
        <p:grpSpPr>
          <a:xfrm>
            <a:off x="7863148" y="3271249"/>
            <a:ext cx="1109517" cy="955888"/>
            <a:chOff x="5610344" y="1866942"/>
            <a:chExt cx="735662" cy="570615"/>
          </a:xfrm>
        </p:grpSpPr>
        <p:grpSp>
          <p:nvGrpSpPr>
            <p:cNvPr id="359" name="Graphic 18">
              <a:extLst>
                <a:ext uri="{FF2B5EF4-FFF2-40B4-BE49-F238E27FC236}">
                  <a16:creationId xmlns:a16="http://schemas.microsoft.com/office/drawing/2014/main" id="{52D3B18C-811D-DD07-183B-9BCBEDE9448A}"/>
                </a:ext>
              </a:extLst>
            </p:cNvPr>
            <p:cNvGrpSpPr/>
            <p:nvPr/>
          </p:nvGrpSpPr>
          <p:grpSpPr>
            <a:xfrm>
              <a:off x="5672963" y="1866942"/>
              <a:ext cx="496385" cy="570615"/>
              <a:chOff x="6215194" y="1890080"/>
              <a:chExt cx="496385" cy="570615"/>
            </a:xfrm>
            <a:noFill/>
          </p:grpSpPr>
          <p:sp>
            <p:nvSpPr>
              <p:cNvPr id="375" name="Freeform: Shape 260">
                <a:extLst>
                  <a:ext uri="{FF2B5EF4-FFF2-40B4-BE49-F238E27FC236}">
                    <a16:creationId xmlns:a16="http://schemas.microsoft.com/office/drawing/2014/main" id="{1F394FF1-BD2A-F9D5-EBED-516009C73D9C}"/>
                  </a:ext>
                </a:extLst>
              </p:cNvPr>
              <p:cNvSpPr/>
              <p:nvPr/>
            </p:nvSpPr>
            <p:spPr>
              <a:xfrm>
                <a:off x="6640252" y="1933207"/>
                <a:ext cx="4146" cy="87499"/>
              </a:xfrm>
              <a:custGeom>
                <a:avLst/>
                <a:gdLst>
                  <a:gd name="connsiteX0" fmla="*/ 0 w 4146"/>
                  <a:gd name="connsiteY0" fmla="*/ 87500 h 87499"/>
                  <a:gd name="connsiteX1" fmla="*/ 0 w 4146"/>
                  <a:gd name="connsiteY1" fmla="*/ 0 h 87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4146" h="87499">
                    <a:moveTo>
                      <a:pt x="0" y="87500"/>
                    </a:moveTo>
                    <a:lnTo>
                      <a:pt x="0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76" name="Freeform: Shape 261">
                <a:extLst>
                  <a:ext uri="{FF2B5EF4-FFF2-40B4-BE49-F238E27FC236}">
                    <a16:creationId xmlns:a16="http://schemas.microsoft.com/office/drawing/2014/main" id="{147EFF4D-336F-F278-8C59-CF17BB449109}"/>
                  </a:ext>
                </a:extLst>
              </p:cNvPr>
              <p:cNvSpPr/>
              <p:nvPr/>
            </p:nvSpPr>
            <p:spPr>
              <a:xfrm>
                <a:off x="6577634" y="2381489"/>
                <a:ext cx="63033" cy="37322"/>
              </a:xfrm>
              <a:custGeom>
                <a:avLst/>
                <a:gdLst>
                  <a:gd name="connsiteX0" fmla="*/ 63033 w 63033"/>
                  <a:gd name="connsiteY0" fmla="*/ 37322 h 37322"/>
                  <a:gd name="connsiteX1" fmla="*/ 0 w 63033"/>
                  <a:gd name="connsiteY1" fmla="*/ 0 h 373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3033" h="37322">
                    <a:moveTo>
                      <a:pt x="63033" y="37322"/>
                    </a:moveTo>
                    <a:lnTo>
                      <a:pt x="0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77" name="Freeform: Shape 262">
                <a:extLst>
                  <a:ext uri="{FF2B5EF4-FFF2-40B4-BE49-F238E27FC236}">
                    <a16:creationId xmlns:a16="http://schemas.microsoft.com/office/drawing/2014/main" id="{FD6D45CB-102D-861B-B969-5F6A174F83F7}"/>
                  </a:ext>
                </a:extLst>
              </p:cNvPr>
              <p:cNvSpPr/>
              <p:nvPr/>
            </p:nvSpPr>
            <p:spPr>
              <a:xfrm>
                <a:off x="6497599" y="2360340"/>
                <a:ext cx="213980" cy="100355"/>
              </a:xfrm>
              <a:custGeom>
                <a:avLst/>
                <a:gdLst>
                  <a:gd name="connsiteX0" fmla="*/ 213981 w 213980"/>
                  <a:gd name="connsiteY0" fmla="*/ 0 h 100355"/>
                  <a:gd name="connsiteX1" fmla="*/ 213981 w 213980"/>
                  <a:gd name="connsiteY1" fmla="*/ 17002 h 100355"/>
                  <a:gd name="connsiteX2" fmla="*/ 71327 w 213980"/>
                  <a:gd name="connsiteY2" fmla="*/ 100355 h 100355"/>
                  <a:gd name="connsiteX3" fmla="*/ 0 w 213980"/>
                  <a:gd name="connsiteY3" fmla="*/ 62204 h 1003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3980" h="100355">
                    <a:moveTo>
                      <a:pt x="213981" y="0"/>
                    </a:moveTo>
                    <a:lnTo>
                      <a:pt x="213981" y="17002"/>
                    </a:lnTo>
                    <a:lnTo>
                      <a:pt x="71327" y="100355"/>
                    </a:lnTo>
                    <a:lnTo>
                      <a:pt x="0" y="62204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78" name="Freeform: Shape 263">
                <a:extLst>
                  <a:ext uri="{FF2B5EF4-FFF2-40B4-BE49-F238E27FC236}">
                    <a16:creationId xmlns:a16="http://schemas.microsoft.com/office/drawing/2014/main" id="{E0269E4C-200F-AFE9-2910-4C246A64AB62}"/>
                  </a:ext>
                </a:extLst>
              </p:cNvPr>
              <p:cNvSpPr/>
              <p:nvPr/>
            </p:nvSpPr>
            <p:spPr>
              <a:xfrm>
                <a:off x="6497599" y="1890080"/>
                <a:ext cx="213980" cy="129383"/>
              </a:xfrm>
              <a:custGeom>
                <a:avLst/>
                <a:gdLst>
                  <a:gd name="connsiteX0" fmla="*/ 0 w 213980"/>
                  <a:gd name="connsiteY0" fmla="*/ 47275 h 129383"/>
                  <a:gd name="connsiteX1" fmla="*/ 71327 w 213980"/>
                  <a:gd name="connsiteY1" fmla="*/ 0 h 129383"/>
                  <a:gd name="connsiteX2" fmla="*/ 213981 w 213980"/>
                  <a:gd name="connsiteY2" fmla="*/ 82938 h 129383"/>
                  <a:gd name="connsiteX3" fmla="*/ 213981 w 213980"/>
                  <a:gd name="connsiteY3" fmla="*/ 129384 h 1293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3980" h="129383">
                    <a:moveTo>
                      <a:pt x="0" y="47275"/>
                    </a:moveTo>
                    <a:lnTo>
                      <a:pt x="71327" y="0"/>
                    </a:lnTo>
                    <a:lnTo>
                      <a:pt x="213981" y="82938"/>
                    </a:lnTo>
                    <a:lnTo>
                      <a:pt x="213981" y="129384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79" name="Freeform: Shape 264">
                <a:extLst>
                  <a:ext uri="{FF2B5EF4-FFF2-40B4-BE49-F238E27FC236}">
                    <a16:creationId xmlns:a16="http://schemas.microsoft.com/office/drawing/2014/main" id="{1CBAAAC1-D6B2-F14C-C4B4-FAB2A53972C1}"/>
                  </a:ext>
                </a:extLst>
              </p:cNvPr>
              <p:cNvSpPr/>
              <p:nvPr/>
            </p:nvSpPr>
            <p:spPr>
              <a:xfrm>
                <a:off x="6286521" y="2068397"/>
                <a:ext cx="71326" cy="35663"/>
              </a:xfrm>
              <a:custGeom>
                <a:avLst/>
                <a:gdLst>
                  <a:gd name="connsiteX0" fmla="*/ 71327 w 71326"/>
                  <a:gd name="connsiteY0" fmla="*/ 35663 h 35663"/>
                  <a:gd name="connsiteX1" fmla="*/ 0 w 71326"/>
                  <a:gd name="connsiteY1" fmla="*/ 0 h 356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71326" h="35663">
                    <a:moveTo>
                      <a:pt x="71327" y="35663"/>
                    </a:moveTo>
                    <a:lnTo>
                      <a:pt x="0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80" name="Freeform: Shape 265">
                <a:extLst>
                  <a:ext uri="{FF2B5EF4-FFF2-40B4-BE49-F238E27FC236}">
                    <a16:creationId xmlns:a16="http://schemas.microsoft.com/office/drawing/2014/main" id="{4E48ABD5-56E5-125D-885E-9DD22563E7E1}"/>
                  </a:ext>
                </a:extLst>
              </p:cNvPr>
              <p:cNvSpPr/>
              <p:nvPr/>
            </p:nvSpPr>
            <p:spPr>
              <a:xfrm>
                <a:off x="6357847" y="1933207"/>
                <a:ext cx="4146" cy="87499"/>
              </a:xfrm>
              <a:custGeom>
                <a:avLst/>
                <a:gdLst>
                  <a:gd name="connsiteX0" fmla="*/ 0 w 4146"/>
                  <a:gd name="connsiteY0" fmla="*/ 87500 h 87499"/>
                  <a:gd name="connsiteX1" fmla="*/ 0 w 4146"/>
                  <a:gd name="connsiteY1" fmla="*/ 0 h 87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4146" h="87499">
                    <a:moveTo>
                      <a:pt x="0" y="87500"/>
                    </a:moveTo>
                    <a:lnTo>
                      <a:pt x="0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81" name="Freeform: Shape 266">
                <a:extLst>
                  <a:ext uri="{FF2B5EF4-FFF2-40B4-BE49-F238E27FC236}">
                    <a16:creationId xmlns:a16="http://schemas.microsoft.com/office/drawing/2014/main" id="{B62D6132-940C-E29A-A6FF-202A273B8266}"/>
                  </a:ext>
                </a:extLst>
              </p:cNvPr>
              <p:cNvSpPr/>
              <p:nvPr/>
            </p:nvSpPr>
            <p:spPr>
              <a:xfrm>
                <a:off x="6215194" y="2138894"/>
                <a:ext cx="68838" cy="40225"/>
              </a:xfrm>
              <a:custGeom>
                <a:avLst/>
                <a:gdLst>
                  <a:gd name="connsiteX0" fmla="*/ 0 w 68838"/>
                  <a:gd name="connsiteY0" fmla="*/ 40225 h 40225"/>
                  <a:gd name="connsiteX1" fmla="*/ 68839 w 68838"/>
                  <a:gd name="connsiteY1" fmla="*/ 0 h 402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8838" h="40225">
                    <a:moveTo>
                      <a:pt x="0" y="40225"/>
                    </a:moveTo>
                    <a:lnTo>
                      <a:pt x="68839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82" name="Freeform: Shape 267">
                <a:extLst>
                  <a:ext uri="{FF2B5EF4-FFF2-40B4-BE49-F238E27FC236}">
                    <a16:creationId xmlns:a16="http://schemas.microsoft.com/office/drawing/2014/main" id="{9C31B71B-3DD0-4704-02D4-F70F2B26799F}"/>
                  </a:ext>
                </a:extLst>
              </p:cNvPr>
              <p:cNvSpPr/>
              <p:nvPr/>
            </p:nvSpPr>
            <p:spPr>
              <a:xfrm>
                <a:off x="6356189" y="2381489"/>
                <a:ext cx="64277" cy="38151"/>
              </a:xfrm>
              <a:custGeom>
                <a:avLst/>
                <a:gdLst>
                  <a:gd name="connsiteX0" fmla="*/ 0 w 64277"/>
                  <a:gd name="connsiteY0" fmla="*/ 38152 h 38151"/>
                  <a:gd name="connsiteX1" fmla="*/ 64277 w 64277"/>
                  <a:gd name="connsiteY1" fmla="*/ 0 h 381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4277" h="38151">
                    <a:moveTo>
                      <a:pt x="0" y="38152"/>
                    </a:moveTo>
                    <a:lnTo>
                      <a:pt x="64277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83" name="Freeform: Shape 268">
                <a:extLst>
                  <a:ext uri="{FF2B5EF4-FFF2-40B4-BE49-F238E27FC236}">
                    <a16:creationId xmlns:a16="http://schemas.microsoft.com/office/drawing/2014/main" id="{F74E6917-F028-21EA-317A-5B64D43C8378}"/>
                  </a:ext>
                </a:extLst>
              </p:cNvPr>
              <p:cNvSpPr/>
              <p:nvPr/>
            </p:nvSpPr>
            <p:spPr>
              <a:xfrm>
                <a:off x="6318866" y="2396418"/>
                <a:ext cx="181634" cy="64277"/>
              </a:xfrm>
              <a:custGeom>
                <a:avLst/>
                <a:gdLst>
                  <a:gd name="connsiteX0" fmla="*/ 0 w 181634"/>
                  <a:gd name="connsiteY0" fmla="*/ 0 h 64277"/>
                  <a:gd name="connsiteX1" fmla="*/ 110308 w 181634"/>
                  <a:gd name="connsiteY1" fmla="*/ 64277 h 64277"/>
                  <a:gd name="connsiteX2" fmla="*/ 181635 w 181634"/>
                  <a:gd name="connsiteY2" fmla="*/ 26126 h 642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81634" h="64277">
                    <a:moveTo>
                      <a:pt x="0" y="0"/>
                    </a:moveTo>
                    <a:lnTo>
                      <a:pt x="110308" y="64277"/>
                    </a:lnTo>
                    <a:lnTo>
                      <a:pt x="181635" y="26126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84" name="Freeform: Shape 269">
                <a:extLst>
                  <a:ext uri="{FF2B5EF4-FFF2-40B4-BE49-F238E27FC236}">
                    <a16:creationId xmlns:a16="http://schemas.microsoft.com/office/drawing/2014/main" id="{3DBBA004-9DE2-D03F-CF3A-7086F004F3BF}"/>
                  </a:ext>
                </a:extLst>
              </p:cNvPr>
              <p:cNvSpPr/>
              <p:nvPr/>
            </p:nvSpPr>
            <p:spPr>
              <a:xfrm>
                <a:off x="6215194" y="1890080"/>
                <a:ext cx="285307" cy="320971"/>
              </a:xfrm>
              <a:custGeom>
                <a:avLst/>
                <a:gdLst>
                  <a:gd name="connsiteX0" fmla="*/ 285308 w 285307"/>
                  <a:gd name="connsiteY0" fmla="*/ 47275 h 320971"/>
                  <a:gd name="connsiteX1" fmla="*/ 213981 w 285307"/>
                  <a:gd name="connsiteY1" fmla="*/ 0 h 320971"/>
                  <a:gd name="connsiteX2" fmla="*/ 71327 w 285307"/>
                  <a:gd name="connsiteY2" fmla="*/ 82938 h 320971"/>
                  <a:gd name="connsiteX3" fmla="*/ 71327 w 285307"/>
                  <a:gd name="connsiteY3" fmla="*/ 177488 h 320971"/>
                  <a:gd name="connsiteX4" fmla="*/ 0 w 285307"/>
                  <a:gd name="connsiteY4" fmla="*/ 213981 h 320971"/>
                  <a:gd name="connsiteX5" fmla="*/ 0 w 285307"/>
                  <a:gd name="connsiteY5" fmla="*/ 288211 h 320971"/>
                  <a:gd name="connsiteX6" fmla="*/ 0 w 285307"/>
                  <a:gd name="connsiteY6" fmla="*/ 320971 h 3209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85307" h="320971">
                    <a:moveTo>
                      <a:pt x="285308" y="47275"/>
                    </a:moveTo>
                    <a:lnTo>
                      <a:pt x="213981" y="0"/>
                    </a:lnTo>
                    <a:lnTo>
                      <a:pt x="71327" y="82938"/>
                    </a:lnTo>
                    <a:lnTo>
                      <a:pt x="71327" y="177488"/>
                    </a:lnTo>
                    <a:lnTo>
                      <a:pt x="0" y="213981"/>
                    </a:lnTo>
                    <a:lnTo>
                      <a:pt x="0" y="288211"/>
                    </a:lnTo>
                    <a:lnTo>
                      <a:pt x="0" y="320971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</p:grpSp>
        <p:grpSp>
          <p:nvGrpSpPr>
            <p:cNvPr id="360" name="Graphic 18">
              <a:extLst>
                <a:ext uri="{FF2B5EF4-FFF2-40B4-BE49-F238E27FC236}">
                  <a16:creationId xmlns:a16="http://schemas.microsoft.com/office/drawing/2014/main" id="{BDE0B4EB-9D40-DCE4-1D29-EE3958A08777}"/>
                </a:ext>
              </a:extLst>
            </p:cNvPr>
            <p:cNvGrpSpPr/>
            <p:nvPr/>
          </p:nvGrpSpPr>
          <p:grpSpPr>
            <a:xfrm>
              <a:off x="5872840" y="2023728"/>
              <a:ext cx="252965" cy="298130"/>
              <a:chOff x="6415071" y="2046866"/>
              <a:chExt cx="252965" cy="298130"/>
            </a:xfrm>
            <a:noFill/>
          </p:grpSpPr>
          <p:sp>
            <p:nvSpPr>
              <p:cNvPr id="370" name="Freeform: Shape 255">
                <a:extLst>
                  <a:ext uri="{FF2B5EF4-FFF2-40B4-BE49-F238E27FC236}">
                    <a16:creationId xmlns:a16="http://schemas.microsoft.com/office/drawing/2014/main" id="{615A24F6-AE80-5EF1-AC0E-3EDA6E7CFDF5}"/>
                  </a:ext>
                </a:extLst>
              </p:cNvPr>
              <p:cNvSpPr/>
              <p:nvPr/>
            </p:nvSpPr>
            <p:spPr>
              <a:xfrm>
                <a:off x="6480181" y="2195707"/>
                <a:ext cx="187855" cy="4146"/>
              </a:xfrm>
              <a:custGeom>
                <a:avLst/>
                <a:gdLst>
                  <a:gd name="connsiteX0" fmla="*/ 0 w 187855"/>
                  <a:gd name="connsiteY0" fmla="*/ 0 h 4146"/>
                  <a:gd name="connsiteX1" fmla="*/ 187855 w 187855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87855" h="4146">
                    <a:moveTo>
                      <a:pt x="0" y="0"/>
                    </a:moveTo>
                    <a:lnTo>
                      <a:pt x="187855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71" name="Freeform: Shape 256">
                <a:extLst>
                  <a:ext uri="{FF2B5EF4-FFF2-40B4-BE49-F238E27FC236}">
                    <a16:creationId xmlns:a16="http://schemas.microsoft.com/office/drawing/2014/main" id="{63096BD2-0389-042C-80D3-13F1E6001331}"/>
                  </a:ext>
                </a:extLst>
              </p:cNvPr>
              <p:cNvSpPr/>
              <p:nvPr/>
            </p:nvSpPr>
            <p:spPr>
              <a:xfrm>
                <a:off x="6480181" y="2073373"/>
                <a:ext cx="93720" cy="245082"/>
              </a:xfrm>
              <a:custGeom>
                <a:avLst/>
                <a:gdLst>
                  <a:gd name="connsiteX0" fmla="*/ 0 w 93720"/>
                  <a:gd name="connsiteY0" fmla="*/ 0 h 245082"/>
                  <a:gd name="connsiteX1" fmla="*/ 93720 w 93720"/>
                  <a:gd name="connsiteY1" fmla="*/ 0 h 245082"/>
                  <a:gd name="connsiteX2" fmla="*/ 93720 w 93720"/>
                  <a:gd name="connsiteY2" fmla="*/ 245083 h 245082"/>
                  <a:gd name="connsiteX3" fmla="*/ 0 w 93720"/>
                  <a:gd name="connsiteY3" fmla="*/ 245083 h 2450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3720" h="245082">
                    <a:moveTo>
                      <a:pt x="0" y="0"/>
                    </a:moveTo>
                    <a:lnTo>
                      <a:pt x="93720" y="0"/>
                    </a:lnTo>
                    <a:lnTo>
                      <a:pt x="93720" y="245083"/>
                    </a:lnTo>
                    <a:lnTo>
                      <a:pt x="0" y="245083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72" name="Freeform: Shape 257">
                <a:extLst>
                  <a:ext uri="{FF2B5EF4-FFF2-40B4-BE49-F238E27FC236}">
                    <a16:creationId xmlns:a16="http://schemas.microsoft.com/office/drawing/2014/main" id="{A4F6AD43-CA9B-1C32-50A5-6D7081A23757}"/>
                  </a:ext>
                </a:extLst>
              </p:cNvPr>
              <p:cNvSpPr/>
              <p:nvPr/>
            </p:nvSpPr>
            <p:spPr>
              <a:xfrm rot="5400000">
                <a:off x="6415071" y="2046866"/>
                <a:ext cx="53080" cy="53080"/>
              </a:xfrm>
              <a:custGeom>
                <a:avLst/>
                <a:gdLst>
                  <a:gd name="connsiteX0" fmla="*/ 0 w 53080"/>
                  <a:gd name="connsiteY0" fmla="*/ 0 h 53080"/>
                  <a:gd name="connsiteX1" fmla="*/ 53080 w 53080"/>
                  <a:gd name="connsiteY1" fmla="*/ 0 h 53080"/>
                  <a:gd name="connsiteX2" fmla="*/ 53080 w 53080"/>
                  <a:gd name="connsiteY2" fmla="*/ 53081 h 53080"/>
                  <a:gd name="connsiteX3" fmla="*/ 0 w 53080"/>
                  <a:gd name="connsiteY3" fmla="*/ 53081 h 530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3080" h="53080">
                    <a:moveTo>
                      <a:pt x="0" y="0"/>
                    </a:moveTo>
                    <a:lnTo>
                      <a:pt x="53080" y="0"/>
                    </a:lnTo>
                    <a:lnTo>
                      <a:pt x="53080" y="53081"/>
                    </a:lnTo>
                    <a:lnTo>
                      <a:pt x="0" y="53081"/>
                    </a:ln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73" name="Freeform: Shape 258">
                <a:extLst>
                  <a:ext uri="{FF2B5EF4-FFF2-40B4-BE49-F238E27FC236}">
                    <a16:creationId xmlns:a16="http://schemas.microsoft.com/office/drawing/2014/main" id="{5815B628-0EBB-1D15-4026-523E36D5F6DD}"/>
                  </a:ext>
                </a:extLst>
              </p:cNvPr>
              <p:cNvSpPr/>
              <p:nvPr/>
            </p:nvSpPr>
            <p:spPr>
              <a:xfrm>
                <a:off x="6415490" y="2161702"/>
                <a:ext cx="52665" cy="68424"/>
              </a:xfrm>
              <a:custGeom>
                <a:avLst/>
                <a:gdLst>
                  <a:gd name="connsiteX0" fmla="*/ 0 w 52665"/>
                  <a:gd name="connsiteY0" fmla="*/ 68424 h 68424"/>
                  <a:gd name="connsiteX1" fmla="*/ 0 w 52665"/>
                  <a:gd name="connsiteY1" fmla="*/ 0 h 68424"/>
                  <a:gd name="connsiteX2" fmla="*/ 52666 w 52665"/>
                  <a:gd name="connsiteY2" fmla="*/ 34005 h 684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52665" h="68424">
                    <a:moveTo>
                      <a:pt x="0" y="68424"/>
                    </a:moveTo>
                    <a:lnTo>
                      <a:pt x="0" y="0"/>
                    </a:lnTo>
                    <a:lnTo>
                      <a:pt x="52666" y="34005"/>
                    </a:ln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74" name="Freeform: Shape 259">
                <a:extLst>
                  <a:ext uri="{FF2B5EF4-FFF2-40B4-BE49-F238E27FC236}">
                    <a16:creationId xmlns:a16="http://schemas.microsoft.com/office/drawing/2014/main" id="{8F50C695-2489-C820-2D8B-DFA35EC63D07}"/>
                  </a:ext>
                </a:extLst>
              </p:cNvPr>
              <p:cNvSpPr/>
              <p:nvPr/>
            </p:nvSpPr>
            <p:spPr>
              <a:xfrm>
                <a:off x="6415490" y="2292330"/>
                <a:ext cx="52665" cy="52665"/>
              </a:xfrm>
              <a:custGeom>
                <a:avLst/>
                <a:gdLst>
                  <a:gd name="connsiteX0" fmla="*/ 0 w 52665"/>
                  <a:gd name="connsiteY0" fmla="*/ 30272 h 52665"/>
                  <a:gd name="connsiteX1" fmla="*/ 0 w 52665"/>
                  <a:gd name="connsiteY1" fmla="*/ 22393 h 52665"/>
                  <a:gd name="connsiteX2" fmla="*/ 22393 w 52665"/>
                  <a:gd name="connsiteY2" fmla="*/ 0 h 52665"/>
                  <a:gd name="connsiteX3" fmla="*/ 30272 w 52665"/>
                  <a:gd name="connsiteY3" fmla="*/ 0 h 52665"/>
                  <a:gd name="connsiteX4" fmla="*/ 52666 w 52665"/>
                  <a:gd name="connsiteY4" fmla="*/ 22393 h 52665"/>
                  <a:gd name="connsiteX5" fmla="*/ 52666 w 52665"/>
                  <a:gd name="connsiteY5" fmla="*/ 30272 h 52665"/>
                  <a:gd name="connsiteX6" fmla="*/ 30272 w 52665"/>
                  <a:gd name="connsiteY6" fmla="*/ 52666 h 52665"/>
                  <a:gd name="connsiteX7" fmla="*/ 22393 w 52665"/>
                  <a:gd name="connsiteY7" fmla="*/ 52666 h 52665"/>
                  <a:gd name="connsiteX8" fmla="*/ 0 w 52665"/>
                  <a:gd name="connsiteY8" fmla="*/ 30272 h 526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2665" h="52665">
                    <a:moveTo>
                      <a:pt x="0" y="30272"/>
                    </a:moveTo>
                    <a:lnTo>
                      <a:pt x="0" y="22393"/>
                    </a:lnTo>
                    <a:cubicBezTo>
                      <a:pt x="0" y="9953"/>
                      <a:pt x="9953" y="0"/>
                      <a:pt x="22393" y="0"/>
                    </a:cubicBezTo>
                    <a:lnTo>
                      <a:pt x="30272" y="0"/>
                    </a:lnTo>
                    <a:cubicBezTo>
                      <a:pt x="42713" y="0"/>
                      <a:pt x="52666" y="9953"/>
                      <a:pt x="52666" y="22393"/>
                    </a:cubicBezTo>
                    <a:lnTo>
                      <a:pt x="52666" y="30272"/>
                    </a:lnTo>
                    <a:cubicBezTo>
                      <a:pt x="52666" y="42713"/>
                      <a:pt x="42713" y="52666"/>
                      <a:pt x="30272" y="52666"/>
                    </a:cubicBezTo>
                    <a:lnTo>
                      <a:pt x="22393" y="52666"/>
                    </a:lnTo>
                    <a:cubicBezTo>
                      <a:pt x="9953" y="52666"/>
                      <a:pt x="0" y="42713"/>
                      <a:pt x="0" y="30272"/>
                    </a:cubicBez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</p:grpSp>
        <p:grpSp>
          <p:nvGrpSpPr>
            <p:cNvPr id="361" name="Graphic 18">
              <a:extLst>
                <a:ext uri="{FF2B5EF4-FFF2-40B4-BE49-F238E27FC236}">
                  <a16:creationId xmlns:a16="http://schemas.microsoft.com/office/drawing/2014/main" id="{DCA2944F-A0BD-5A38-F0EE-B3AF9CDDF33B}"/>
                </a:ext>
              </a:extLst>
            </p:cNvPr>
            <p:cNvGrpSpPr/>
            <p:nvPr/>
          </p:nvGrpSpPr>
          <p:grpSpPr>
            <a:xfrm>
              <a:off x="6154419" y="2027842"/>
              <a:ext cx="191587" cy="274940"/>
              <a:chOff x="6696650" y="2050980"/>
              <a:chExt cx="191587" cy="274940"/>
            </a:xfrm>
            <a:noFill/>
          </p:grpSpPr>
          <p:sp>
            <p:nvSpPr>
              <p:cNvPr id="363" name="Freeform: Shape 248">
                <a:extLst>
                  <a:ext uri="{FF2B5EF4-FFF2-40B4-BE49-F238E27FC236}">
                    <a16:creationId xmlns:a16="http://schemas.microsoft.com/office/drawing/2014/main" id="{ABF5CC00-DC76-ADFC-5193-C73AE5F340D5}"/>
                  </a:ext>
                </a:extLst>
              </p:cNvPr>
              <p:cNvSpPr/>
              <p:nvPr/>
            </p:nvSpPr>
            <p:spPr>
              <a:xfrm>
                <a:off x="6696650" y="2050980"/>
                <a:ext cx="191587" cy="274940"/>
              </a:xfrm>
              <a:custGeom>
                <a:avLst/>
                <a:gdLst>
                  <a:gd name="connsiteX0" fmla="*/ 0 w 191587"/>
                  <a:gd name="connsiteY0" fmla="*/ 266232 h 274940"/>
                  <a:gd name="connsiteX1" fmla="*/ 0 w 191587"/>
                  <a:gd name="connsiteY1" fmla="*/ 8709 h 274940"/>
                  <a:gd name="connsiteX2" fmla="*/ 8709 w 191587"/>
                  <a:gd name="connsiteY2" fmla="*/ 0 h 274940"/>
                  <a:gd name="connsiteX3" fmla="*/ 127725 w 191587"/>
                  <a:gd name="connsiteY3" fmla="*/ 0 h 274940"/>
                  <a:gd name="connsiteX4" fmla="*/ 191587 w 191587"/>
                  <a:gd name="connsiteY4" fmla="*/ 63862 h 274940"/>
                  <a:gd name="connsiteX5" fmla="*/ 191587 w 191587"/>
                  <a:gd name="connsiteY5" fmla="*/ 266232 h 274940"/>
                  <a:gd name="connsiteX6" fmla="*/ 182879 w 191587"/>
                  <a:gd name="connsiteY6" fmla="*/ 274940 h 274940"/>
                  <a:gd name="connsiteX7" fmla="*/ 8709 w 191587"/>
                  <a:gd name="connsiteY7" fmla="*/ 274940 h 274940"/>
                  <a:gd name="connsiteX8" fmla="*/ 0 w 191587"/>
                  <a:gd name="connsiteY8" fmla="*/ 266232 h 27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91587" h="274940">
                    <a:moveTo>
                      <a:pt x="0" y="266232"/>
                    </a:moveTo>
                    <a:lnTo>
                      <a:pt x="0" y="8709"/>
                    </a:lnTo>
                    <a:cubicBezTo>
                      <a:pt x="0" y="3732"/>
                      <a:pt x="3732" y="0"/>
                      <a:pt x="8709" y="0"/>
                    </a:cubicBezTo>
                    <a:lnTo>
                      <a:pt x="127725" y="0"/>
                    </a:lnTo>
                    <a:lnTo>
                      <a:pt x="191587" y="63862"/>
                    </a:lnTo>
                    <a:lnTo>
                      <a:pt x="191587" y="266232"/>
                    </a:lnTo>
                    <a:cubicBezTo>
                      <a:pt x="191587" y="271208"/>
                      <a:pt x="187855" y="274940"/>
                      <a:pt x="182879" y="274940"/>
                    </a:cubicBezTo>
                    <a:lnTo>
                      <a:pt x="8709" y="274940"/>
                    </a:lnTo>
                    <a:cubicBezTo>
                      <a:pt x="3732" y="274940"/>
                      <a:pt x="0" y="271208"/>
                      <a:pt x="0" y="266232"/>
                    </a:cubicBez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64" name="Freeform: Shape 249">
                <a:extLst>
                  <a:ext uri="{FF2B5EF4-FFF2-40B4-BE49-F238E27FC236}">
                    <a16:creationId xmlns:a16="http://schemas.microsoft.com/office/drawing/2014/main" id="{78EA6A27-3E31-ECFE-184F-8AC17C81B289}"/>
                  </a:ext>
                </a:extLst>
              </p:cNvPr>
              <p:cNvSpPr/>
              <p:nvPr/>
            </p:nvSpPr>
            <p:spPr>
              <a:xfrm>
                <a:off x="6823961" y="2050980"/>
                <a:ext cx="64277" cy="63862"/>
              </a:xfrm>
              <a:custGeom>
                <a:avLst/>
                <a:gdLst>
                  <a:gd name="connsiteX0" fmla="*/ 0 w 64277"/>
                  <a:gd name="connsiteY0" fmla="*/ 63862 h 63862"/>
                  <a:gd name="connsiteX1" fmla="*/ 64277 w 64277"/>
                  <a:gd name="connsiteY1" fmla="*/ 63862 h 63862"/>
                  <a:gd name="connsiteX2" fmla="*/ 0 w 64277"/>
                  <a:gd name="connsiteY2" fmla="*/ 0 h 638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64277" h="63862">
                    <a:moveTo>
                      <a:pt x="0" y="63862"/>
                    </a:moveTo>
                    <a:lnTo>
                      <a:pt x="64277" y="63862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65" name="Freeform: Shape 250">
                <a:extLst>
                  <a:ext uri="{FF2B5EF4-FFF2-40B4-BE49-F238E27FC236}">
                    <a16:creationId xmlns:a16="http://schemas.microsoft.com/office/drawing/2014/main" id="{FA5DB00F-DA67-2A96-F86F-E5A1FFE5FED2}"/>
                  </a:ext>
                </a:extLst>
              </p:cNvPr>
              <p:cNvSpPr/>
              <p:nvPr/>
            </p:nvSpPr>
            <p:spPr>
              <a:xfrm>
                <a:off x="6724849" y="2166679"/>
                <a:ext cx="135189" cy="4146"/>
              </a:xfrm>
              <a:custGeom>
                <a:avLst/>
                <a:gdLst>
                  <a:gd name="connsiteX0" fmla="*/ 0 w 135189"/>
                  <a:gd name="connsiteY0" fmla="*/ 0 h 4146"/>
                  <a:gd name="connsiteX1" fmla="*/ 135189 w 135189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35189" h="4146">
                    <a:moveTo>
                      <a:pt x="0" y="0"/>
                    </a:moveTo>
                    <a:lnTo>
                      <a:pt x="135189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66" name="Freeform: Shape 251">
                <a:extLst>
                  <a:ext uri="{FF2B5EF4-FFF2-40B4-BE49-F238E27FC236}">
                    <a16:creationId xmlns:a16="http://schemas.microsoft.com/office/drawing/2014/main" id="{5D4F59A9-EF38-DB0B-6F8F-7F0F069D7F26}"/>
                  </a:ext>
                </a:extLst>
              </p:cNvPr>
              <p:cNvSpPr/>
              <p:nvPr/>
            </p:nvSpPr>
            <p:spPr>
              <a:xfrm>
                <a:off x="6724849" y="2204001"/>
                <a:ext cx="135189" cy="4146"/>
              </a:xfrm>
              <a:custGeom>
                <a:avLst/>
                <a:gdLst>
                  <a:gd name="connsiteX0" fmla="*/ 0 w 135189"/>
                  <a:gd name="connsiteY0" fmla="*/ 0 h 4146"/>
                  <a:gd name="connsiteX1" fmla="*/ 135189 w 135189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35189" h="4146">
                    <a:moveTo>
                      <a:pt x="0" y="0"/>
                    </a:moveTo>
                    <a:lnTo>
                      <a:pt x="135189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67" name="Freeform: Shape 252">
                <a:extLst>
                  <a:ext uri="{FF2B5EF4-FFF2-40B4-BE49-F238E27FC236}">
                    <a16:creationId xmlns:a16="http://schemas.microsoft.com/office/drawing/2014/main" id="{ECD7DA20-7ACF-C1D8-E693-E7A4BF0C6990}"/>
                  </a:ext>
                </a:extLst>
              </p:cNvPr>
              <p:cNvSpPr/>
              <p:nvPr/>
            </p:nvSpPr>
            <p:spPr>
              <a:xfrm>
                <a:off x="6724849" y="2241323"/>
                <a:ext cx="135189" cy="4146"/>
              </a:xfrm>
              <a:custGeom>
                <a:avLst/>
                <a:gdLst>
                  <a:gd name="connsiteX0" fmla="*/ 0 w 135189"/>
                  <a:gd name="connsiteY0" fmla="*/ 0 h 4146"/>
                  <a:gd name="connsiteX1" fmla="*/ 135189 w 135189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35189" h="4146">
                    <a:moveTo>
                      <a:pt x="0" y="0"/>
                    </a:moveTo>
                    <a:lnTo>
                      <a:pt x="135189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68" name="Freeform: Shape 253">
                <a:extLst>
                  <a:ext uri="{FF2B5EF4-FFF2-40B4-BE49-F238E27FC236}">
                    <a16:creationId xmlns:a16="http://schemas.microsoft.com/office/drawing/2014/main" id="{9DA83042-5808-F9F0-6FF8-5FA7B0A1ADC6}"/>
                  </a:ext>
                </a:extLst>
              </p:cNvPr>
              <p:cNvSpPr/>
              <p:nvPr/>
            </p:nvSpPr>
            <p:spPr>
              <a:xfrm>
                <a:off x="6724849" y="2279060"/>
                <a:ext cx="135189" cy="4146"/>
              </a:xfrm>
              <a:custGeom>
                <a:avLst/>
                <a:gdLst>
                  <a:gd name="connsiteX0" fmla="*/ 0 w 135189"/>
                  <a:gd name="connsiteY0" fmla="*/ 0 h 4146"/>
                  <a:gd name="connsiteX1" fmla="*/ 135189 w 135189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35189" h="4146">
                    <a:moveTo>
                      <a:pt x="0" y="0"/>
                    </a:moveTo>
                    <a:lnTo>
                      <a:pt x="135189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69" name="Freeform: Shape 254">
                <a:extLst>
                  <a:ext uri="{FF2B5EF4-FFF2-40B4-BE49-F238E27FC236}">
                    <a16:creationId xmlns:a16="http://schemas.microsoft.com/office/drawing/2014/main" id="{7204D064-065A-D91D-9157-4E14FAE16108}"/>
                  </a:ext>
                </a:extLst>
              </p:cNvPr>
              <p:cNvSpPr/>
              <p:nvPr/>
            </p:nvSpPr>
            <p:spPr>
              <a:xfrm>
                <a:off x="6724849" y="2128942"/>
                <a:ext cx="76303" cy="4146"/>
              </a:xfrm>
              <a:custGeom>
                <a:avLst/>
                <a:gdLst>
                  <a:gd name="connsiteX0" fmla="*/ 0 w 76303"/>
                  <a:gd name="connsiteY0" fmla="*/ 0 h 4146"/>
                  <a:gd name="connsiteX1" fmla="*/ 76303 w 76303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76303" h="4146">
                    <a:moveTo>
                      <a:pt x="0" y="0"/>
                    </a:moveTo>
                    <a:lnTo>
                      <a:pt x="76303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</p:grpSp>
        <p:sp>
          <p:nvSpPr>
            <p:cNvPr id="362" name="Freeform: Shape 247">
              <a:extLst>
                <a:ext uri="{FF2B5EF4-FFF2-40B4-BE49-F238E27FC236}">
                  <a16:creationId xmlns:a16="http://schemas.microsoft.com/office/drawing/2014/main" id="{394744C8-48F5-6EFE-3896-105772E9FC5C}"/>
                </a:ext>
              </a:extLst>
            </p:cNvPr>
            <p:cNvSpPr/>
            <p:nvPr/>
          </p:nvSpPr>
          <p:spPr>
            <a:xfrm>
              <a:off x="5610344" y="2221088"/>
              <a:ext cx="179561" cy="161314"/>
            </a:xfrm>
            <a:custGeom>
              <a:avLst/>
              <a:gdLst>
                <a:gd name="connsiteX0" fmla="*/ 95794 w 179561"/>
                <a:gd name="connsiteY0" fmla="*/ 99111 h 161314"/>
                <a:gd name="connsiteX1" fmla="*/ 29028 w 179561"/>
                <a:gd name="connsiteY1" fmla="*/ 154680 h 161314"/>
                <a:gd name="connsiteX2" fmla="*/ 0 w 179561"/>
                <a:gd name="connsiteY2" fmla="*/ 119846 h 161314"/>
                <a:gd name="connsiteX3" fmla="*/ 66765 w 179561"/>
                <a:gd name="connsiteY3" fmla="*/ 64277 h 161314"/>
                <a:gd name="connsiteX4" fmla="*/ 8294 w 179561"/>
                <a:gd name="connsiteY4" fmla="*/ 38981 h 161314"/>
                <a:gd name="connsiteX5" fmla="*/ 179561 w 179561"/>
                <a:gd name="connsiteY5" fmla="*/ 0 h 161314"/>
                <a:gd name="connsiteX6" fmla="*/ 109893 w 179561"/>
                <a:gd name="connsiteY6" fmla="*/ 161315 h 161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9561" h="161314">
                  <a:moveTo>
                    <a:pt x="95794" y="99111"/>
                  </a:moveTo>
                  <a:lnTo>
                    <a:pt x="29028" y="154680"/>
                  </a:lnTo>
                  <a:lnTo>
                    <a:pt x="0" y="119846"/>
                  </a:lnTo>
                  <a:lnTo>
                    <a:pt x="66765" y="64277"/>
                  </a:lnTo>
                  <a:lnTo>
                    <a:pt x="8294" y="38981"/>
                  </a:lnTo>
                  <a:lnTo>
                    <a:pt x="179561" y="0"/>
                  </a:lnTo>
                  <a:lnTo>
                    <a:pt x="109893" y="161315"/>
                  </a:lnTo>
                  <a:close/>
                </a:path>
              </a:pathLst>
            </a:custGeom>
            <a:noFill/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mazon Ember"/>
              </a:endParaRPr>
            </a:p>
          </p:txBody>
        </p:sp>
      </p:grpSp>
      <p:grpSp>
        <p:nvGrpSpPr>
          <p:cNvPr id="385" name="Group 2">
            <a:extLst>
              <a:ext uri="{FF2B5EF4-FFF2-40B4-BE49-F238E27FC236}">
                <a16:creationId xmlns:a16="http://schemas.microsoft.com/office/drawing/2014/main" id="{DB3D2125-F37C-EAE5-1C56-D99FA98B8761}"/>
              </a:ext>
            </a:extLst>
          </p:cNvPr>
          <p:cNvGrpSpPr/>
          <p:nvPr/>
        </p:nvGrpSpPr>
        <p:grpSpPr>
          <a:xfrm>
            <a:off x="7863148" y="4706180"/>
            <a:ext cx="1109517" cy="955888"/>
            <a:chOff x="5610344" y="1866942"/>
            <a:chExt cx="735662" cy="570615"/>
          </a:xfrm>
        </p:grpSpPr>
        <p:grpSp>
          <p:nvGrpSpPr>
            <p:cNvPr id="386" name="Graphic 18">
              <a:extLst>
                <a:ext uri="{FF2B5EF4-FFF2-40B4-BE49-F238E27FC236}">
                  <a16:creationId xmlns:a16="http://schemas.microsoft.com/office/drawing/2014/main" id="{E5640817-6975-304F-0C8E-59EE4E94FD37}"/>
                </a:ext>
              </a:extLst>
            </p:cNvPr>
            <p:cNvGrpSpPr/>
            <p:nvPr/>
          </p:nvGrpSpPr>
          <p:grpSpPr>
            <a:xfrm>
              <a:off x="5672963" y="1866942"/>
              <a:ext cx="496385" cy="570615"/>
              <a:chOff x="6215194" y="1890080"/>
              <a:chExt cx="496385" cy="570615"/>
            </a:xfrm>
            <a:noFill/>
          </p:grpSpPr>
          <p:sp>
            <p:nvSpPr>
              <p:cNvPr id="402" name="Freeform: Shape 260">
                <a:extLst>
                  <a:ext uri="{FF2B5EF4-FFF2-40B4-BE49-F238E27FC236}">
                    <a16:creationId xmlns:a16="http://schemas.microsoft.com/office/drawing/2014/main" id="{1694B198-DDB9-953C-8A73-BD00252183CB}"/>
                  </a:ext>
                </a:extLst>
              </p:cNvPr>
              <p:cNvSpPr/>
              <p:nvPr/>
            </p:nvSpPr>
            <p:spPr>
              <a:xfrm>
                <a:off x="6640252" y="1933207"/>
                <a:ext cx="4146" cy="87499"/>
              </a:xfrm>
              <a:custGeom>
                <a:avLst/>
                <a:gdLst>
                  <a:gd name="connsiteX0" fmla="*/ 0 w 4146"/>
                  <a:gd name="connsiteY0" fmla="*/ 87500 h 87499"/>
                  <a:gd name="connsiteX1" fmla="*/ 0 w 4146"/>
                  <a:gd name="connsiteY1" fmla="*/ 0 h 87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4146" h="87499">
                    <a:moveTo>
                      <a:pt x="0" y="87500"/>
                    </a:moveTo>
                    <a:lnTo>
                      <a:pt x="0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403" name="Freeform: Shape 261">
                <a:extLst>
                  <a:ext uri="{FF2B5EF4-FFF2-40B4-BE49-F238E27FC236}">
                    <a16:creationId xmlns:a16="http://schemas.microsoft.com/office/drawing/2014/main" id="{5C766714-52FB-3DE2-767A-BAF9962E290E}"/>
                  </a:ext>
                </a:extLst>
              </p:cNvPr>
              <p:cNvSpPr/>
              <p:nvPr/>
            </p:nvSpPr>
            <p:spPr>
              <a:xfrm>
                <a:off x="6577634" y="2381489"/>
                <a:ext cx="63033" cy="37322"/>
              </a:xfrm>
              <a:custGeom>
                <a:avLst/>
                <a:gdLst>
                  <a:gd name="connsiteX0" fmla="*/ 63033 w 63033"/>
                  <a:gd name="connsiteY0" fmla="*/ 37322 h 37322"/>
                  <a:gd name="connsiteX1" fmla="*/ 0 w 63033"/>
                  <a:gd name="connsiteY1" fmla="*/ 0 h 373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3033" h="37322">
                    <a:moveTo>
                      <a:pt x="63033" y="37322"/>
                    </a:moveTo>
                    <a:lnTo>
                      <a:pt x="0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404" name="Freeform: Shape 262">
                <a:extLst>
                  <a:ext uri="{FF2B5EF4-FFF2-40B4-BE49-F238E27FC236}">
                    <a16:creationId xmlns:a16="http://schemas.microsoft.com/office/drawing/2014/main" id="{20600D21-8A77-0487-7366-D3D72FB46CD1}"/>
                  </a:ext>
                </a:extLst>
              </p:cNvPr>
              <p:cNvSpPr/>
              <p:nvPr/>
            </p:nvSpPr>
            <p:spPr>
              <a:xfrm>
                <a:off x="6497599" y="2360340"/>
                <a:ext cx="213980" cy="100355"/>
              </a:xfrm>
              <a:custGeom>
                <a:avLst/>
                <a:gdLst>
                  <a:gd name="connsiteX0" fmla="*/ 213981 w 213980"/>
                  <a:gd name="connsiteY0" fmla="*/ 0 h 100355"/>
                  <a:gd name="connsiteX1" fmla="*/ 213981 w 213980"/>
                  <a:gd name="connsiteY1" fmla="*/ 17002 h 100355"/>
                  <a:gd name="connsiteX2" fmla="*/ 71327 w 213980"/>
                  <a:gd name="connsiteY2" fmla="*/ 100355 h 100355"/>
                  <a:gd name="connsiteX3" fmla="*/ 0 w 213980"/>
                  <a:gd name="connsiteY3" fmla="*/ 62204 h 1003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3980" h="100355">
                    <a:moveTo>
                      <a:pt x="213981" y="0"/>
                    </a:moveTo>
                    <a:lnTo>
                      <a:pt x="213981" y="17002"/>
                    </a:lnTo>
                    <a:lnTo>
                      <a:pt x="71327" y="100355"/>
                    </a:lnTo>
                    <a:lnTo>
                      <a:pt x="0" y="62204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405" name="Freeform: Shape 263">
                <a:extLst>
                  <a:ext uri="{FF2B5EF4-FFF2-40B4-BE49-F238E27FC236}">
                    <a16:creationId xmlns:a16="http://schemas.microsoft.com/office/drawing/2014/main" id="{E7A7454F-E406-50EB-18B2-6F62FBB0EE2A}"/>
                  </a:ext>
                </a:extLst>
              </p:cNvPr>
              <p:cNvSpPr/>
              <p:nvPr/>
            </p:nvSpPr>
            <p:spPr>
              <a:xfrm>
                <a:off x="6497599" y="1890080"/>
                <a:ext cx="213980" cy="129383"/>
              </a:xfrm>
              <a:custGeom>
                <a:avLst/>
                <a:gdLst>
                  <a:gd name="connsiteX0" fmla="*/ 0 w 213980"/>
                  <a:gd name="connsiteY0" fmla="*/ 47275 h 129383"/>
                  <a:gd name="connsiteX1" fmla="*/ 71327 w 213980"/>
                  <a:gd name="connsiteY1" fmla="*/ 0 h 129383"/>
                  <a:gd name="connsiteX2" fmla="*/ 213981 w 213980"/>
                  <a:gd name="connsiteY2" fmla="*/ 82938 h 129383"/>
                  <a:gd name="connsiteX3" fmla="*/ 213981 w 213980"/>
                  <a:gd name="connsiteY3" fmla="*/ 129384 h 1293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3980" h="129383">
                    <a:moveTo>
                      <a:pt x="0" y="47275"/>
                    </a:moveTo>
                    <a:lnTo>
                      <a:pt x="71327" y="0"/>
                    </a:lnTo>
                    <a:lnTo>
                      <a:pt x="213981" y="82938"/>
                    </a:lnTo>
                    <a:lnTo>
                      <a:pt x="213981" y="129384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406" name="Freeform: Shape 264">
                <a:extLst>
                  <a:ext uri="{FF2B5EF4-FFF2-40B4-BE49-F238E27FC236}">
                    <a16:creationId xmlns:a16="http://schemas.microsoft.com/office/drawing/2014/main" id="{E629C3B2-C759-E41F-BE89-D16B1BB430FB}"/>
                  </a:ext>
                </a:extLst>
              </p:cNvPr>
              <p:cNvSpPr/>
              <p:nvPr/>
            </p:nvSpPr>
            <p:spPr>
              <a:xfrm>
                <a:off x="6286521" y="2068397"/>
                <a:ext cx="71326" cy="35663"/>
              </a:xfrm>
              <a:custGeom>
                <a:avLst/>
                <a:gdLst>
                  <a:gd name="connsiteX0" fmla="*/ 71327 w 71326"/>
                  <a:gd name="connsiteY0" fmla="*/ 35663 h 35663"/>
                  <a:gd name="connsiteX1" fmla="*/ 0 w 71326"/>
                  <a:gd name="connsiteY1" fmla="*/ 0 h 356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71326" h="35663">
                    <a:moveTo>
                      <a:pt x="71327" y="35663"/>
                    </a:moveTo>
                    <a:lnTo>
                      <a:pt x="0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407" name="Freeform: Shape 265">
                <a:extLst>
                  <a:ext uri="{FF2B5EF4-FFF2-40B4-BE49-F238E27FC236}">
                    <a16:creationId xmlns:a16="http://schemas.microsoft.com/office/drawing/2014/main" id="{B764E712-31BA-4A6A-4C12-6C278F2645FE}"/>
                  </a:ext>
                </a:extLst>
              </p:cNvPr>
              <p:cNvSpPr/>
              <p:nvPr/>
            </p:nvSpPr>
            <p:spPr>
              <a:xfrm>
                <a:off x="6357847" y="1933207"/>
                <a:ext cx="4146" cy="87499"/>
              </a:xfrm>
              <a:custGeom>
                <a:avLst/>
                <a:gdLst>
                  <a:gd name="connsiteX0" fmla="*/ 0 w 4146"/>
                  <a:gd name="connsiteY0" fmla="*/ 87500 h 87499"/>
                  <a:gd name="connsiteX1" fmla="*/ 0 w 4146"/>
                  <a:gd name="connsiteY1" fmla="*/ 0 h 874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4146" h="87499">
                    <a:moveTo>
                      <a:pt x="0" y="87500"/>
                    </a:moveTo>
                    <a:lnTo>
                      <a:pt x="0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408" name="Freeform: Shape 266">
                <a:extLst>
                  <a:ext uri="{FF2B5EF4-FFF2-40B4-BE49-F238E27FC236}">
                    <a16:creationId xmlns:a16="http://schemas.microsoft.com/office/drawing/2014/main" id="{1C1CD04D-7940-ABCF-9C96-5D41C3D1A41E}"/>
                  </a:ext>
                </a:extLst>
              </p:cNvPr>
              <p:cNvSpPr/>
              <p:nvPr/>
            </p:nvSpPr>
            <p:spPr>
              <a:xfrm>
                <a:off x="6215194" y="2138894"/>
                <a:ext cx="68838" cy="40225"/>
              </a:xfrm>
              <a:custGeom>
                <a:avLst/>
                <a:gdLst>
                  <a:gd name="connsiteX0" fmla="*/ 0 w 68838"/>
                  <a:gd name="connsiteY0" fmla="*/ 40225 h 40225"/>
                  <a:gd name="connsiteX1" fmla="*/ 68839 w 68838"/>
                  <a:gd name="connsiteY1" fmla="*/ 0 h 402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8838" h="40225">
                    <a:moveTo>
                      <a:pt x="0" y="40225"/>
                    </a:moveTo>
                    <a:lnTo>
                      <a:pt x="68839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409" name="Freeform: Shape 267">
                <a:extLst>
                  <a:ext uri="{FF2B5EF4-FFF2-40B4-BE49-F238E27FC236}">
                    <a16:creationId xmlns:a16="http://schemas.microsoft.com/office/drawing/2014/main" id="{C53C40D5-F351-1D5B-AB4B-9E2C19A185AD}"/>
                  </a:ext>
                </a:extLst>
              </p:cNvPr>
              <p:cNvSpPr/>
              <p:nvPr/>
            </p:nvSpPr>
            <p:spPr>
              <a:xfrm>
                <a:off x="6356189" y="2381489"/>
                <a:ext cx="64277" cy="38151"/>
              </a:xfrm>
              <a:custGeom>
                <a:avLst/>
                <a:gdLst>
                  <a:gd name="connsiteX0" fmla="*/ 0 w 64277"/>
                  <a:gd name="connsiteY0" fmla="*/ 38152 h 38151"/>
                  <a:gd name="connsiteX1" fmla="*/ 64277 w 64277"/>
                  <a:gd name="connsiteY1" fmla="*/ 0 h 381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4277" h="38151">
                    <a:moveTo>
                      <a:pt x="0" y="38152"/>
                    </a:moveTo>
                    <a:lnTo>
                      <a:pt x="64277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410" name="Freeform: Shape 268">
                <a:extLst>
                  <a:ext uri="{FF2B5EF4-FFF2-40B4-BE49-F238E27FC236}">
                    <a16:creationId xmlns:a16="http://schemas.microsoft.com/office/drawing/2014/main" id="{49519F1F-F43B-FD01-79CF-81FE91D7609F}"/>
                  </a:ext>
                </a:extLst>
              </p:cNvPr>
              <p:cNvSpPr/>
              <p:nvPr/>
            </p:nvSpPr>
            <p:spPr>
              <a:xfrm>
                <a:off x="6318866" y="2396418"/>
                <a:ext cx="181634" cy="64277"/>
              </a:xfrm>
              <a:custGeom>
                <a:avLst/>
                <a:gdLst>
                  <a:gd name="connsiteX0" fmla="*/ 0 w 181634"/>
                  <a:gd name="connsiteY0" fmla="*/ 0 h 64277"/>
                  <a:gd name="connsiteX1" fmla="*/ 110308 w 181634"/>
                  <a:gd name="connsiteY1" fmla="*/ 64277 h 64277"/>
                  <a:gd name="connsiteX2" fmla="*/ 181635 w 181634"/>
                  <a:gd name="connsiteY2" fmla="*/ 26126 h 642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81634" h="64277">
                    <a:moveTo>
                      <a:pt x="0" y="0"/>
                    </a:moveTo>
                    <a:lnTo>
                      <a:pt x="110308" y="64277"/>
                    </a:lnTo>
                    <a:lnTo>
                      <a:pt x="181635" y="26126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411" name="Freeform: Shape 269">
                <a:extLst>
                  <a:ext uri="{FF2B5EF4-FFF2-40B4-BE49-F238E27FC236}">
                    <a16:creationId xmlns:a16="http://schemas.microsoft.com/office/drawing/2014/main" id="{0BE55BB2-4DA5-3BF5-50E0-E52F07FAD838}"/>
                  </a:ext>
                </a:extLst>
              </p:cNvPr>
              <p:cNvSpPr/>
              <p:nvPr/>
            </p:nvSpPr>
            <p:spPr>
              <a:xfrm>
                <a:off x="6215194" y="1890080"/>
                <a:ext cx="285307" cy="320971"/>
              </a:xfrm>
              <a:custGeom>
                <a:avLst/>
                <a:gdLst>
                  <a:gd name="connsiteX0" fmla="*/ 285308 w 285307"/>
                  <a:gd name="connsiteY0" fmla="*/ 47275 h 320971"/>
                  <a:gd name="connsiteX1" fmla="*/ 213981 w 285307"/>
                  <a:gd name="connsiteY1" fmla="*/ 0 h 320971"/>
                  <a:gd name="connsiteX2" fmla="*/ 71327 w 285307"/>
                  <a:gd name="connsiteY2" fmla="*/ 82938 h 320971"/>
                  <a:gd name="connsiteX3" fmla="*/ 71327 w 285307"/>
                  <a:gd name="connsiteY3" fmla="*/ 177488 h 320971"/>
                  <a:gd name="connsiteX4" fmla="*/ 0 w 285307"/>
                  <a:gd name="connsiteY4" fmla="*/ 213981 h 320971"/>
                  <a:gd name="connsiteX5" fmla="*/ 0 w 285307"/>
                  <a:gd name="connsiteY5" fmla="*/ 288211 h 320971"/>
                  <a:gd name="connsiteX6" fmla="*/ 0 w 285307"/>
                  <a:gd name="connsiteY6" fmla="*/ 320971 h 32097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285307" h="320971">
                    <a:moveTo>
                      <a:pt x="285308" y="47275"/>
                    </a:moveTo>
                    <a:lnTo>
                      <a:pt x="213981" y="0"/>
                    </a:lnTo>
                    <a:lnTo>
                      <a:pt x="71327" y="82938"/>
                    </a:lnTo>
                    <a:lnTo>
                      <a:pt x="71327" y="177488"/>
                    </a:lnTo>
                    <a:lnTo>
                      <a:pt x="0" y="213981"/>
                    </a:lnTo>
                    <a:lnTo>
                      <a:pt x="0" y="288211"/>
                    </a:lnTo>
                    <a:lnTo>
                      <a:pt x="0" y="320971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</p:grpSp>
        <p:grpSp>
          <p:nvGrpSpPr>
            <p:cNvPr id="387" name="Graphic 18">
              <a:extLst>
                <a:ext uri="{FF2B5EF4-FFF2-40B4-BE49-F238E27FC236}">
                  <a16:creationId xmlns:a16="http://schemas.microsoft.com/office/drawing/2014/main" id="{FB7A0331-3B90-A93D-B9DF-103A879C73CE}"/>
                </a:ext>
              </a:extLst>
            </p:cNvPr>
            <p:cNvGrpSpPr/>
            <p:nvPr/>
          </p:nvGrpSpPr>
          <p:grpSpPr>
            <a:xfrm>
              <a:off x="5872840" y="2023728"/>
              <a:ext cx="252965" cy="298130"/>
              <a:chOff x="6415071" y="2046866"/>
              <a:chExt cx="252965" cy="298130"/>
            </a:xfrm>
            <a:noFill/>
          </p:grpSpPr>
          <p:sp>
            <p:nvSpPr>
              <p:cNvPr id="397" name="Freeform: Shape 255">
                <a:extLst>
                  <a:ext uri="{FF2B5EF4-FFF2-40B4-BE49-F238E27FC236}">
                    <a16:creationId xmlns:a16="http://schemas.microsoft.com/office/drawing/2014/main" id="{C7E64984-CB4D-466A-5E73-A39DCE1B80D0}"/>
                  </a:ext>
                </a:extLst>
              </p:cNvPr>
              <p:cNvSpPr/>
              <p:nvPr/>
            </p:nvSpPr>
            <p:spPr>
              <a:xfrm>
                <a:off x="6480181" y="2195707"/>
                <a:ext cx="187855" cy="4146"/>
              </a:xfrm>
              <a:custGeom>
                <a:avLst/>
                <a:gdLst>
                  <a:gd name="connsiteX0" fmla="*/ 0 w 187855"/>
                  <a:gd name="connsiteY0" fmla="*/ 0 h 4146"/>
                  <a:gd name="connsiteX1" fmla="*/ 187855 w 187855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87855" h="4146">
                    <a:moveTo>
                      <a:pt x="0" y="0"/>
                    </a:moveTo>
                    <a:lnTo>
                      <a:pt x="187855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98" name="Freeform: Shape 256">
                <a:extLst>
                  <a:ext uri="{FF2B5EF4-FFF2-40B4-BE49-F238E27FC236}">
                    <a16:creationId xmlns:a16="http://schemas.microsoft.com/office/drawing/2014/main" id="{B0896228-5895-38D8-D329-CB3D8B0EC9CA}"/>
                  </a:ext>
                </a:extLst>
              </p:cNvPr>
              <p:cNvSpPr/>
              <p:nvPr/>
            </p:nvSpPr>
            <p:spPr>
              <a:xfrm>
                <a:off x="6480181" y="2073373"/>
                <a:ext cx="93720" cy="245082"/>
              </a:xfrm>
              <a:custGeom>
                <a:avLst/>
                <a:gdLst>
                  <a:gd name="connsiteX0" fmla="*/ 0 w 93720"/>
                  <a:gd name="connsiteY0" fmla="*/ 0 h 245082"/>
                  <a:gd name="connsiteX1" fmla="*/ 93720 w 93720"/>
                  <a:gd name="connsiteY1" fmla="*/ 0 h 245082"/>
                  <a:gd name="connsiteX2" fmla="*/ 93720 w 93720"/>
                  <a:gd name="connsiteY2" fmla="*/ 245083 h 245082"/>
                  <a:gd name="connsiteX3" fmla="*/ 0 w 93720"/>
                  <a:gd name="connsiteY3" fmla="*/ 245083 h 2450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3720" h="245082">
                    <a:moveTo>
                      <a:pt x="0" y="0"/>
                    </a:moveTo>
                    <a:lnTo>
                      <a:pt x="93720" y="0"/>
                    </a:lnTo>
                    <a:lnTo>
                      <a:pt x="93720" y="245083"/>
                    </a:lnTo>
                    <a:lnTo>
                      <a:pt x="0" y="245083"/>
                    </a:lnTo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99" name="Freeform: Shape 257">
                <a:extLst>
                  <a:ext uri="{FF2B5EF4-FFF2-40B4-BE49-F238E27FC236}">
                    <a16:creationId xmlns:a16="http://schemas.microsoft.com/office/drawing/2014/main" id="{D04689EE-7FEF-B813-05A7-150091088FF9}"/>
                  </a:ext>
                </a:extLst>
              </p:cNvPr>
              <p:cNvSpPr/>
              <p:nvPr/>
            </p:nvSpPr>
            <p:spPr>
              <a:xfrm rot="5400000">
                <a:off x="6415071" y="2046866"/>
                <a:ext cx="53080" cy="53080"/>
              </a:xfrm>
              <a:custGeom>
                <a:avLst/>
                <a:gdLst>
                  <a:gd name="connsiteX0" fmla="*/ 0 w 53080"/>
                  <a:gd name="connsiteY0" fmla="*/ 0 h 53080"/>
                  <a:gd name="connsiteX1" fmla="*/ 53080 w 53080"/>
                  <a:gd name="connsiteY1" fmla="*/ 0 h 53080"/>
                  <a:gd name="connsiteX2" fmla="*/ 53080 w 53080"/>
                  <a:gd name="connsiteY2" fmla="*/ 53081 h 53080"/>
                  <a:gd name="connsiteX3" fmla="*/ 0 w 53080"/>
                  <a:gd name="connsiteY3" fmla="*/ 53081 h 5308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3080" h="53080">
                    <a:moveTo>
                      <a:pt x="0" y="0"/>
                    </a:moveTo>
                    <a:lnTo>
                      <a:pt x="53080" y="0"/>
                    </a:lnTo>
                    <a:lnTo>
                      <a:pt x="53080" y="53081"/>
                    </a:lnTo>
                    <a:lnTo>
                      <a:pt x="0" y="53081"/>
                    </a:ln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400" name="Freeform: Shape 258">
                <a:extLst>
                  <a:ext uri="{FF2B5EF4-FFF2-40B4-BE49-F238E27FC236}">
                    <a16:creationId xmlns:a16="http://schemas.microsoft.com/office/drawing/2014/main" id="{64CAB3B8-9475-B81E-F47D-B2939938A9B4}"/>
                  </a:ext>
                </a:extLst>
              </p:cNvPr>
              <p:cNvSpPr/>
              <p:nvPr/>
            </p:nvSpPr>
            <p:spPr>
              <a:xfrm>
                <a:off x="6415490" y="2161702"/>
                <a:ext cx="52665" cy="68424"/>
              </a:xfrm>
              <a:custGeom>
                <a:avLst/>
                <a:gdLst>
                  <a:gd name="connsiteX0" fmla="*/ 0 w 52665"/>
                  <a:gd name="connsiteY0" fmla="*/ 68424 h 68424"/>
                  <a:gd name="connsiteX1" fmla="*/ 0 w 52665"/>
                  <a:gd name="connsiteY1" fmla="*/ 0 h 68424"/>
                  <a:gd name="connsiteX2" fmla="*/ 52666 w 52665"/>
                  <a:gd name="connsiteY2" fmla="*/ 34005 h 684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52665" h="68424">
                    <a:moveTo>
                      <a:pt x="0" y="68424"/>
                    </a:moveTo>
                    <a:lnTo>
                      <a:pt x="0" y="0"/>
                    </a:lnTo>
                    <a:lnTo>
                      <a:pt x="52666" y="34005"/>
                    </a:ln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401" name="Freeform: Shape 259">
                <a:extLst>
                  <a:ext uri="{FF2B5EF4-FFF2-40B4-BE49-F238E27FC236}">
                    <a16:creationId xmlns:a16="http://schemas.microsoft.com/office/drawing/2014/main" id="{545DF96C-46F8-8AEE-BBAA-C11AB2D16C39}"/>
                  </a:ext>
                </a:extLst>
              </p:cNvPr>
              <p:cNvSpPr/>
              <p:nvPr/>
            </p:nvSpPr>
            <p:spPr>
              <a:xfrm>
                <a:off x="6415490" y="2292330"/>
                <a:ext cx="52665" cy="52665"/>
              </a:xfrm>
              <a:custGeom>
                <a:avLst/>
                <a:gdLst>
                  <a:gd name="connsiteX0" fmla="*/ 0 w 52665"/>
                  <a:gd name="connsiteY0" fmla="*/ 30272 h 52665"/>
                  <a:gd name="connsiteX1" fmla="*/ 0 w 52665"/>
                  <a:gd name="connsiteY1" fmla="*/ 22393 h 52665"/>
                  <a:gd name="connsiteX2" fmla="*/ 22393 w 52665"/>
                  <a:gd name="connsiteY2" fmla="*/ 0 h 52665"/>
                  <a:gd name="connsiteX3" fmla="*/ 30272 w 52665"/>
                  <a:gd name="connsiteY3" fmla="*/ 0 h 52665"/>
                  <a:gd name="connsiteX4" fmla="*/ 52666 w 52665"/>
                  <a:gd name="connsiteY4" fmla="*/ 22393 h 52665"/>
                  <a:gd name="connsiteX5" fmla="*/ 52666 w 52665"/>
                  <a:gd name="connsiteY5" fmla="*/ 30272 h 52665"/>
                  <a:gd name="connsiteX6" fmla="*/ 30272 w 52665"/>
                  <a:gd name="connsiteY6" fmla="*/ 52666 h 52665"/>
                  <a:gd name="connsiteX7" fmla="*/ 22393 w 52665"/>
                  <a:gd name="connsiteY7" fmla="*/ 52666 h 52665"/>
                  <a:gd name="connsiteX8" fmla="*/ 0 w 52665"/>
                  <a:gd name="connsiteY8" fmla="*/ 30272 h 526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52665" h="52665">
                    <a:moveTo>
                      <a:pt x="0" y="30272"/>
                    </a:moveTo>
                    <a:lnTo>
                      <a:pt x="0" y="22393"/>
                    </a:lnTo>
                    <a:cubicBezTo>
                      <a:pt x="0" y="9953"/>
                      <a:pt x="9953" y="0"/>
                      <a:pt x="22393" y="0"/>
                    </a:cubicBezTo>
                    <a:lnTo>
                      <a:pt x="30272" y="0"/>
                    </a:lnTo>
                    <a:cubicBezTo>
                      <a:pt x="42713" y="0"/>
                      <a:pt x="52666" y="9953"/>
                      <a:pt x="52666" y="22393"/>
                    </a:cubicBezTo>
                    <a:lnTo>
                      <a:pt x="52666" y="30272"/>
                    </a:lnTo>
                    <a:cubicBezTo>
                      <a:pt x="52666" y="42713"/>
                      <a:pt x="42713" y="52666"/>
                      <a:pt x="30272" y="52666"/>
                    </a:cubicBezTo>
                    <a:lnTo>
                      <a:pt x="22393" y="52666"/>
                    </a:lnTo>
                    <a:cubicBezTo>
                      <a:pt x="9953" y="52666"/>
                      <a:pt x="0" y="42713"/>
                      <a:pt x="0" y="30272"/>
                    </a:cubicBez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</p:grpSp>
        <p:grpSp>
          <p:nvGrpSpPr>
            <p:cNvPr id="388" name="Graphic 18">
              <a:extLst>
                <a:ext uri="{FF2B5EF4-FFF2-40B4-BE49-F238E27FC236}">
                  <a16:creationId xmlns:a16="http://schemas.microsoft.com/office/drawing/2014/main" id="{7E84DDEB-2C41-202B-0752-D6C53F152CE0}"/>
                </a:ext>
              </a:extLst>
            </p:cNvPr>
            <p:cNvGrpSpPr/>
            <p:nvPr/>
          </p:nvGrpSpPr>
          <p:grpSpPr>
            <a:xfrm>
              <a:off x="6154419" y="2027842"/>
              <a:ext cx="191587" cy="274940"/>
              <a:chOff x="6696650" y="2050980"/>
              <a:chExt cx="191587" cy="274940"/>
            </a:xfrm>
            <a:noFill/>
          </p:grpSpPr>
          <p:sp>
            <p:nvSpPr>
              <p:cNvPr id="390" name="Freeform: Shape 248">
                <a:extLst>
                  <a:ext uri="{FF2B5EF4-FFF2-40B4-BE49-F238E27FC236}">
                    <a16:creationId xmlns:a16="http://schemas.microsoft.com/office/drawing/2014/main" id="{EA81FE30-14D4-33F4-1A0B-2A50F9C3CBF0}"/>
                  </a:ext>
                </a:extLst>
              </p:cNvPr>
              <p:cNvSpPr/>
              <p:nvPr/>
            </p:nvSpPr>
            <p:spPr>
              <a:xfrm>
                <a:off x="6696650" y="2050980"/>
                <a:ext cx="191587" cy="274940"/>
              </a:xfrm>
              <a:custGeom>
                <a:avLst/>
                <a:gdLst>
                  <a:gd name="connsiteX0" fmla="*/ 0 w 191587"/>
                  <a:gd name="connsiteY0" fmla="*/ 266232 h 274940"/>
                  <a:gd name="connsiteX1" fmla="*/ 0 w 191587"/>
                  <a:gd name="connsiteY1" fmla="*/ 8709 h 274940"/>
                  <a:gd name="connsiteX2" fmla="*/ 8709 w 191587"/>
                  <a:gd name="connsiteY2" fmla="*/ 0 h 274940"/>
                  <a:gd name="connsiteX3" fmla="*/ 127725 w 191587"/>
                  <a:gd name="connsiteY3" fmla="*/ 0 h 274940"/>
                  <a:gd name="connsiteX4" fmla="*/ 191587 w 191587"/>
                  <a:gd name="connsiteY4" fmla="*/ 63862 h 274940"/>
                  <a:gd name="connsiteX5" fmla="*/ 191587 w 191587"/>
                  <a:gd name="connsiteY5" fmla="*/ 266232 h 274940"/>
                  <a:gd name="connsiteX6" fmla="*/ 182879 w 191587"/>
                  <a:gd name="connsiteY6" fmla="*/ 274940 h 274940"/>
                  <a:gd name="connsiteX7" fmla="*/ 8709 w 191587"/>
                  <a:gd name="connsiteY7" fmla="*/ 274940 h 274940"/>
                  <a:gd name="connsiteX8" fmla="*/ 0 w 191587"/>
                  <a:gd name="connsiteY8" fmla="*/ 266232 h 27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91587" h="274940">
                    <a:moveTo>
                      <a:pt x="0" y="266232"/>
                    </a:moveTo>
                    <a:lnTo>
                      <a:pt x="0" y="8709"/>
                    </a:lnTo>
                    <a:cubicBezTo>
                      <a:pt x="0" y="3732"/>
                      <a:pt x="3732" y="0"/>
                      <a:pt x="8709" y="0"/>
                    </a:cubicBezTo>
                    <a:lnTo>
                      <a:pt x="127725" y="0"/>
                    </a:lnTo>
                    <a:lnTo>
                      <a:pt x="191587" y="63862"/>
                    </a:lnTo>
                    <a:lnTo>
                      <a:pt x="191587" y="266232"/>
                    </a:lnTo>
                    <a:cubicBezTo>
                      <a:pt x="191587" y="271208"/>
                      <a:pt x="187855" y="274940"/>
                      <a:pt x="182879" y="274940"/>
                    </a:cubicBezTo>
                    <a:lnTo>
                      <a:pt x="8709" y="274940"/>
                    </a:lnTo>
                    <a:cubicBezTo>
                      <a:pt x="3732" y="274940"/>
                      <a:pt x="0" y="271208"/>
                      <a:pt x="0" y="266232"/>
                    </a:cubicBez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91" name="Freeform: Shape 249">
                <a:extLst>
                  <a:ext uri="{FF2B5EF4-FFF2-40B4-BE49-F238E27FC236}">
                    <a16:creationId xmlns:a16="http://schemas.microsoft.com/office/drawing/2014/main" id="{2EF6D6E4-5D36-B8DD-8202-D70C171DBC09}"/>
                  </a:ext>
                </a:extLst>
              </p:cNvPr>
              <p:cNvSpPr/>
              <p:nvPr/>
            </p:nvSpPr>
            <p:spPr>
              <a:xfrm>
                <a:off x="6823961" y="2050980"/>
                <a:ext cx="64277" cy="63862"/>
              </a:xfrm>
              <a:custGeom>
                <a:avLst/>
                <a:gdLst>
                  <a:gd name="connsiteX0" fmla="*/ 0 w 64277"/>
                  <a:gd name="connsiteY0" fmla="*/ 63862 h 63862"/>
                  <a:gd name="connsiteX1" fmla="*/ 64277 w 64277"/>
                  <a:gd name="connsiteY1" fmla="*/ 63862 h 63862"/>
                  <a:gd name="connsiteX2" fmla="*/ 0 w 64277"/>
                  <a:gd name="connsiteY2" fmla="*/ 0 h 638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64277" h="63862">
                    <a:moveTo>
                      <a:pt x="0" y="63862"/>
                    </a:moveTo>
                    <a:lnTo>
                      <a:pt x="64277" y="63862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92" name="Freeform: Shape 250">
                <a:extLst>
                  <a:ext uri="{FF2B5EF4-FFF2-40B4-BE49-F238E27FC236}">
                    <a16:creationId xmlns:a16="http://schemas.microsoft.com/office/drawing/2014/main" id="{75B4CBF5-6751-A851-5FC3-3C398870F0A0}"/>
                  </a:ext>
                </a:extLst>
              </p:cNvPr>
              <p:cNvSpPr/>
              <p:nvPr/>
            </p:nvSpPr>
            <p:spPr>
              <a:xfrm>
                <a:off x="6724849" y="2166679"/>
                <a:ext cx="135189" cy="4146"/>
              </a:xfrm>
              <a:custGeom>
                <a:avLst/>
                <a:gdLst>
                  <a:gd name="connsiteX0" fmla="*/ 0 w 135189"/>
                  <a:gd name="connsiteY0" fmla="*/ 0 h 4146"/>
                  <a:gd name="connsiteX1" fmla="*/ 135189 w 135189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35189" h="4146">
                    <a:moveTo>
                      <a:pt x="0" y="0"/>
                    </a:moveTo>
                    <a:lnTo>
                      <a:pt x="135189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93" name="Freeform: Shape 251">
                <a:extLst>
                  <a:ext uri="{FF2B5EF4-FFF2-40B4-BE49-F238E27FC236}">
                    <a16:creationId xmlns:a16="http://schemas.microsoft.com/office/drawing/2014/main" id="{DB8F90E4-B03E-80E8-681A-E94C2F01BCBC}"/>
                  </a:ext>
                </a:extLst>
              </p:cNvPr>
              <p:cNvSpPr/>
              <p:nvPr/>
            </p:nvSpPr>
            <p:spPr>
              <a:xfrm>
                <a:off x="6724849" y="2204001"/>
                <a:ext cx="135189" cy="4146"/>
              </a:xfrm>
              <a:custGeom>
                <a:avLst/>
                <a:gdLst>
                  <a:gd name="connsiteX0" fmla="*/ 0 w 135189"/>
                  <a:gd name="connsiteY0" fmla="*/ 0 h 4146"/>
                  <a:gd name="connsiteX1" fmla="*/ 135189 w 135189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35189" h="4146">
                    <a:moveTo>
                      <a:pt x="0" y="0"/>
                    </a:moveTo>
                    <a:lnTo>
                      <a:pt x="135189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94" name="Freeform: Shape 252">
                <a:extLst>
                  <a:ext uri="{FF2B5EF4-FFF2-40B4-BE49-F238E27FC236}">
                    <a16:creationId xmlns:a16="http://schemas.microsoft.com/office/drawing/2014/main" id="{C260D5FD-D631-0E6A-8766-E23770E02735}"/>
                  </a:ext>
                </a:extLst>
              </p:cNvPr>
              <p:cNvSpPr/>
              <p:nvPr/>
            </p:nvSpPr>
            <p:spPr>
              <a:xfrm>
                <a:off x="6724849" y="2241323"/>
                <a:ext cx="135189" cy="4146"/>
              </a:xfrm>
              <a:custGeom>
                <a:avLst/>
                <a:gdLst>
                  <a:gd name="connsiteX0" fmla="*/ 0 w 135189"/>
                  <a:gd name="connsiteY0" fmla="*/ 0 h 4146"/>
                  <a:gd name="connsiteX1" fmla="*/ 135189 w 135189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35189" h="4146">
                    <a:moveTo>
                      <a:pt x="0" y="0"/>
                    </a:moveTo>
                    <a:lnTo>
                      <a:pt x="135189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95" name="Freeform: Shape 253">
                <a:extLst>
                  <a:ext uri="{FF2B5EF4-FFF2-40B4-BE49-F238E27FC236}">
                    <a16:creationId xmlns:a16="http://schemas.microsoft.com/office/drawing/2014/main" id="{9C952073-17CE-4AC5-D917-464DC192739E}"/>
                  </a:ext>
                </a:extLst>
              </p:cNvPr>
              <p:cNvSpPr/>
              <p:nvPr/>
            </p:nvSpPr>
            <p:spPr>
              <a:xfrm>
                <a:off x="6724849" y="2279060"/>
                <a:ext cx="135189" cy="4146"/>
              </a:xfrm>
              <a:custGeom>
                <a:avLst/>
                <a:gdLst>
                  <a:gd name="connsiteX0" fmla="*/ 0 w 135189"/>
                  <a:gd name="connsiteY0" fmla="*/ 0 h 4146"/>
                  <a:gd name="connsiteX1" fmla="*/ 135189 w 135189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35189" h="4146">
                    <a:moveTo>
                      <a:pt x="0" y="0"/>
                    </a:moveTo>
                    <a:lnTo>
                      <a:pt x="135189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  <p:sp>
            <p:nvSpPr>
              <p:cNvPr id="396" name="Freeform: Shape 254">
                <a:extLst>
                  <a:ext uri="{FF2B5EF4-FFF2-40B4-BE49-F238E27FC236}">
                    <a16:creationId xmlns:a16="http://schemas.microsoft.com/office/drawing/2014/main" id="{619D35D1-D469-55ED-5DF4-B1D400E2FCDF}"/>
                  </a:ext>
                </a:extLst>
              </p:cNvPr>
              <p:cNvSpPr/>
              <p:nvPr/>
            </p:nvSpPr>
            <p:spPr>
              <a:xfrm>
                <a:off x="6724849" y="2128942"/>
                <a:ext cx="76303" cy="4146"/>
              </a:xfrm>
              <a:custGeom>
                <a:avLst/>
                <a:gdLst>
                  <a:gd name="connsiteX0" fmla="*/ 0 w 76303"/>
                  <a:gd name="connsiteY0" fmla="*/ 0 h 4146"/>
                  <a:gd name="connsiteX1" fmla="*/ 76303 w 76303"/>
                  <a:gd name="connsiteY1" fmla="*/ 0 h 41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76303" h="4146">
                    <a:moveTo>
                      <a:pt x="0" y="0"/>
                    </a:moveTo>
                    <a:lnTo>
                      <a:pt x="76303" y="0"/>
                    </a:lnTo>
                  </a:path>
                </a:pathLst>
              </a:custGeom>
              <a:ln w="12700" cap="flat">
                <a:solidFill>
                  <a:schemeClr val="tx1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pPr marL="0" marR="0" lvl="0" indent="0" defTabSz="9144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mazon Ember"/>
                </a:endParaRPr>
              </a:p>
            </p:txBody>
          </p:sp>
        </p:grpSp>
        <p:sp>
          <p:nvSpPr>
            <p:cNvPr id="389" name="Freeform: Shape 247">
              <a:extLst>
                <a:ext uri="{FF2B5EF4-FFF2-40B4-BE49-F238E27FC236}">
                  <a16:creationId xmlns:a16="http://schemas.microsoft.com/office/drawing/2014/main" id="{310998D3-5667-CF2B-D1B0-D41E5276FEC1}"/>
                </a:ext>
              </a:extLst>
            </p:cNvPr>
            <p:cNvSpPr/>
            <p:nvPr/>
          </p:nvSpPr>
          <p:spPr>
            <a:xfrm>
              <a:off x="5610344" y="2221088"/>
              <a:ext cx="179561" cy="161314"/>
            </a:xfrm>
            <a:custGeom>
              <a:avLst/>
              <a:gdLst>
                <a:gd name="connsiteX0" fmla="*/ 95794 w 179561"/>
                <a:gd name="connsiteY0" fmla="*/ 99111 h 161314"/>
                <a:gd name="connsiteX1" fmla="*/ 29028 w 179561"/>
                <a:gd name="connsiteY1" fmla="*/ 154680 h 161314"/>
                <a:gd name="connsiteX2" fmla="*/ 0 w 179561"/>
                <a:gd name="connsiteY2" fmla="*/ 119846 h 161314"/>
                <a:gd name="connsiteX3" fmla="*/ 66765 w 179561"/>
                <a:gd name="connsiteY3" fmla="*/ 64277 h 161314"/>
                <a:gd name="connsiteX4" fmla="*/ 8294 w 179561"/>
                <a:gd name="connsiteY4" fmla="*/ 38981 h 161314"/>
                <a:gd name="connsiteX5" fmla="*/ 179561 w 179561"/>
                <a:gd name="connsiteY5" fmla="*/ 0 h 161314"/>
                <a:gd name="connsiteX6" fmla="*/ 109893 w 179561"/>
                <a:gd name="connsiteY6" fmla="*/ 161315 h 1613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79561" h="161314">
                  <a:moveTo>
                    <a:pt x="95794" y="99111"/>
                  </a:moveTo>
                  <a:lnTo>
                    <a:pt x="29028" y="154680"/>
                  </a:lnTo>
                  <a:lnTo>
                    <a:pt x="0" y="119846"/>
                  </a:lnTo>
                  <a:lnTo>
                    <a:pt x="66765" y="64277"/>
                  </a:lnTo>
                  <a:lnTo>
                    <a:pt x="8294" y="38981"/>
                  </a:lnTo>
                  <a:lnTo>
                    <a:pt x="179561" y="0"/>
                  </a:lnTo>
                  <a:lnTo>
                    <a:pt x="109893" y="161315"/>
                  </a:lnTo>
                  <a:close/>
                </a:path>
              </a:pathLst>
            </a:custGeom>
            <a:noFill/>
            <a:ln w="12700" cap="flat">
              <a:solidFill>
                <a:schemeClr val="tx1"/>
              </a:solidFill>
              <a:prstDash val="solid"/>
              <a:round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mazon Ember"/>
              </a:endParaRPr>
            </a:p>
          </p:txBody>
        </p:sp>
      </p:grpSp>
      <p:sp>
        <p:nvSpPr>
          <p:cNvPr id="412" name="TextBox 411">
            <a:extLst>
              <a:ext uri="{FF2B5EF4-FFF2-40B4-BE49-F238E27FC236}">
                <a16:creationId xmlns:a16="http://schemas.microsoft.com/office/drawing/2014/main" id="{BB39ABCE-CC52-062D-5245-62249B176B2C}"/>
              </a:ext>
            </a:extLst>
          </p:cNvPr>
          <p:cNvSpPr txBox="1"/>
          <p:nvPr/>
        </p:nvSpPr>
        <p:spPr>
          <a:xfrm>
            <a:off x="4797561" y="4359978"/>
            <a:ext cx="1496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Master Agent</a:t>
            </a:r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72CCB5A5-96DA-2149-64B1-CE4BA50480C8}"/>
              </a:ext>
            </a:extLst>
          </p:cNvPr>
          <p:cNvSpPr txBox="1"/>
          <p:nvPr/>
        </p:nvSpPr>
        <p:spPr>
          <a:xfrm>
            <a:off x="7863148" y="2747083"/>
            <a:ext cx="10667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SubAgent</a:t>
            </a:r>
            <a:r>
              <a:rPr lang="en-US" sz="1400" dirty="0"/>
              <a:t> 1</a:t>
            </a:r>
          </a:p>
        </p:txBody>
      </p:sp>
      <p:sp>
        <p:nvSpPr>
          <p:cNvPr id="414" name="TextBox 413">
            <a:extLst>
              <a:ext uri="{FF2B5EF4-FFF2-40B4-BE49-F238E27FC236}">
                <a16:creationId xmlns:a16="http://schemas.microsoft.com/office/drawing/2014/main" id="{AB26FE5B-9F12-CDC2-AB08-3BD71F94E1A9}"/>
              </a:ext>
            </a:extLst>
          </p:cNvPr>
          <p:cNvSpPr txBox="1"/>
          <p:nvPr/>
        </p:nvSpPr>
        <p:spPr>
          <a:xfrm>
            <a:off x="7863148" y="5652395"/>
            <a:ext cx="10667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err="1"/>
              <a:t>SubAgent</a:t>
            </a:r>
            <a:r>
              <a:rPr lang="en-US" sz="1400" dirty="0"/>
              <a:t> 3</a:t>
            </a:r>
          </a:p>
        </p:txBody>
      </p:sp>
      <p:sp>
        <p:nvSpPr>
          <p:cNvPr id="415" name="TextBox 414">
            <a:extLst>
              <a:ext uri="{FF2B5EF4-FFF2-40B4-BE49-F238E27FC236}">
                <a16:creationId xmlns:a16="http://schemas.microsoft.com/office/drawing/2014/main" id="{D743F848-EB42-1DA9-219C-247283317556}"/>
              </a:ext>
            </a:extLst>
          </p:cNvPr>
          <p:cNvSpPr txBox="1"/>
          <p:nvPr/>
        </p:nvSpPr>
        <p:spPr>
          <a:xfrm>
            <a:off x="4341474" y="4761812"/>
            <a:ext cx="22597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chemeClr val="accent6">
                    <a:lumMod val="75000"/>
                  </a:schemeClr>
                </a:solidFill>
              </a:rPr>
              <a:t>Routing/Passthrough</a:t>
            </a:r>
          </a:p>
        </p:txBody>
      </p:sp>
      <p:cxnSp>
        <p:nvCxnSpPr>
          <p:cNvPr id="416" name="Straight Arrow Connector 415">
            <a:extLst>
              <a:ext uri="{FF2B5EF4-FFF2-40B4-BE49-F238E27FC236}">
                <a16:creationId xmlns:a16="http://schemas.microsoft.com/office/drawing/2014/main" id="{398D8B86-772D-66EC-5F34-DEC1F451ADAB}"/>
              </a:ext>
            </a:extLst>
          </p:cNvPr>
          <p:cNvCxnSpPr>
            <a:cxnSpLocks/>
          </p:cNvCxnSpPr>
          <p:nvPr/>
        </p:nvCxnSpPr>
        <p:spPr>
          <a:xfrm flipH="1">
            <a:off x="6193584" y="2578243"/>
            <a:ext cx="1472682" cy="874059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7" name="Straight Arrow Connector 416">
            <a:extLst>
              <a:ext uri="{FF2B5EF4-FFF2-40B4-BE49-F238E27FC236}">
                <a16:creationId xmlns:a16="http://schemas.microsoft.com/office/drawing/2014/main" id="{56FD8EB6-4172-6117-A742-D3BE03BCCEB6}"/>
              </a:ext>
            </a:extLst>
          </p:cNvPr>
          <p:cNvCxnSpPr>
            <a:cxnSpLocks/>
          </p:cNvCxnSpPr>
          <p:nvPr/>
        </p:nvCxnSpPr>
        <p:spPr>
          <a:xfrm flipH="1">
            <a:off x="6193584" y="3761584"/>
            <a:ext cx="1576704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18" name="Straight Arrow Connector 417">
            <a:extLst>
              <a:ext uri="{FF2B5EF4-FFF2-40B4-BE49-F238E27FC236}">
                <a16:creationId xmlns:a16="http://schemas.microsoft.com/office/drawing/2014/main" id="{C4FD7EA8-BD58-4F51-8F95-50B9F8BCAE1E}"/>
              </a:ext>
            </a:extLst>
          </p:cNvPr>
          <p:cNvCxnSpPr>
            <a:cxnSpLocks/>
          </p:cNvCxnSpPr>
          <p:nvPr/>
        </p:nvCxnSpPr>
        <p:spPr>
          <a:xfrm flipH="1" flipV="1">
            <a:off x="6214761" y="4142810"/>
            <a:ext cx="1379787" cy="88279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9" name="TextBox 418">
            <a:extLst>
              <a:ext uri="{FF2B5EF4-FFF2-40B4-BE49-F238E27FC236}">
                <a16:creationId xmlns:a16="http://schemas.microsoft.com/office/drawing/2014/main" id="{AAE95736-93A7-DD14-8E97-8E4DE9975949}"/>
              </a:ext>
            </a:extLst>
          </p:cNvPr>
          <p:cNvSpPr txBox="1"/>
          <p:nvPr/>
        </p:nvSpPr>
        <p:spPr>
          <a:xfrm>
            <a:off x="7863148" y="4197525"/>
            <a:ext cx="106676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SubAgent</a:t>
            </a:r>
            <a:r>
              <a:rPr lang="en-US" sz="1400" dirty="0"/>
              <a:t> 2</a:t>
            </a:r>
          </a:p>
        </p:txBody>
      </p:sp>
      <p:pic>
        <p:nvPicPr>
          <p:cNvPr id="420" name="Graphique 2" descr="Profil femelle avec un remplissage uni">
            <a:extLst>
              <a:ext uri="{FF2B5EF4-FFF2-40B4-BE49-F238E27FC236}">
                <a16:creationId xmlns:a16="http://schemas.microsoft.com/office/drawing/2014/main" id="{DA12E39B-CC00-CC1E-1B75-C4A91C7B22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61708" y="3311108"/>
            <a:ext cx="914400" cy="914400"/>
          </a:xfrm>
          <a:prstGeom prst="rect">
            <a:avLst/>
          </a:prstGeom>
        </p:spPr>
      </p:pic>
      <p:cxnSp>
        <p:nvCxnSpPr>
          <p:cNvPr id="421" name="Straight Arrow Connector 420">
            <a:extLst>
              <a:ext uri="{FF2B5EF4-FFF2-40B4-BE49-F238E27FC236}">
                <a16:creationId xmlns:a16="http://schemas.microsoft.com/office/drawing/2014/main" id="{1E8DD7CA-78D9-44C5-12DF-A63DC37A0DFF}"/>
              </a:ext>
            </a:extLst>
          </p:cNvPr>
          <p:cNvCxnSpPr/>
          <p:nvPr/>
        </p:nvCxnSpPr>
        <p:spPr>
          <a:xfrm>
            <a:off x="3573878" y="3761584"/>
            <a:ext cx="132383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2" name="TextBox 421">
            <a:extLst>
              <a:ext uri="{FF2B5EF4-FFF2-40B4-BE49-F238E27FC236}">
                <a16:creationId xmlns:a16="http://schemas.microsoft.com/office/drawing/2014/main" id="{939CAFA2-C4EF-B5CE-107A-731D550BA416}"/>
              </a:ext>
            </a:extLst>
          </p:cNvPr>
          <p:cNvSpPr txBox="1"/>
          <p:nvPr/>
        </p:nvSpPr>
        <p:spPr>
          <a:xfrm>
            <a:off x="3844463" y="3392252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Input</a:t>
            </a:r>
          </a:p>
        </p:txBody>
      </p:sp>
      <p:cxnSp>
        <p:nvCxnSpPr>
          <p:cNvPr id="423" name="Straight Arrow Connector 422">
            <a:extLst>
              <a:ext uri="{FF2B5EF4-FFF2-40B4-BE49-F238E27FC236}">
                <a16:creationId xmlns:a16="http://schemas.microsoft.com/office/drawing/2014/main" id="{A1940783-0AF2-0E7A-23F4-8C44775342F6}"/>
              </a:ext>
            </a:extLst>
          </p:cNvPr>
          <p:cNvCxnSpPr>
            <a:cxnSpLocks/>
          </p:cNvCxnSpPr>
          <p:nvPr/>
        </p:nvCxnSpPr>
        <p:spPr>
          <a:xfrm flipH="1">
            <a:off x="3531241" y="3957028"/>
            <a:ext cx="135277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24" name="TextBox 423">
            <a:extLst>
              <a:ext uri="{FF2B5EF4-FFF2-40B4-BE49-F238E27FC236}">
                <a16:creationId xmlns:a16="http://schemas.microsoft.com/office/drawing/2014/main" id="{9420BB07-3951-C283-EB4E-BB65B5E68111}"/>
              </a:ext>
            </a:extLst>
          </p:cNvPr>
          <p:cNvSpPr txBox="1"/>
          <p:nvPr/>
        </p:nvSpPr>
        <p:spPr>
          <a:xfrm>
            <a:off x="3786302" y="3949952"/>
            <a:ext cx="889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</a:t>
            </a:r>
          </a:p>
        </p:txBody>
      </p:sp>
      <p:sp>
        <p:nvSpPr>
          <p:cNvPr id="425" name="Slide Number Placeholder 424">
            <a:extLst>
              <a:ext uri="{FF2B5EF4-FFF2-40B4-BE49-F238E27FC236}">
                <a16:creationId xmlns:a16="http://schemas.microsoft.com/office/drawing/2014/main" id="{ABDDBC1B-BF93-964D-1E2B-3E0CF16D9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91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79D7E4-9857-041F-C15F-24D91902F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7378A6D7-F8B4-025B-982C-58E2289EB6A5}"/>
              </a:ext>
            </a:extLst>
          </p:cNvPr>
          <p:cNvSpPr txBox="1">
            <a:spLocks/>
          </p:cNvSpPr>
          <p:nvPr/>
        </p:nvSpPr>
        <p:spPr>
          <a:xfrm>
            <a:off x="603504" y="524802"/>
            <a:ext cx="11558016" cy="11415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Multi-Agent Workflow - Example</a:t>
            </a:r>
            <a:endParaRPr lang="en-US" dirty="0">
              <a:latin typeface="+mn-lt"/>
            </a:endParaRPr>
          </a:p>
        </p:txBody>
      </p:sp>
      <p:pic>
        <p:nvPicPr>
          <p:cNvPr id="269" name="Image 3">
            <a:extLst>
              <a:ext uri="{FF2B5EF4-FFF2-40B4-BE49-F238E27FC236}">
                <a16:creationId xmlns:a16="http://schemas.microsoft.com/office/drawing/2014/main" id="{69D97216-0324-723C-D96E-C0A72A1C23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768" y="1666338"/>
            <a:ext cx="9966157" cy="4783653"/>
          </a:xfrm>
          <a:prstGeom prst="rect">
            <a:avLst/>
          </a:prstGeom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EBBE7D0-5F13-C6CA-F38C-A8EDF24DB9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488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806FD7-2468-AF2D-0F0A-8A7410EF3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58C0A55-D421-0397-745D-2F8CEB3D5E08}"/>
              </a:ext>
            </a:extLst>
          </p:cNvPr>
          <p:cNvSpPr txBox="1">
            <a:spLocks/>
          </p:cNvSpPr>
          <p:nvPr/>
        </p:nvSpPr>
        <p:spPr>
          <a:xfrm>
            <a:off x="304800" y="304800"/>
            <a:ext cx="11582400" cy="638175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spc="-1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0" dirty="0">
                <a:latin typeface="+mn-lt"/>
              </a:rPr>
              <a:t>MCP : Model Context Protocol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D082B24C-8515-0F8B-D44B-64DC2F2E16CE}"/>
              </a:ext>
            </a:extLst>
          </p:cNvPr>
          <p:cNvSpPr/>
          <p:nvPr/>
        </p:nvSpPr>
        <p:spPr>
          <a:xfrm>
            <a:off x="818148" y="2782578"/>
            <a:ext cx="2194560" cy="1116531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MCP Client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A27527B4-9CC2-18F6-08B3-BE1A645A8273}"/>
              </a:ext>
            </a:extLst>
          </p:cNvPr>
          <p:cNvSpPr/>
          <p:nvPr/>
        </p:nvSpPr>
        <p:spPr>
          <a:xfrm>
            <a:off x="4926532" y="1114273"/>
            <a:ext cx="2194560" cy="1116531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MCP Server A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7378FCF9-B6ED-2395-4E0E-553F3507EF94}"/>
              </a:ext>
            </a:extLst>
          </p:cNvPr>
          <p:cNvSpPr/>
          <p:nvPr/>
        </p:nvSpPr>
        <p:spPr>
          <a:xfrm>
            <a:off x="1039529" y="4836577"/>
            <a:ext cx="1751797" cy="758791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LLM Provider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66BDABC9-EC70-68F6-1EE1-2BD4A5F67FE7}"/>
              </a:ext>
            </a:extLst>
          </p:cNvPr>
          <p:cNvSpPr/>
          <p:nvPr/>
        </p:nvSpPr>
        <p:spPr>
          <a:xfrm>
            <a:off x="4926532" y="2782578"/>
            <a:ext cx="2194560" cy="1116531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MCP Server B</a:t>
            </a:r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62542011-A1B7-606D-E68B-29370CFEFB9B}"/>
              </a:ext>
            </a:extLst>
          </p:cNvPr>
          <p:cNvSpPr/>
          <p:nvPr/>
        </p:nvSpPr>
        <p:spPr>
          <a:xfrm>
            <a:off x="4926532" y="4471887"/>
            <a:ext cx="2194560" cy="1116531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MCP Server C</a:t>
            </a:r>
          </a:p>
        </p:txBody>
      </p:sp>
      <p:pic>
        <p:nvPicPr>
          <p:cNvPr id="17" name="Graphique 16" descr="Base de données avec un remplissage uni">
            <a:extLst>
              <a:ext uri="{FF2B5EF4-FFF2-40B4-BE49-F238E27FC236}">
                <a16:creationId xmlns:a16="http://schemas.microsoft.com/office/drawing/2014/main" id="{BB6C146C-12CB-361B-2937-B6147EB36F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48289" y="1285632"/>
            <a:ext cx="914400" cy="914400"/>
          </a:xfrm>
          <a:prstGeom prst="rect">
            <a:avLst/>
          </a:prstGeom>
        </p:spPr>
      </p:pic>
      <p:pic>
        <p:nvPicPr>
          <p:cNvPr id="18" name="Graphique 17" descr="Base de données avec un remplissage uni">
            <a:extLst>
              <a:ext uri="{FF2B5EF4-FFF2-40B4-BE49-F238E27FC236}">
                <a16:creationId xmlns:a16="http://schemas.microsoft.com/office/drawing/2014/main" id="{DF4319C8-A2FE-B845-4A66-A3F99103FF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948289" y="2883643"/>
            <a:ext cx="914400" cy="914400"/>
          </a:xfrm>
          <a:prstGeom prst="rect">
            <a:avLst/>
          </a:prstGeom>
        </p:spPr>
      </p:pic>
      <p:pic>
        <p:nvPicPr>
          <p:cNvPr id="23" name="Graphique 22" descr="Internet avec un remplissage uni">
            <a:extLst>
              <a:ext uri="{FF2B5EF4-FFF2-40B4-BE49-F238E27FC236}">
                <a16:creationId xmlns:a16="http://schemas.microsoft.com/office/drawing/2014/main" id="{B1095E52-6156-CFB5-7375-574C0829AD0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948289" y="4503021"/>
            <a:ext cx="914400" cy="914400"/>
          </a:xfrm>
          <a:prstGeom prst="rect">
            <a:avLst/>
          </a:prstGeom>
        </p:spPr>
      </p:pic>
      <p:cxnSp>
        <p:nvCxnSpPr>
          <p:cNvPr id="25" name="Connecteur droit avec flèche 24">
            <a:extLst>
              <a:ext uri="{FF2B5EF4-FFF2-40B4-BE49-F238E27FC236}">
                <a16:creationId xmlns:a16="http://schemas.microsoft.com/office/drawing/2014/main" id="{603050D0-AC61-56C2-3323-7A73D5E15515}"/>
              </a:ext>
            </a:extLst>
          </p:cNvPr>
          <p:cNvCxnSpPr>
            <a:cxnSpLocks/>
            <a:endCxn id="9" idx="1"/>
          </p:cNvCxnSpPr>
          <p:nvPr/>
        </p:nvCxnSpPr>
        <p:spPr>
          <a:xfrm flipV="1">
            <a:off x="3012708" y="1672539"/>
            <a:ext cx="1913824" cy="1281812"/>
          </a:xfrm>
          <a:prstGeom prst="straightConnector1">
            <a:avLst/>
          </a:prstGeom>
          <a:ln w="19050" cap="rnd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eur droit avec flèche 25">
            <a:extLst>
              <a:ext uri="{FF2B5EF4-FFF2-40B4-BE49-F238E27FC236}">
                <a16:creationId xmlns:a16="http://schemas.microsoft.com/office/drawing/2014/main" id="{9496206F-10AB-3268-E7EB-66221549036D}"/>
              </a:ext>
            </a:extLst>
          </p:cNvPr>
          <p:cNvCxnSpPr>
            <a:cxnSpLocks/>
          </p:cNvCxnSpPr>
          <p:nvPr/>
        </p:nvCxnSpPr>
        <p:spPr>
          <a:xfrm>
            <a:off x="3012708" y="3330341"/>
            <a:ext cx="1913824" cy="21005"/>
          </a:xfrm>
          <a:prstGeom prst="straightConnector1">
            <a:avLst/>
          </a:prstGeom>
          <a:ln w="19050" cap="rnd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0791DABB-40A2-7F15-B22D-B0B86A8EBB04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3012708" y="3769344"/>
            <a:ext cx="1913824" cy="1260809"/>
          </a:xfrm>
          <a:prstGeom prst="straightConnector1">
            <a:avLst/>
          </a:prstGeom>
          <a:ln w="19050" cap="rnd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eur droit avec flèche 31">
            <a:extLst>
              <a:ext uri="{FF2B5EF4-FFF2-40B4-BE49-F238E27FC236}">
                <a16:creationId xmlns:a16="http://schemas.microsoft.com/office/drawing/2014/main" id="{2E7F1A04-C942-E7EB-834C-D24A296A5D5A}"/>
              </a:ext>
            </a:extLst>
          </p:cNvPr>
          <p:cNvCxnSpPr>
            <a:cxnSpLocks/>
          </p:cNvCxnSpPr>
          <p:nvPr/>
        </p:nvCxnSpPr>
        <p:spPr>
          <a:xfrm flipV="1">
            <a:off x="7121092" y="1741454"/>
            <a:ext cx="1793077" cy="2756"/>
          </a:xfrm>
          <a:prstGeom prst="straightConnector1">
            <a:avLst/>
          </a:prstGeom>
          <a:ln w="19050" cap="rnd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cteur droit avec flèche 34">
            <a:extLst>
              <a:ext uri="{FF2B5EF4-FFF2-40B4-BE49-F238E27FC236}">
                <a16:creationId xmlns:a16="http://schemas.microsoft.com/office/drawing/2014/main" id="{E8651836-1E19-8752-9AF4-305D5DB274DF}"/>
              </a:ext>
            </a:extLst>
          </p:cNvPr>
          <p:cNvCxnSpPr>
            <a:cxnSpLocks/>
          </p:cNvCxnSpPr>
          <p:nvPr/>
        </p:nvCxnSpPr>
        <p:spPr>
          <a:xfrm flipV="1">
            <a:off x="7121091" y="3338925"/>
            <a:ext cx="1793078" cy="3837"/>
          </a:xfrm>
          <a:prstGeom prst="straightConnector1">
            <a:avLst/>
          </a:prstGeom>
          <a:ln w="19050" cap="rnd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eur droit avec flèche 35">
            <a:extLst>
              <a:ext uri="{FF2B5EF4-FFF2-40B4-BE49-F238E27FC236}">
                <a16:creationId xmlns:a16="http://schemas.microsoft.com/office/drawing/2014/main" id="{DD560EFF-1E8C-EBD6-2A23-345EF1D6CB23}"/>
              </a:ext>
            </a:extLst>
          </p:cNvPr>
          <p:cNvCxnSpPr>
            <a:cxnSpLocks/>
          </p:cNvCxnSpPr>
          <p:nvPr/>
        </p:nvCxnSpPr>
        <p:spPr>
          <a:xfrm>
            <a:off x="7107459" y="4970040"/>
            <a:ext cx="1840829" cy="0"/>
          </a:xfrm>
          <a:prstGeom prst="straightConnector1">
            <a:avLst/>
          </a:prstGeom>
          <a:ln w="19050" cap="rnd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ZoneTexte 37">
            <a:extLst>
              <a:ext uri="{FF2B5EF4-FFF2-40B4-BE49-F238E27FC236}">
                <a16:creationId xmlns:a16="http://schemas.microsoft.com/office/drawing/2014/main" id="{63F59A86-A8FF-677E-D7A9-22E1AE85DE31}"/>
              </a:ext>
            </a:extLst>
          </p:cNvPr>
          <p:cNvSpPr txBox="1"/>
          <p:nvPr/>
        </p:nvSpPr>
        <p:spPr>
          <a:xfrm>
            <a:off x="8880049" y="2138854"/>
            <a:ext cx="982640" cy="307777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sz="1400" dirty="0"/>
              <a:t>Data Source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3E5A03D9-592F-4AF5-24C5-F740844E8C65}"/>
              </a:ext>
            </a:extLst>
          </p:cNvPr>
          <p:cNvSpPr txBox="1"/>
          <p:nvPr/>
        </p:nvSpPr>
        <p:spPr>
          <a:xfrm>
            <a:off x="8948288" y="3738603"/>
            <a:ext cx="982640" cy="307777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sz="1400" dirty="0"/>
              <a:t>Data Source</a:t>
            </a:r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D7D1641F-155E-543D-4F10-DFBC16341255}"/>
              </a:ext>
            </a:extLst>
          </p:cNvPr>
          <p:cNvSpPr txBox="1"/>
          <p:nvPr/>
        </p:nvSpPr>
        <p:spPr>
          <a:xfrm>
            <a:off x="8565976" y="5303437"/>
            <a:ext cx="1747273" cy="307777"/>
          </a:xfrm>
          <a:prstGeom prst="rect">
            <a:avLst/>
          </a:prstGeom>
          <a:noFill/>
        </p:spPr>
        <p:txBody>
          <a:bodyPr wrap="none" lIns="0" rIns="0" rtlCol="0">
            <a:spAutoFit/>
          </a:bodyPr>
          <a:lstStyle/>
          <a:p>
            <a:pPr algn="ctr"/>
            <a:r>
              <a:rPr lang="en-US" sz="1400" dirty="0"/>
              <a:t>External API / Service</a:t>
            </a:r>
          </a:p>
        </p:txBody>
      </p:sp>
      <p:cxnSp>
        <p:nvCxnSpPr>
          <p:cNvPr id="41" name="Connecteur droit avec flèche 40">
            <a:extLst>
              <a:ext uri="{FF2B5EF4-FFF2-40B4-BE49-F238E27FC236}">
                <a16:creationId xmlns:a16="http://schemas.microsoft.com/office/drawing/2014/main" id="{CC076751-0997-F3CF-E00F-98647668E191}"/>
              </a:ext>
            </a:extLst>
          </p:cNvPr>
          <p:cNvCxnSpPr>
            <a:cxnSpLocks/>
            <a:stCxn id="10" idx="0"/>
            <a:endCxn id="8" idx="2"/>
          </p:cNvCxnSpPr>
          <p:nvPr/>
        </p:nvCxnSpPr>
        <p:spPr>
          <a:xfrm flipV="1">
            <a:off x="1915428" y="3899109"/>
            <a:ext cx="0" cy="937468"/>
          </a:xfrm>
          <a:prstGeom prst="straightConnector1">
            <a:avLst/>
          </a:prstGeom>
          <a:ln w="19050" cap="rnd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AB28DCC-AAE1-1E8C-8FF1-684ABDCBD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112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2523598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ABC25-C826-87FD-5185-0CB1F4105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5C075F06-C6BB-E3DD-5CDE-B1510B8DE2F1}"/>
              </a:ext>
            </a:extLst>
          </p:cNvPr>
          <p:cNvSpPr txBox="1">
            <a:spLocks/>
          </p:cNvSpPr>
          <p:nvPr/>
        </p:nvSpPr>
        <p:spPr>
          <a:xfrm>
            <a:off x="304800" y="304800"/>
            <a:ext cx="11582400" cy="638175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spc="-1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0" dirty="0">
                <a:latin typeface="+mn-lt"/>
              </a:rPr>
              <a:t>MCP : Model Context Protocol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CFC32AC-E6F5-D5D9-2DD2-242368E9B0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113</a:t>
            </a:fld>
            <a:endParaRPr lang="en-US"/>
          </a:p>
        </p:txBody>
      </p:sp>
      <p:pic>
        <p:nvPicPr>
          <p:cNvPr id="9" name="Picture 2">
            <a:extLst>
              <a:ext uri="{FF2B5EF4-FFF2-40B4-BE49-F238E27FC236}">
                <a16:creationId xmlns:a16="http://schemas.microsoft.com/office/drawing/2014/main" id="{471BF8B8-EE3F-25ED-9E99-843859773B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2800" y="3059668"/>
            <a:ext cx="3810000" cy="425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554B893-23D4-FD41-D803-68EEA1A46A50}"/>
              </a:ext>
            </a:extLst>
          </p:cNvPr>
          <p:cNvSpPr txBox="1"/>
          <p:nvPr/>
        </p:nvSpPr>
        <p:spPr>
          <a:xfrm>
            <a:off x="8992959" y="5776131"/>
            <a:ext cx="2315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4"/>
              </a:rPr>
              <a:t>MCP – Anthropic Blog</a:t>
            </a:r>
            <a:endParaRPr lang="en-US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72E8C8C-A527-CB18-A59D-44D1EE49B04C}"/>
              </a:ext>
            </a:extLst>
          </p:cNvPr>
          <p:cNvSpPr/>
          <p:nvPr/>
        </p:nvSpPr>
        <p:spPr>
          <a:xfrm>
            <a:off x="2345068" y="2230838"/>
            <a:ext cx="450014" cy="460482"/>
          </a:xfrm>
          <a:prstGeom prst="ellipse">
            <a:avLst/>
          </a:prstGeom>
          <a:solidFill>
            <a:srgbClr val="147BBF"/>
          </a:solidFill>
          <a:ln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34D4367-5E3D-D2C3-4819-432D409ACDD6}"/>
              </a:ext>
            </a:extLst>
          </p:cNvPr>
          <p:cNvSpPr txBox="1"/>
          <p:nvPr/>
        </p:nvSpPr>
        <p:spPr>
          <a:xfrm>
            <a:off x="3005470" y="2276412"/>
            <a:ext cx="4947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Standardization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755F692-ADF9-67CA-1CFD-73E8900630F6}"/>
              </a:ext>
            </a:extLst>
          </p:cNvPr>
          <p:cNvSpPr txBox="1"/>
          <p:nvPr/>
        </p:nvSpPr>
        <p:spPr>
          <a:xfrm>
            <a:off x="3005471" y="3117715"/>
            <a:ext cx="2074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Reusability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11E3CA3-3AE4-7455-B77B-D7AA6903D374}"/>
              </a:ext>
            </a:extLst>
          </p:cNvPr>
          <p:cNvSpPr txBox="1"/>
          <p:nvPr/>
        </p:nvSpPr>
        <p:spPr>
          <a:xfrm>
            <a:off x="3005470" y="3941728"/>
            <a:ext cx="49476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Team Collaboration &amp; Independence</a:t>
            </a:r>
            <a:endParaRPr lang="en-US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8912274-E5C6-4874-C944-89BF5A731F37}"/>
              </a:ext>
            </a:extLst>
          </p:cNvPr>
          <p:cNvSpPr/>
          <p:nvPr/>
        </p:nvSpPr>
        <p:spPr>
          <a:xfrm>
            <a:off x="2345068" y="3072140"/>
            <a:ext cx="450014" cy="460482"/>
          </a:xfrm>
          <a:prstGeom prst="ellipse">
            <a:avLst/>
          </a:prstGeom>
          <a:solidFill>
            <a:srgbClr val="147BB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76E2C1B-8940-9ECB-C8A5-50600AB94665}"/>
              </a:ext>
            </a:extLst>
          </p:cNvPr>
          <p:cNvSpPr/>
          <p:nvPr/>
        </p:nvSpPr>
        <p:spPr>
          <a:xfrm>
            <a:off x="2340556" y="3896153"/>
            <a:ext cx="450014" cy="460482"/>
          </a:xfrm>
          <a:prstGeom prst="ellipse">
            <a:avLst/>
          </a:prstGeom>
          <a:solidFill>
            <a:srgbClr val="147BBF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571574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6" grpId="0"/>
      <p:bldP spid="17" grpId="0"/>
      <p:bldP spid="18" grpId="0"/>
      <p:bldP spid="19" grpId="0" animBg="1"/>
      <p:bldP spid="20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3306AB-B824-8844-9F2B-181874F5F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8C23F940-A487-2D68-9C88-7AEBF0F13D29}"/>
              </a:ext>
            </a:extLst>
          </p:cNvPr>
          <p:cNvSpPr txBox="1">
            <a:spLocks/>
          </p:cNvSpPr>
          <p:nvPr/>
        </p:nvSpPr>
        <p:spPr>
          <a:xfrm>
            <a:off x="304800" y="304800"/>
            <a:ext cx="11582400" cy="638175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spc="-1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+mn-lt"/>
              </a:rPr>
              <a:t>Agentic Commerce Protocol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3C3FFA35-F352-11A0-861A-C4DC3736F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114</a:t>
            </a:fld>
            <a:endParaRPr lang="en-US"/>
          </a:p>
        </p:txBody>
      </p:sp>
      <p:pic>
        <p:nvPicPr>
          <p:cNvPr id="2050" name="Picture 2" descr="ChatGPT mobile commerce experience">
            <a:extLst>
              <a:ext uri="{FF2B5EF4-FFF2-40B4-BE49-F238E27FC236}">
                <a16:creationId xmlns:a16="http://schemas.microsoft.com/office/drawing/2014/main" id="{08D74D1C-83BC-C101-05C3-5857E60B3D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9840" y="1069832"/>
            <a:ext cx="9062720" cy="49903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DECC079B-9327-D310-DBD5-04D20060ED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4800" y="6337229"/>
            <a:ext cx="738293" cy="3076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>
            <a:extLst>
              <a:ext uri="{FF2B5EF4-FFF2-40B4-BE49-F238E27FC236}">
                <a16:creationId xmlns:a16="http://schemas.microsoft.com/office/drawing/2014/main" id="{C91BACD0-EF72-F7B6-09D9-04C7075506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1787" y="6337228"/>
            <a:ext cx="1135839" cy="307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63E61441-8D75-B619-8855-22ADA2FC48A6}"/>
              </a:ext>
            </a:extLst>
          </p:cNvPr>
          <p:cNvSpPr/>
          <p:nvPr/>
        </p:nvSpPr>
        <p:spPr>
          <a:xfrm>
            <a:off x="1571413" y="1327574"/>
            <a:ext cx="2038774" cy="4376867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203F8ED1-E4AD-DA4E-12E9-7B35572F396A}"/>
              </a:ext>
            </a:extLst>
          </p:cNvPr>
          <p:cNvSpPr/>
          <p:nvPr/>
        </p:nvSpPr>
        <p:spPr>
          <a:xfrm>
            <a:off x="3674534" y="1314028"/>
            <a:ext cx="2038774" cy="4390413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815D8E1A-2F92-091C-05E0-3F96107562F4}"/>
              </a:ext>
            </a:extLst>
          </p:cNvPr>
          <p:cNvSpPr/>
          <p:nvPr/>
        </p:nvSpPr>
        <p:spPr>
          <a:xfrm>
            <a:off x="5826425" y="1308548"/>
            <a:ext cx="2038774" cy="4395894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B8D8571E-46F6-4171-B730-D0E3E58584BF}"/>
              </a:ext>
            </a:extLst>
          </p:cNvPr>
          <p:cNvSpPr/>
          <p:nvPr/>
        </p:nvSpPr>
        <p:spPr>
          <a:xfrm>
            <a:off x="7908889" y="1267048"/>
            <a:ext cx="2038774" cy="4437393"/>
          </a:xfrm>
          <a:prstGeom prst="round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2DF602E-85E2-6AEA-6C32-BC8F5AF42064}"/>
              </a:ext>
            </a:extLst>
          </p:cNvPr>
          <p:cNvSpPr txBox="1"/>
          <p:nvPr/>
        </p:nvSpPr>
        <p:spPr>
          <a:xfrm>
            <a:off x="3847332" y="6279680"/>
            <a:ext cx="46869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6"/>
              </a:rPr>
              <a:t>Stripe x OpenAI - Agentic Commerce Protocol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4929AB-6F1A-9909-B980-4AAD87693E71}"/>
              </a:ext>
            </a:extLst>
          </p:cNvPr>
          <p:cNvSpPr txBox="1"/>
          <p:nvPr/>
        </p:nvSpPr>
        <p:spPr>
          <a:xfrm>
            <a:off x="10441641" y="5822576"/>
            <a:ext cx="10037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>
                <a:hlinkClick r:id="rId7"/>
              </a:rPr>
              <a:t>Youtube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1119005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5F02C-9AF1-EDEE-CDEE-3257B04767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EDA31466-A51D-077A-2B90-D05219F17A7E}"/>
              </a:ext>
            </a:extLst>
          </p:cNvPr>
          <p:cNvSpPr txBox="1">
            <a:spLocks/>
          </p:cNvSpPr>
          <p:nvPr/>
        </p:nvSpPr>
        <p:spPr>
          <a:xfrm>
            <a:off x="304800" y="304800"/>
            <a:ext cx="11582400" cy="638175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spc="-1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0" dirty="0">
                <a:latin typeface="+mn-lt"/>
              </a:rPr>
              <a:t>Some Low-Code Agent/Workflow Options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9C36CBB-AE5F-BF2E-5478-FE035F6386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115</a:t>
            </a:fld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DBA258E-74F9-7D30-8013-DF14EFD92476}"/>
              </a:ext>
            </a:extLst>
          </p:cNvPr>
          <p:cNvGrpSpPr/>
          <p:nvPr/>
        </p:nvGrpSpPr>
        <p:grpSpPr>
          <a:xfrm>
            <a:off x="803920" y="1955139"/>
            <a:ext cx="5292080" cy="2381427"/>
            <a:chOff x="277514" y="1895980"/>
            <a:chExt cx="5292080" cy="238142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58766D4B-516F-5B1B-EA47-C541BC101743}"/>
                </a:ext>
              </a:extLst>
            </p:cNvPr>
            <p:cNvSpPr txBox="1"/>
            <p:nvPr/>
          </p:nvSpPr>
          <p:spPr>
            <a:xfrm>
              <a:off x="5008222" y="3908075"/>
              <a:ext cx="56137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hlinkClick r:id="rId3"/>
                </a:rPr>
                <a:t>n8n</a:t>
              </a:r>
              <a:endParaRPr lang="en-US" dirty="0"/>
            </a:p>
          </p:txBody>
        </p:sp>
        <p:pic>
          <p:nvPicPr>
            <p:cNvPr id="1026" name="Picture 2" descr="Langflow IA - Cessez de lutter contre vos outils">
              <a:extLst>
                <a:ext uri="{FF2B5EF4-FFF2-40B4-BE49-F238E27FC236}">
                  <a16:creationId xmlns:a16="http://schemas.microsoft.com/office/drawing/2014/main" id="{EB3939EE-B3EF-004C-14C5-181DF859C14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77514" y="1895980"/>
              <a:ext cx="2443543" cy="188038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0F67221F-1A1F-3D2A-9CB2-7A8ED4E70A72}"/>
              </a:ext>
            </a:extLst>
          </p:cNvPr>
          <p:cNvGrpSpPr/>
          <p:nvPr/>
        </p:nvGrpSpPr>
        <p:grpSpPr>
          <a:xfrm>
            <a:off x="1598988" y="2407920"/>
            <a:ext cx="5028356" cy="1928646"/>
            <a:chOff x="1432172" y="2237001"/>
            <a:chExt cx="5028356" cy="1928646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758CEE2-66D3-CAB0-493E-949633C27DC8}"/>
                </a:ext>
              </a:extLst>
            </p:cNvPr>
            <p:cNvSpPr txBox="1"/>
            <p:nvPr/>
          </p:nvSpPr>
          <p:spPr>
            <a:xfrm>
              <a:off x="1432172" y="3796315"/>
              <a:ext cx="11941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hlinkClick r:id="rId5"/>
                </a:rPr>
                <a:t>LangFLow</a:t>
              </a:r>
              <a:endParaRPr lang="en-US" dirty="0"/>
            </a:p>
          </p:txBody>
        </p:sp>
        <p:pic>
          <p:nvPicPr>
            <p:cNvPr id="1028" name="Picture 4" descr="n8n propulse l'automatisation IA : zo... | DataScientist.fr">
              <a:extLst>
                <a:ext uri="{FF2B5EF4-FFF2-40B4-BE49-F238E27FC236}">
                  <a16:creationId xmlns:a16="http://schemas.microsoft.com/office/drawing/2014/main" id="{FE8D97CA-20F9-FAC7-5F4E-0810AB13B7F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30122" y="2237001"/>
              <a:ext cx="2030406" cy="10576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FFCE518-8D90-1F7E-9521-11B22FF9358C}"/>
              </a:ext>
            </a:extLst>
          </p:cNvPr>
          <p:cNvGrpSpPr/>
          <p:nvPr/>
        </p:nvGrpSpPr>
        <p:grpSpPr>
          <a:xfrm>
            <a:off x="8423699" y="2551678"/>
            <a:ext cx="2356338" cy="1784888"/>
            <a:chOff x="7759624" y="2492519"/>
            <a:chExt cx="2356338" cy="178488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5F82FE0-4D39-26CA-6CD2-7D9695FFFEE3}"/>
                </a:ext>
              </a:extLst>
            </p:cNvPr>
            <p:cNvSpPr txBox="1"/>
            <p:nvPr/>
          </p:nvSpPr>
          <p:spPr>
            <a:xfrm>
              <a:off x="8035366" y="3908075"/>
              <a:ext cx="18048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hlinkClick r:id="rId7"/>
                </a:rPr>
                <a:t>OpenAI AgentKit</a:t>
              </a:r>
              <a:endParaRPr lang="en-US" dirty="0"/>
            </a:p>
          </p:txBody>
        </p:sp>
        <p:pic>
          <p:nvPicPr>
            <p:cNvPr id="7" name="Picture 8">
              <a:extLst>
                <a:ext uri="{FF2B5EF4-FFF2-40B4-BE49-F238E27FC236}">
                  <a16:creationId xmlns:a16="http://schemas.microsoft.com/office/drawing/2014/main" id="{AEF99FC6-C1BE-9420-B0BB-510FE81A6E2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759624" y="2492519"/>
              <a:ext cx="2356338" cy="63817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36842494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3029C-1B8A-7653-3982-1047BA68F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6B892DC4-773F-98CA-9498-B5925BE11826}"/>
              </a:ext>
            </a:extLst>
          </p:cNvPr>
          <p:cNvSpPr txBox="1">
            <a:spLocks/>
          </p:cNvSpPr>
          <p:nvPr/>
        </p:nvSpPr>
        <p:spPr>
          <a:xfrm>
            <a:off x="304800" y="304800"/>
            <a:ext cx="11582400" cy="638175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spc="-1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0" dirty="0">
                <a:latin typeface="+mn-lt"/>
              </a:rPr>
              <a:t>Some Low-Code Agent/Workflow Options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5E9707D-3115-35EB-1394-8E2AC38C3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116</a:t>
            </a:fld>
            <a:endParaRPr lang="en-US"/>
          </a:p>
        </p:txBody>
      </p:sp>
      <p:pic>
        <p:nvPicPr>
          <p:cNvPr id="1034" name="Picture 10" descr="Basic Prompting flow in Langflow">
            <a:extLst>
              <a:ext uri="{FF2B5EF4-FFF2-40B4-BE49-F238E27FC236}">
                <a16:creationId xmlns:a16="http://schemas.microsoft.com/office/drawing/2014/main" id="{FB39F91F-09A6-C880-F038-ACB3C368D3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19200" y="1206788"/>
            <a:ext cx="8931813" cy="48857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67191842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C6DA6-980F-6E70-FF9A-5EE776EB3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CC6E4C58-A32D-D97E-F7CE-C182DEBE9B21}"/>
              </a:ext>
            </a:extLst>
          </p:cNvPr>
          <p:cNvSpPr txBox="1">
            <a:spLocks/>
          </p:cNvSpPr>
          <p:nvPr/>
        </p:nvSpPr>
        <p:spPr>
          <a:xfrm>
            <a:off x="304800" y="304800"/>
            <a:ext cx="11582400" cy="638175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spc="-1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0" dirty="0">
                <a:latin typeface="+mn-lt"/>
              </a:rPr>
              <a:t>Some Low-Code Agent/Workflow Options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032B02A-3573-A7CE-384C-5CC0C0509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117</a:t>
            </a:fld>
            <a:endParaRPr lang="en-US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0C35E9D1-AA8A-3AFC-4073-2C4BB7AFF6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3000" y="906855"/>
            <a:ext cx="9397856" cy="54494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3079883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1906C-FFA4-75A9-BC4E-39451F2D5C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48200716-79BC-4FB3-205C-494BE6561947}"/>
              </a:ext>
            </a:extLst>
          </p:cNvPr>
          <p:cNvSpPr txBox="1">
            <a:spLocks/>
          </p:cNvSpPr>
          <p:nvPr/>
        </p:nvSpPr>
        <p:spPr>
          <a:xfrm>
            <a:off x="304800" y="304800"/>
            <a:ext cx="11582400" cy="638175"/>
          </a:xfrm>
          <a:prstGeom prst="rect">
            <a:avLst/>
          </a:prstGeom>
        </p:spPr>
        <p:txBody>
          <a:bodyPr vert="horz" lIns="0" tIns="45720" rIns="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spc="-10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0" dirty="0">
                <a:latin typeface="+mn-lt"/>
              </a:rPr>
              <a:t>Agents Evaluation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CC227DB-480E-E1F4-2727-9B972BD4E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118</a:t>
            </a:fld>
            <a:endParaRPr lang="en-US"/>
          </a:p>
        </p:txBody>
      </p:sp>
      <p:pic>
        <p:nvPicPr>
          <p:cNvPr id="5" name="Picture 4" descr="A screen shot of a computer program&#10;&#10;Description automatically generated">
            <a:extLst>
              <a:ext uri="{FF2B5EF4-FFF2-40B4-BE49-F238E27FC236}">
                <a16:creationId xmlns:a16="http://schemas.microsoft.com/office/drawing/2014/main" id="{A0E0E3E4-63C1-52C8-6D10-619E159494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04351" y="1114981"/>
            <a:ext cx="7772400" cy="506936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3EAA443-273C-0343-C0C8-D7C1137C3DE0}"/>
              </a:ext>
            </a:extLst>
          </p:cNvPr>
          <p:cNvSpPr txBox="1"/>
          <p:nvPr/>
        </p:nvSpPr>
        <p:spPr>
          <a:xfrm>
            <a:off x="5721724" y="5136776"/>
            <a:ext cx="24086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  <a:sym typeface="Wingdings" pitchFamily="2" charset="2"/>
              </a:rPr>
              <a:t> </a:t>
            </a:r>
            <a:r>
              <a:rPr lang="en-US" b="1" dirty="0">
                <a:solidFill>
                  <a:srgbClr val="FF0000"/>
                </a:solidFill>
              </a:rPr>
              <a:t>Score Output: 0.67</a:t>
            </a:r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152EED54-DD26-5E2E-FBB6-6FBE4EB105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1092" y="390599"/>
            <a:ext cx="1403567" cy="466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525569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75360"/>
          </a:xfrm>
          <a:prstGeom prst="rect">
            <a:avLst/>
          </a:prstGeom>
          <a:solidFill>
            <a:srgbClr val="277884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4" name="Text 2"/>
          <p:cNvSpPr/>
          <p:nvPr/>
        </p:nvSpPr>
        <p:spPr>
          <a:xfrm>
            <a:off x="365760" y="42672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667" b="1" dirty="0">
                <a:solidFill>
                  <a:srgbClr val="FFFFFF"/>
                </a:solidFill>
              </a:rPr>
              <a:t>Agentic AI Architecture</a:t>
            </a:r>
            <a:endParaRPr lang="en-US" sz="2667" dirty="0"/>
          </a:p>
        </p:txBody>
      </p:sp>
      <p:sp>
        <p:nvSpPr>
          <p:cNvPr id="5" name="Shape 3"/>
          <p:cNvSpPr/>
          <p:nvPr/>
        </p:nvSpPr>
        <p:spPr>
          <a:xfrm>
            <a:off x="365760" y="1219200"/>
            <a:ext cx="11460480" cy="1463040"/>
          </a:xfrm>
          <a:prstGeom prst="rect">
            <a:avLst/>
          </a:prstGeom>
          <a:solidFill>
            <a:srgbClr val="F4F6F6"/>
          </a:solidFill>
          <a:ln w="254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609600" y="1341120"/>
            <a:ext cx="10972800" cy="121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dirty="0">
                <a:solidFill>
                  <a:srgbClr val="1C2833"/>
                </a:solidFill>
              </a:rPr>
              <a:t>Your AI agent handles HR queries, IT support, expense reports, and project updates. It's slow, expensive (using GPT-4 for everything), and makes errors calling wrong tools.</a:t>
            </a:r>
            <a:endParaRPr lang="en-US" sz="1867" dirty="0"/>
          </a:p>
        </p:txBody>
      </p:sp>
      <p:sp>
        <p:nvSpPr>
          <p:cNvPr id="7" name="Text 5"/>
          <p:cNvSpPr/>
          <p:nvPr/>
        </p:nvSpPr>
        <p:spPr>
          <a:xfrm>
            <a:off x="365760" y="2926080"/>
            <a:ext cx="114604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133" b="1" dirty="0">
                <a:solidFill>
                  <a:srgbClr val="1C2833"/>
                </a:solidFill>
              </a:rPr>
              <a:t>What architectural change would best address these issues?</a:t>
            </a:r>
            <a:endParaRPr lang="en-US" sz="2133" dirty="0"/>
          </a:p>
        </p:txBody>
      </p:sp>
      <p:sp>
        <p:nvSpPr>
          <p:cNvPr id="8" name="Text 6"/>
          <p:cNvSpPr/>
          <p:nvPr/>
        </p:nvSpPr>
        <p:spPr>
          <a:xfrm>
            <a:off x="609600" y="365760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C2833"/>
                </a:solidFill>
              </a:rPr>
              <a:t>A) Add more detailed prompts to prevent tool confusion</a:t>
            </a:r>
            <a:endParaRPr lang="en-US" sz="1733" dirty="0"/>
          </a:p>
        </p:txBody>
      </p:sp>
      <p:sp>
        <p:nvSpPr>
          <p:cNvPr id="9" name="Text 7"/>
          <p:cNvSpPr/>
          <p:nvPr/>
        </p:nvSpPr>
        <p:spPr>
          <a:xfrm>
            <a:off x="609600" y="43891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C2833"/>
                </a:solidFill>
              </a:rPr>
              <a:t>B) Upgrade to an even more powerful model</a:t>
            </a:r>
            <a:endParaRPr lang="en-US" sz="1733" dirty="0"/>
          </a:p>
        </p:txBody>
      </p:sp>
      <p:sp>
        <p:nvSpPr>
          <p:cNvPr id="10" name="Shape 8"/>
          <p:cNvSpPr/>
          <p:nvPr/>
        </p:nvSpPr>
        <p:spPr>
          <a:xfrm>
            <a:off x="365760" y="4815840"/>
            <a:ext cx="11460480" cy="609600"/>
          </a:xfrm>
          <a:prstGeom prst="rect">
            <a:avLst/>
          </a:prstGeom>
          <a:solidFill>
            <a:srgbClr val="E8F5E9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Text 9"/>
          <p:cNvSpPr/>
          <p:nvPr/>
        </p:nvSpPr>
        <p:spPr>
          <a:xfrm>
            <a:off x="609600" y="512064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/>
              <a:t>C) Split into specialized sub-agents with a routing orchestrator</a:t>
            </a:r>
          </a:p>
        </p:txBody>
      </p:sp>
      <p:sp>
        <p:nvSpPr>
          <p:cNvPr id="12" name="Text 10"/>
          <p:cNvSpPr/>
          <p:nvPr/>
        </p:nvSpPr>
        <p:spPr>
          <a:xfrm>
            <a:off x="609600" y="585216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C2833"/>
                </a:solidFill>
              </a:rPr>
              <a:t>D) Implement stricter rate limiting and caching</a:t>
            </a:r>
            <a:endParaRPr lang="en-US" sz="173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75360"/>
          </a:xfrm>
          <a:prstGeom prst="rect">
            <a:avLst/>
          </a:prstGeom>
          <a:solidFill>
            <a:srgbClr val="277884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4" name="Text 2"/>
          <p:cNvSpPr/>
          <p:nvPr/>
        </p:nvSpPr>
        <p:spPr>
          <a:xfrm>
            <a:off x="365760" y="42672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667" b="1" dirty="0">
                <a:solidFill>
                  <a:srgbClr val="FFFFFF"/>
                </a:solidFill>
              </a:rPr>
              <a:t>System Architecture</a:t>
            </a:r>
            <a:endParaRPr lang="en-US" sz="2667" dirty="0"/>
          </a:p>
        </p:txBody>
      </p:sp>
      <p:sp>
        <p:nvSpPr>
          <p:cNvPr id="5" name="Shape 3"/>
          <p:cNvSpPr/>
          <p:nvPr/>
        </p:nvSpPr>
        <p:spPr>
          <a:xfrm>
            <a:off x="365760" y="1219200"/>
            <a:ext cx="11460480" cy="1463040"/>
          </a:xfrm>
          <a:prstGeom prst="rect">
            <a:avLst/>
          </a:prstGeom>
          <a:solidFill>
            <a:srgbClr val="F4F6F6"/>
          </a:solidFill>
          <a:ln w="254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609600" y="1341120"/>
            <a:ext cx="10972800" cy="121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dirty="0">
                <a:solidFill>
                  <a:srgbClr val="1C2833"/>
                </a:solidFill>
              </a:rPr>
              <a:t>Your MVP GenAI project was successful. Now the CEO wants to 'put AI everywhere' - CRM, ERP, email, documents. Your team proposes custom integrations for each.</a:t>
            </a:r>
            <a:endParaRPr lang="en-US" sz="1867" dirty="0"/>
          </a:p>
        </p:txBody>
      </p:sp>
      <p:sp>
        <p:nvSpPr>
          <p:cNvPr id="7" name="Text 5"/>
          <p:cNvSpPr/>
          <p:nvPr/>
        </p:nvSpPr>
        <p:spPr>
          <a:xfrm>
            <a:off x="365760" y="2926080"/>
            <a:ext cx="114604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133" b="1" dirty="0">
                <a:solidFill>
                  <a:srgbClr val="1C2833"/>
                </a:solidFill>
              </a:rPr>
              <a:t>What architectural principle should guide your expansion?</a:t>
            </a:r>
            <a:endParaRPr lang="en-US" sz="2133" dirty="0"/>
          </a:p>
        </p:txBody>
      </p:sp>
      <p:sp>
        <p:nvSpPr>
          <p:cNvPr id="8" name="Text 6"/>
          <p:cNvSpPr/>
          <p:nvPr/>
        </p:nvSpPr>
        <p:spPr>
          <a:xfrm>
            <a:off x="609600" y="365760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C2833"/>
                </a:solidFill>
              </a:rPr>
              <a:t>A) Build one monolithic AI system that connects to everything</a:t>
            </a:r>
            <a:endParaRPr lang="en-US" sz="1733" dirty="0"/>
          </a:p>
        </p:txBody>
      </p:sp>
      <p:sp>
        <p:nvSpPr>
          <p:cNvPr id="9" name="Shape 7"/>
          <p:cNvSpPr/>
          <p:nvPr/>
        </p:nvSpPr>
        <p:spPr>
          <a:xfrm>
            <a:off x="365760" y="4084320"/>
            <a:ext cx="11460480" cy="609600"/>
          </a:xfrm>
          <a:prstGeom prst="rect">
            <a:avLst/>
          </a:prstGeom>
          <a:solidFill>
            <a:srgbClr val="E8F5E9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0" name="Text 8"/>
          <p:cNvSpPr/>
          <p:nvPr/>
        </p:nvSpPr>
        <p:spPr>
          <a:xfrm>
            <a:off x="609600" y="43891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/>
              <a:t>B) Start with managed services and standard protocols (APIs, MCP) before custom builds</a:t>
            </a:r>
          </a:p>
        </p:txBody>
      </p:sp>
      <p:sp>
        <p:nvSpPr>
          <p:cNvPr id="11" name="Text 9"/>
          <p:cNvSpPr/>
          <p:nvPr/>
        </p:nvSpPr>
        <p:spPr>
          <a:xfrm>
            <a:off x="609600" y="512064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C2833"/>
                </a:solidFill>
              </a:rPr>
              <a:t>C) Create separate AI instances for each system</a:t>
            </a:r>
            <a:endParaRPr lang="en-US" sz="1733" dirty="0"/>
          </a:p>
        </p:txBody>
      </p:sp>
      <p:sp>
        <p:nvSpPr>
          <p:cNvPr id="12" name="Text 10"/>
          <p:cNvSpPr/>
          <p:nvPr/>
        </p:nvSpPr>
        <p:spPr>
          <a:xfrm>
            <a:off x="609600" y="585216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C2833"/>
                </a:solidFill>
              </a:rPr>
              <a:t>D) Wait for all systems to be AI-ready first</a:t>
            </a:r>
            <a:endParaRPr lang="en-US" sz="173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22BA7-F59C-DB67-4B26-3DBEADEB2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CA0D6-FCDA-F067-2752-23E2A461F0D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Observability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5DEC7AB-83BF-5D00-654A-149359E66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8121942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537531-5822-0BC1-F5C4-6F8FF705C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1D527A2-4093-B2E2-4786-FAA97EEF66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122</a:t>
            </a:fld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A840B5E-04CE-7E27-F2A4-7A00852F8251}"/>
              </a:ext>
            </a:extLst>
          </p:cNvPr>
          <p:cNvSpPr/>
          <p:nvPr/>
        </p:nvSpPr>
        <p:spPr>
          <a:xfrm>
            <a:off x="5455591" y="1911288"/>
            <a:ext cx="2809870" cy="2865701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Evaluate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54AE490-0FA9-D640-C954-8887E91FC2C3}"/>
              </a:ext>
            </a:extLst>
          </p:cNvPr>
          <p:cNvSpPr/>
          <p:nvPr/>
        </p:nvSpPr>
        <p:spPr>
          <a:xfrm>
            <a:off x="1125069" y="1905301"/>
            <a:ext cx="1401857" cy="2865701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Define a use case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E539F40A-E584-A1F2-399F-A2B205A60773}"/>
              </a:ext>
            </a:extLst>
          </p:cNvPr>
          <p:cNvSpPr/>
          <p:nvPr/>
        </p:nvSpPr>
        <p:spPr>
          <a:xfrm>
            <a:off x="3165669" y="1905301"/>
            <a:ext cx="1651179" cy="1432851"/>
          </a:xfrm>
          <a:prstGeom prst="round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Choose a model provider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C85A65C6-0E3D-E40D-0542-091B99AFC2A8}"/>
              </a:ext>
            </a:extLst>
          </p:cNvPr>
          <p:cNvSpPr/>
          <p:nvPr/>
        </p:nvSpPr>
        <p:spPr>
          <a:xfrm>
            <a:off x="5703794" y="2459379"/>
            <a:ext cx="2297206" cy="546083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Prompt Engineering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EFA5414D-B6B9-A3B2-FA06-9427F69D8EBB}"/>
              </a:ext>
            </a:extLst>
          </p:cNvPr>
          <p:cNvSpPr/>
          <p:nvPr/>
        </p:nvSpPr>
        <p:spPr>
          <a:xfrm>
            <a:off x="5703794" y="3191830"/>
            <a:ext cx="2297206" cy="546083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Fine-tune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3055411E-F48D-0BDE-AF78-8A23521C9BDB}"/>
              </a:ext>
            </a:extLst>
          </p:cNvPr>
          <p:cNvSpPr/>
          <p:nvPr/>
        </p:nvSpPr>
        <p:spPr>
          <a:xfrm>
            <a:off x="5703794" y="3888920"/>
            <a:ext cx="2297206" cy="546083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Align with Human feedback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17FB064-6F7F-999B-BC82-EDD773957250}"/>
              </a:ext>
            </a:extLst>
          </p:cNvPr>
          <p:cNvSpPr/>
          <p:nvPr/>
        </p:nvSpPr>
        <p:spPr>
          <a:xfrm>
            <a:off x="8904204" y="1905301"/>
            <a:ext cx="1828800" cy="2895003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Deploy &amp; Optimize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16513736-A2D1-87FF-619F-108B9207C8FD}"/>
              </a:ext>
            </a:extLst>
          </p:cNvPr>
          <p:cNvSpPr/>
          <p:nvPr/>
        </p:nvSpPr>
        <p:spPr>
          <a:xfrm>
            <a:off x="3165669" y="3422631"/>
            <a:ext cx="1651179" cy="1354357"/>
          </a:xfrm>
          <a:prstGeom prst="round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Integrate with systems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64BF010C-F4C1-7F80-DF2D-A20A4677635C}"/>
              </a:ext>
            </a:extLst>
          </p:cNvPr>
          <p:cNvSpPr/>
          <p:nvPr/>
        </p:nvSpPr>
        <p:spPr>
          <a:xfrm>
            <a:off x="5455590" y="5052038"/>
            <a:ext cx="5277414" cy="546083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Observability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91BD90B4-9D1A-C1F6-F82E-8D96FC3852DF}"/>
              </a:ext>
            </a:extLst>
          </p:cNvPr>
          <p:cNvSpPr/>
          <p:nvPr/>
        </p:nvSpPr>
        <p:spPr>
          <a:xfrm>
            <a:off x="8904204" y="5742051"/>
            <a:ext cx="1828800" cy="546083"/>
          </a:xfrm>
          <a:prstGeom prst="round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Monitoring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A54511D1-B3E8-9FD2-0D59-E98B4C95B81D}"/>
              </a:ext>
            </a:extLst>
          </p:cNvPr>
          <p:cNvSpPr/>
          <p:nvPr/>
        </p:nvSpPr>
        <p:spPr>
          <a:xfrm>
            <a:off x="1600990" y="1320131"/>
            <a:ext cx="450014" cy="460482"/>
          </a:xfrm>
          <a:prstGeom prst="ellipse">
            <a:avLst/>
          </a:prstGeom>
          <a:solidFill>
            <a:srgbClr val="147BBF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098D896-9659-A5B5-C093-F21473B2598E}"/>
              </a:ext>
            </a:extLst>
          </p:cNvPr>
          <p:cNvSpPr/>
          <p:nvPr/>
        </p:nvSpPr>
        <p:spPr>
          <a:xfrm>
            <a:off x="3766251" y="1320131"/>
            <a:ext cx="450014" cy="460482"/>
          </a:xfrm>
          <a:prstGeom prst="ellipse">
            <a:avLst/>
          </a:prstGeom>
          <a:solidFill>
            <a:srgbClr val="147BBF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928EE4B-11E9-4FD7-2164-8D1CA271D60F}"/>
              </a:ext>
            </a:extLst>
          </p:cNvPr>
          <p:cNvSpPr/>
          <p:nvPr/>
        </p:nvSpPr>
        <p:spPr>
          <a:xfrm>
            <a:off x="6627390" y="1322289"/>
            <a:ext cx="450014" cy="460482"/>
          </a:xfrm>
          <a:prstGeom prst="ellipse">
            <a:avLst/>
          </a:prstGeom>
          <a:solidFill>
            <a:srgbClr val="147BBF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5913BC8C-C14E-5458-A3A9-1EEC8CBE9D90}"/>
              </a:ext>
            </a:extLst>
          </p:cNvPr>
          <p:cNvSpPr/>
          <p:nvPr/>
        </p:nvSpPr>
        <p:spPr>
          <a:xfrm>
            <a:off x="9593597" y="1320131"/>
            <a:ext cx="450014" cy="460482"/>
          </a:xfrm>
          <a:prstGeom prst="ellipse">
            <a:avLst/>
          </a:prstGeom>
          <a:solidFill>
            <a:srgbClr val="147BBF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6DBC94D7-0533-0C1C-4072-AD7600949EA3}"/>
              </a:ext>
            </a:extLst>
          </p:cNvPr>
          <p:cNvSpPr/>
          <p:nvPr/>
        </p:nvSpPr>
        <p:spPr>
          <a:xfrm>
            <a:off x="5313552" y="4986672"/>
            <a:ext cx="5551672" cy="687163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8411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00FFEC-016B-98E4-0AB4-B93CB6A3D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38CA77E9-811E-6C79-73D0-04F6E9D1CC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243" y="-5432"/>
            <a:ext cx="10515600" cy="1325563"/>
          </a:xfrm>
        </p:spPr>
        <p:txBody>
          <a:bodyPr/>
          <a:lstStyle/>
          <a:p>
            <a:r>
              <a:rPr lang="en-US" dirty="0"/>
              <a:t>Trace Observability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512C2091-7151-C898-D99F-B728BB291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123</a:t>
            </a:fld>
            <a:endParaRPr lang="en-US"/>
          </a:p>
        </p:txBody>
      </p:sp>
      <p:pic>
        <p:nvPicPr>
          <p:cNvPr id="3" name="Picture 2" descr="A screenshot of a computer&#10;&#10;Description automatically generated">
            <a:extLst>
              <a:ext uri="{FF2B5EF4-FFF2-40B4-BE49-F238E27FC236}">
                <a16:creationId xmlns:a16="http://schemas.microsoft.com/office/drawing/2014/main" id="{B8A63DB1-D19E-F00E-8697-29A87121E7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182" y="883100"/>
            <a:ext cx="11015722" cy="5760005"/>
          </a:xfrm>
          <a:prstGeom prst="rect">
            <a:avLst/>
          </a:prstGeom>
        </p:spPr>
      </p:pic>
      <p:pic>
        <p:nvPicPr>
          <p:cNvPr id="3074" name="Picture 2" descr="Datadog - Wikipedia">
            <a:extLst>
              <a:ext uri="{FF2B5EF4-FFF2-40B4-BE49-F238E27FC236}">
                <a16:creationId xmlns:a16="http://schemas.microsoft.com/office/drawing/2014/main" id="{B9780B78-44B5-FB48-796A-14FC098A8D2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1524" y="372346"/>
            <a:ext cx="570006" cy="5700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42203661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539561-7962-CDB8-800F-80AD2AACB6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001CD5A5-FB02-5B47-673A-E298F34524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243" y="-5432"/>
            <a:ext cx="10515600" cy="1325563"/>
          </a:xfrm>
        </p:spPr>
        <p:txBody>
          <a:bodyPr/>
          <a:lstStyle/>
          <a:p>
            <a:r>
              <a:rPr lang="en-US" dirty="0"/>
              <a:t>Trace Error Observability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D48AB4B4-2788-D460-17A8-8BB69D44F5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124</a:t>
            </a:fld>
            <a:endParaRPr lang="en-US"/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E43AE1D3-ABE1-9270-3106-75DD50289E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243" y="981769"/>
            <a:ext cx="11122107" cy="5820522"/>
          </a:xfrm>
          <a:prstGeom prst="rect">
            <a:avLst/>
          </a:prstGeom>
        </p:spPr>
      </p:pic>
      <p:pic>
        <p:nvPicPr>
          <p:cNvPr id="6" name="Picture 2" descr="Datadog - Wikipedia">
            <a:extLst>
              <a:ext uri="{FF2B5EF4-FFF2-40B4-BE49-F238E27FC236}">
                <a16:creationId xmlns:a16="http://schemas.microsoft.com/office/drawing/2014/main" id="{2ECE6AE1-7116-7869-FD5D-8F610B1BBC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9336" y="372346"/>
            <a:ext cx="570006" cy="5700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5974241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99ED5D-58D9-7FF7-E44F-9A586A0E7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717F6A07-9202-235D-D711-264AFBB0B1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243" y="-5432"/>
            <a:ext cx="10515600" cy="1325563"/>
          </a:xfrm>
        </p:spPr>
        <p:txBody>
          <a:bodyPr/>
          <a:lstStyle/>
          <a:p>
            <a:r>
              <a:rPr lang="en-US" dirty="0"/>
              <a:t>Trace Error Observability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BA25924-2F40-6392-4270-5103D76B4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125</a:t>
            </a:fld>
            <a:endParaRPr lang="en-US"/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1BECF6D4-0F52-83D3-55F5-5A28B6616B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243" y="1037478"/>
            <a:ext cx="11122107" cy="5820522"/>
          </a:xfrm>
          <a:prstGeom prst="rect">
            <a:avLst/>
          </a:prstGeom>
        </p:spPr>
      </p:pic>
      <p:pic>
        <p:nvPicPr>
          <p:cNvPr id="2" name="Picture 2" descr="Datadog - Wikipedia">
            <a:extLst>
              <a:ext uri="{FF2B5EF4-FFF2-40B4-BE49-F238E27FC236}">
                <a16:creationId xmlns:a16="http://schemas.microsoft.com/office/drawing/2014/main" id="{FC68F2A4-473B-0484-3393-DF0BDF4CB7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7424" y="372346"/>
            <a:ext cx="570006" cy="5700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44694070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B8447-7594-FA9E-EE3A-33D41BB60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14BB60A4-05B2-BBC5-77E1-FDE95089D5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243" y="-5432"/>
            <a:ext cx="10515600" cy="1325563"/>
          </a:xfrm>
        </p:spPr>
        <p:txBody>
          <a:bodyPr/>
          <a:lstStyle/>
          <a:p>
            <a:r>
              <a:rPr lang="en-US" dirty="0"/>
              <a:t>Topic Observability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98F7CE2A-644B-416D-3B47-FADE88247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126</a:t>
            </a:fld>
            <a:endParaRPr lang="en-US"/>
          </a:p>
        </p:txBody>
      </p:sp>
      <p:pic>
        <p:nvPicPr>
          <p:cNvPr id="3" name="Picture 2" descr="A screenshot of a computer&#10;&#10;Description automatically generated">
            <a:extLst>
              <a:ext uri="{FF2B5EF4-FFF2-40B4-BE49-F238E27FC236}">
                <a16:creationId xmlns:a16="http://schemas.microsoft.com/office/drawing/2014/main" id="{9CD4F5C6-ED35-E467-C199-81178303C8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244" y="932759"/>
            <a:ext cx="11237598" cy="5681930"/>
          </a:xfrm>
          <a:prstGeom prst="rect">
            <a:avLst/>
          </a:prstGeom>
        </p:spPr>
      </p:pic>
      <p:pic>
        <p:nvPicPr>
          <p:cNvPr id="6" name="Picture 2" descr="Datadog - Wikipedia">
            <a:extLst>
              <a:ext uri="{FF2B5EF4-FFF2-40B4-BE49-F238E27FC236}">
                <a16:creationId xmlns:a16="http://schemas.microsoft.com/office/drawing/2014/main" id="{DC02788C-73F2-3DB5-DBAF-941C2C8BC4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2037" y="372346"/>
            <a:ext cx="570006" cy="5700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3444746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9E9E2A-06CE-CC3A-D983-FA01284A0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952DA9C6-BBD5-15D8-408A-F927964C20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243" y="-5432"/>
            <a:ext cx="10515600" cy="1325563"/>
          </a:xfrm>
        </p:spPr>
        <p:txBody>
          <a:bodyPr/>
          <a:lstStyle/>
          <a:p>
            <a:r>
              <a:rPr lang="en-US" dirty="0"/>
              <a:t>Metric Observability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0996AD6-4A62-5CFB-8FEB-58F289738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127</a:t>
            </a:fld>
            <a:endParaRPr lang="en-US"/>
          </a:p>
        </p:txBody>
      </p:sp>
      <p:pic>
        <p:nvPicPr>
          <p:cNvPr id="4" name="Picture 3" descr="A screenshot of a computer&#10;&#10;Description automatically generated">
            <a:extLst>
              <a:ext uri="{FF2B5EF4-FFF2-40B4-BE49-F238E27FC236}">
                <a16:creationId xmlns:a16="http://schemas.microsoft.com/office/drawing/2014/main" id="{FC65E8A7-50C1-F702-015E-6AF9E1F5E8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087" y="820348"/>
            <a:ext cx="11261911" cy="5901127"/>
          </a:xfrm>
          <a:prstGeom prst="rect">
            <a:avLst/>
          </a:prstGeom>
        </p:spPr>
      </p:pic>
      <p:pic>
        <p:nvPicPr>
          <p:cNvPr id="8" name="Picture 2" descr="Datadog - Wikipedia">
            <a:extLst>
              <a:ext uri="{FF2B5EF4-FFF2-40B4-BE49-F238E27FC236}">
                <a16:creationId xmlns:a16="http://schemas.microsoft.com/office/drawing/2014/main" id="{6A6CA315-9A15-9CBD-20A6-1A87AE9645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7018" y="372346"/>
            <a:ext cx="570006" cy="5700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86453562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72577-A5BC-A80F-FB84-E2FACCFFE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0008D1B7-18F2-DCD3-719C-C5E8D1AC5D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243" y="-5432"/>
            <a:ext cx="10515600" cy="1325563"/>
          </a:xfrm>
        </p:spPr>
        <p:txBody>
          <a:bodyPr/>
          <a:lstStyle/>
          <a:p>
            <a:r>
              <a:rPr lang="en-US" dirty="0"/>
              <a:t>Agentic Observability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F6E9FB3-14D6-82B4-3107-2CF4582E8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128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12A4B9-C197-73A4-8903-BAFFC76CCBC6}"/>
              </a:ext>
            </a:extLst>
          </p:cNvPr>
          <p:cNvSpPr txBox="1"/>
          <p:nvPr/>
        </p:nvSpPr>
        <p:spPr>
          <a:xfrm>
            <a:off x="5545511" y="3429000"/>
            <a:ext cx="110097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Langfuse</a:t>
            </a:r>
            <a:endParaRPr lang="en-US" dirty="0"/>
          </a:p>
          <a:p>
            <a:endParaRPr lang="en-US" dirty="0"/>
          </a:p>
        </p:txBody>
      </p:sp>
      <p:pic>
        <p:nvPicPr>
          <p:cNvPr id="6" name="Picture 2" descr="Langfuse Logo Free Download SVG, PNG... · LobeHub">
            <a:extLst>
              <a:ext uri="{FF2B5EF4-FFF2-40B4-BE49-F238E27FC236}">
                <a16:creationId xmlns:a16="http://schemas.microsoft.com/office/drawing/2014/main" id="{47C41990-74A7-4913-AEB1-8A602D05D6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80725"/>
            <a:ext cx="939800" cy="939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4DC9256-2827-1FDE-0FCD-2A59D5FD6073}"/>
              </a:ext>
            </a:extLst>
          </p:cNvPr>
          <p:cNvSpPr txBox="1"/>
          <p:nvPr/>
        </p:nvSpPr>
        <p:spPr>
          <a:xfrm>
            <a:off x="6129346" y="958941"/>
            <a:ext cx="79566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 err="1"/>
              <a:t>Langfuse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261810560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996D7-A357-5E10-0CBA-C6E7E31FE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9C79EB4D-0DAC-E835-8DCD-0D6E94B5F4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243" y="-5432"/>
            <a:ext cx="10515600" cy="1325563"/>
          </a:xfrm>
        </p:spPr>
        <p:txBody>
          <a:bodyPr/>
          <a:lstStyle/>
          <a:p>
            <a:r>
              <a:rPr lang="en-US" dirty="0"/>
              <a:t>Evaluation Observability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3D3AA526-F529-6DFC-F32E-06BED49840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129</a:t>
            </a:fld>
            <a:endParaRPr lang="en-US"/>
          </a:p>
        </p:txBody>
      </p:sp>
      <p:pic>
        <p:nvPicPr>
          <p:cNvPr id="3" name="Picture 2" descr="A screenshot of a computer&#10;&#10;Description automatically generated">
            <a:extLst>
              <a:ext uri="{FF2B5EF4-FFF2-40B4-BE49-F238E27FC236}">
                <a16:creationId xmlns:a16="http://schemas.microsoft.com/office/drawing/2014/main" id="{E20EDBB0-799D-DC35-8F29-6461BB9A4C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064" y="1104165"/>
            <a:ext cx="11595871" cy="4649669"/>
          </a:xfrm>
          <a:prstGeom prst="rect">
            <a:avLst/>
          </a:prstGeom>
        </p:spPr>
      </p:pic>
      <p:pic>
        <p:nvPicPr>
          <p:cNvPr id="10244" name="Picture 4" descr="What is MLflow? Streamline Your ML Lifecycle">
            <a:extLst>
              <a:ext uri="{FF2B5EF4-FFF2-40B4-BE49-F238E27FC236}">
                <a16:creationId xmlns:a16="http://schemas.microsoft.com/office/drawing/2014/main" id="{41626611-13B2-DADC-DED5-FDB618EA8F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54320" y="166233"/>
            <a:ext cx="1097056" cy="102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0158768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631AB-286D-5787-1317-EDFA654295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A0D8A05C-C3D7-265C-FA8E-7E99E4973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243" y="-5432"/>
            <a:ext cx="10515600" cy="1325563"/>
          </a:xfrm>
        </p:spPr>
        <p:txBody>
          <a:bodyPr/>
          <a:lstStyle/>
          <a:p>
            <a:r>
              <a:rPr lang="en-US" dirty="0"/>
              <a:t>Agentic Observability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11F3846-88F3-C518-C80C-ECA7D8955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130</a:t>
            </a:fld>
            <a:endParaRPr lang="en-US"/>
          </a:p>
        </p:txBody>
      </p:sp>
      <p:pic>
        <p:nvPicPr>
          <p:cNvPr id="3" name="Picture 2" descr="A screenshot of a computer&#10;&#10;Description automatically generated">
            <a:extLst>
              <a:ext uri="{FF2B5EF4-FFF2-40B4-BE49-F238E27FC236}">
                <a16:creationId xmlns:a16="http://schemas.microsoft.com/office/drawing/2014/main" id="{0ED0707A-9131-7B3A-96A1-DF63DB8AE1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594" y="894229"/>
            <a:ext cx="10208898" cy="57517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1082351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75360"/>
          </a:xfrm>
          <a:prstGeom prst="rect">
            <a:avLst/>
          </a:prstGeom>
          <a:solidFill>
            <a:srgbClr val="277884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4" name="Text 2"/>
          <p:cNvSpPr/>
          <p:nvPr/>
        </p:nvSpPr>
        <p:spPr>
          <a:xfrm>
            <a:off x="365760" y="42672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667" b="1" dirty="0">
                <a:solidFill>
                  <a:srgbClr val="FFFFFF"/>
                </a:solidFill>
              </a:rPr>
              <a:t>Observability &amp; Monitoring</a:t>
            </a:r>
            <a:endParaRPr lang="en-US" sz="2667" dirty="0"/>
          </a:p>
        </p:txBody>
      </p:sp>
      <p:sp>
        <p:nvSpPr>
          <p:cNvPr id="5" name="Shape 3"/>
          <p:cNvSpPr/>
          <p:nvPr/>
        </p:nvSpPr>
        <p:spPr>
          <a:xfrm>
            <a:off x="365760" y="1219200"/>
            <a:ext cx="11460480" cy="1463040"/>
          </a:xfrm>
          <a:prstGeom prst="rect">
            <a:avLst/>
          </a:prstGeom>
          <a:solidFill>
            <a:srgbClr val="F4F6F6"/>
          </a:solidFill>
          <a:ln w="254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609600" y="1341120"/>
            <a:ext cx="10972800" cy="121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dirty="0">
                <a:solidFill>
                  <a:srgbClr val="1C2833"/>
                </a:solidFill>
              </a:rPr>
              <a:t>Users report 'the AI is getting worse' but you have no concrete data. Your team debates whether it's model drift, data quality, or user expectations.</a:t>
            </a:r>
            <a:endParaRPr lang="en-US" sz="1867" dirty="0"/>
          </a:p>
        </p:txBody>
      </p:sp>
      <p:sp>
        <p:nvSpPr>
          <p:cNvPr id="7" name="Text 5"/>
          <p:cNvSpPr/>
          <p:nvPr/>
        </p:nvSpPr>
        <p:spPr>
          <a:xfrm>
            <a:off x="365760" y="2926080"/>
            <a:ext cx="114604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133" b="1" dirty="0">
                <a:solidFill>
                  <a:srgbClr val="1C2833"/>
                </a:solidFill>
              </a:rPr>
              <a:t>What should you have implemented from day one?</a:t>
            </a:r>
            <a:endParaRPr lang="en-US" sz="2133" dirty="0"/>
          </a:p>
        </p:txBody>
      </p:sp>
      <p:sp>
        <p:nvSpPr>
          <p:cNvPr id="8" name="Text 6"/>
          <p:cNvSpPr/>
          <p:nvPr/>
        </p:nvSpPr>
        <p:spPr>
          <a:xfrm>
            <a:off x="609600" y="365760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C2833"/>
                </a:solidFill>
              </a:rPr>
              <a:t>A) A/B testing with multiple model versions</a:t>
            </a:r>
            <a:endParaRPr lang="en-US" sz="1733" dirty="0"/>
          </a:p>
        </p:txBody>
      </p:sp>
      <p:sp>
        <p:nvSpPr>
          <p:cNvPr id="9" name="Text 7"/>
          <p:cNvSpPr/>
          <p:nvPr/>
        </p:nvSpPr>
        <p:spPr>
          <a:xfrm>
            <a:off x="609600" y="43891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C2833"/>
                </a:solidFill>
              </a:rPr>
              <a:t>B) Daily model retraining pipeline</a:t>
            </a:r>
            <a:endParaRPr lang="en-US" sz="1733" dirty="0"/>
          </a:p>
        </p:txBody>
      </p:sp>
      <p:sp>
        <p:nvSpPr>
          <p:cNvPr id="10" name="Shape 8"/>
          <p:cNvSpPr/>
          <p:nvPr/>
        </p:nvSpPr>
        <p:spPr>
          <a:xfrm>
            <a:off x="365760" y="4815840"/>
            <a:ext cx="11460480" cy="609600"/>
          </a:xfrm>
          <a:prstGeom prst="rect">
            <a:avLst/>
          </a:prstGeom>
          <a:solidFill>
            <a:srgbClr val="E8F5E9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Text 9"/>
          <p:cNvSpPr/>
          <p:nvPr/>
        </p:nvSpPr>
        <p:spPr>
          <a:xfrm>
            <a:off x="609600" y="512064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/>
              <a:t>C) Comprehensive logging of inputs, outputs, latency, and user feedback metrics</a:t>
            </a:r>
          </a:p>
        </p:txBody>
      </p:sp>
      <p:sp>
        <p:nvSpPr>
          <p:cNvPr id="12" name="Text 10"/>
          <p:cNvSpPr/>
          <p:nvPr/>
        </p:nvSpPr>
        <p:spPr>
          <a:xfrm>
            <a:off x="609600" y="585216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C2833"/>
                </a:solidFill>
              </a:rPr>
              <a:t>D) Automated rollback to previous model versions</a:t>
            </a:r>
            <a:endParaRPr lang="en-US" sz="1733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34B873-86B1-4732-DA95-EFB0AEAA1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FB1D57-EDE1-A6C9-1E6F-6F66D421748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Optimizing and Deploying for Inference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14F7D1-4637-1822-BC0C-5B4DE7E14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3242430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8CD26C-1093-E8C5-B921-5FF2A0F2A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9FF0F58-CA38-1C79-777F-E5071C8788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133</a:t>
            </a:fld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6435BF3A-8AE3-423B-5541-B2F8E2B785DD}"/>
              </a:ext>
            </a:extLst>
          </p:cNvPr>
          <p:cNvSpPr/>
          <p:nvPr/>
        </p:nvSpPr>
        <p:spPr>
          <a:xfrm>
            <a:off x="5455591" y="1911288"/>
            <a:ext cx="2809870" cy="2865701"/>
          </a:xfrm>
          <a:prstGeom prst="round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US" dirty="0"/>
              <a:t>Evaluate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4B46A258-05EC-9FFB-38B0-9A2C6F86E218}"/>
              </a:ext>
            </a:extLst>
          </p:cNvPr>
          <p:cNvSpPr/>
          <p:nvPr/>
        </p:nvSpPr>
        <p:spPr>
          <a:xfrm>
            <a:off x="1125069" y="1905301"/>
            <a:ext cx="1401857" cy="2865701"/>
          </a:xfrm>
          <a:prstGeom prst="roundRect">
            <a:avLst/>
          </a:prstGeom>
          <a:solidFill>
            <a:schemeClr val="tx2">
              <a:lumMod val="50000"/>
              <a:lumOff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Define a use case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39C97F37-4F3F-8C21-607A-8E1AE6948D3F}"/>
              </a:ext>
            </a:extLst>
          </p:cNvPr>
          <p:cNvSpPr/>
          <p:nvPr/>
        </p:nvSpPr>
        <p:spPr>
          <a:xfrm>
            <a:off x="3165669" y="1905301"/>
            <a:ext cx="1651179" cy="1432851"/>
          </a:xfrm>
          <a:prstGeom prst="round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Choose a model provider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5F31D4D4-8556-B563-6157-AD622F4428B2}"/>
              </a:ext>
            </a:extLst>
          </p:cNvPr>
          <p:cNvSpPr/>
          <p:nvPr/>
        </p:nvSpPr>
        <p:spPr>
          <a:xfrm>
            <a:off x="5703794" y="2459379"/>
            <a:ext cx="2297206" cy="546083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Prompt Engineering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9D015BCC-1F7A-1E15-95FA-DCC82C782B1D}"/>
              </a:ext>
            </a:extLst>
          </p:cNvPr>
          <p:cNvSpPr/>
          <p:nvPr/>
        </p:nvSpPr>
        <p:spPr>
          <a:xfrm>
            <a:off x="5703794" y="3191830"/>
            <a:ext cx="2297206" cy="546083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Fine-tune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BC5FC95-CBD8-19D8-3D3F-00CE7D982751}"/>
              </a:ext>
            </a:extLst>
          </p:cNvPr>
          <p:cNvSpPr/>
          <p:nvPr/>
        </p:nvSpPr>
        <p:spPr>
          <a:xfrm>
            <a:off x="5703794" y="3888920"/>
            <a:ext cx="2297206" cy="546083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Align with Human feedback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5F389C6-245A-502E-F1BF-3794EF1C4ACA}"/>
              </a:ext>
            </a:extLst>
          </p:cNvPr>
          <p:cNvSpPr/>
          <p:nvPr/>
        </p:nvSpPr>
        <p:spPr>
          <a:xfrm>
            <a:off x="8904204" y="1905301"/>
            <a:ext cx="1828800" cy="2895003"/>
          </a:xfrm>
          <a:prstGeom prst="round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Deploy &amp; Optimize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418A9F07-BE1B-B01F-1C67-3B5275E92DA8}"/>
              </a:ext>
            </a:extLst>
          </p:cNvPr>
          <p:cNvSpPr/>
          <p:nvPr/>
        </p:nvSpPr>
        <p:spPr>
          <a:xfrm>
            <a:off x="3165669" y="3422631"/>
            <a:ext cx="1651179" cy="1354357"/>
          </a:xfrm>
          <a:prstGeom prst="round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Integrate with systems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6E2F67F-8142-3CC9-E566-D2A27AA24FAF}"/>
              </a:ext>
            </a:extLst>
          </p:cNvPr>
          <p:cNvSpPr/>
          <p:nvPr/>
        </p:nvSpPr>
        <p:spPr>
          <a:xfrm>
            <a:off x="5455590" y="5052038"/>
            <a:ext cx="5277414" cy="546083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Observability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5BC5A4AF-0B7B-7F79-96E9-76479719C623}"/>
              </a:ext>
            </a:extLst>
          </p:cNvPr>
          <p:cNvSpPr/>
          <p:nvPr/>
        </p:nvSpPr>
        <p:spPr>
          <a:xfrm>
            <a:off x="8904204" y="5742051"/>
            <a:ext cx="1828800" cy="546083"/>
          </a:xfrm>
          <a:prstGeom prst="roundRect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Monitoring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E664D1EB-C512-50DC-299B-CAC54C8900BC}"/>
              </a:ext>
            </a:extLst>
          </p:cNvPr>
          <p:cNvSpPr/>
          <p:nvPr/>
        </p:nvSpPr>
        <p:spPr>
          <a:xfrm>
            <a:off x="1600990" y="1320131"/>
            <a:ext cx="450014" cy="460482"/>
          </a:xfrm>
          <a:prstGeom prst="ellipse">
            <a:avLst/>
          </a:prstGeom>
          <a:solidFill>
            <a:srgbClr val="147BBF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F652CD1B-FC96-07BD-A450-4C45A3408E51}"/>
              </a:ext>
            </a:extLst>
          </p:cNvPr>
          <p:cNvSpPr/>
          <p:nvPr/>
        </p:nvSpPr>
        <p:spPr>
          <a:xfrm>
            <a:off x="3766251" y="1320131"/>
            <a:ext cx="450014" cy="460482"/>
          </a:xfrm>
          <a:prstGeom prst="ellipse">
            <a:avLst/>
          </a:prstGeom>
          <a:solidFill>
            <a:srgbClr val="147BBF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0E57CD6-507A-4474-6211-3AE7593886E1}"/>
              </a:ext>
            </a:extLst>
          </p:cNvPr>
          <p:cNvSpPr/>
          <p:nvPr/>
        </p:nvSpPr>
        <p:spPr>
          <a:xfrm>
            <a:off x="6627390" y="1322289"/>
            <a:ext cx="450014" cy="460482"/>
          </a:xfrm>
          <a:prstGeom prst="ellipse">
            <a:avLst/>
          </a:prstGeom>
          <a:solidFill>
            <a:srgbClr val="147BBF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8E3724E1-7D0B-158D-008F-476383234240}"/>
              </a:ext>
            </a:extLst>
          </p:cNvPr>
          <p:cNvSpPr/>
          <p:nvPr/>
        </p:nvSpPr>
        <p:spPr>
          <a:xfrm>
            <a:off x="9593597" y="1320131"/>
            <a:ext cx="450014" cy="460482"/>
          </a:xfrm>
          <a:prstGeom prst="ellipse">
            <a:avLst/>
          </a:prstGeom>
          <a:solidFill>
            <a:srgbClr val="147BBF"/>
          </a:solidFill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025FB58-74DC-68A6-EA35-E86603510EA2}"/>
              </a:ext>
            </a:extLst>
          </p:cNvPr>
          <p:cNvSpPr/>
          <p:nvPr/>
        </p:nvSpPr>
        <p:spPr>
          <a:xfrm>
            <a:off x="8756844" y="1835381"/>
            <a:ext cx="2121827" cy="3048426"/>
          </a:xfrm>
          <a:prstGeom prst="round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8323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D8B8C6-2164-43F2-B003-290BBA724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5D413B9A-0DED-E143-FA8E-473F34ED6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243" y="-5432"/>
            <a:ext cx="10515600" cy="1325563"/>
          </a:xfrm>
        </p:spPr>
        <p:txBody>
          <a:bodyPr/>
          <a:lstStyle/>
          <a:p>
            <a:r>
              <a:rPr lang="en-US" dirty="0"/>
              <a:t>Inference – Important metrics</a:t>
            </a:r>
          </a:p>
        </p:txBody>
      </p:sp>
      <p:sp>
        <p:nvSpPr>
          <p:cNvPr id="2" name="Ellipse 1">
            <a:extLst>
              <a:ext uri="{FF2B5EF4-FFF2-40B4-BE49-F238E27FC236}">
                <a16:creationId xmlns:a16="http://schemas.microsoft.com/office/drawing/2014/main" id="{82B20AAE-9EDC-F5A6-BEFA-D214C2FDA38E}"/>
              </a:ext>
            </a:extLst>
          </p:cNvPr>
          <p:cNvSpPr/>
          <p:nvPr/>
        </p:nvSpPr>
        <p:spPr>
          <a:xfrm>
            <a:off x="2077081" y="1932312"/>
            <a:ext cx="484450" cy="44811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4D97511B-5C59-0D5F-B7D0-05A65C357DDC}"/>
              </a:ext>
            </a:extLst>
          </p:cNvPr>
          <p:cNvSpPr/>
          <p:nvPr/>
        </p:nvSpPr>
        <p:spPr>
          <a:xfrm>
            <a:off x="2077081" y="3059668"/>
            <a:ext cx="484450" cy="44811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4" name="Ellipse 3">
            <a:extLst>
              <a:ext uri="{FF2B5EF4-FFF2-40B4-BE49-F238E27FC236}">
                <a16:creationId xmlns:a16="http://schemas.microsoft.com/office/drawing/2014/main" id="{38FAD2BB-2308-D5F8-07C0-85A92A618F29}"/>
              </a:ext>
            </a:extLst>
          </p:cNvPr>
          <p:cNvSpPr/>
          <p:nvPr/>
        </p:nvSpPr>
        <p:spPr>
          <a:xfrm>
            <a:off x="2077081" y="4223360"/>
            <a:ext cx="484450" cy="448117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0691345-8F36-95EA-CF84-21531B954AB5}"/>
              </a:ext>
            </a:extLst>
          </p:cNvPr>
          <p:cNvSpPr txBox="1"/>
          <p:nvPr/>
        </p:nvSpPr>
        <p:spPr>
          <a:xfrm>
            <a:off x="2864313" y="1971704"/>
            <a:ext cx="23312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Throughput =  query/s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CD191C07-C59A-03E1-9EA3-D9839C4976A5}"/>
              </a:ext>
            </a:extLst>
          </p:cNvPr>
          <p:cNvSpPr txBox="1"/>
          <p:nvPr/>
        </p:nvSpPr>
        <p:spPr>
          <a:xfrm>
            <a:off x="2864313" y="3099060"/>
            <a:ext cx="19779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Latency =  s/token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167AE62C-8190-6BB6-03D3-9D21C4A3F3A5}"/>
              </a:ext>
            </a:extLst>
          </p:cNvPr>
          <p:cNvSpPr txBox="1"/>
          <p:nvPr/>
        </p:nvSpPr>
        <p:spPr>
          <a:xfrm>
            <a:off x="2931934" y="4262752"/>
            <a:ext cx="657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Cost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D97C074F-7767-0FEA-547F-9E9F8D991506}"/>
              </a:ext>
            </a:extLst>
          </p:cNvPr>
          <p:cNvSpPr txBox="1"/>
          <p:nvPr/>
        </p:nvSpPr>
        <p:spPr>
          <a:xfrm>
            <a:off x="5952683" y="1971704"/>
            <a:ext cx="4868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More Throughput equals more concurrent users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701ED682-DABA-7639-A764-339CDE0C83A3}"/>
              </a:ext>
            </a:extLst>
          </p:cNvPr>
          <p:cNvSpPr txBox="1"/>
          <p:nvPr/>
        </p:nvSpPr>
        <p:spPr>
          <a:xfrm>
            <a:off x="5952683" y="3099060"/>
            <a:ext cx="36472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Low latency allows faster response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B6269CC7-0B3C-C28E-B654-F134E6FF44B0}"/>
              </a:ext>
            </a:extLst>
          </p:cNvPr>
          <p:cNvSpPr txBox="1"/>
          <p:nvPr/>
        </p:nvSpPr>
        <p:spPr>
          <a:xfrm>
            <a:off x="5952682" y="4262752"/>
            <a:ext cx="1754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$ always matter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EAA45516-D0DA-11B0-F7E0-3C0CD2A901EC}"/>
              </a:ext>
            </a:extLst>
          </p:cNvPr>
          <p:cNvSpPr txBox="1"/>
          <p:nvPr/>
        </p:nvSpPr>
        <p:spPr>
          <a:xfrm>
            <a:off x="2864313" y="3406837"/>
            <a:ext cx="17136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schemeClr val="accent1"/>
                </a:solidFill>
              </a:rPr>
              <a:t>The lower the better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1093779B-E431-52DA-4016-48338354474C}"/>
              </a:ext>
            </a:extLst>
          </p:cNvPr>
          <p:cNvSpPr txBox="1"/>
          <p:nvPr/>
        </p:nvSpPr>
        <p:spPr>
          <a:xfrm>
            <a:off x="2864313" y="2341036"/>
            <a:ext cx="182274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schemeClr val="accent1"/>
                </a:solidFill>
              </a:rPr>
              <a:t>The higher the better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9C0635A1-D910-D47F-B265-2E881009F239}"/>
              </a:ext>
            </a:extLst>
          </p:cNvPr>
          <p:cNvSpPr txBox="1"/>
          <p:nvPr/>
        </p:nvSpPr>
        <p:spPr>
          <a:xfrm>
            <a:off x="2931934" y="4517588"/>
            <a:ext cx="17136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i="1" dirty="0">
                <a:solidFill>
                  <a:schemeClr val="accent1"/>
                </a:solidFill>
              </a:rPr>
              <a:t>The lower the better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AFDFBE31-8D0F-A346-32A9-82279F47AE87}"/>
              </a:ext>
            </a:extLst>
          </p:cNvPr>
          <p:cNvSpPr txBox="1"/>
          <p:nvPr/>
        </p:nvSpPr>
        <p:spPr>
          <a:xfrm>
            <a:off x="902289" y="6072459"/>
            <a:ext cx="71715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dirty="0"/>
              <a:t>We will only focus on the decoding part of the transformer after the prefill phase.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6FAB66F-C4D6-A5D6-5661-E30EED4C2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751720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C0244-FAB1-9F83-EB13-45EB85FA8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C8F7D9E9-72AD-CC67-9912-951E75C018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243" y="-5432"/>
            <a:ext cx="10515600" cy="1325563"/>
          </a:xfrm>
        </p:spPr>
        <p:txBody>
          <a:bodyPr/>
          <a:lstStyle/>
          <a:p>
            <a:r>
              <a:rPr lang="en-US" dirty="0"/>
              <a:t>Inference – Important metrics</a:t>
            </a:r>
          </a:p>
        </p:txBody>
      </p:sp>
      <p:sp>
        <p:nvSpPr>
          <p:cNvPr id="20" name="Rectangle : coins arrondis 19">
            <a:extLst>
              <a:ext uri="{FF2B5EF4-FFF2-40B4-BE49-F238E27FC236}">
                <a16:creationId xmlns:a16="http://schemas.microsoft.com/office/drawing/2014/main" id="{D038679F-0C9C-3420-901C-5E12F9D4C494}"/>
              </a:ext>
            </a:extLst>
          </p:cNvPr>
          <p:cNvSpPr/>
          <p:nvPr/>
        </p:nvSpPr>
        <p:spPr>
          <a:xfrm>
            <a:off x="872157" y="1271682"/>
            <a:ext cx="1087575" cy="824800"/>
          </a:xfrm>
          <a:prstGeom prst="roundRect">
            <a:avLst/>
          </a:prstGeom>
          <a:gradFill flip="none" rotWithShape="1">
            <a:gsLst>
              <a:gs pos="0">
                <a:schemeClr val="accent5">
                  <a:tint val="66000"/>
                  <a:satMod val="160000"/>
                </a:schemeClr>
              </a:gs>
              <a:gs pos="50000">
                <a:schemeClr val="accent5">
                  <a:tint val="44500"/>
                  <a:satMod val="160000"/>
                </a:schemeClr>
              </a:gs>
              <a:gs pos="100000">
                <a:schemeClr val="accent5"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508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LLM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144FAB89-E174-D31D-26DC-18BB5DCF3EF1}"/>
              </a:ext>
            </a:extLst>
          </p:cNvPr>
          <p:cNvSpPr txBox="1"/>
          <p:nvPr/>
        </p:nvSpPr>
        <p:spPr>
          <a:xfrm>
            <a:off x="2027646" y="1495798"/>
            <a:ext cx="2526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Size = # Parameters (P)  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871AFB93-F857-FF4A-53CA-B11A33C781E9}"/>
              </a:ext>
            </a:extLst>
          </p:cNvPr>
          <p:cNvSpPr txBox="1"/>
          <p:nvPr/>
        </p:nvSpPr>
        <p:spPr>
          <a:xfrm>
            <a:off x="804243" y="2461028"/>
            <a:ext cx="19100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For one inference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ZoneTexte 25">
                <a:extLst>
                  <a:ext uri="{FF2B5EF4-FFF2-40B4-BE49-F238E27FC236}">
                    <a16:creationId xmlns:a16="http://schemas.microsoft.com/office/drawing/2014/main" id="{23D36F1B-814C-5D1A-38F3-CEDD166FB52B}"/>
                  </a:ext>
                </a:extLst>
              </p:cNvPr>
              <p:cNvSpPr txBox="1"/>
              <p:nvPr/>
            </p:nvSpPr>
            <p:spPr>
              <a:xfrm>
                <a:off x="1226933" y="2855688"/>
                <a:ext cx="652082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fr-F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e>
                      </m:d>
                      <m:r>
                        <a:rPr lang="fr-FR" b="1" i="1" smtClean="0">
                          <a:latin typeface="Cambria Math" panose="02040503050406030204" pitchFamily="18" charset="0"/>
                        </a:rPr>
                        <m:t>𝑭𝒍𝒐𝒂𝒕𝒊𝒏𝒈</m:t>
                      </m:r>
                      <m:r>
                        <a:rPr lang="fr-FR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1" i="1" smtClean="0">
                          <a:latin typeface="Cambria Math" panose="02040503050406030204" pitchFamily="18" charset="0"/>
                        </a:rPr>
                        <m:t>𝒑𝒐𝒊𝒏𝒕</m:t>
                      </m:r>
                      <m:r>
                        <a:rPr lang="fr-FR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1" i="1" smtClean="0">
                          <a:latin typeface="Cambria Math" panose="02040503050406030204" pitchFamily="18" charset="0"/>
                        </a:rPr>
                        <m:t>𝒐𝒑𝒆𝒓𝒂𝒕𝒊𝒐𝒏𝒔</m:t>
                      </m:r>
                      <m:r>
                        <a:rPr lang="fr-FR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1" i="1" smtClean="0">
                          <a:latin typeface="Cambria Math" panose="02040503050406030204" pitchFamily="18" charset="0"/>
                        </a:rPr>
                        <m:t>𝒕𝒐</m:t>
                      </m:r>
                      <m:r>
                        <a:rPr lang="fr-FR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1" i="1" smtClean="0">
                          <a:latin typeface="Cambria Math" panose="02040503050406030204" pitchFamily="18" charset="0"/>
                        </a:rPr>
                        <m:t>𝒐𝒑𝒆𝒓𝒂𝒕𝒆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𝑃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𝐵𝑎𝑡𝑐h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_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𝑆𝑖𝑧𝑒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6" name="ZoneTexte 25">
                <a:extLst>
                  <a:ext uri="{FF2B5EF4-FFF2-40B4-BE49-F238E27FC236}">
                    <a16:creationId xmlns:a16="http://schemas.microsoft.com/office/drawing/2014/main" id="{23D36F1B-814C-5D1A-38F3-CEDD166FB5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6933" y="2855688"/>
                <a:ext cx="6520824" cy="369332"/>
              </a:xfrm>
              <a:prstGeom prst="rect">
                <a:avLst/>
              </a:prstGeom>
              <a:blipFill>
                <a:blip r:embed="rId3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ZoneTexte 27">
            <a:extLst>
              <a:ext uri="{FF2B5EF4-FFF2-40B4-BE49-F238E27FC236}">
                <a16:creationId xmlns:a16="http://schemas.microsoft.com/office/drawing/2014/main" id="{7536CE7E-78C8-3249-9771-AC0D97BC8E41}"/>
              </a:ext>
            </a:extLst>
          </p:cNvPr>
          <p:cNvSpPr txBox="1"/>
          <p:nvPr/>
        </p:nvSpPr>
        <p:spPr>
          <a:xfrm>
            <a:off x="8556605" y="2461028"/>
            <a:ext cx="1411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Bounded by 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23AB1BF6-E8D7-3710-BB55-3C17DD891D9E}"/>
              </a:ext>
            </a:extLst>
          </p:cNvPr>
          <p:cNvSpPr txBox="1"/>
          <p:nvPr/>
        </p:nvSpPr>
        <p:spPr>
          <a:xfrm>
            <a:off x="8556605" y="2886890"/>
            <a:ext cx="17565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Hardware Flops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ZoneTexte 33">
                <a:extLst>
                  <a:ext uri="{FF2B5EF4-FFF2-40B4-BE49-F238E27FC236}">
                    <a16:creationId xmlns:a16="http://schemas.microsoft.com/office/drawing/2014/main" id="{AC2E5B81-7774-252C-52D7-9E4B017AF404}"/>
                  </a:ext>
                </a:extLst>
              </p:cNvPr>
              <p:cNvSpPr txBox="1"/>
              <p:nvPr/>
            </p:nvSpPr>
            <p:spPr>
              <a:xfrm>
                <a:off x="1226933" y="3231998"/>
                <a:ext cx="283526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fr-F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e>
                      </m:d>
                      <m:r>
                        <a:rPr lang="fr-FR" b="1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1" i="1" smtClean="0">
                          <a:latin typeface="Cambria Math" panose="02040503050406030204" pitchFamily="18" charset="0"/>
                        </a:rPr>
                        <m:t>𝑷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𝑚𝑒𝑚𝑜𝑟𝑦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𝑚𝑜𝑣𝑒𝑚𝑒𝑛𝑡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4" name="ZoneTexte 33">
                <a:extLst>
                  <a:ext uri="{FF2B5EF4-FFF2-40B4-BE49-F238E27FC236}">
                    <a16:creationId xmlns:a16="http://schemas.microsoft.com/office/drawing/2014/main" id="{AC2E5B81-7774-252C-52D7-9E4B017AF4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6933" y="3231998"/>
                <a:ext cx="2835263" cy="369332"/>
              </a:xfrm>
              <a:prstGeom prst="rect">
                <a:avLst/>
              </a:prstGeom>
              <a:blipFill>
                <a:blip r:embed="rId4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ZoneTexte 34">
            <a:extLst>
              <a:ext uri="{FF2B5EF4-FFF2-40B4-BE49-F238E27FC236}">
                <a16:creationId xmlns:a16="http://schemas.microsoft.com/office/drawing/2014/main" id="{348D0B3A-44CB-7556-91C3-C87EC8A6DE4C}"/>
              </a:ext>
            </a:extLst>
          </p:cNvPr>
          <p:cNvSpPr txBox="1"/>
          <p:nvPr/>
        </p:nvSpPr>
        <p:spPr>
          <a:xfrm>
            <a:off x="8556605" y="3231998"/>
            <a:ext cx="32128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Hardware Memory Bandwidth</a:t>
            </a:r>
          </a:p>
        </p:txBody>
      </p:sp>
      <p:cxnSp>
        <p:nvCxnSpPr>
          <p:cNvPr id="39" name="Connecteur droit 38">
            <a:extLst>
              <a:ext uri="{FF2B5EF4-FFF2-40B4-BE49-F238E27FC236}">
                <a16:creationId xmlns:a16="http://schemas.microsoft.com/office/drawing/2014/main" id="{D66B5A89-0029-2AA3-2AC4-02BE52C8F66B}"/>
              </a:ext>
            </a:extLst>
          </p:cNvPr>
          <p:cNvCxnSpPr>
            <a:cxnSpLocks/>
          </p:cNvCxnSpPr>
          <p:nvPr/>
        </p:nvCxnSpPr>
        <p:spPr>
          <a:xfrm>
            <a:off x="8041876" y="2555475"/>
            <a:ext cx="0" cy="1045855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2" name="Connecteur droit 41">
            <a:extLst>
              <a:ext uri="{FF2B5EF4-FFF2-40B4-BE49-F238E27FC236}">
                <a16:creationId xmlns:a16="http://schemas.microsoft.com/office/drawing/2014/main" id="{E5122FC9-8A35-8A09-C584-BC343DC70A17}"/>
              </a:ext>
            </a:extLst>
          </p:cNvPr>
          <p:cNvCxnSpPr>
            <a:cxnSpLocks/>
          </p:cNvCxnSpPr>
          <p:nvPr/>
        </p:nvCxnSpPr>
        <p:spPr>
          <a:xfrm flipH="1">
            <a:off x="872157" y="2824979"/>
            <a:ext cx="10700150" cy="5381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1250ED37-0895-F4E6-C957-36C8D3311F91}"/>
              </a:ext>
            </a:extLst>
          </p:cNvPr>
          <p:cNvCxnSpPr>
            <a:cxnSpLocks/>
          </p:cNvCxnSpPr>
          <p:nvPr/>
        </p:nvCxnSpPr>
        <p:spPr>
          <a:xfrm flipV="1">
            <a:off x="3136816" y="6437135"/>
            <a:ext cx="3742379" cy="121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Connecteur droit avec flèche 56">
            <a:extLst>
              <a:ext uri="{FF2B5EF4-FFF2-40B4-BE49-F238E27FC236}">
                <a16:creationId xmlns:a16="http://schemas.microsoft.com/office/drawing/2014/main" id="{8384D701-3545-6F65-5357-240D23E85D76}"/>
              </a:ext>
            </a:extLst>
          </p:cNvPr>
          <p:cNvCxnSpPr/>
          <p:nvPr/>
        </p:nvCxnSpPr>
        <p:spPr>
          <a:xfrm flipV="1">
            <a:off x="3148927" y="4111772"/>
            <a:ext cx="0" cy="23495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Connecteur droit 58">
            <a:extLst>
              <a:ext uri="{FF2B5EF4-FFF2-40B4-BE49-F238E27FC236}">
                <a16:creationId xmlns:a16="http://schemas.microsoft.com/office/drawing/2014/main" id="{80DE4250-80DC-F656-5D57-5E11C28717A1}"/>
              </a:ext>
            </a:extLst>
          </p:cNvPr>
          <p:cNvCxnSpPr>
            <a:cxnSpLocks/>
          </p:cNvCxnSpPr>
          <p:nvPr/>
        </p:nvCxnSpPr>
        <p:spPr>
          <a:xfrm flipV="1">
            <a:off x="3148927" y="5263856"/>
            <a:ext cx="3730268" cy="2876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1" name="Connecteur droit 60">
            <a:extLst>
              <a:ext uri="{FF2B5EF4-FFF2-40B4-BE49-F238E27FC236}">
                <a16:creationId xmlns:a16="http://schemas.microsoft.com/office/drawing/2014/main" id="{E561EB51-4CFE-7115-31EF-54FDD57D38C2}"/>
              </a:ext>
            </a:extLst>
          </p:cNvPr>
          <p:cNvCxnSpPr>
            <a:cxnSpLocks/>
          </p:cNvCxnSpPr>
          <p:nvPr/>
        </p:nvCxnSpPr>
        <p:spPr>
          <a:xfrm flipV="1">
            <a:off x="3161039" y="4287385"/>
            <a:ext cx="3718156" cy="21497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66" name="ZoneTexte 65">
            <a:extLst>
              <a:ext uri="{FF2B5EF4-FFF2-40B4-BE49-F238E27FC236}">
                <a16:creationId xmlns:a16="http://schemas.microsoft.com/office/drawing/2014/main" id="{90288765-171D-5D72-EAE6-EEDA7EF4892C}"/>
              </a:ext>
            </a:extLst>
          </p:cNvPr>
          <p:cNvSpPr txBox="1"/>
          <p:nvPr/>
        </p:nvSpPr>
        <p:spPr>
          <a:xfrm>
            <a:off x="5746792" y="6488668"/>
            <a:ext cx="12183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Batch Size</a:t>
            </a: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B27C7D30-1076-1B28-1D4F-A2D54E43B531}"/>
              </a:ext>
            </a:extLst>
          </p:cNvPr>
          <p:cNvSpPr txBox="1"/>
          <p:nvPr/>
        </p:nvSpPr>
        <p:spPr>
          <a:xfrm>
            <a:off x="2379931" y="3965876"/>
            <a:ext cx="6687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ZoneTexte 71">
                <a:extLst>
                  <a:ext uri="{FF2B5EF4-FFF2-40B4-BE49-F238E27FC236}">
                    <a16:creationId xmlns:a16="http://schemas.microsoft.com/office/drawing/2014/main" id="{1DB03516-DA02-5D6A-2E69-E2A7F890D7E8}"/>
                  </a:ext>
                </a:extLst>
              </p:cNvPr>
              <p:cNvSpPr txBox="1"/>
              <p:nvPr/>
            </p:nvSpPr>
            <p:spPr>
              <a:xfrm>
                <a:off x="6891306" y="4125650"/>
                <a:ext cx="399955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𝑇𝑖𝑚𝑒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𝑓𝑜𝑟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𝑐𝑜𝑚𝑝𝑢𝑡𝑎𝑡𝑖𝑜𝑛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h𝑎𝑟𝑑𝑎𝑤𝑎𝑟𝑒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𝑓𝑙𝑜𝑝𝑠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2" name="ZoneTexte 71">
                <a:extLst>
                  <a:ext uri="{FF2B5EF4-FFF2-40B4-BE49-F238E27FC236}">
                    <a16:creationId xmlns:a16="http://schemas.microsoft.com/office/drawing/2014/main" id="{1DB03516-DA02-5D6A-2E69-E2A7F890D7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1306" y="4125650"/>
                <a:ext cx="3999556" cy="307777"/>
              </a:xfrm>
              <a:prstGeom prst="rect">
                <a:avLst/>
              </a:prstGeom>
              <a:blipFill>
                <a:blip r:embed="rId5"/>
                <a:stretch>
                  <a:fillRect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ZoneTexte 72">
                <a:extLst>
                  <a:ext uri="{FF2B5EF4-FFF2-40B4-BE49-F238E27FC236}">
                    <a16:creationId xmlns:a16="http://schemas.microsoft.com/office/drawing/2014/main" id="{D2A813B2-8CDF-5D5A-B85F-9EC8093D451C}"/>
                  </a:ext>
                </a:extLst>
              </p:cNvPr>
              <p:cNvSpPr txBox="1"/>
              <p:nvPr/>
            </p:nvSpPr>
            <p:spPr>
              <a:xfrm>
                <a:off x="6891306" y="5073086"/>
                <a:ext cx="465159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𝑇𝑖𝑚𝑒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𝑡𝑜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𝑙𝑜𝑎𝑑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𝑚𝑜𝑑𝑒𝑙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h𝑎𝑟𝑑𝑎𝑤𝑎𝑟𝑒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𝑚𝑒𝑚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𝑏𝑎𝑛𝑑𝑤𝑖𝑑𝑡h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3" name="ZoneTexte 72">
                <a:extLst>
                  <a:ext uri="{FF2B5EF4-FFF2-40B4-BE49-F238E27FC236}">
                    <a16:creationId xmlns:a16="http://schemas.microsoft.com/office/drawing/2014/main" id="{D2A813B2-8CDF-5D5A-B85F-9EC8093D45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1306" y="5073086"/>
                <a:ext cx="4651594" cy="307777"/>
              </a:xfrm>
              <a:prstGeom prst="rect">
                <a:avLst/>
              </a:prstGeom>
              <a:blipFill>
                <a:blip r:embed="rId6"/>
                <a:stretch>
                  <a:fillRect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C0842DF5-2798-2CC5-E1CB-82BDA96D8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954795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F8F44B-4CFA-9B4F-C18D-1DDA3C79E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C10A2DF4-50EC-B267-8FAF-EDA7E2107F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243" y="-5432"/>
            <a:ext cx="10515600" cy="1325563"/>
          </a:xfrm>
        </p:spPr>
        <p:txBody>
          <a:bodyPr/>
          <a:lstStyle/>
          <a:p>
            <a:r>
              <a:rPr lang="en-US" dirty="0"/>
              <a:t>Inference – Important metrics</a:t>
            </a:r>
          </a:p>
        </p:txBody>
      </p:sp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74259AB0-8A30-1F43-301D-54B3C559C81F}"/>
              </a:ext>
            </a:extLst>
          </p:cNvPr>
          <p:cNvCxnSpPr>
            <a:cxnSpLocks/>
          </p:cNvCxnSpPr>
          <p:nvPr/>
        </p:nvCxnSpPr>
        <p:spPr>
          <a:xfrm flipV="1">
            <a:off x="2913759" y="4723392"/>
            <a:ext cx="3742379" cy="121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Connecteur droit avec flèche 56">
            <a:extLst>
              <a:ext uri="{FF2B5EF4-FFF2-40B4-BE49-F238E27FC236}">
                <a16:creationId xmlns:a16="http://schemas.microsoft.com/office/drawing/2014/main" id="{E56EAB7F-D5BF-C836-CB87-F41D9FB1B206}"/>
              </a:ext>
            </a:extLst>
          </p:cNvPr>
          <p:cNvCxnSpPr/>
          <p:nvPr/>
        </p:nvCxnSpPr>
        <p:spPr>
          <a:xfrm flipV="1">
            <a:off x="2925870" y="2398029"/>
            <a:ext cx="0" cy="23495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Connecteur droit 58">
            <a:extLst>
              <a:ext uri="{FF2B5EF4-FFF2-40B4-BE49-F238E27FC236}">
                <a16:creationId xmlns:a16="http://schemas.microsoft.com/office/drawing/2014/main" id="{5070EB51-B307-05B2-BA2C-8898534B9AD0}"/>
              </a:ext>
            </a:extLst>
          </p:cNvPr>
          <p:cNvCxnSpPr>
            <a:cxnSpLocks/>
          </p:cNvCxnSpPr>
          <p:nvPr/>
        </p:nvCxnSpPr>
        <p:spPr>
          <a:xfrm flipV="1">
            <a:off x="2925870" y="3550113"/>
            <a:ext cx="3730268" cy="2876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1" name="Connecteur droit 60">
            <a:extLst>
              <a:ext uri="{FF2B5EF4-FFF2-40B4-BE49-F238E27FC236}">
                <a16:creationId xmlns:a16="http://schemas.microsoft.com/office/drawing/2014/main" id="{BB1EFC64-ED1A-0A0A-F691-DCA6BEFDED99}"/>
              </a:ext>
            </a:extLst>
          </p:cNvPr>
          <p:cNvCxnSpPr>
            <a:cxnSpLocks/>
          </p:cNvCxnSpPr>
          <p:nvPr/>
        </p:nvCxnSpPr>
        <p:spPr>
          <a:xfrm flipV="1">
            <a:off x="2937982" y="2573642"/>
            <a:ext cx="3718156" cy="214975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66" name="ZoneTexte 65">
            <a:extLst>
              <a:ext uri="{FF2B5EF4-FFF2-40B4-BE49-F238E27FC236}">
                <a16:creationId xmlns:a16="http://schemas.microsoft.com/office/drawing/2014/main" id="{6635A499-38D8-F5CB-5CED-769F03BFF5A6}"/>
              </a:ext>
            </a:extLst>
          </p:cNvPr>
          <p:cNvSpPr txBox="1"/>
          <p:nvPr/>
        </p:nvSpPr>
        <p:spPr>
          <a:xfrm>
            <a:off x="5523735" y="4774925"/>
            <a:ext cx="12183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Batch Size</a:t>
            </a: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AF9F8BB5-E6E4-CCA1-A5AC-3C764E6097A9}"/>
              </a:ext>
            </a:extLst>
          </p:cNvPr>
          <p:cNvSpPr txBox="1"/>
          <p:nvPr/>
        </p:nvSpPr>
        <p:spPr>
          <a:xfrm>
            <a:off x="2156874" y="2252133"/>
            <a:ext cx="6687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ZoneTexte 71">
                <a:extLst>
                  <a:ext uri="{FF2B5EF4-FFF2-40B4-BE49-F238E27FC236}">
                    <a16:creationId xmlns:a16="http://schemas.microsoft.com/office/drawing/2014/main" id="{2A377A88-518F-CAFD-A373-58977CF043D2}"/>
                  </a:ext>
                </a:extLst>
              </p:cNvPr>
              <p:cNvSpPr txBox="1"/>
              <p:nvPr/>
            </p:nvSpPr>
            <p:spPr>
              <a:xfrm>
                <a:off x="6668249" y="2411907"/>
                <a:ext cx="3999556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𝑇𝑖𝑚𝑒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𝑓𝑜𝑟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𝑐𝑜𝑚𝑝𝑢𝑡𝑎𝑡𝑖𝑜𝑛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h𝑎𝑟𝑑𝑎𝑤𝑎𝑟𝑒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𝑓𝑙𝑜𝑝𝑠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2" name="ZoneTexte 71">
                <a:extLst>
                  <a:ext uri="{FF2B5EF4-FFF2-40B4-BE49-F238E27FC236}">
                    <a16:creationId xmlns:a16="http://schemas.microsoft.com/office/drawing/2014/main" id="{2A377A88-518F-CAFD-A373-58977CF043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8249" y="2411907"/>
                <a:ext cx="3999556" cy="307777"/>
              </a:xfrm>
              <a:prstGeom prst="rect">
                <a:avLst/>
              </a:prstGeom>
              <a:blipFill>
                <a:blip r:embed="rId3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ZoneTexte 72">
                <a:extLst>
                  <a:ext uri="{FF2B5EF4-FFF2-40B4-BE49-F238E27FC236}">
                    <a16:creationId xmlns:a16="http://schemas.microsoft.com/office/drawing/2014/main" id="{1F8EF9D3-325F-AB39-0200-A7DBA8FFCFE4}"/>
                  </a:ext>
                </a:extLst>
              </p:cNvPr>
              <p:cNvSpPr txBox="1"/>
              <p:nvPr/>
            </p:nvSpPr>
            <p:spPr>
              <a:xfrm>
                <a:off x="6668249" y="3359343"/>
                <a:ext cx="4651594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𝑇𝑖𝑚𝑒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𝑡𝑜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𝑙𝑜𝑎𝑑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𝑚𝑜𝑑𝑒𝑙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e>
                      </m:d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h𝑎𝑟𝑑𝑎𝑤𝑎𝑟𝑒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𝑚𝑒𝑚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𝑏𝑎𝑛𝑑𝑤𝑖𝑑𝑡h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3" name="ZoneTexte 72">
                <a:extLst>
                  <a:ext uri="{FF2B5EF4-FFF2-40B4-BE49-F238E27FC236}">
                    <a16:creationId xmlns:a16="http://schemas.microsoft.com/office/drawing/2014/main" id="{1F8EF9D3-325F-AB39-0200-A7DBA8FFCF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68249" y="3359343"/>
                <a:ext cx="4651594" cy="307777"/>
              </a:xfrm>
              <a:prstGeom prst="rect">
                <a:avLst/>
              </a:prstGeom>
              <a:blipFill>
                <a:blip r:embed="rId4"/>
                <a:stretch>
                  <a:fillRect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Connecteur droit 2">
            <a:extLst>
              <a:ext uri="{FF2B5EF4-FFF2-40B4-BE49-F238E27FC236}">
                <a16:creationId xmlns:a16="http://schemas.microsoft.com/office/drawing/2014/main" id="{BC3B8155-5F4A-71B7-AA8E-17211CB07013}"/>
              </a:ext>
            </a:extLst>
          </p:cNvPr>
          <p:cNvCxnSpPr>
            <a:cxnSpLocks/>
          </p:cNvCxnSpPr>
          <p:nvPr/>
        </p:nvCxnSpPr>
        <p:spPr>
          <a:xfrm>
            <a:off x="4947450" y="2500975"/>
            <a:ext cx="0" cy="224663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D6498A66-F0D5-1DC9-8733-319E6E68FA39}"/>
                  </a:ext>
                </a:extLst>
              </p:cNvPr>
              <p:cNvSpPr txBox="1"/>
              <p:nvPr/>
            </p:nvSpPr>
            <p:spPr>
              <a:xfrm>
                <a:off x="4765780" y="4774925"/>
                <a:ext cx="4809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D6498A66-F0D5-1DC9-8733-319E6E68FA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5780" y="4774925"/>
                <a:ext cx="480964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F7044C26-02DC-BDF3-B1B3-21C9C4D66CAE}"/>
                  </a:ext>
                </a:extLst>
              </p:cNvPr>
              <p:cNvSpPr txBox="1"/>
              <p:nvPr/>
            </p:nvSpPr>
            <p:spPr>
              <a:xfrm>
                <a:off x="243231" y="5699863"/>
                <a:ext cx="11908901" cy="6668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𝑃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𝐵𝑎𝑡𝑐h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_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𝑠𝑖𝑧𝑒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h𝑎𝑟𝑑𝑎𝑤𝑎𝑟𝑒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𝑚𝑒𝑚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𝑏𝑎𝑛𝑑𝑤𝑖𝑑𝑡h</m:t>
                          </m:r>
                        </m:num>
                        <m:den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h𝑎𝑟𝑑𝑎𝑤𝑎𝑟𝑒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𝑓𝑙𝑜𝑝𝑠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h𝑎𝑟𝑑𝑎𝑤𝑎𝑟𝑒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𝑚𝑒𝑚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𝑏𝑎𝑛𝑑𝑤𝑖𝑑𝑡h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h𝑎𝑟𝑑𝑎𝑤𝑎𝑟𝑒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𝑓𝑙𝑜𝑝𝑠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321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num>
                        <m:den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1.5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𝑒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~208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𝐼𝑛𝑝𝑢𝑡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𝑆𝑒𝑞𝑢𝑒𝑛𝑐𝑒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F7044C26-02DC-BDF3-B1B3-21C9C4D66C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231" y="5699863"/>
                <a:ext cx="11908901" cy="666849"/>
              </a:xfrm>
              <a:prstGeom prst="rect">
                <a:avLst/>
              </a:prstGeom>
              <a:blipFill>
                <a:blip r:embed="rId6"/>
                <a:stretch>
                  <a:fillRect b="-92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ZoneTexte 8">
            <a:extLst>
              <a:ext uri="{FF2B5EF4-FFF2-40B4-BE49-F238E27FC236}">
                <a16:creationId xmlns:a16="http://schemas.microsoft.com/office/drawing/2014/main" id="{DF6D7C6D-4D57-C4CD-B52E-78083FEBA53E}"/>
              </a:ext>
            </a:extLst>
          </p:cNvPr>
          <p:cNvSpPr txBox="1"/>
          <p:nvPr/>
        </p:nvSpPr>
        <p:spPr>
          <a:xfrm>
            <a:off x="8605045" y="4990368"/>
            <a:ext cx="14975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 err="1">
                <a:solidFill>
                  <a:schemeClr val="accent1"/>
                </a:solidFill>
              </a:rPr>
              <a:t>Nvidia</a:t>
            </a:r>
            <a:r>
              <a:rPr lang="fr-FR" sz="1400" dirty="0">
                <a:solidFill>
                  <a:schemeClr val="accent1"/>
                </a:solidFill>
              </a:rPr>
              <a:t> A100 GPU</a:t>
            </a:r>
            <a:endParaRPr lang="en-US" sz="1400" dirty="0">
              <a:solidFill>
                <a:schemeClr val="accent1"/>
              </a:solidFill>
            </a:endParaRPr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970A54F6-7545-EC72-62F2-44C1EFDBB81B}"/>
              </a:ext>
            </a:extLst>
          </p:cNvPr>
          <p:cNvCxnSpPr/>
          <p:nvPr/>
        </p:nvCxnSpPr>
        <p:spPr>
          <a:xfrm>
            <a:off x="9374109" y="5359232"/>
            <a:ext cx="0" cy="347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B0A7B8E-1325-4132-FD81-2196671CD7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7010945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8E1E2-8A29-823F-669D-E15469692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32FBFF1A-7147-1249-E61C-4E6C66B4D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243" y="-5432"/>
            <a:ext cx="10515600" cy="1325563"/>
          </a:xfrm>
        </p:spPr>
        <p:txBody>
          <a:bodyPr/>
          <a:lstStyle/>
          <a:p>
            <a:r>
              <a:rPr lang="en-US" dirty="0"/>
              <a:t>Inference – Important metrics</a:t>
            </a:r>
          </a:p>
        </p:txBody>
      </p:sp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99A298A6-0FDE-45FC-C07E-72A436C470C7}"/>
              </a:ext>
            </a:extLst>
          </p:cNvPr>
          <p:cNvCxnSpPr>
            <a:cxnSpLocks/>
          </p:cNvCxnSpPr>
          <p:nvPr/>
        </p:nvCxnSpPr>
        <p:spPr>
          <a:xfrm flipV="1">
            <a:off x="2913759" y="4723392"/>
            <a:ext cx="3742379" cy="1211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7" name="Connecteur droit avec flèche 56">
            <a:extLst>
              <a:ext uri="{FF2B5EF4-FFF2-40B4-BE49-F238E27FC236}">
                <a16:creationId xmlns:a16="http://schemas.microsoft.com/office/drawing/2014/main" id="{F59D5B5F-F9BD-32DE-A3D8-79290E0A713D}"/>
              </a:ext>
            </a:extLst>
          </p:cNvPr>
          <p:cNvCxnSpPr/>
          <p:nvPr/>
        </p:nvCxnSpPr>
        <p:spPr>
          <a:xfrm flipV="1">
            <a:off x="2925870" y="2398029"/>
            <a:ext cx="0" cy="234958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6" name="ZoneTexte 65">
            <a:extLst>
              <a:ext uri="{FF2B5EF4-FFF2-40B4-BE49-F238E27FC236}">
                <a16:creationId xmlns:a16="http://schemas.microsoft.com/office/drawing/2014/main" id="{9132D123-9082-26FB-8D2F-408DF10E6FEA}"/>
              </a:ext>
            </a:extLst>
          </p:cNvPr>
          <p:cNvSpPr txBox="1"/>
          <p:nvPr/>
        </p:nvSpPr>
        <p:spPr>
          <a:xfrm>
            <a:off x="5523735" y="4774925"/>
            <a:ext cx="12183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Batch Size</a:t>
            </a:r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94D3EC07-3DED-F7C7-1E3F-AD78F404F6C7}"/>
              </a:ext>
            </a:extLst>
          </p:cNvPr>
          <p:cNvSpPr txBox="1"/>
          <p:nvPr/>
        </p:nvSpPr>
        <p:spPr>
          <a:xfrm>
            <a:off x="2156874" y="2252133"/>
            <a:ext cx="6687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Time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2" name="ZoneTexte 71">
                <a:extLst>
                  <a:ext uri="{FF2B5EF4-FFF2-40B4-BE49-F238E27FC236}">
                    <a16:creationId xmlns:a16="http://schemas.microsoft.com/office/drawing/2014/main" id="{DA29F837-19FB-813E-588C-0E2CE2CD7338}"/>
                  </a:ext>
                </a:extLst>
              </p:cNvPr>
              <p:cNvSpPr txBox="1"/>
              <p:nvPr/>
            </p:nvSpPr>
            <p:spPr>
              <a:xfrm>
                <a:off x="5116367" y="3542548"/>
                <a:ext cx="189135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𝐿𝑎𝑡𝑒𝑛𝑐𝑦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𝑖𝑛𝑐𝑟𝑒𝑎𝑠𝑒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𝑎𝑠</m:t>
                      </m:r>
                    </m:oMath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𝑏𝑎𝑡𝑐h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𝑠𝑖𝑧𝑒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𝑖𝑛𝑐𝑟𝑒𝑎𝑠𝑒𝑠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2" name="ZoneTexte 71">
                <a:extLst>
                  <a:ext uri="{FF2B5EF4-FFF2-40B4-BE49-F238E27FC236}">
                    <a16:creationId xmlns:a16="http://schemas.microsoft.com/office/drawing/2014/main" id="{DA29F837-19FB-813E-588C-0E2CE2CD73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6367" y="3542548"/>
                <a:ext cx="1891352" cy="523220"/>
              </a:xfrm>
              <a:prstGeom prst="rect">
                <a:avLst/>
              </a:prstGeom>
              <a:blipFill>
                <a:blip r:embed="rId3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Connecteur droit 2">
            <a:extLst>
              <a:ext uri="{FF2B5EF4-FFF2-40B4-BE49-F238E27FC236}">
                <a16:creationId xmlns:a16="http://schemas.microsoft.com/office/drawing/2014/main" id="{EA6859E0-54E6-58BB-BAB2-69700DAE931B}"/>
              </a:ext>
            </a:extLst>
          </p:cNvPr>
          <p:cNvCxnSpPr>
            <a:cxnSpLocks/>
          </p:cNvCxnSpPr>
          <p:nvPr/>
        </p:nvCxnSpPr>
        <p:spPr>
          <a:xfrm>
            <a:off x="4947450" y="2500975"/>
            <a:ext cx="0" cy="2246638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4A49F830-6D04-4011-669F-1CC62DD19076}"/>
                  </a:ext>
                </a:extLst>
              </p:cNvPr>
              <p:cNvSpPr txBox="1"/>
              <p:nvPr/>
            </p:nvSpPr>
            <p:spPr>
              <a:xfrm>
                <a:off x="4765780" y="4774925"/>
                <a:ext cx="48096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ZoneTexte 5">
                <a:extLst>
                  <a:ext uri="{FF2B5EF4-FFF2-40B4-BE49-F238E27FC236}">
                    <a16:creationId xmlns:a16="http://schemas.microsoft.com/office/drawing/2014/main" id="{4A49F830-6D04-4011-669F-1CC62DD190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5780" y="4774925"/>
                <a:ext cx="480964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Rectangle : coins arrondis 1">
            <a:extLst>
              <a:ext uri="{FF2B5EF4-FFF2-40B4-BE49-F238E27FC236}">
                <a16:creationId xmlns:a16="http://schemas.microsoft.com/office/drawing/2014/main" id="{F31D56F6-2E49-170F-E86D-37958BFAFAD0}"/>
              </a:ext>
            </a:extLst>
          </p:cNvPr>
          <p:cNvSpPr/>
          <p:nvPr/>
        </p:nvSpPr>
        <p:spPr>
          <a:xfrm>
            <a:off x="3226652" y="2598571"/>
            <a:ext cx="1388727" cy="70931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Memory bound</a:t>
            </a:r>
          </a:p>
        </p:txBody>
      </p:sp>
      <p:sp>
        <p:nvSpPr>
          <p:cNvPr id="4" name="Rectangle : coins arrondis 3">
            <a:extLst>
              <a:ext uri="{FF2B5EF4-FFF2-40B4-BE49-F238E27FC236}">
                <a16:creationId xmlns:a16="http://schemas.microsoft.com/office/drawing/2014/main" id="{22E3D3E4-4F46-2107-1977-A94722739FDC}"/>
              </a:ext>
            </a:extLst>
          </p:cNvPr>
          <p:cNvSpPr/>
          <p:nvPr/>
        </p:nvSpPr>
        <p:spPr>
          <a:xfrm>
            <a:off x="5279522" y="2599329"/>
            <a:ext cx="1388727" cy="70931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Compute bound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9EC600DA-CD9C-6BEA-F962-E6AAB6658BC2}"/>
                  </a:ext>
                </a:extLst>
              </p:cNvPr>
              <p:cNvSpPr txBox="1"/>
              <p:nvPr/>
            </p:nvSpPr>
            <p:spPr>
              <a:xfrm>
                <a:off x="3118840" y="3624294"/>
                <a:ext cx="160435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𝐶𝑜𝑛𝑠𝑡𝑎𝑛𝑡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𝑙𝑎𝑡𝑒𝑛𝑐𝑦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ZoneTexte 7">
                <a:extLst>
                  <a:ext uri="{FF2B5EF4-FFF2-40B4-BE49-F238E27FC236}">
                    <a16:creationId xmlns:a16="http://schemas.microsoft.com/office/drawing/2014/main" id="{9EC600DA-CD9C-6BEA-F962-E6AAB6658B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8840" y="3624294"/>
                <a:ext cx="1604350" cy="307777"/>
              </a:xfrm>
              <a:prstGeom prst="rect">
                <a:avLst/>
              </a:prstGeom>
              <a:blipFill>
                <a:blip r:embed="rId5"/>
                <a:stretch>
                  <a:fillRect b="-1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ZoneTexte 9">
                <a:extLst>
                  <a:ext uri="{FF2B5EF4-FFF2-40B4-BE49-F238E27FC236}">
                    <a16:creationId xmlns:a16="http://schemas.microsoft.com/office/drawing/2014/main" id="{107666AC-E46C-3232-77CE-C4F14DC6B52D}"/>
                  </a:ext>
                </a:extLst>
              </p:cNvPr>
              <p:cNvSpPr txBox="1"/>
              <p:nvPr/>
            </p:nvSpPr>
            <p:spPr>
              <a:xfrm>
                <a:off x="1491721" y="5785156"/>
                <a:ext cx="72492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: What maximizes throughput and minimize latency given a hardware </a:t>
                </a:r>
              </a:p>
            </p:txBody>
          </p:sp>
        </mc:Choice>
        <mc:Fallback xmlns="">
          <p:sp>
            <p:nvSpPr>
              <p:cNvPr id="10" name="ZoneTexte 9">
                <a:extLst>
                  <a:ext uri="{FF2B5EF4-FFF2-40B4-BE49-F238E27FC236}">
                    <a16:creationId xmlns:a16="http://schemas.microsoft.com/office/drawing/2014/main" id="{107666AC-E46C-3232-77CE-C4F14DC6B5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721" y="5785156"/>
                <a:ext cx="7249292" cy="369332"/>
              </a:xfrm>
              <a:prstGeom prst="rect">
                <a:avLst/>
              </a:prstGeom>
              <a:blipFill>
                <a:blip r:embed="rId6"/>
                <a:stretch>
                  <a:fillRect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ZoneTexte 11">
                <a:extLst>
                  <a:ext uri="{FF2B5EF4-FFF2-40B4-BE49-F238E27FC236}">
                    <a16:creationId xmlns:a16="http://schemas.microsoft.com/office/drawing/2014/main" id="{135A4EE9-741C-EC97-9C9C-D051E9A1D8E4}"/>
                  </a:ext>
                </a:extLst>
              </p:cNvPr>
              <p:cNvSpPr txBox="1"/>
              <p:nvPr/>
            </p:nvSpPr>
            <p:spPr>
              <a:xfrm>
                <a:off x="1491721" y="6193911"/>
                <a:ext cx="3675430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>
                    <a:solidFill>
                      <a:schemeClr val="accent1"/>
                    </a:solidFill>
                  </a:rPr>
                  <a:t> = 208 Input </a:t>
                </a:r>
                <a:r>
                  <a:rPr lang="fr-FR" sz="1400" dirty="0" err="1">
                    <a:solidFill>
                      <a:schemeClr val="accent1"/>
                    </a:solidFill>
                  </a:rPr>
                  <a:t>Sequences</a:t>
                </a:r>
                <a:r>
                  <a:rPr lang="fr-FR" sz="1400" dirty="0">
                    <a:solidFill>
                      <a:schemeClr val="accent1"/>
                    </a:solidFill>
                  </a:rPr>
                  <a:t> (</a:t>
                </a:r>
                <a:r>
                  <a:rPr lang="fr-FR" sz="1400" dirty="0" err="1">
                    <a:solidFill>
                      <a:schemeClr val="accent1"/>
                    </a:solidFill>
                  </a:rPr>
                  <a:t>Nvidia</a:t>
                </a:r>
                <a:r>
                  <a:rPr lang="fr-FR" sz="1400" dirty="0">
                    <a:solidFill>
                      <a:schemeClr val="accent1"/>
                    </a:solidFill>
                  </a:rPr>
                  <a:t> A100 GPU)</a:t>
                </a:r>
                <a:endParaRPr lang="en-US" sz="1400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12" name="ZoneTexte 11">
                <a:extLst>
                  <a:ext uri="{FF2B5EF4-FFF2-40B4-BE49-F238E27FC236}">
                    <a16:creationId xmlns:a16="http://schemas.microsoft.com/office/drawing/2014/main" id="{135A4EE9-741C-EC97-9C9C-D051E9A1D8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721" y="6193911"/>
                <a:ext cx="3675430" cy="307777"/>
              </a:xfrm>
              <a:prstGeom prst="rect">
                <a:avLst/>
              </a:prstGeom>
              <a:blipFill>
                <a:blip r:embed="rId7"/>
                <a:stretch>
                  <a:fillRect t="-3846" b="-15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E1D288-3753-99AE-7D47-DB4894596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788992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86C40-4F8C-478A-5A56-8D92AA40B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5C9EDCCB-7438-2C04-00FE-71AAD28BA4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243" y="-5432"/>
            <a:ext cx="10515600" cy="1325563"/>
          </a:xfrm>
        </p:spPr>
        <p:txBody>
          <a:bodyPr/>
          <a:lstStyle/>
          <a:p>
            <a:r>
              <a:rPr lang="en-US" dirty="0"/>
              <a:t>Inference – Important metrics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E5DFCCC0-435D-F759-4E7B-720AE96544A2}"/>
                  </a:ext>
                </a:extLst>
              </p:cNvPr>
              <p:cNvSpPr txBox="1"/>
              <p:nvPr/>
            </p:nvSpPr>
            <p:spPr>
              <a:xfrm>
                <a:off x="1491721" y="2173971"/>
                <a:ext cx="5952655" cy="3912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𝐵𝑦𝑡𝑒𝑠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𝑠𝑡𝑜𝑟𝑒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𝑘𝑣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𝑐𝑎𝑐h𝑒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𝑝𝑒𝑟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𝑡𝑜𝑘𝑒𝑛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=2×2×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𝑙𝑎𝑦𝑒𝑟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𝑚𝑜𝑑𝑒𝑙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ZoneTexte 6">
                <a:extLst>
                  <a:ext uri="{FF2B5EF4-FFF2-40B4-BE49-F238E27FC236}">
                    <a16:creationId xmlns:a16="http://schemas.microsoft.com/office/drawing/2014/main" id="{E5DFCCC0-435D-F759-4E7B-720AE96544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721" y="2173971"/>
                <a:ext cx="5952655" cy="391261"/>
              </a:xfrm>
              <a:prstGeom prst="rect">
                <a:avLst/>
              </a:prstGeom>
              <a:blipFill>
                <a:blip r:embed="rId3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ZoneTexte 8">
            <a:extLst>
              <a:ext uri="{FF2B5EF4-FFF2-40B4-BE49-F238E27FC236}">
                <a16:creationId xmlns:a16="http://schemas.microsoft.com/office/drawing/2014/main" id="{D6B2AA57-63EF-2CB2-078A-B7AFD2A03194}"/>
              </a:ext>
            </a:extLst>
          </p:cNvPr>
          <p:cNvSpPr txBox="1"/>
          <p:nvPr/>
        </p:nvSpPr>
        <p:spPr>
          <a:xfrm>
            <a:off x="804243" y="1501796"/>
            <a:ext cx="3144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Get the Max Sequence Length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ZoneTexte 10">
                <a:extLst>
                  <a:ext uri="{FF2B5EF4-FFF2-40B4-BE49-F238E27FC236}">
                    <a16:creationId xmlns:a16="http://schemas.microsoft.com/office/drawing/2014/main" id="{AB3291ED-C29B-FAC0-2EA8-A940B8B3843B}"/>
                  </a:ext>
                </a:extLst>
              </p:cNvPr>
              <p:cNvSpPr txBox="1"/>
              <p:nvPr/>
            </p:nvSpPr>
            <p:spPr>
              <a:xfrm>
                <a:off x="1542648" y="3277651"/>
                <a:ext cx="4652556" cy="3907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𝑅𝑒𝑚𝑎𝑖𝑛𝑖𝑛𝑔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𝑆𝑝𝑎𝑐𝑒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𝐺𝑃</m:t>
                      </m:r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𝑠𝑝𝑎𝑐𝑒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𝑀𝑜𝑑𝑒𝑙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𝑆𝑖𝑧𝑒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ZoneTexte 10">
                <a:extLst>
                  <a:ext uri="{FF2B5EF4-FFF2-40B4-BE49-F238E27FC236}">
                    <a16:creationId xmlns:a16="http://schemas.microsoft.com/office/drawing/2014/main" id="{AB3291ED-C29B-FAC0-2EA8-A940B8B384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2648" y="3277651"/>
                <a:ext cx="4652556" cy="390748"/>
              </a:xfrm>
              <a:prstGeom prst="rect">
                <a:avLst/>
              </a:prstGeom>
              <a:blipFill>
                <a:blip r:embed="rId4"/>
                <a:stretch>
                  <a:fillRect b="-96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ZoneTexte 14">
                <a:extLst>
                  <a:ext uri="{FF2B5EF4-FFF2-40B4-BE49-F238E27FC236}">
                    <a16:creationId xmlns:a16="http://schemas.microsoft.com/office/drawing/2014/main" id="{DB31F2AF-77AE-E1A1-5C4E-761CB9EA60A1}"/>
                  </a:ext>
                </a:extLst>
              </p:cNvPr>
              <p:cNvSpPr txBox="1"/>
              <p:nvPr/>
            </p:nvSpPr>
            <p:spPr>
              <a:xfrm>
                <a:off x="1542648" y="2595101"/>
                <a:ext cx="629986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𝐵𝑦𝑡𝑒𝑠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𝑠𝑡𝑜𝑟𝑒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𝑘𝑣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i="1">
                          <a:latin typeface="Cambria Math" panose="02040503050406030204" pitchFamily="18" charset="0"/>
                        </a:rPr>
                        <m:t>𝑐𝑎𝑐h𝑒𝑝𝑒𝑟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𝑡𝑜𝑘𝑒𝑛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=2,097,152=0.00209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𝐺𝐵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ZoneTexte 14">
                <a:extLst>
                  <a:ext uri="{FF2B5EF4-FFF2-40B4-BE49-F238E27FC236}">
                    <a16:creationId xmlns:a16="http://schemas.microsoft.com/office/drawing/2014/main" id="{DB31F2AF-77AE-E1A1-5C4E-761CB9EA60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2648" y="2595101"/>
                <a:ext cx="6299866" cy="369332"/>
              </a:xfrm>
              <a:prstGeom prst="rect">
                <a:avLst/>
              </a:prstGeom>
              <a:blipFill>
                <a:blip r:embed="rId5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FF2CDAC3-2EFB-2460-FE0C-EBA152EB5E5E}"/>
              </a:ext>
            </a:extLst>
          </p:cNvPr>
          <p:cNvSpPr/>
          <p:nvPr/>
        </p:nvSpPr>
        <p:spPr>
          <a:xfrm>
            <a:off x="7638341" y="1089396"/>
            <a:ext cx="1087575" cy="824800"/>
          </a:xfrm>
          <a:prstGeom prst="roundRect">
            <a:avLst/>
          </a:prstGeom>
          <a:gradFill flip="none" rotWithShape="1">
            <a:gsLst>
              <a:gs pos="0">
                <a:schemeClr val="accent5">
                  <a:tint val="66000"/>
                  <a:satMod val="160000"/>
                </a:schemeClr>
              </a:gs>
              <a:gs pos="50000">
                <a:schemeClr val="accent5">
                  <a:tint val="44500"/>
                  <a:satMod val="160000"/>
                </a:schemeClr>
              </a:gs>
              <a:gs pos="100000">
                <a:schemeClr val="accent5">
                  <a:tint val="23500"/>
                  <a:satMod val="160000"/>
                </a:schemeClr>
              </a:gs>
            </a:gsLst>
            <a:path path="circle">
              <a:fillToRect l="50000" t="50000" r="50000" b="50000"/>
            </a:path>
            <a:tileRect/>
          </a:gradFill>
          <a:ln w="508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LLM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E8DF40BD-2A5A-37B7-DAC6-CAC4D9F4C168}"/>
              </a:ext>
            </a:extLst>
          </p:cNvPr>
          <p:cNvSpPr txBox="1"/>
          <p:nvPr/>
        </p:nvSpPr>
        <p:spPr>
          <a:xfrm>
            <a:off x="9030725" y="823528"/>
            <a:ext cx="30822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Size = # Parameters (P) = 10B 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42CACDE6-8ADC-674B-2F77-50F0AB80BA33}"/>
              </a:ext>
            </a:extLst>
          </p:cNvPr>
          <p:cNvSpPr txBox="1"/>
          <p:nvPr/>
        </p:nvSpPr>
        <p:spPr>
          <a:xfrm>
            <a:off x="9030725" y="1086946"/>
            <a:ext cx="6303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16fp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ZoneTexte 19">
                <a:extLst>
                  <a:ext uri="{FF2B5EF4-FFF2-40B4-BE49-F238E27FC236}">
                    <a16:creationId xmlns:a16="http://schemas.microsoft.com/office/drawing/2014/main" id="{44CA3412-7149-C8D6-6345-0B0E2423908E}"/>
                  </a:ext>
                </a:extLst>
              </p:cNvPr>
              <p:cNvSpPr txBox="1"/>
              <p:nvPr/>
            </p:nvSpPr>
            <p:spPr>
              <a:xfrm>
                <a:off x="9030725" y="1329200"/>
                <a:ext cx="1390573" cy="39126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𝑙𝑎𝑦𝑒𝑟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=64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0" name="ZoneTexte 19">
                <a:extLst>
                  <a:ext uri="{FF2B5EF4-FFF2-40B4-BE49-F238E27FC236}">
                    <a16:creationId xmlns:a16="http://schemas.microsoft.com/office/drawing/2014/main" id="{44CA3412-7149-C8D6-6345-0B0E242390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0725" y="1329200"/>
                <a:ext cx="1390573" cy="391261"/>
              </a:xfrm>
              <a:prstGeom prst="rect">
                <a:avLst/>
              </a:prstGeom>
              <a:blipFill>
                <a:blip r:embed="rId6"/>
                <a:stretch>
                  <a:fillRect b="-6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ZoneTexte 20">
                <a:extLst>
                  <a:ext uri="{FF2B5EF4-FFF2-40B4-BE49-F238E27FC236}">
                    <a16:creationId xmlns:a16="http://schemas.microsoft.com/office/drawing/2014/main" id="{81A76442-C013-8AF7-83EC-D1803233FCB4}"/>
                  </a:ext>
                </a:extLst>
              </p:cNvPr>
              <p:cNvSpPr txBox="1"/>
              <p:nvPr/>
            </p:nvSpPr>
            <p:spPr>
              <a:xfrm>
                <a:off x="9030725" y="1672135"/>
                <a:ext cx="170841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𝑚𝑜𝑑𝑒𝑙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=8192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1" name="ZoneTexte 20">
                <a:extLst>
                  <a:ext uri="{FF2B5EF4-FFF2-40B4-BE49-F238E27FC236}">
                    <a16:creationId xmlns:a16="http://schemas.microsoft.com/office/drawing/2014/main" id="{81A76442-C013-8AF7-83EC-D1803233FC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30725" y="1672135"/>
                <a:ext cx="1708416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ZoneTexte 21">
                <a:extLst>
                  <a:ext uri="{FF2B5EF4-FFF2-40B4-BE49-F238E27FC236}">
                    <a16:creationId xmlns:a16="http://schemas.microsoft.com/office/drawing/2014/main" id="{27BE8782-A0D2-372E-589A-3D6D8B9C728D}"/>
                  </a:ext>
                </a:extLst>
              </p:cNvPr>
              <p:cNvSpPr txBox="1"/>
              <p:nvPr/>
            </p:nvSpPr>
            <p:spPr>
              <a:xfrm>
                <a:off x="1542648" y="3648054"/>
                <a:ext cx="503580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latin typeface="Cambria Math" panose="02040503050406030204" pitchFamily="18" charset="0"/>
                        </a:rPr>
                        <m:t>𝑅𝑒𝑚𝑎𝑖𝑛𝑖𝑛𝑔</m:t>
                      </m:r>
                      <m:r>
                        <a:rPr lang="fr-FR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i="1" smtClean="0">
                          <a:latin typeface="Cambria Math" panose="02040503050406030204" pitchFamily="18" charset="0"/>
                        </a:rPr>
                        <m:t>𝑆𝑝𝑎𝑐𝑒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=40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𝐺𝐵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−2×10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𝐺𝐵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=20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𝐺𝐵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2" name="ZoneTexte 21">
                <a:extLst>
                  <a:ext uri="{FF2B5EF4-FFF2-40B4-BE49-F238E27FC236}">
                    <a16:creationId xmlns:a16="http://schemas.microsoft.com/office/drawing/2014/main" id="{27BE8782-A0D2-372E-589A-3D6D8B9C72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42648" y="3648054"/>
                <a:ext cx="5035802" cy="369332"/>
              </a:xfrm>
              <a:prstGeom prst="rect">
                <a:avLst/>
              </a:prstGeom>
              <a:blipFill>
                <a:blip r:embed="rId8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ZoneTexte 22">
            <a:extLst>
              <a:ext uri="{FF2B5EF4-FFF2-40B4-BE49-F238E27FC236}">
                <a16:creationId xmlns:a16="http://schemas.microsoft.com/office/drawing/2014/main" id="{93EF31CC-1D85-28E5-55D8-A1D541BA822E}"/>
              </a:ext>
            </a:extLst>
          </p:cNvPr>
          <p:cNvSpPr txBox="1"/>
          <p:nvPr/>
        </p:nvSpPr>
        <p:spPr>
          <a:xfrm>
            <a:off x="7433365" y="2080365"/>
            <a:ext cx="14975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1400" dirty="0" err="1">
                <a:solidFill>
                  <a:schemeClr val="accent1"/>
                </a:solidFill>
              </a:rPr>
              <a:t>Nvidia</a:t>
            </a:r>
            <a:r>
              <a:rPr lang="fr-FR" sz="1400" dirty="0">
                <a:solidFill>
                  <a:schemeClr val="accent1"/>
                </a:solidFill>
              </a:rPr>
              <a:t> A100 GPU</a:t>
            </a:r>
            <a:endParaRPr lang="en-US" sz="1400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ZoneTexte 24">
                <a:extLst>
                  <a:ext uri="{FF2B5EF4-FFF2-40B4-BE49-F238E27FC236}">
                    <a16:creationId xmlns:a16="http://schemas.microsoft.com/office/drawing/2014/main" id="{17ED5787-4D83-F4FD-11FA-577EED0E6C9D}"/>
                  </a:ext>
                </a:extLst>
              </p:cNvPr>
              <p:cNvSpPr txBox="1"/>
              <p:nvPr/>
            </p:nvSpPr>
            <p:spPr>
              <a:xfrm>
                <a:off x="1491721" y="4408188"/>
                <a:ext cx="7935442" cy="66005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𝑇𝑜𝑡𝑎𝑙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𝑜𝑓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𝑡𝑜𝑘𝑒𝑛𝑠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𝑡h𝑎𝑡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𝑐𝑎𝑛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𝑏𝑒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𝑠𝑡𝑜𝑟𝑒𝑑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𝑅𝑒𝑚𝑎𝑖𝑛𝑖𝑛𝑔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𝑆𝑝𝑎𝑐𝑒</m:t>
                          </m:r>
                        </m:num>
                        <m:den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𝐵𝑦𝑡𝑒𝑠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𝑠𝑡𝑜𝑟𝑒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𝑝𝑒𝑟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r-FR" i="1">
                              <a:latin typeface="Cambria Math" panose="02040503050406030204" pitchFamily="18" charset="0"/>
                            </a:rPr>
                            <m:t>𝑡𝑜𝑘𝑒𝑛</m:t>
                          </m:r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9600 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𝑡𝑜𝑘𝑒𝑛𝑠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5" name="ZoneTexte 24">
                <a:extLst>
                  <a:ext uri="{FF2B5EF4-FFF2-40B4-BE49-F238E27FC236}">
                    <a16:creationId xmlns:a16="http://schemas.microsoft.com/office/drawing/2014/main" id="{17ED5787-4D83-F4FD-11FA-577EED0E6C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721" y="4408188"/>
                <a:ext cx="7935442" cy="660052"/>
              </a:xfrm>
              <a:prstGeom prst="rect">
                <a:avLst/>
              </a:prstGeom>
              <a:blipFill>
                <a:blip r:embed="rId9"/>
                <a:stretch>
                  <a:fillRect t="-1923" b="-1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ZoneTexte 26">
                <a:extLst>
                  <a:ext uri="{FF2B5EF4-FFF2-40B4-BE49-F238E27FC236}">
                    <a16:creationId xmlns:a16="http://schemas.microsoft.com/office/drawing/2014/main" id="{5E18C8A0-9A9B-65FB-E3A5-CE5A2DC0C7AB}"/>
                  </a:ext>
                </a:extLst>
              </p:cNvPr>
              <p:cNvSpPr txBox="1"/>
              <p:nvPr/>
            </p:nvSpPr>
            <p:spPr>
              <a:xfrm>
                <a:off x="1930175" y="5498933"/>
                <a:ext cx="7058534" cy="6619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𝑀𝑎𝑥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𝑆𝑒𝑞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𝐿𝑒𝑛𝑔h𝑡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𝑝𝑒𝑟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𝑟𝑒𝑞𝑢𝑒𝑠𝑡𝑠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9600</m:t>
                          </m:r>
                        </m:num>
                        <m:den>
                          <m:sSup>
                            <m:sSupPr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(=208)</m:t>
                          </m:r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46 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𝑡𝑜𝑘𝑒𝑛𝑠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~ 32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𝑤𝑜𝑟𝑑𝑠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7" name="ZoneTexte 26">
                <a:extLst>
                  <a:ext uri="{FF2B5EF4-FFF2-40B4-BE49-F238E27FC236}">
                    <a16:creationId xmlns:a16="http://schemas.microsoft.com/office/drawing/2014/main" id="{5E18C8A0-9A9B-65FB-E3A5-CE5A2DC0C7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30175" y="5498933"/>
                <a:ext cx="7058534" cy="661912"/>
              </a:xfrm>
              <a:prstGeom prst="rect">
                <a:avLst/>
              </a:prstGeom>
              <a:blipFill>
                <a:blip r:embed="rId10"/>
                <a:stretch>
                  <a:fillRect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Connecteur droit 28">
            <a:extLst>
              <a:ext uri="{FF2B5EF4-FFF2-40B4-BE49-F238E27FC236}">
                <a16:creationId xmlns:a16="http://schemas.microsoft.com/office/drawing/2014/main" id="{186E504B-A0E3-7012-4483-6520F07A7467}"/>
              </a:ext>
            </a:extLst>
          </p:cNvPr>
          <p:cNvCxnSpPr/>
          <p:nvPr/>
        </p:nvCxnSpPr>
        <p:spPr>
          <a:xfrm>
            <a:off x="1392795" y="2244665"/>
            <a:ext cx="0" cy="6438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eur droit 29">
            <a:extLst>
              <a:ext uri="{FF2B5EF4-FFF2-40B4-BE49-F238E27FC236}">
                <a16:creationId xmlns:a16="http://schemas.microsoft.com/office/drawing/2014/main" id="{AB489BFF-F35F-CD6D-E733-DA337A11A80E}"/>
              </a:ext>
            </a:extLst>
          </p:cNvPr>
          <p:cNvCxnSpPr/>
          <p:nvPr/>
        </p:nvCxnSpPr>
        <p:spPr>
          <a:xfrm>
            <a:off x="1392795" y="3326119"/>
            <a:ext cx="0" cy="64387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eur droit avec flèche 31">
            <a:extLst>
              <a:ext uri="{FF2B5EF4-FFF2-40B4-BE49-F238E27FC236}">
                <a16:creationId xmlns:a16="http://schemas.microsoft.com/office/drawing/2014/main" id="{0F967410-687C-E5B9-FE5B-02D6D4BC2AD0}"/>
              </a:ext>
            </a:extLst>
          </p:cNvPr>
          <p:cNvCxnSpPr/>
          <p:nvPr/>
        </p:nvCxnSpPr>
        <p:spPr>
          <a:xfrm flipV="1">
            <a:off x="672175" y="4754357"/>
            <a:ext cx="763009" cy="98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 : coins arrondis 32">
            <a:extLst>
              <a:ext uri="{FF2B5EF4-FFF2-40B4-BE49-F238E27FC236}">
                <a16:creationId xmlns:a16="http://schemas.microsoft.com/office/drawing/2014/main" id="{793BBAD2-E626-8D81-4DA4-80717E60885B}"/>
              </a:ext>
            </a:extLst>
          </p:cNvPr>
          <p:cNvSpPr/>
          <p:nvPr/>
        </p:nvSpPr>
        <p:spPr>
          <a:xfrm>
            <a:off x="1930175" y="5436448"/>
            <a:ext cx="7178805" cy="84778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4" name="Connecteur droit 33">
            <a:extLst>
              <a:ext uri="{FF2B5EF4-FFF2-40B4-BE49-F238E27FC236}">
                <a16:creationId xmlns:a16="http://schemas.microsoft.com/office/drawing/2014/main" id="{8E6440B9-AE0C-AF56-8F5C-61DADE3567A8}"/>
              </a:ext>
            </a:extLst>
          </p:cNvPr>
          <p:cNvCxnSpPr>
            <a:cxnSpLocks/>
          </p:cNvCxnSpPr>
          <p:nvPr/>
        </p:nvCxnSpPr>
        <p:spPr>
          <a:xfrm>
            <a:off x="7638341" y="2019933"/>
            <a:ext cx="108757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ZoneTexte 38">
            <a:extLst>
              <a:ext uri="{FF2B5EF4-FFF2-40B4-BE49-F238E27FC236}">
                <a16:creationId xmlns:a16="http://schemas.microsoft.com/office/drawing/2014/main" id="{D27983EE-9B6C-32BD-7C99-876B89FDE53C}"/>
              </a:ext>
            </a:extLst>
          </p:cNvPr>
          <p:cNvSpPr txBox="1"/>
          <p:nvPr/>
        </p:nvSpPr>
        <p:spPr>
          <a:xfrm>
            <a:off x="783079" y="947236"/>
            <a:ext cx="609499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dirty="0" err="1"/>
              <a:t>Two</a:t>
            </a:r>
            <a:r>
              <a:rPr lang="fr-FR" dirty="0"/>
              <a:t> </a:t>
            </a:r>
            <a:r>
              <a:rPr lang="fr-FR" dirty="0" err="1"/>
              <a:t>things</a:t>
            </a:r>
            <a:r>
              <a:rPr lang="fr-FR" dirty="0"/>
              <a:t> </a:t>
            </a:r>
            <a:r>
              <a:rPr lang="fr-FR" dirty="0" err="1"/>
              <a:t>we</a:t>
            </a:r>
            <a:r>
              <a:rPr lang="fr-FR" dirty="0"/>
              <a:t> store in </a:t>
            </a:r>
            <a:r>
              <a:rPr lang="fr-FR" dirty="0" err="1"/>
              <a:t>our</a:t>
            </a:r>
            <a:r>
              <a:rPr lang="fr-FR" dirty="0"/>
              <a:t> </a:t>
            </a:r>
            <a:r>
              <a:rPr lang="fr-FR" dirty="0" err="1"/>
              <a:t>GPUs</a:t>
            </a:r>
            <a:r>
              <a:rPr lang="fr-FR" dirty="0"/>
              <a:t> — </a:t>
            </a:r>
            <a:r>
              <a:rPr lang="fr-FR" dirty="0" err="1"/>
              <a:t>kv</a:t>
            </a:r>
            <a:r>
              <a:rPr lang="fr-FR" dirty="0"/>
              <a:t> cache and </a:t>
            </a:r>
            <a:r>
              <a:rPr lang="fr-FR" dirty="0" err="1"/>
              <a:t>weights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EE4F81B-A5A7-674B-EEE3-66E63DF9E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815039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D9469-BA38-8D8F-46E3-D6563FFC0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B58B33E9-3446-A14F-5FFC-F0A804A417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243" y="-5432"/>
            <a:ext cx="10515600" cy="1325563"/>
          </a:xfrm>
        </p:spPr>
        <p:txBody>
          <a:bodyPr/>
          <a:lstStyle/>
          <a:p>
            <a:r>
              <a:rPr lang="en-US" dirty="0"/>
              <a:t>Inference – Important metrics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06379BA2-6605-DCA9-D17F-FA56B63E16EA}"/>
                  </a:ext>
                </a:extLst>
              </p:cNvPr>
              <p:cNvSpPr txBox="1"/>
              <p:nvPr/>
            </p:nvSpPr>
            <p:spPr>
              <a:xfrm>
                <a:off x="1708103" y="2749165"/>
                <a:ext cx="86657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At Optimal Batch Size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 = 208, we can handle requests with a maximum of 46 tokens </a:t>
                </a:r>
              </a:p>
            </p:txBody>
          </p:sp>
        </mc:Choice>
        <mc:Fallback xmlns="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06379BA2-6605-DCA9-D17F-FA56B63E16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8103" y="2749165"/>
                <a:ext cx="8665770" cy="369332"/>
              </a:xfrm>
              <a:prstGeom prst="rect">
                <a:avLst/>
              </a:prstGeom>
              <a:blipFill>
                <a:blip r:embed="rId3"/>
                <a:stretch>
                  <a:fillRect l="-586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ZoneTexte 2">
            <a:extLst>
              <a:ext uri="{FF2B5EF4-FFF2-40B4-BE49-F238E27FC236}">
                <a16:creationId xmlns:a16="http://schemas.microsoft.com/office/drawing/2014/main" id="{6F0DE872-09F4-21F3-D713-D9244822EB4F}"/>
              </a:ext>
            </a:extLst>
          </p:cNvPr>
          <p:cNvSpPr txBox="1"/>
          <p:nvPr/>
        </p:nvSpPr>
        <p:spPr>
          <a:xfrm>
            <a:off x="1993873" y="3681728"/>
            <a:ext cx="79231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Lower Batch Size = Higher Max Sequence Length but we will be Memory Bound</a:t>
            </a: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693FFF5A-E434-BE3E-782C-6941A97FA0CA}"/>
              </a:ext>
            </a:extLst>
          </p:cNvPr>
          <p:cNvCxnSpPr/>
          <p:nvPr/>
        </p:nvCxnSpPr>
        <p:spPr>
          <a:xfrm>
            <a:off x="2078652" y="4462904"/>
            <a:ext cx="8598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ZoneTexte 9">
            <a:extLst>
              <a:ext uri="{FF2B5EF4-FFF2-40B4-BE49-F238E27FC236}">
                <a16:creationId xmlns:a16="http://schemas.microsoft.com/office/drawing/2014/main" id="{097AA016-DE68-D249-50E8-829A5E52767F}"/>
              </a:ext>
            </a:extLst>
          </p:cNvPr>
          <p:cNvSpPr txBox="1"/>
          <p:nvPr/>
        </p:nvSpPr>
        <p:spPr>
          <a:xfrm>
            <a:off x="2938551" y="4278238"/>
            <a:ext cx="52127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won’t use the full capacity  of the GPU Instance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ZoneTexte 12">
                <a:extLst>
                  <a:ext uri="{FF2B5EF4-FFF2-40B4-BE49-F238E27FC236}">
                    <a16:creationId xmlns:a16="http://schemas.microsoft.com/office/drawing/2014/main" id="{6CD34312-9B35-A334-C8EB-7E75B29DFFAB}"/>
                  </a:ext>
                </a:extLst>
              </p:cNvPr>
              <p:cNvSpPr txBox="1"/>
              <p:nvPr/>
            </p:nvSpPr>
            <p:spPr>
              <a:xfrm>
                <a:off x="2039176" y="1609794"/>
                <a:ext cx="7058534" cy="66191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𝑀𝑎𝑥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𝑆𝑒𝑞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𝐿𝑒𝑛𝑔h𝑡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𝑝𝑒𝑟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𝑟𝑒𝑞𝑢𝑒𝑠𝑡𝑠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9600</m:t>
                          </m:r>
                        </m:num>
                        <m:den>
                          <m:sSup>
                            <m:sSupPr>
                              <m:ctrlP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fr-FR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(=208)</m:t>
                          </m:r>
                        </m:den>
                      </m:f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46 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𝑡𝑜𝑘𝑒𝑛𝑠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~ 32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𝑤𝑜𝑟𝑑𝑠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" name="ZoneTexte 12">
                <a:extLst>
                  <a:ext uri="{FF2B5EF4-FFF2-40B4-BE49-F238E27FC236}">
                    <a16:creationId xmlns:a16="http://schemas.microsoft.com/office/drawing/2014/main" id="{6CD34312-9B35-A334-C8EB-7E75B29DFF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9176" y="1609794"/>
                <a:ext cx="7058534" cy="661912"/>
              </a:xfrm>
              <a:prstGeom prst="rect">
                <a:avLst/>
              </a:prstGeom>
              <a:blipFill>
                <a:blip r:embed="rId4"/>
                <a:stretch>
                  <a:fillRect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169463BE-AEBC-6E23-9020-5CF7CF66E25F}"/>
              </a:ext>
            </a:extLst>
          </p:cNvPr>
          <p:cNvSpPr/>
          <p:nvPr/>
        </p:nvSpPr>
        <p:spPr>
          <a:xfrm>
            <a:off x="2039176" y="1547309"/>
            <a:ext cx="7178805" cy="847788"/>
          </a:xfrm>
          <a:prstGeom prst="round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047DCF36-A32E-8A8D-AE64-2EE8BAE0485E}"/>
              </a:ext>
            </a:extLst>
          </p:cNvPr>
          <p:cNvSpPr txBox="1"/>
          <p:nvPr/>
        </p:nvSpPr>
        <p:spPr>
          <a:xfrm>
            <a:off x="9991788" y="5928461"/>
            <a:ext cx="11802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5"/>
              </a:rPr>
              <a:t>More here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54E7AF-5F1F-3D1B-31DF-48F25EB9AF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031817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75360"/>
          </a:xfrm>
          <a:prstGeom prst="rect">
            <a:avLst/>
          </a:prstGeom>
          <a:solidFill>
            <a:srgbClr val="277884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4" name="Text 2"/>
          <p:cNvSpPr/>
          <p:nvPr/>
        </p:nvSpPr>
        <p:spPr>
          <a:xfrm>
            <a:off x="365760" y="426720"/>
            <a:ext cx="9144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667" b="1" dirty="0">
                <a:solidFill>
                  <a:srgbClr val="FFFFFF"/>
                </a:solidFill>
              </a:rPr>
              <a:t>Deployment &amp; Optimization</a:t>
            </a:r>
            <a:endParaRPr lang="en-US" sz="2667" dirty="0"/>
          </a:p>
        </p:txBody>
      </p:sp>
      <p:sp>
        <p:nvSpPr>
          <p:cNvPr id="5" name="Shape 3"/>
          <p:cNvSpPr/>
          <p:nvPr/>
        </p:nvSpPr>
        <p:spPr>
          <a:xfrm>
            <a:off x="365760" y="1219200"/>
            <a:ext cx="11460480" cy="1463040"/>
          </a:xfrm>
          <a:prstGeom prst="rect">
            <a:avLst/>
          </a:prstGeom>
          <a:solidFill>
            <a:srgbClr val="F4F6F6"/>
          </a:solidFill>
          <a:ln w="25400">
            <a:solidFill>
              <a:srgbClr val="F39C12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6" name="Text 4"/>
          <p:cNvSpPr/>
          <p:nvPr/>
        </p:nvSpPr>
        <p:spPr>
          <a:xfrm>
            <a:off x="609600" y="1341120"/>
            <a:ext cx="10972800" cy="121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867" dirty="0">
                <a:solidFill>
                  <a:srgbClr val="1C2833"/>
                </a:solidFill>
              </a:rPr>
              <a:t>Your GenAI app works perfectly in testing but production shows 5x higher latency, 3x costs, and intermittent failures during peak hours (9-11 AM).</a:t>
            </a:r>
            <a:endParaRPr lang="en-US" sz="1867" dirty="0"/>
          </a:p>
        </p:txBody>
      </p:sp>
      <p:sp>
        <p:nvSpPr>
          <p:cNvPr id="7" name="Text 5"/>
          <p:cNvSpPr/>
          <p:nvPr/>
        </p:nvSpPr>
        <p:spPr>
          <a:xfrm>
            <a:off x="365760" y="2926080"/>
            <a:ext cx="1146048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133" b="1" dirty="0">
                <a:solidFill>
                  <a:srgbClr val="1C2833"/>
                </a:solidFill>
              </a:rPr>
              <a:t>What's the most likely root cause?</a:t>
            </a:r>
            <a:endParaRPr lang="en-US" sz="2133" dirty="0"/>
          </a:p>
        </p:txBody>
      </p:sp>
      <p:sp>
        <p:nvSpPr>
          <p:cNvPr id="8" name="Text 6"/>
          <p:cNvSpPr/>
          <p:nvPr/>
        </p:nvSpPr>
        <p:spPr>
          <a:xfrm>
            <a:off x="609600" y="365760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C2833"/>
                </a:solidFill>
              </a:rPr>
              <a:t>A) The model quality degrades under load</a:t>
            </a:r>
            <a:endParaRPr lang="en-US" sz="1733" dirty="0"/>
          </a:p>
        </p:txBody>
      </p:sp>
      <p:sp>
        <p:nvSpPr>
          <p:cNvPr id="9" name="Text 7"/>
          <p:cNvSpPr/>
          <p:nvPr/>
        </p:nvSpPr>
        <p:spPr>
          <a:xfrm>
            <a:off x="609600" y="438912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C2833"/>
                </a:solidFill>
              </a:rPr>
              <a:t>B) Testing used different prompts than production</a:t>
            </a:r>
            <a:endParaRPr lang="en-US" sz="1733" dirty="0"/>
          </a:p>
        </p:txBody>
      </p:sp>
      <p:sp>
        <p:nvSpPr>
          <p:cNvPr id="10" name="Shape 8"/>
          <p:cNvSpPr/>
          <p:nvPr/>
        </p:nvSpPr>
        <p:spPr>
          <a:xfrm>
            <a:off x="365760" y="4815840"/>
            <a:ext cx="11460480" cy="609600"/>
          </a:xfrm>
          <a:prstGeom prst="rect">
            <a:avLst/>
          </a:prstGeom>
          <a:solidFill>
            <a:srgbClr val="E8F5E9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n-US" sz="2400"/>
          </a:p>
        </p:txBody>
      </p:sp>
      <p:sp>
        <p:nvSpPr>
          <p:cNvPr id="11" name="Text 9"/>
          <p:cNvSpPr/>
          <p:nvPr/>
        </p:nvSpPr>
        <p:spPr>
          <a:xfrm>
            <a:off x="609600" y="512064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/>
              <a:t>C) No load testing, rate limiting, or request batching implemented</a:t>
            </a:r>
          </a:p>
        </p:txBody>
      </p:sp>
      <p:sp>
        <p:nvSpPr>
          <p:cNvPr id="12" name="Text 10"/>
          <p:cNvSpPr/>
          <p:nvPr/>
        </p:nvSpPr>
        <p:spPr>
          <a:xfrm>
            <a:off x="609600" y="5852160"/>
            <a:ext cx="10972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733" dirty="0">
                <a:solidFill>
                  <a:srgbClr val="1C2833"/>
                </a:solidFill>
              </a:rPr>
              <a:t>D) Users ask more complex questions in production</a:t>
            </a:r>
            <a:endParaRPr lang="en-US" sz="1733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3A106-DADB-7005-63D5-256A7F764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2">
            <a:extLst>
              <a:ext uri="{FF2B5EF4-FFF2-40B4-BE49-F238E27FC236}">
                <a16:creationId xmlns:a16="http://schemas.microsoft.com/office/drawing/2014/main" id="{5C8656B6-7AF5-6D79-FDD2-31E7F7E024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243" y="-5432"/>
            <a:ext cx="10515600" cy="1325563"/>
          </a:xfrm>
        </p:spPr>
        <p:txBody>
          <a:bodyPr/>
          <a:lstStyle/>
          <a:p>
            <a:r>
              <a:rPr lang="en-US" dirty="0"/>
              <a:t>Inference – Optimization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F876A875-BD0A-26B9-A312-23331B0157F5}"/>
              </a:ext>
            </a:extLst>
          </p:cNvPr>
          <p:cNvSpPr txBox="1"/>
          <p:nvPr/>
        </p:nvSpPr>
        <p:spPr>
          <a:xfrm>
            <a:off x="9991788" y="5928461"/>
            <a:ext cx="11802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More here</a:t>
            </a:r>
            <a:endParaRPr lang="en-US" dirty="0"/>
          </a:p>
        </p:txBody>
      </p:sp>
      <p:grpSp>
        <p:nvGrpSpPr>
          <p:cNvPr id="36" name="Groupe 35">
            <a:extLst>
              <a:ext uri="{FF2B5EF4-FFF2-40B4-BE49-F238E27FC236}">
                <a16:creationId xmlns:a16="http://schemas.microsoft.com/office/drawing/2014/main" id="{2CB7FBB6-F32B-03EF-E5BF-D84DDBB787F8}"/>
              </a:ext>
            </a:extLst>
          </p:cNvPr>
          <p:cNvGrpSpPr/>
          <p:nvPr/>
        </p:nvGrpSpPr>
        <p:grpSpPr>
          <a:xfrm>
            <a:off x="557263" y="1662584"/>
            <a:ext cx="3155847" cy="1766416"/>
            <a:chOff x="575430" y="1135465"/>
            <a:chExt cx="3155847" cy="1766416"/>
          </a:xfrm>
        </p:grpSpPr>
        <p:sp>
          <p:nvSpPr>
            <p:cNvPr id="9" name="Rectangle : coins arrondis 8">
              <a:extLst>
                <a:ext uri="{FF2B5EF4-FFF2-40B4-BE49-F238E27FC236}">
                  <a16:creationId xmlns:a16="http://schemas.microsoft.com/office/drawing/2014/main" id="{80F14FB5-D519-2C33-B265-0DFCC8450875}"/>
                </a:ext>
              </a:extLst>
            </p:cNvPr>
            <p:cNvSpPr/>
            <p:nvPr/>
          </p:nvSpPr>
          <p:spPr>
            <a:xfrm>
              <a:off x="575430" y="1768247"/>
              <a:ext cx="1435039" cy="1133634"/>
            </a:xfrm>
            <a:prstGeom prst="roundRect">
              <a:avLst/>
            </a:prstGeom>
            <a:gradFill flip="none" rotWithShape="1">
              <a:gsLst>
                <a:gs pos="0">
                  <a:schemeClr val="accent5">
                    <a:tint val="66000"/>
                    <a:satMod val="160000"/>
                  </a:schemeClr>
                </a:gs>
                <a:gs pos="50000">
                  <a:schemeClr val="accent5">
                    <a:tint val="44500"/>
                    <a:satMod val="160000"/>
                  </a:schemeClr>
                </a:gs>
                <a:gs pos="100000">
                  <a:schemeClr val="accent5"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508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LLM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Teacher</a:t>
              </a:r>
            </a:p>
          </p:txBody>
        </p:sp>
        <p:sp>
          <p:nvSpPr>
            <p:cNvPr id="11" name="Rectangle : coins arrondis 10">
              <a:extLst>
                <a:ext uri="{FF2B5EF4-FFF2-40B4-BE49-F238E27FC236}">
                  <a16:creationId xmlns:a16="http://schemas.microsoft.com/office/drawing/2014/main" id="{FF0A9643-D687-117C-059B-095F16D3FD7A}"/>
                </a:ext>
              </a:extLst>
            </p:cNvPr>
            <p:cNvSpPr/>
            <p:nvPr/>
          </p:nvSpPr>
          <p:spPr>
            <a:xfrm>
              <a:off x="2634198" y="1907522"/>
              <a:ext cx="1097079" cy="855079"/>
            </a:xfrm>
            <a:prstGeom prst="roundRect">
              <a:avLst/>
            </a:prstGeom>
            <a:gradFill flip="none" rotWithShape="1">
              <a:gsLst>
                <a:gs pos="0">
                  <a:schemeClr val="accent5">
                    <a:tint val="66000"/>
                    <a:satMod val="160000"/>
                  </a:schemeClr>
                </a:gs>
                <a:gs pos="50000">
                  <a:schemeClr val="accent5">
                    <a:tint val="44500"/>
                    <a:satMod val="160000"/>
                  </a:schemeClr>
                </a:gs>
                <a:gs pos="100000">
                  <a:schemeClr val="accent5"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508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LLM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</a:rPr>
                <a:t>Student</a:t>
              </a:r>
            </a:p>
          </p:txBody>
        </p:sp>
        <p:sp>
          <p:nvSpPr>
            <p:cNvPr id="12" name="ZoneTexte 11">
              <a:extLst>
                <a:ext uri="{FF2B5EF4-FFF2-40B4-BE49-F238E27FC236}">
                  <a16:creationId xmlns:a16="http://schemas.microsoft.com/office/drawing/2014/main" id="{2E27059E-A64A-0573-D112-DD2A53ECEDB5}"/>
                </a:ext>
              </a:extLst>
            </p:cNvPr>
            <p:cNvSpPr txBox="1"/>
            <p:nvPr/>
          </p:nvSpPr>
          <p:spPr>
            <a:xfrm>
              <a:off x="1574464" y="1135465"/>
              <a:ext cx="12616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u="sng" dirty="0"/>
                <a:t>Distillation</a:t>
              </a:r>
            </a:p>
          </p:txBody>
        </p:sp>
        <p:cxnSp>
          <p:nvCxnSpPr>
            <p:cNvPr id="23" name="Connecteur droit avec flèche 22">
              <a:extLst>
                <a:ext uri="{FF2B5EF4-FFF2-40B4-BE49-F238E27FC236}">
                  <a16:creationId xmlns:a16="http://schemas.microsoft.com/office/drawing/2014/main" id="{F6B812DA-3BB2-5B39-7902-99634C3FE708}"/>
                </a:ext>
              </a:extLst>
            </p:cNvPr>
            <p:cNvCxnSpPr>
              <a:stCxn id="9" idx="3"/>
              <a:endCxn id="11" idx="1"/>
            </p:cNvCxnSpPr>
            <p:nvPr/>
          </p:nvCxnSpPr>
          <p:spPr>
            <a:xfrm flipV="1">
              <a:off x="2010469" y="2335062"/>
              <a:ext cx="623729" cy="2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Groupe 36">
            <a:extLst>
              <a:ext uri="{FF2B5EF4-FFF2-40B4-BE49-F238E27FC236}">
                <a16:creationId xmlns:a16="http://schemas.microsoft.com/office/drawing/2014/main" id="{94E3A4BE-37EA-8FD9-D57D-B84FF6CD4221}"/>
              </a:ext>
            </a:extLst>
          </p:cNvPr>
          <p:cNvGrpSpPr/>
          <p:nvPr/>
        </p:nvGrpSpPr>
        <p:grpSpPr>
          <a:xfrm>
            <a:off x="5505851" y="1697248"/>
            <a:ext cx="2204864" cy="3463504"/>
            <a:chOff x="6085970" y="1099130"/>
            <a:chExt cx="2204864" cy="3463504"/>
          </a:xfrm>
        </p:grpSpPr>
        <p:sp>
          <p:nvSpPr>
            <p:cNvPr id="15" name="Rectangle : coins arrondis 14">
              <a:extLst>
                <a:ext uri="{FF2B5EF4-FFF2-40B4-BE49-F238E27FC236}">
                  <a16:creationId xmlns:a16="http://schemas.microsoft.com/office/drawing/2014/main" id="{AA44E2F2-67D3-52DA-CCC1-FD0EF688B69E}"/>
                </a:ext>
              </a:extLst>
            </p:cNvPr>
            <p:cNvSpPr/>
            <p:nvPr/>
          </p:nvSpPr>
          <p:spPr>
            <a:xfrm>
              <a:off x="6101184" y="1610801"/>
              <a:ext cx="1435039" cy="1133634"/>
            </a:xfrm>
            <a:prstGeom prst="roundRect">
              <a:avLst/>
            </a:prstGeom>
            <a:gradFill flip="none" rotWithShape="1">
              <a:gsLst>
                <a:gs pos="0">
                  <a:schemeClr val="accent5">
                    <a:tint val="66000"/>
                    <a:satMod val="160000"/>
                  </a:schemeClr>
                </a:gs>
                <a:gs pos="50000">
                  <a:schemeClr val="accent5">
                    <a:tint val="44500"/>
                    <a:satMod val="160000"/>
                  </a:schemeClr>
                </a:gs>
                <a:gs pos="100000">
                  <a:schemeClr val="accent5"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508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LLM</a:t>
              </a:r>
            </a:p>
          </p:txBody>
        </p:sp>
        <p:sp>
          <p:nvSpPr>
            <p:cNvPr id="18" name="ZoneTexte 17">
              <a:extLst>
                <a:ext uri="{FF2B5EF4-FFF2-40B4-BE49-F238E27FC236}">
                  <a16:creationId xmlns:a16="http://schemas.microsoft.com/office/drawing/2014/main" id="{EEB6119E-51CF-2B83-8DAB-4DB7AE71FC14}"/>
                </a:ext>
              </a:extLst>
            </p:cNvPr>
            <p:cNvSpPr txBox="1"/>
            <p:nvPr/>
          </p:nvSpPr>
          <p:spPr>
            <a:xfrm>
              <a:off x="6085970" y="1099130"/>
              <a:ext cx="14654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u="sng" dirty="0"/>
                <a:t>Quantization</a:t>
              </a:r>
            </a:p>
          </p:txBody>
        </p:sp>
        <p:sp>
          <p:nvSpPr>
            <p:cNvPr id="19" name="ZoneTexte 18">
              <a:extLst>
                <a:ext uri="{FF2B5EF4-FFF2-40B4-BE49-F238E27FC236}">
                  <a16:creationId xmlns:a16="http://schemas.microsoft.com/office/drawing/2014/main" id="{D73BF78F-B5A7-1A7E-1EAF-9CE904C66E3F}"/>
                </a:ext>
              </a:extLst>
            </p:cNvPr>
            <p:cNvSpPr txBox="1"/>
            <p:nvPr/>
          </p:nvSpPr>
          <p:spPr>
            <a:xfrm>
              <a:off x="7521071" y="1965729"/>
              <a:ext cx="76976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32-bit</a:t>
              </a:r>
            </a:p>
          </p:txBody>
        </p:sp>
        <p:sp>
          <p:nvSpPr>
            <p:cNvPr id="20" name="Rectangle : coins arrondis 19">
              <a:extLst>
                <a:ext uri="{FF2B5EF4-FFF2-40B4-BE49-F238E27FC236}">
                  <a16:creationId xmlns:a16="http://schemas.microsoft.com/office/drawing/2014/main" id="{D895816D-2D1F-EDD3-0F24-27DACDDA5EB4}"/>
                </a:ext>
              </a:extLst>
            </p:cNvPr>
            <p:cNvSpPr/>
            <p:nvPr/>
          </p:nvSpPr>
          <p:spPr>
            <a:xfrm>
              <a:off x="6101184" y="3429000"/>
              <a:ext cx="1435039" cy="1133634"/>
            </a:xfrm>
            <a:prstGeom prst="roundRect">
              <a:avLst/>
            </a:prstGeom>
            <a:gradFill flip="none" rotWithShape="1">
              <a:gsLst>
                <a:gs pos="0">
                  <a:schemeClr val="accent5">
                    <a:tint val="66000"/>
                    <a:satMod val="160000"/>
                  </a:schemeClr>
                </a:gs>
                <a:gs pos="50000">
                  <a:schemeClr val="accent5">
                    <a:tint val="44500"/>
                    <a:satMod val="160000"/>
                  </a:schemeClr>
                </a:gs>
                <a:gs pos="100000">
                  <a:schemeClr val="accent5"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508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LLM</a:t>
              </a:r>
            </a:p>
          </p:txBody>
        </p:sp>
        <p:sp>
          <p:nvSpPr>
            <p:cNvPr id="21" name="ZoneTexte 20">
              <a:extLst>
                <a:ext uri="{FF2B5EF4-FFF2-40B4-BE49-F238E27FC236}">
                  <a16:creationId xmlns:a16="http://schemas.microsoft.com/office/drawing/2014/main" id="{51742CD5-7B3F-EA5D-827C-7D945444EA5E}"/>
                </a:ext>
              </a:extLst>
            </p:cNvPr>
            <p:cNvSpPr txBox="1"/>
            <p:nvPr/>
          </p:nvSpPr>
          <p:spPr>
            <a:xfrm>
              <a:off x="7521071" y="3811151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8-bit</a:t>
              </a:r>
            </a:p>
          </p:txBody>
        </p:sp>
        <p:cxnSp>
          <p:nvCxnSpPr>
            <p:cNvPr id="24" name="Connecteur droit avec flèche 23">
              <a:extLst>
                <a:ext uri="{FF2B5EF4-FFF2-40B4-BE49-F238E27FC236}">
                  <a16:creationId xmlns:a16="http://schemas.microsoft.com/office/drawing/2014/main" id="{8DF16197-384F-3ECD-CB19-799C4EA37E25}"/>
                </a:ext>
              </a:extLst>
            </p:cNvPr>
            <p:cNvCxnSpPr>
              <a:cxnSpLocks/>
              <a:stCxn id="15" idx="2"/>
            </p:cNvCxnSpPr>
            <p:nvPr/>
          </p:nvCxnSpPr>
          <p:spPr>
            <a:xfrm flipH="1">
              <a:off x="6818703" y="2744435"/>
              <a:ext cx="1" cy="684565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e 37">
            <a:extLst>
              <a:ext uri="{FF2B5EF4-FFF2-40B4-BE49-F238E27FC236}">
                <a16:creationId xmlns:a16="http://schemas.microsoft.com/office/drawing/2014/main" id="{64D88AA7-398F-7675-D1AC-FA0335BF2CA0}"/>
              </a:ext>
            </a:extLst>
          </p:cNvPr>
          <p:cNvGrpSpPr/>
          <p:nvPr/>
        </p:nvGrpSpPr>
        <p:grpSpPr>
          <a:xfrm>
            <a:off x="9503455" y="1626249"/>
            <a:ext cx="1435039" cy="3463504"/>
            <a:chOff x="9521622" y="1099130"/>
            <a:chExt cx="1435039" cy="3463504"/>
          </a:xfrm>
        </p:grpSpPr>
        <p:sp>
          <p:nvSpPr>
            <p:cNvPr id="27" name="Rectangle : coins arrondis 26">
              <a:extLst>
                <a:ext uri="{FF2B5EF4-FFF2-40B4-BE49-F238E27FC236}">
                  <a16:creationId xmlns:a16="http://schemas.microsoft.com/office/drawing/2014/main" id="{71B1D57C-E751-AAFE-FF0B-A637C6A02EF6}"/>
                </a:ext>
              </a:extLst>
            </p:cNvPr>
            <p:cNvSpPr/>
            <p:nvPr/>
          </p:nvSpPr>
          <p:spPr>
            <a:xfrm>
              <a:off x="9521622" y="1731911"/>
              <a:ext cx="1435039" cy="1133634"/>
            </a:xfrm>
            <a:prstGeom prst="roundRect">
              <a:avLst/>
            </a:prstGeom>
            <a:gradFill flip="none" rotWithShape="1">
              <a:gsLst>
                <a:gs pos="0">
                  <a:schemeClr val="accent5">
                    <a:tint val="66000"/>
                    <a:satMod val="160000"/>
                  </a:schemeClr>
                </a:gs>
                <a:gs pos="50000">
                  <a:schemeClr val="accent5">
                    <a:tint val="44500"/>
                    <a:satMod val="160000"/>
                  </a:schemeClr>
                </a:gs>
                <a:gs pos="100000">
                  <a:schemeClr val="accent5"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508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LLM</a:t>
              </a:r>
            </a:p>
          </p:txBody>
        </p:sp>
        <p:sp>
          <p:nvSpPr>
            <p:cNvPr id="28" name="ZoneTexte 27">
              <a:extLst>
                <a:ext uri="{FF2B5EF4-FFF2-40B4-BE49-F238E27FC236}">
                  <a16:creationId xmlns:a16="http://schemas.microsoft.com/office/drawing/2014/main" id="{2E6EB257-D286-A20A-257F-DCECD3834BA4}"/>
                </a:ext>
              </a:extLst>
            </p:cNvPr>
            <p:cNvSpPr txBox="1"/>
            <p:nvPr/>
          </p:nvSpPr>
          <p:spPr>
            <a:xfrm>
              <a:off x="9768820" y="1099130"/>
              <a:ext cx="9406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u="sng" dirty="0"/>
                <a:t>Pruning</a:t>
              </a:r>
            </a:p>
          </p:txBody>
        </p:sp>
        <p:sp>
          <p:nvSpPr>
            <p:cNvPr id="30" name="Rectangle : coins arrondis 29">
              <a:extLst>
                <a:ext uri="{FF2B5EF4-FFF2-40B4-BE49-F238E27FC236}">
                  <a16:creationId xmlns:a16="http://schemas.microsoft.com/office/drawing/2014/main" id="{4B73E6A5-8494-4CB3-EDA5-71AF6180C0B3}"/>
                </a:ext>
              </a:extLst>
            </p:cNvPr>
            <p:cNvSpPr/>
            <p:nvPr/>
          </p:nvSpPr>
          <p:spPr>
            <a:xfrm>
              <a:off x="9521622" y="3429000"/>
              <a:ext cx="1435039" cy="1133634"/>
            </a:xfrm>
            <a:prstGeom prst="roundRect">
              <a:avLst/>
            </a:prstGeom>
            <a:gradFill flip="none" rotWithShape="1">
              <a:gsLst>
                <a:gs pos="0">
                  <a:schemeClr val="accent5">
                    <a:tint val="66000"/>
                    <a:satMod val="160000"/>
                  </a:schemeClr>
                </a:gs>
                <a:gs pos="50000">
                  <a:schemeClr val="accent5">
                    <a:tint val="44500"/>
                    <a:satMod val="160000"/>
                  </a:schemeClr>
                </a:gs>
                <a:gs pos="100000">
                  <a:schemeClr val="accent5">
                    <a:tint val="23500"/>
                    <a:satMod val="16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 w="508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</a:rPr>
                <a:t>Pruned</a:t>
              </a:r>
              <a:br>
                <a:rPr lang="en-US" dirty="0">
                  <a:solidFill>
                    <a:schemeClr val="tx1"/>
                  </a:solidFill>
                </a:rPr>
              </a:br>
              <a:r>
                <a:rPr lang="en-US" dirty="0">
                  <a:solidFill>
                    <a:schemeClr val="tx1"/>
                  </a:solidFill>
                </a:rPr>
                <a:t>LLM</a:t>
              </a:r>
            </a:p>
          </p:txBody>
        </p:sp>
        <p:cxnSp>
          <p:nvCxnSpPr>
            <p:cNvPr id="32" name="Connecteur droit avec flèche 31">
              <a:extLst>
                <a:ext uri="{FF2B5EF4-FFF2-40B4-BE49-F238E27FC236}">
                  <a16:creationId xmlns:a16="http://schemas.microsoft.com/office/drawing/2014/main" id="{43AB9CEA-714F-E1F1-2C92-786FBE26F9B5}"/>
                </a:ext>
              </a:extLst>
            </p:cNvPr>
            <p:cNvCxnSpPr>
              <a:cxnSpLocks/>
            </p:cNvCxnSpPr>
            <p:nvPr/>
          </p:nvCxnSpPr>
          <p:spPr>
            <a:xfrm>
              <a:off x="10239141" y="2865545"/>
              <a:ext cx="0" cy="563455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F2FE1F-1EE6-523B-5F99-BF1A36DCCF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C481E4-9564-C44F-AEB1-48F1A8C67A40}" type="slidenum">
              <a:rPr lang="en-US" smtClean="0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45722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2561</TotalTime>
  <Words>6026</Words>
  <Application>Microsoft Macintosh PowerPoint</Application>
  <PresentationFormat>Widescreen</PresentationFormat>
  <Paragraphs>1460</Paragraphs>
  <Slides>141</Slides>
  <Notes>103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141</vt:i4>
      </vt:variant>
    </vt:vector>
  </HeadingPairs>
  <TitlesOfParts>
    <vt:vector size="153" baseType="lpstr">
      <vt:lpstr>Amazon Ember</vt:lpstr>
      <vt:lpstr>Amazon Ember Display</vt:lpstr>
      <vt:lpstr>American Typewriter</vt:lpstr>
      <vt:lpstr>Aptos</vt:lpstr>
      <vt:lpstr>Aptos Display</vt:lpstr>
      <vt:lpstr>Arial</vt:lpstr>
      <vt:lpstr>Calibri</vt:lpstr>
      <vt:lpstr>Cambria Math</vt:lpstr>
      <vt:lpstr>Courier New</vt:lpstr>
      <vt:lpstr>IBM Plex Sans</vt:lpstr>
      <vt:lpstr>Wingdings</vt:lpstr>
      <vt:lpstr>Office Theme</vt:lpstr>
      <vt:lpstr>PowerPoint Presentation</vt:lpstr>
      <vt:lpstr>Generative AI Project Life Cycle</vt:lpstr>
      <vt:lpstr>GenAI Life Cycle Project</vt:lpstr>
      <vt:lpstr>GenAI Life Cycle Project</vt:lpstr>
      <vt:lpstr>GenAI Life Cycle Project</vt:lpstr>
      <vt:lpstr>GenAI Life Cycle Project</vt:lpstr>
      <vt:lpstr>GenAI Life Cycle Project</vt:lpstr>
      <vt:lpstr>PowerPoint Presentation</vt:lpstr>
      <vt:lpstr>PowerPoint Presentation</vt:lpstr>
      <vt:lpstr>Prompt Engineering</vt:lpstr>
      <vt:lpstr>PowerPoint Presentation</vt:lpstr>
      <vt:lpstr>Prompt Definition</vt:lpstr>
      <vt:lpstr>PowerPoint Presentation</vt:lpstr>
      <vt:lpstr>What happens with real use case?</vt:lpstr>
      <vt:lpstr>Why Prompt Engineering</vt:lpstr>
      <vt:lpstr>Chain-of-Thought</vt:lpstr>
      <vt:lpstr>Chain of Thought</vt:lpstr>
      <vt:lpstr>Tree-of-Though</vt:lpstr>
      <vt:lpstr>Prompt Chaining &amp; Stepwise Prompt</vt:lpstr>
      <vt:lpstr>ReAct: Reason + Act</vt:lpstr>
      <vt:lpstr>Anthropic Prompt Guide</vt:lpstr>
      <vt:lpstr>OpenAI Prompt Guide</vt:lpstr>
      <vt:lpstr>Inference Parameters</vt:lpstr>
      <vt:lpstr>Inference Parameters</vt:lpstr>
      <vt:lpstr>Inference Parameters</vt:lpstr>
      <vt:lpstr>Inference Parameters</vt:lpstr>
      <vt:lpstr>PowerPoint Presentation</vt:lpstr>
      <vt:lpstr>PowerPoint Presentation</vt:lpstr>
      <vt:lpstr>Retrieval Augmented Generation</vt:lpstr>
      <vt:lpstr>PowerPoint Presentation</vt:lpstr>
      <vt:lpstr>Why using RAG ?</vt:lpstr>
      <vt:lpstr>Retrieval Augmented Generation Phases</vt:lpstr>
      <vt:lpstr>Ingestion Phase</vt:lpstr>
      <vt:lpstr>Retrieval</vt:lpstr>
      <vt:lpstr>Re-Ranking</vt:lpstr>
      <vt:lpstr>Architecture Example (running phase)</vt:lpstr>
      <vt:lpstr>Architecture Example (Ingestion)</vt:lpstr>
      <vt:lpstr>Re-Ranking</vt:lpstr>
      <vt:lpstr>Cosine-Similarity</vt:lpstr>
      <vt:lpstr>Chunking strategy: Fixed-size</vt:lpstr>
      <vt:lpstr>Chunking strategy: Semantic Chunking</vt:lpstr>
      <vt:lpstr>Chunking strategy: Other</vt:lpstr>
      <vt:lpstr>PowerPoint Presentation</vt:lpstr>
      <vt:lpstr>RAG Evaluation</vt:lpstr>
      <vt:lpstr>RAG Evaluation - Retrieval</vt:lpstr>
      <vt:lpstr>RAG Evaluation - Retrieval</vt:lpstr>
      <vt:lpstr>PowerPoint Presentation</vt:lpstr>
      <vt:lpstr>PowerPoint Presentation</vt:lpstr>
      <vt:lpstr>PowerPoint Presentation</vt:lpstr>
      <vt:lpstr>PowerPoint Presentation</vt:lpstr>
      <vt:lpstr>Fine-Tuning </vt:lpstr>
      <vt:lpstr>PowerPoint Presentation</vt:lpstr>
      <vt:lpstr>Pretraining vs Fine-tuning</vt:lpstr>
      <vt:lpstr>Pre-trained models</vt:lpstr>
      <vt:lpstr>Challenges of Training LLMs models</vt:lpstr>
      <vt:lpstr>Scaling Law (Chinchilla Scaling Law)</vt:lpstr>
      <vt:lpstr>Challenges of Training LLMs models</vt:lpstr>
      <vt:lpstr>Challenges of Training LLMs models</vt:lpstr>
      <vt:lpstr>Scaling Choices for Pre-training</vt:lpstr>
      <vt:lpstr>Fine-tuning</vt:lpstr>
      <vt:lpstr>Fine-tuning</vt:lpstr>
      <vt:lpstr>Cross Entropy</vt:lpstr>
      <vt:lpstr>Fine-Tuning Risks</vt:lpstr>
      <vt:lpstr>PEFT</vt:lpstr>
      <vt:lpstr>PEFT</vt:lpstr>
      <vt:lpstr>PEFT: Low-Rank Adaptation (LoRA)</vt:lpstr>
      <vt:lpstr>PEFT: Low-Rank Adaptation (LoRA)</vt:lpstr>
      <vt:lpstr>PEFT: Low-Rank Adaptation (LoRA)</vt:lpstr>
      <vt:lpstr>PowerPoint Presentation</vt:lpstr>
      <vt:lpstr>PowerPoint Presentation</vt:lpstr>
      <vt:lpstr>RHLF &amp; Model Evaluation </vt:lpstr>
      <vt:lpstr>PowerPoint Presentation</vt:lpstr>
      <vt:lpstr>Definition</vt:lpstr>
      <vt:lpstr>Why RLHF ?</vt:lpstr>
      <vt:lpstr>RLHF</vt:lpstr>
      <vt:lpstr>RLHF</vt:lpstr>
      <vt:lpstr>RLHF</vt:lpstr>
      <vt:lpstr>RLHF – obtaining feedback from human</vt:lpstr>
      <vt:lpstr>RLHF – obtaining feedback from human</vt:lpstr>
      <vt:lpstr>RLHF – obtaining feedback from human</vt:lpstr>
      <vt:lpstr>RLHF – obtaining feedback from human</vt:lpstr>
      <vt:lpstr>RLHF</vt:lpstr>
      <vt:lpstr>PowerPoint Presentation</vt:lpstr>
      <vt:lpstr>LLM Evaluation</vt:lpstr>
      <vt:lpstr>Statistical Scores</vt:lpstr>
      <vt:lpstr>Statistical Scores</vt:lpstr>
      <vt:lpstr>Statistical Scores</vt:lpstr>
      <vt:lpstr>Statistical Scores</vt:lpstr>
      <vt:lpstr>Model Based and Statistical Scores</vt:lpstr>
      <vt:lpstr>Model Based and Statistical Scores</vt:lpstr>
      <vt:lpstr>Model Based and Statistical Scores</vt:lpstr>
      <vt:lpstr>Model Based and Statistical Scores</vt:lpstr>
      <vt:lpstr>Model Based and Statistical Scores</vt:lpstr>
      <vt:lpstr>Model Based and Statistical Scores</vt:lpstr>
      <vt:lpstr>Model Based and Statistical Scores</vt:lpstr>
      <vt:lpstr>Evaluation Benchmarks</vt:lpstr>
      <vt:lpstr>PowerPoint Presentation</vt:lpstr>
      <vt:lpstr>PowerPoint Presentation</vt:lpstr>
      <vt:lpstr>Agentic AI &amp;  System Design  </vt:lpstr>
      <vt:lpstr>PowerPoint Presentation</vt:lpstr>
      <vt:lpstr>Agentic AI - Definition</vt:lpstr>
      <vt:lpstr>Simplest agent has only a set of instructions</vt:lpstr>
      <vt:lpstr>Agents use actions to get work done</vt:lpstr>
      <vt:lpstr>Agents use Knowledge Bases to find information</vt:lpstr>
      <vt:lpstr>Agents can combine Actions and Knowledge Bases</vt:lpstr>
      <vt:lpstr>Agents Workflow</vt:lpstr>
      <vt:lpstr>Agent orchestration – Detailed flow</vt:lpstr>
      <vt:lpstr>leads to challenges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Observability</vt:lpstr>
      <vt:lpstr>PowerPoint Presentation</vt:lpstr>
      <vt:lpstr>Trace Observability</vt:lpstr>
      <vt:lpstr>Trace Error Observability</vt:lpstr>
      <vt:lpstr>Trace Error Observability</vt:lpstr>
      <vt:lpstr>Topic Observability</vt:lpstr>
      <vt:lpstr>Metric Observability</vt:lpstr>
      <vt:lpstr>Agentic Observability</vt:lpstr>
      <vt:lpstr>Evaluation Observability</vt:lpstr>
      <vt:lpstr>Agentic Observability</vt:lpstr>
      <vt:lpstr>PowerPoint Presentation</vt:lpstr>
      <vt:lpstr>Optimizing and Deploying for Inference</vt:lpstr>
      <vt:lpstr>PowerPoint Presentation</vt:lpstr>
      <vt:lpstr>Inference – Important metrics</vt:lpstr>
      <vt:lpstr>Inference – Important metrics</vt:lpstr>
      <vt:lpstr>Inference – Important metrics</vt:lpstr>
      <vt:lpstr>Inference – Important metrics</vt:lpstr>
      <vt:lpstr>Inference – Important metrics</vt:lpstr>
      <vt:lpstr>Inference – Important metrics</vt:lpstr>
      <vt:lpstr>PowerPoint Presentation</vt:lpstr>
      <vt:lpstr>Inference – Optimization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sandro Zangiacomi</dc:creator>
  <cp:lastModifiedBy>sandro Zangiacomi</cp:lastModifiedBy>
  <cp:revision>96</cp:revision>
  <dcterms:created xsi:type="dcterms:W3CDTF">2024-11-16T07:50:51Z</dcterms:created>
  <dcterms:modified xsi:type="dcterms:W3CDTF">2025-12-14T17:12:58Z</dcterms:modified>
</cp:coreProperties>
</file>